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0" r:id="rId1"/>
    <p:sldMasterId id="2147483886" r:id="rId2"/>
    <p:sldMasterId id="2147483872" r:id="rId3"/>
  </p:sldMasterIdLst>
  <p:notesMasterIdLst>
    <p:notesMasterId r:id="rId42"/>
  </p:notesMasterIdLst>
  <p:handoutMasterIdLst>
    <p:handoutMasterId r:id="rId43"/>
  </p:handoutMasterIdLst>
  <p:sldIdLst>
    <p:sldId id="428" r:id="rId4"/>
    <p:sldId id="497" r:id="rId5"/>
    <p:sldId id="514" r:id="rId6"/>
    <p:sldId id="858" r:id="rId7"/>
    <p:sldId id="872" r:id="rId8"/>
    <p:sldId id="873" r:id="rId9"/>
    <p:sldId id="874" r:id="rId10"/>
    <p:sldId id="864" r:id="rId11"/>
    <p:sldId id="823" r:id="rId12"/>
    <p:sldId id="458" r:id="rId13"/>
    <p:sldId id="870" r:id="rId14"/>
    <p:sldId id="824" r:id="rId15"/>
    <p:sldId id="803" r:id="rId16"/>
    <p:sldId id="854" r:id="rId17"/>
    <p:sldId id="850" r:id="rId18"/>
    <p:sldId id="853" r:id="rId19"/>
    <p:sldId id="820" r:id="rId20"/>
    <p:sldId id="805" r:id="rId21"/>
    <p:sldId id="842" r:id="rId22"/>
    <p:sldId id="776" r:id="rId23"/>
    <p:sldId id="871" r:id="rId24"/>
    <p:sldId id="843" r:id="rId25"/>
    <p:sldId id="833" r:id="rId26"/>
    <p:sldId id="855" r:id="rId27"/>
    <p:sldId id="845" r:id="rId28"/>
    <p:sldId id="851" r:id="rId29"/>
    <p:sldId id="852" r:id="rId30"/>
    <p:sldId id="841" r:id="rId31"/>
    <p:sldId id="815" r:id="rId32"/>
    <p:sldId id="272" r:id="rId33"/>
    <p:sldId id="818" r:id="rId34"/>
    <p:sldId id="819" r:id="rId35"/>
    <p:sldId id="806" r:id="rId36"/>
    <p:sldId id="865" r:id="rId37"/>
    <p:sldId id="807" r:id="rId38"/>
    <p:sldId id="773" r:id="rId39"/>
    <p:sldId id="769" r:id="rId40"/>
    <p:sldId id="771" r:id="rId41"/>
  </p:sldIdLst>
  <p:sldSz cx="9144000" cy="6858000" type="screen4x3"/>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8" userDrawn="1">
          <p15:clr>
            <a:srgbClr val="A4A3A4"/>
          </p15:clr>
        </p15:guide>
        <p15:guide id="2" pos="212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ukari Iijima" initials="YI" lastIdx="1" clrIdx="0"/>
  <p:cmAuthor id="2" name="mtokyo013" initials="m" lastIdx="4" clrIdx="1">
    <p:extLst>
      <p:ext uri="{19B8F6BF-5375-455C-9EA6-DF929625EA0E}">
        <p15:presenceInfo xmlns:p15="http://schemas.microsoft.com/office/powerpoint/2012/main" userId="mtokyo01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66FF99"/>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CFCFAF-DC3D-4D2F-80D9-1CB6BF56A0F0}" v="5" dt="2025-03-09T22:32:45.761"/>
  </p1510:revLst>
</p1510:revInfo>
</file>

<file path=ppt/tableStyles.xml><?xml version="1.0" encoding="utf-8"?>
<a:tblStyleLst xmlns:a="http://schemas.openxmlformats.org/drawingml/2006/main" def="{5C22544A-7EE6-4342-B048-85BDC9FD1C3A}">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545" autoAdjust="0"/>
    <p:restoredTop sz="94601" autoAdjust="0"/>
  </p:normalViewPr>
  <p:slideViewPr>
    <p:cSldViewPr>
      <p:cViewPr varScale="1">
        <p:scale>
          <a:sx n="124" d="100"/>
          <a:sy n="124" d="100"/>
        </p:scale>
        <p:origin x="1860" y="9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p:cViewPr varScale="1">
        <p:scale>
          <a:sx n="52" d="100"/>
          <a:sy n="52" d="100"/>
        </p:scale>
        <p:origin x="-2892" y="-102"/>
      </p:cViewPr>
      <p:guideLst>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microsoft.com/office/2015/10/relationships/revisionInfo" Target="revisionInfo.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2918831" cy="493316"/>
          </a:xfrm>
          <a:prstGeom prst="rect">
            <a:avLst/>
          </a:prstGeom>
        </p:spPr>
        <p:txBody>
          <a:bodyPr vert="horz" lIns="90638" tIns="45319" rIns="90638" bIns="45319"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5" y="0"/>
            <a:ext cx="2918831" cy="493316"/>
          </a:xfrm>
          <a:prstGeom prst="rect">
            <a:avLst/>
          </a:prstGeom>
        </p:spPr>
        <p:txBody>
          <a:bodyPr vert="horz" lIns="90638" tIns="45319" rIns="90638" bIns="45319" rtlCol="0"/>
          <a:lstStyle>
            <a:lvl1pPr algn="r">
              <a:defRPr sz="1200"/>
            </a:lvl1pPr>
          </a:lstStyle>
          <a:p>
            <a:fld id="{DFBD5DC3-5787-4F32-9DCB-57337AF42B0D}" type="datetimeFigureOut">
              <a:rPr kumimoji="1" lang="ja-JP" altLang="en-US" smtClean="0"/>
              <a:t>2025/9/19</a:t>
            </a:fld>
            <a:endParaRPr kumimoji="1" lang="ja-JP" altLang="en-US"/>
          </a:p>
        </p:txBody>
      </p:sp>
      <p:sp>
        <p:nvSpPr>
          <p:cNvPr id="4" name="フッター プレースホルダー 3"/>
          <p:cNvSpPr>
            <a:spLocks noGrp="1"/>
          </p:cNvSpPr>
          <p:nvPr>
            <p:ph type="ftr" sz="quarter" idx="2"/>
          </p:nvPr>
        </p:nvSpPr>
        <p:spPr>
          <a:xfrm>
            <a:off x="1" y="9371285"/>
            <a:ext cx="2918831" cy="493316"/>
          </a:xfrm>
          <a:prstGeom prst="rect">
            <a:avLst/>
          </a:prstGeom>
        </p:spPr>
        <p:txBody>
          <a:bodyPr vert="horz" lIns="90638" tIns="45319" rIns="90638" bIns="45319"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5" y="9371285"/>
            <a:ext cx="2918831" cy="493316"/>
          </a:xfrm>
          <a:prstGeom prst="rect">
            <a:avLst/>
          </a:prstGeom>
        </p:spPr>
        <p:txBody>
          <a:bodyPr vert="horz" lIns="90638" tIns="45319" rIns="90638" bIns="45319" rtlCol="0" anchor="b"/>
          <a:lstStyle>
            <a:lvl1pPr algn="r">
              <a:defRPr sz="1200"/>
            </a:lvl1pPr>
          </a:lstStyle>
          <a:p>
            <a:fld id="{5A99C0A6-C08C-4F6E-8975-3E45454956A7}" type="slidenum">
              <a:rPr kumimoji="1" lang="ja-JP" altLang="en-US" smtClean="0"/>
              <a:t>‹#›</a:t>
            </a:fld>
            <a:endParaRPr kumimoji="1" lang="ja-JP" altLang="en-US"/>
          </a:p>
        </p:txBody>
      </p:sp>
    </p:spTree>
    <p:extLst>
      <p:ext uri="{BB962C8B-B14F-4D97-AF65-F5344CB8AC3E}">
        <p14:creationId xmlns:p14="http://schemas.microsoft.com/office/powerpoint/2010/main" val="7150682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2918831" cy="493316"/>
          </a:xfrm>
          <a:prstGeom prst="rect">
            <a:avLst/>
          </a:prstGeom>
        </p:spPr>
        <p:txBody>
          <a:bodyPr vert="horz" lIns="90638" tIns="45319" rIns="90638" bIns="45319"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5" y="0"/>
            <a:ext cx="2918831" cy="493316"/>
          </a:xfrm>
          <a:prstGeom prst="rect">
            <a:avLst/>
          </a:prstGeom>
        </p:spPr>
        <p:txBody>
          <a:bodyPr vert="horz" lIns="90638" tIns="45319" rIns="90638" bIns="45319" rtlCol="0"/>
          <a:lstStyle>
            <a:lvl1pPr algn="r">
              <a:defRPr sz="1200"/>
            </a:lvl1pPr>
          </a:lstStyle>
          <a:p>
            <a:fld id="{1A171E73-C824-4AF2-AF6B-36A951B8B564}" type="datetimeFigureOut">
              <a:rPr kumimoji="1" lang="ja-JP" altLang="en-US" smtClean="0"/>
              <a:t>2025/9/19</a:t>
            </a:fld>
            <a:endParaRPr kumimoji="1" lang="ja-JP" altLang="en-US"/>
          </a:p>
        </p:txBody>
      </p:sp>
      <p:sp>
        <p:nvSpPr>
          <p:cNvPr id="4" name="スライド イメージ プレースホルダー 3"/>
          <p:cNvSpPr>
            <a:spLocks noGrp="1" noRot="1" noChangeAspect="1"/>
          </p:cNvSpPr>
          <p:nvPr>
            <p:ph type="sldImg" idx="2"/>
          </p:nvPr>
        </p:nvSpPr>
        <p:spPr>
          <a:xfrm>
            <a:off x="903288" y="741363"/>
            <a:ext cx="4929187" cy="3697287"/>
          </a:xfrm>
          <a:prstGeom prst="rect">
            <a:avLst/>
          </a:prstGeom>
          <a:noFill/>
          <a:ln w="12700">
            <a:solidFill>
              <a:prstClr val="black"/>
            </a:solidFill>
          </a:ln>
        </p:spPr>
        <p:txBody>
          <a:bodyPr vert="horz" lIns="90638" tIns="45319" rIns="90638" bIns="45319" rtlCol="0" anchor="ctr"/>
          <a:lstStyle/>
          <a:p>
            <a:endParaRPr lang="ja-JP" altLang="en-US"/>
          </a:p>
        </p:txBody>
      </p:sp>
      <p:sp>
        <p:nvSpPr>
          <p:cNvPr id="5" name="ノート プレースホルダー 4"/>
          <p:cNvSpPr>
            <a:spLocks noGrp="1"/>
          </p:cNvSpPr>
          <p:nvPr>
            <p:ph type="body" sz="quarter" idx="3"/>
          </p:nvPr>
        </p:nvSpPr>
        <p:spPr>
          <a:xfrm>
            <a:off x="673577" y="4686500"/>
            <a:ext cx="5388610" cy="4439841"/>
          </a:xfrm>
          <a:prstGeom prst="rect">
            <a:avLst/>
          </a:prstGeom>
        </p:spPr>
        <p:txBody>
          <a:bodyPr vert="horz" lIns="90638" tIns="45319" rIns="90638" bIns="45319"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371285"/>
            <a:ext cx="2918831" cy="493316"/>
          </a:xfrm>
          <a:prstGeom prst="rect">
            <a:avLst/>
          </a:prstGeom>
        </p:spPr>
        <p:txBody>
          <a:bodyPr vert="horz" lIns="90638" tIns="45319" rIns="90638" bIns="45319"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5" y="9371285"/>
            <a:ext cx="2918831" cy="493316"/>
          </a:xfrm>
          <a:prstGeom prst="rect">
            <a:avLst/>
          </a:prstGeom>
        </p:spPr>
        <p:txBody>
          <a:bodyPr vert="horz" lIns="90638" tIns="45319" rIns="90638" bIns="45319" rtlCol="0" anchor="b"/>
          <a:lstStyle>
            <a:lvl1pPr algn="r">
              <a:defRPr sz="1200"/>
            </a:lvl1pPr>
          </a:lstStyle>
          <a:p>
            <a:fld id="{ED6D6A56-9D20-4FE5-A1FA-9B52A37DE55F}" type="slidenum">
              <a:rPr kumimoji="1" lang="ja-JP" altLang="en-US" smtClean="0"/>
              <a:t>‹#›</a:t>
            </a:fld>
            <a:endParaRPr kumimoji="1" lang="ja-JP" altLang="en-US"/>
          </a:p>
        </p:txBody>
      </p:sp>
    </p:spTree>
    <p:extLst>
      <p:ext uri="{BB962C8B-B14F-4D97-AF65-F5344CB8AC3E}">
        <p14:creationId xmlns:p14="http://schemas.microsoft.com/office/powerpoint/2010/main" val="269671519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5" name="スライド番号プレースホルダー 4"/>
          <p:cNvSpPr>
            <a:spLocks noGrp="1"/>
          </p:cNvSpPr>
          <p:nvPr>
            <p:ph type="sldNum" sz="quarter" idx="10"/>
          </p:nvPr>
        </p:nvSpPr>
        <p:spPr/>
        <p:txBody>
          <a:bodyPr/>
          <a:lstStyle/>
          <a:p>
            <a:fld id="{17E1C080-1BAF-4398-8EB1-E07E84F29792}" type="slidenum">
              <a:rPr kumimoji="1" lang="ja-JP" altLang="en-US" smtClean="0"/>
              <a:pPr/>
              <a:t>1</a:t>
            </a:fld>
            <a:endParaRPr kumimoji="1" lang="ja-JP" altLang="en-US"/>
          </a:p>
        </p:txBody>
      </p:sp>
    </p:spTree>
    <p:extLst>
      <p:ext uri="{BB962C8B-B14F-4D97-AF65-F5344CB8AC3E}">
        <p14:creationId xmlns:p14="http://schemas.microsoft.com/office/powerpoint/2010/main" val="59563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3288" y="741363"/>
            <a:ext cx="4929187" cy="36972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A99845E0-A25D-4F8F-9B6F-4821987250A4}" type="slidenum">
              <a:rPr lang="ja-JP" altLang="en-US" smtClean="0">
                <a:solidFill>
                  <a:prstClr val="black"/>
                </a:solidFill>
              </a:rPr>
              <a:pPr/>
              <a:t>2</a:t>
            </a:fld>
            <a:endParaRPr lang="ja-JP" altLang="en-US" dirty="0">
              <a:solidFill>
                <a:prstClr val="black"/>
              </a:solidFill>
            </a:endParaRPr>
          </a:p>
        </p:txBody>
      </p:sp>
    </p:spTree>
    <p:extLst>
      <p:ext uri="{BB962C8B-B14F-4D97-AF65-F5344CB8AC3E}">
        <p14:creationId xmlns:p14="http://schemas.microsoft.com/office/powerpoint/2010/main" val="33040258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3</a:t>
            </a:fld>
            <a:endParaRPr kumimoji="1" lang="ja-JP" altLang="en-US"/>
          </a:p>
        </p:txBody>
      </p:sp>
    </p:spTree>
    <p:extLst>
      <p:ext uri="{BB962C8B-B14F-4D97-AF65-F5344CB8AC3E}">
        <p14:creationId xmlns:p14="http://schemas.microsoft.com/office/powerpoint/2010/main" val="1526018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4</a:t>
            </a:fld>
            <a:endParaRPr kumimoji="1" lang="ja-JP" altLang="en-US"/>
          </a:p>
        </p:txBody>
      </p:sp>
    </p:spTree>
    <p:extLst>
      <p:ext uri="{BB962C8B-B14F-4D97-AF65-F5344CB8AC3E}">
        <p14:creationId xmlns:p14="http://schemas.microsoft.com/office/powerpoint/2010/main" val="4205713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8A710-9B26-B75A-4703-51D012BF34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37F468-9215-6E75-E9CD-4C4EDD462429}"/>
              </a:ext>
            </a:extLst>
          </p:cNvPr>
          <p:cNvSpPr>
            <a:spLocks noGrp="1" noRot="1" noChangeAspect="1"/>
          </p:cNvSpPr>
          <p:nvPr>
            <p:ph type="sldImg"/>
          </p:nvPr>
        </p:nvSpPr>
        <p:spPr>
          <a:xfrm>
            <a:off x="903288" y="741363"/>
            <a:ext cx="4929187" cy="3697287"/>
          </a:xfrm>
        </p:spPr>
      </p:sp>
      <p:sp>
        <p:nvSpPr>
          <p:cNvPr id="3" name="ノート プレースホルダー 2">
            <a:extLst>
              <a:ext uri="{FF2B5EF4-FFF2-40B4-BE49-F238E27FC236}">
                <a16:creationId xmlns:a16="http://schemas.microsoft.com/office/drawing/2014/main" id="{5C5C0DA0-CF11-1F9E-C7F4-23BAED6B81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A0A6129-5656-BEDC-03D3-1FCC6A358048}"/>
              </a:ext>
            </a:extLst>
          </p:cNvPr>
          <p:cNvSpPr>
            <a:spLocks noGrp="1"/>
          </p:cNvSpPr>
          <p:nvPr>
            <p:ph type="sldNum" sz="quarter" idx="10"/>
          </p:nvPr>
        </p:nvSpPr>
        <p:spPr/>
        <p:txBody>
          <a:bodyPr/>
          <a:lstStyle/>
          <a:p>
            <a:fld id="{A99845E0-A25D-4F8F-9B6F-4821987250A4}" type="slidenum">
              <a:rPr lang="ja-JP" altLang="en-US" smtClean="0">
                <a:solidFill>
                  <a:prstClr val="black"/>
                </a:solidFill>
              </a:rPr>
              <a:pPr/>
              <a:t>5</a:t>
            </a:fld>
            <a:endParaRPr lang="ja-JP" altLang="en-US" dirty="0">
              <a:solidFill>
                <a:prstClr val="black"/>
              </a:solidFill>
            </a:endParaRPr>
          </a:p>
        </p:txBody>
      </p:sp>
    </p:spTree>
    <p:extLst>
      <p:ext uri="{BB962C8B-B14F-4D97-AF65-F5344CB8AC3E}">
        <p14:creationId xmlns:p14="http://schemas.microsoft.com/office/powerpoint/2010/main" val="2668522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0C7BF-8FE1-83FB-F5FA-118545C34A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6439E8-3B61-4DF2-4F9E-0F17BA896ECA}"/>
              </a:ext>
            </a:extLst>
          </p:cNvPr>
          <p:cNvSpPr>
            <a:spLocks noGrp="1" noRot="1" noChangeAspect="1"/>
          </p:cNvSpPr>
          <p:nvPr>
            <p:ph type="sldImg"/>
          </p:nvPr>
        </p:nvSpPr>
        <p:spPr>
          <a:xfrm>
            <a:off x="903288" y="741363"/>
            <a:ext cx="4929187" cy="3697287"/>
          </a:xfrm>
        </p:spPr>
      </p:sp>
      <p:sp>
        <p:nvSpPr>
          <p:cNvPr id="3" name="ノート プレースホルダー 2">
            <a:extLst>
              <a:ext uri="{FF2B5EF4-FFF2-40B4-BE49-F238E27FC236}">
                <a16:creationId xmlns:a16="http://schemas.microsoft.com/office/drawing/2014/main" id="{9D881978-6001-8C73-43F8-B581D24C9FB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1EB38FD-28E7-2EEC-64E2-202D576D043C}"/>
              </a:ext>
            </a:extLst>
          </p:cNvPr>
          <p:cNvSpPr>
            <a:spLocks noGrp="1"/>
          </p:cNvSpPr>
          <p:nvPr>
            <p:ph type="sldNum" sz="quarter" idx="10"/>
          </p:nvPr>
        </p:nvSpPr>
        <p:spPr/>
        <p:txBody>
          <a:bodyPr/>
          <a:lstStyle/>
          <a:p>
            <a:fld id="{A99845E0-A25D-4F8F-9B6F-4821987250A4}" type="slidenum">
              <a:rPr lang="ja-JP" altLang="en-US" smtClean="0">
                <a:solidFill>
                  <a:prstClr val="black"/>
                </a:solidFill>
              </a:rPr>
              <a:pPr/>
              <a:t>6</a:t>
            </a:fld>
            <a:endParaRPr lang="ja-JP" altLang="en-US" dirty="0">
              <a:solidFill>
                <a:prstClr val="black"/>
              </a:solidFill>
            </a:endParaRPr>
          </a:p>
        </p:txBody>
      </p:sp>
    </p:spTree>
    <p:extLst>
      <p:ext uri="{BB962C8B-B14F-4D97-AF65-F5344CB8AC3E}">
        <p14:creationId xmlns:p14="http://schemas.microsoft.com/office/powerpoint/2010/main" val="4105854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AA987-F316-654D-E86E-65D8299D18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28F34F0-0925-DCF1-8BE8-8A26188F129F}"/>
              </a:ext>
            </a:extLst>
          </p:cNvPr>
          <p:cNvSpPr>
            <a:spLocks noGrp="1" noRot="1" noChangeAspect="1"/>
          </p:cNvSpPr>
          <p:nvPr>
            <p:ph type="sldImg"/>
          </p:nvPr>
        </p:nvSpPr>
        <p:spPr>
          <a:xfrm>
            <a:off x="903288" y="741363"/>
            <a:ext cx="4929187" cy="3697287"/>
          </a:xfrm>
        </p:spPr>
      </p:sp>
      <p:sp>
        <p:nvSpPr>
          <p:cNvPr id="3" name="ノート プレースホルダー 2">
            <a:extLst>
              <a:ext uri="{FF2B5EF4-FFF2-40B4-BE49-F238E27FC236}">
                <a16:creationId xmlns:a16="http://schemas.microsoft.com/office/drawing/2014/main" id="{46D38D11-C0AA-5138-0A46-92ADC8552A2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06B4B2-1840-9939-5728-8129654EAF44}"/>
              </a:ext>
            </a:extLst>
          </p:cNvPr>
          <p:cNvSpPr>
            <a:spLocks noGrp="1"/>
          </p:cNvSpPr>
          <p:nvPr>
            <p:ph type="sldNum" sz="quarter" idx="10"/>
          </p:nvPr>
        </p:nvSpPr>
        <p:spPr/>
        <p:txBody>
          <a:bodyPr/>
          <a:lstStyle/>
          <a:p>
            <a:fld id="{A99845E0-A25D-4F8F-9B6F-4821987250A4}" type="slidenum">
              <a:rPr lang="ja-JP" altLang="en-US" smtClean="0">
                <a:solidFill>
                  <a:prstClr val="black"/>
                </a:solidFill>
              </a:rPr>
              <a:pPr/>
              <a:t>7</a:t>
            </a:fld>
            <a:endParaRPr lang="ja-JP" altLang="en-US" dirty="0">
              <a:solidFill>
                <a:prstClr val="black"/>
              </a:solidFill>
            </a:endParaRPr>
          </a:p>
        </p:txBody>
      </p:sp>
    </p:spTree>
    <p:extLst>
      <p:ext uri="{BB962C8B-B14F-4D97-AF65-F5344CB8AC3E}">
        <p14:creationId xmlns:p14="http://schemas.microsoft.com/office/powerpoint/2010/main" val="1681367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8</a:t>
            </a:fld>
            <a:endParaRPr kumimoji="1" lang="ja-JP" altLang="en-US"/>
          </a:p>
        </p:txBody>
      </p:sp>
    </p:spTree>
    <p:extLst>
      <p:ext uri="{BB962C8B-B14F-4D97-AF65-F5344CB8AC3E}">
        <p14:creationId xmlns:p14="http://schemas.microsoft.com/office/powerpoint/2010/main" val="2629459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9</a:t>
            </a:fld>
            <a:endParaRPr kumimoji="1" lang="ja-JP" altLang="en-US"/>
          </a:p>
        </p:txBody>
      </p:sp>
    </p:spTree>
    <p:extLst>
      <p:ext uri="{BB962C8B-B14F-4D97-AF65-F5344CB8AC3E}">
        <p14:creationId xmlns:p14="http://schemas.microsoft.com/office/powerpoint/2010/main" val="3898285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10</a:t>
            </a:fld>
            <a:endParaRPr kumimoji="1" lang="ja-JP" altLang="en-US"/>
          </a:p>
        </p:txBody>
      </p:sp>
    </p:spTree>
    <p:extLst>
      <p:ext uri="{BB962C8B-B14F-4D97-AF65-F5344CB8AC3E}">
        <p14:creationId xmlns:p14="http://schemas.microsoft.com/office/powerpoint/2010/main" val="947625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013CE-F3B0-16B5-89E7-7A8FEA4010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506833F-A6AE-0DFA-72BF-06EC49D485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0CDBCB5-BF19-BEB8-02A1-64322C2414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8773C-C415-A057-EEDF-02D91C9EDA17}"/>
              </a:ext>
            </a:extLst>
          </p:cNvPr>
          <p:cNvSpPr>
            <a:spLocks noGrp="1"/>
          </p:cNvSpPr>
          <p:nvPr>
            <p:ph type="sldNum" sz="quarter" idx="10"/>
          </p:nvPr>
        </p:nvSpPr>
        <p:spPr/>
        <p:txBody>
          <a:bodyPr/>
          <a:lstStyle/>
          <a:p>
            <a:fld id="{17E1C080-1BAF-4398-8EB1-E07E84F29792}" type="slidenum">
              <a:rPr kumimoji="1" lang="ja-JP" altLang="en-US" smtClean="0"/>
              <a:pPr/>
              <a:t>11</a:t>
            </a:fld>
            <a:endParaRPr kumimoji="1" lang="ja-JP" altLang="en-US"/>
          </a:p>
        </p:txBody>
      </p:sp>
    </p:spTree>
    <p:extLst>
      <p:ext uri="{BB962C8B-B14F-4D97-AF65-F5344CB8AC3E}">
        <p14:creationId xmlns:p14="http://schemas.microsoft.com/office/powerpoint/2010/main" val="668676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12</a:t>
            </a:fld>
            <a:endParaRPr kumimoji="1" lang="ja-JP" altLang="en-US"/>
          </a:p>
        </p:txBody>
      </p:sp>
    </p:spTree>
    <p:extLst>
      <p:ext uri="{BB962C8B-B14F-4D97-AF65-F5344CB8AC3E}">
        <p14:creationId xmlns:p14="http://schemas.microsoft.com/office/powerpoint/2010/main" val="3852567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3288" y="741363"/>
            <a:ext cx="4929187" cy="36972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A99845E0-A25D-4F8F-9B6F-4821987250A4}" type="slidenum">
              <a:rPr lang="ja-JP" altLang="en-US" smtClean="0">
                <a:solidFill>
                  <a:prstClr val="black"/>
                </a:solidFill>
              </a:rPr>
              <a:pPr/>
              <a:t>13</a:t>
            </a:fld>
            <a:endParaRPr lang="ja-JP" altLang="en-US" dirty="0">
              <a:solidFill>
                <a:prstClr val="black"/>
              </a:solidFill>
            </a:endParaRPr>
          </a:p>
        </p:txBody>
      </p:sp>
    </p:spTree>
    <p:extLst>
      <p:ext uri="{BB962C8B-B14F-4D97-AF65-F5344CB8AC3E}">
        <p14:creationId xmlns:p14="http://schemas.microsoft.com/office/powerpoint/2010/main" val="3599091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14</a:t>
            </a:fld>
            <a:endParaRPr kumimoji="1" lang="ja-JP" altLang="en-US"/>
          </a:p>
        </p:txBody>
      </p:sp>
    </p:spTree>
    <p:extLst>
      <p:ext uri="{BB962C8B-B14F-4D97-AF65-F5344CB8AC3E}">
        <p14:creationId xmlns:p14="http://schemas.microsoft.com/office/powerpoint/2010/main" val="3811995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3288" y="741363"/>
            <a:ext cx="4929187" cy="36972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A99845E0-A25D-4F8F-9B6F-4821987250A4}" type="slidenum">
              <a:rPr lang="ja-JP" altLang="en-US" smtClean="0">
                <a:solidFill>
                  <a:prstClr val="black"/>
                </a:solidFill>
              </a:rPr>
              <a:pPr/>
              <a:t>15</a:t>
            </a:fld>
            <a:endParaRPr lang="ja-JP" altLang="en-US" dirty="0">
              <a:solidFill>
                <a:prstClr val="black"/>
              </a:solidFill>
            </a:endParaRPr>
          </a:p>
        </p:txBody>
      </p:sp>
    </p:spTree>
    <p:extLst>
      <p:ext uri="{BB962C8B-B14F-4D97-AF65-F5344CB8AC3E}">
        <p14:creationId xmlns:p14="http://schemas.microsoft.com/office/powerpoint/2010/main" val="2531491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3288" y="741363"/>
            <a:ext cx="4929187" cy="36972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A99845E0-A25D-4F8F-9B6F-4821987250A4}" type="slidenum">
              <a:rPr lang="ja-JP" altLang="en-US" smtClean="0">
                <a:solidFill>
                  <a:prstClr val="black"/>
                </a:solidFill>
              </a:rPr>
              <a:pPr/>
              <a:t>16</a:t>
            </a:fld>
            <a:endParaRPr lang="ja-JP" altLang="en-US" dirty="0">
              <a:solidFill>
                <a:prstClr val="black"/>
              </a:solidFill>
            </a:endParaRPr>
          </a:p>
        </p:txBody>
      </p:sp>
    </p:spTree>
    <p:extLst>
      <p:ext uri="{BB962C8B-B14F-4D97-AF65-F5344CB8AC3E}">
        <p14:creationId xmlns:p14="http://schemas.microsoft.com/office/powerpoint/2010/main" val="14008745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3288" y="741363"/>
            <a:ext cx="4929187" cy="36972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A99845E0-A25D-4F8F-9B6F-4821987250A4}" type="slidenum">
              <a:rPr lang="ja-JP" altLang="en-US" smtClean="0">
                <a:solidFill>
                  <a:prstClr val="black"/>
                </a:solidFill>
              </a:rPr>
              <a:pPr/>
              <a:t>17</a:t>
            </a:fld>
            <a:endParaRPr lang="ja-JP" altLang="en-US" dirty="0">
              <a:solidFill>
                <a:prstClr val="black"/>
              </a:solidFill>
            </a:endParaRPr>
          </a:p>
        </p:txBody>
      </p:sp>
    </p:spTree>
    <p:extLst>
      <p:ext uri="{BB962C8B-B14F-4D97-AF65-F5344CB8AC3E}">
        <p14:creationId xmlns:p14="http://schemas.microsoft.com/office/powerpoint/2010/main" val="20789415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3288" y="741363"/>
            <a:ext cx="4929187" cy="36972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A99845E0-A25D-4F8F-9B6F-4821987250A4}" type="slidenum">
              <a:rPr lang="ja-JP" altLang="en-US" smtClean="0">
                <a:solidFill>
                  <a:prstClr val="black"/>
                </a:solidFill>
              </a:rPr>
              <a:pPr/>
              <a:t>18</a:t>
            </a:fld>
            <a:endParaRPr lang="ja-JP" altLang="en-US" dirty="0">
              <a:solidFill>
                <a:prstClr val="black"/>
              </a:solidFill>
            </a:endParaRPr>
          </a:p>
        </p:txBody>
      </p:sp>
    </p:spTree>
    <p:extLst>
      <p:ext uri="{BB962C8B-B14F-4D97-AF65-F5344CB8AC3E}">
        <p14:creationId xmlns:p14="http://schemas.microsoft.com/office/powerpoint/2010/main" val="9663103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19</a:t>
            </a:fld>
            <a:endParaRPr kumimoji="1" lang="ja-JP" altLang="en-US"/>
          </a:p>
        </p:txBody>
      </p:sp>
    </p:spTree>
    <p:extLst>
      <p:ext uri="{BB962C8B-B14F-4D97-AF65-F5344CB8AC3E}">
        <p14:creationId xmlns:p14="http://schemas.microsoft.com/office/powerpoint/2010/main" val="10364149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20</a:t>
            </a:fld>
            <a:endParaRPr kumimoji="1" lang="ja-JP" altLang="en-US"/>
          </a:p>
        </p:txBody>
      </p:sp>
    </p:spTree>
    <p:extLst>
      <p:ext uri="{BB962C8B-B14F-4D97-AF65-F5344CB8AC3E}">
        <p14:creationId xmlns:p14="http://schemas.microsoft.com/office/powerpoint/2010/main" val="8533370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C1AF6-9CE2-8F43-024C-2DF0BDC7FC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B93846-71F2-F21D-00CD-E8154C8FBDF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D2F3E25-3D42-C959-F6F6-7B0FDCC35A6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2D27AA0-DAF0-E99D-DCB8-29C9322AC677}"/>
              </a:ext>
            </a:extLst>
          </p:cNvPr>
          <p:cNvSpPr>
            <a:spLocks noGrp="1"/>
          </p:cNvSpPr>
          <p:nvPr>
            <p:ph type="sldNum" sz="quarter" idx="10"/>
          </p:nvPr>
        </p:nvSpPr>
        <p:spPr/>
        <p:txBody>
          <a:bodyPr/>
          <a:lstStyle/>
          <a:p>
            <a:fld id="{17E1C080-1BAF-4398-8EB1-E07E84F29792}" type="slidenum">
              <a:rPr kumimoji="1" lang="ja-JP" altLang="en-US" smtClean="0"/>
              <a:pPr/>
              <a:t>21</a:t>
            </a:fld>
            <a:endParaRPr kumimoji="1" lang="ja-JP" altLang="en-US"/>
          </a:p>
        </p:txBody>
      </p:sp>
    </p:spTree>
    <p:extLst>
      <p:ext uri="{BB962C8B-B14F-4D97-AF65-F5344CB8AC3E}">
        <p14:creationId xmlns:p14="http://schemas.microsoft.com/office/powerpoint/2010/main" val="31492063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22</a:t>
            </a:fld>
            <a:endParaRPr kumimoji="1" lang="ja-JP" altLang="en-US"/>
          </a:p>
        </p:txBody>
      </p:sp>
    </p:spTree>
    <p:extLst>
      <p:ext uri="{BB962C8B-B14F-4D97-AF65-F5344CB8AC3E}">
        <p14:creationId xmlns:p14="http://schemas.microsoft.com/office/powerpoint/2010/main" val="15327655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3288" y="741363"/>
            <a:ext cx="4929187" cy="36972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A99845E0-A25D-4F8F-9B6F-4821987250A4}" type="slidenum">
              <a:rPr lang="ja-JP" altLang="en-US" smtClean="0">
                <a:solidFill>
                  <a:prstClr val="black"/>
                </a:solidFill>
              </a:rPr>
              <a:pPr/>
              <a:t>23</a:t>
            </a:fld>
            <a:endParaRPr lang="ja-JP" altLang="en-US" dirty="0">
              <a:solidFill>
                <a:prstClr val="black"/>
              </a:solidFill>
            </a:endParaRPr>
          </a:p>
        </p:txBody>
      </p:sp>
    </p:spTree>
    <p:extLst>
      <p:ext uri="{BB962C8B-B14F-4D97-AF65-F5344CB8AC3E}">
        <p14:creationId xmlns:p14="http://schemas.microsoft.com/office/powerpoint/2010/main" val="35990912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24</a:t>
            </a:fld>
            <a:endParaRPr kumimoji="1" lang="ja-JP" altLang="en-US"/>
          </a:p>
        </p:txBody>
      </p:sp>
    </p:spTree>
    <p:extLst>
      <p:ext uri="{BB962C8B-B14F-4D97-AF65-F5344CB8AC3E}">
        <p14:creationId xmlns:p14="http://schemas.microsoft.com/office/powerpoint/2010/main" val="278473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3288" y="741363"/>
            <a:ext cx="4929187" cy="36972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A99845E0-A25D-4F8F-9B6F-4821987250A4}" type="slidenum">
              <a:rPr lang="ja-JP" altLang="en-US" smtClean="0">
                <a:solidFill>
                  <a:prstClr val="black"/>
                </a:solidFill>
              </a:rPr>
              <a:pPr/>
              <a:t>25</a:t>
            </a:fld>
            <a:endParaRPr lang="ja-JP" altLang="en-US" dirty="0">
              <a:solidFill>
                <a:prstClr val="black"/>
              </a:solidFill>
            </a:endParaRPr>
          </a:p>
        </p:txBody>
      </p:sp>
    </p:spTree>
    <p:extLst>
      <p:ext uri="{BB962C8B-B14F-4D97-AF65-F5344CB8AC3E}">
        <p14:creationId xmlns:p14="http://schemas.microsoft.com/office/powerpoint/2010/main" val="2582264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3288" y="741363"/>
            <a:ext cx="4929187" cy="36972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A99845E0-A25D-4F8F-9B6F-4821987250A4}" type="slidenum">
              <a:rPr lang="ja-JP" altLang="en-US" smtClean="0">
                <a:solidFill>
                  <a:prstClr val="black"/>
                </a:solidFill>
              </a:rPr>
              <a:pPr/>
              <a:t>26</a:t>
            </a:fld>
            <a:endParaRPr lang="ja-JP" altLang="en-US" dirty="0">
              <a:solidFill>
                <a:prstClr val="black"/>
              </a:solidFill>
            </a:endParaRPr>
          </a:p>
        </p:txBody>
      </p:sp>
    </p:spTree>
    <p:extLst>
      <p:ext uri="{BB962C8B-B14F-4D97-AF65-F5344CB8AC3E}">
        <p14:creationId xmlns:p14="http://schemas.microsoft.com/office/powerpoint/2010/main" val="31478736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3288" y="741363"/>
            <a:ext cx="4929187" cy="36972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A99845E0-A25D-4F8F-9B6F-4821987250A4}" type="slidenum">
              <a:rPr lang="ja-JP" altLang="en-US" smtClean="0">
                <a:solidFill>
                  <a:prstClr val="black"/>
                </a:solidFill>
              </a:rPr>
              <a:pPr/>
              <a:t>27</a:t>
            </a:fld>
            <a:endParaRPr lang="ja-JP" altLang="en-US" dirty="0">
              <a:solidFill>
                <a:prstClr val="black"/>
              </a:solidFill>
            </a:endParaRPr>
          </a:p>
        </p:txBody>
      </p:sp>
    </p:spTree>
    <p:extLst>
      <p:ext uri="{BB962C8B-B14F-4D97-AF65-F5344CB8AC3E}">
        <p14:creationId xmlns:p14="http://schemas.microsoft.com/office/powerpoint/2010/main" val="10014110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3288" y="741363"/>
            <a:ext cx="4929187" cy="3697287"/>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A99845E0-A25D-4F8F-9B6F-4821987250A4}" type="slidenum">
              <a:rPr lang="ja-JP" altLang="en-US" smtClean="0">
                <a:solidFill>
                  <a:prstClr val="black"/>
                </a:solidFill>
              </a:rPr>
              <a:pPr/>
              <a:t>28</a:t>
            </a:fld>
            <a:endParaRPr lang="ja-JP" altLang="en-US" dirty="0">
              <a:solidFill>
                <a:prstClr val="black"/>
              </a:solidFill>
            </a:endParaRPr>
          </a:p>
        </p:txBody>
      </p:sp>
    </p:spTree>
    <p:extLst>
      <p:ext uri="{BB962C8B-B14F-4D97-AF65-F5344CB8AC3E}">
        <p14:creationId xmlns:p14="http://schemas.microsoft.com/office/powerpoint/2010/main" val="9663103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29</a:t>
            </a:fld>
            <a:endParaRPr kumimoji="1" lang="ja-JP" altLang="en-US"/>
          </a:p>
        </p:txBody>
      </p:sp>
    </p:spTree>
    <p:extLst>
      <p:ext uri="{BB962C8B-B14F-4D97-AF65-F5344CB8AC3E}">
        <p14:creationId xmlns:p14="http://schemas.microsoft.com/office/powerpoint/2010/main" val="21593689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31</a:t>
            </a:fld>
            <a:endParaRPr kumimoji="1" lang="ja-JP" altLang="en-US"/>
          </a:p>
        </p:txBody>
      </p:sp>
    </p:spTree>
    <p:extLst>
      <p:ext uri="{BB962C8B-B14F-4D97-AF65-F5344CB8AC3E}">
        <p14:creationId xmlns:p14="http://schemas.microsoft.com/office/powerpoint/2010/main" val="29611592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32</a:t>
            </a:fld>
            <a:endParaRPr kumimoji="1" lang="ja-JP" altLang="en-US"/>
          </a:p>
        </p:txBody>
      </p:sp>
    </p:spTree>
    <p:extLst>
      <p:ext uri="{BB962C8B-B14F-4D97-AF65-F5344CB8AC3E}">
        <p14:creationId xmlns:p14="http://schemas.microsoft.com/office/powerpoint/2010/main" val="38455581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33</a:t>
            </a:fld>
            <a:endParaRPr kumimoji="1" lang="ja-JP" altLang="en-US"/>
          </a:p>
        </p:txBody>
      </p:sp>
    </p:spTree>
    <p:extLst>
      <p:ext uri="{BB962C8B-B14F-4D97-AF65-F5344CB8AC3E}">
        <p14:creationId xmlns:p14="http://schemas.microsoft.com/office/powerpoint/2010/main" val="11048288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34</a:t>
            </a:fld>
            <a:endParaRPr kumimoji="1" lang="ja-JP" altLang="en-US"/>
          </a:p>
        </p:txBody>
      </p:sp>
    </p:spTree>
    <p:extLst>
      <p:ext uri="{BB962C8B-B14F-4D97-AF65-F5344CB8AC3E}">
        <p14:creationId xmlns:p14="http://schemas.microsoft.com/office/powerpoint/2010/main" val="25656763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35</a:t>
            </a:fld>
            <a:endParaRPr kumimoji="1" lang="ja-JP" altLang="en-US"/>
          </a:p>
        </p:txBody>
      </p:sp>
    </p:spTree>
    <p:extLst>
      <p:ext uri="{BB962C8B-B14F-4D97-AF65-F5344CB8AC3E}">
        <p14:creationId xmlns:p14="http://schemas.microsoft.com/office/powerpoint/2010/main" val="35095867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36</a:t>
            </a:fld>
            <a:endParaRPr kumimoji="1" lang="ja-JP" altLang="en-US"/>
          </a:p>
        </p:txBody>
      </p:sp>
    </p:spTree>
    <p:extLst>
      <p:ext uri="{BB962C8B-B14F-4D97-AF65-F5344CB8AC3E}">
        <p14:creationId xmlns:p14="http://schemas.microsoft.com/office/powerpoint/2010/main" val="15424495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37</a:t>
            </a:fld>
            <a:endParaRPr kumimoji="1" lang="ja-JP" altLang="en-US"/>
          </a:p>
        </p:txBody>
      </p:sp>
    </p:spTree>
    <p:extLst>
      <p:ext uri="{BB962C8B-B14F-4D97-AF65-F5344CB8AC3E}">
        <p14:creationId xmlns:p14="http://schemas.microsoft.com/office/powerpoint/2010/main" val="20947561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7E1C080-1BAF-4398-8EB1-E07E84F29792}" type="slidenum">
              <a:rPr kumimoji="1" lang="ja-JP" altLang="en-US" smtClean="0"/>
              <a:pPr/>
              <a:t>38</a:t>
            </a:fld>
            <a:endParaRPr kumimoji="1" lang="ja-JP" altLang="en-US"/>
          </a:p>
        </p:txBody>
      </p:sp>
    </p:spTree>
    <p:extLst>
      <p:ext uri="{BB962C8B-B14F-4D97-AF65-F5344CB8AC3E}">
        <p14:creationId xmlns:p14="http://schemas.microsoft.com/office/powerpoint/2010/main" val="18726151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9" name="正方形/長方形 8"/>
          <p:cNvSpPr/>
          <p:nvPr/>
        </p:nvSpPr>
        <p:spPr>
          <a:xfrm>
            <a:off x="0" y="3717033"/>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2" name="タイトル 1"/>
          <p:cNvSpPr>
            <a:spLocks noGrp="1"/>
          </p:cNvSpPr>
          <p:nvPr>
            <p:ph type="ctrTitle"/>
          </p:nvPr>
        </p:nvSpPr>
        <p:spPr>
          <a:xfrm>
            <a:off x="685800" y="2130426"/>
            <a:ext cx="7772400" cy="1470025"/>
          </a:xfrm>
        </p:spPr>
        <p:txBody>
          <a:bodyPr/>
          <a:lstStyle>
            <a:lvl1pPr>
              <a:defRPr>
                <a:latin typeface="メイリオ" pitchFamily="50" charset="-128"/>
                <a:ea typeface="メイリオ" pitchFamily="50" charset="-128"/>
                <a:cs typeface="メイリオ" pitchFamily="50" charset="-128"/>
              </a:defRPr>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1371600" y="3886201"/>
            <a:ext cx="6400800" cy="1752600"/>
          </a:xfrm>
        </p:spPr>
        <p:txBody>
          <a:bodyPr>
            <a:normAutofit/>
          </a:bodyPr>
          <a:lstStyle>
            <a:lvl1pPr marL="0" indent="0" algn="ctr">
              <a:buNone/>
              <a:defRPr sz="2800">
                <a:solidFill>
                  <a:schemeClr val="tx1">
                    <a:tint val="75000"/>
                  </a:schemeClr>
                </a:solidFill>
                <a:latin typeface="メイリオ" pitchFamily="50" charset="-128"/>
                <a:ea typeface="メイリオ" pitchFamily="50" charset="-128"/>
                <a:cs typeface="メイリオ" pitchFamily="50" charset="-128"/>
              </a:defRPr>
            </a:lvl1pPr>
            <a:lvl2pPr marL="457162" indent="0" algn="ctr">
              <a:buNone/>
              <a:defRPr>
                <a:solidFill>
                  <a:schemeClr val="tx1">
                    <a:tint val="75000"/>
                  </a:schemeClr>
                </a:solidFill>
              </a:defRPr>
            </a:lvl2pPr>
            <a:lvl3pPr marL="914325" indent="0" algn="ctr">
              <a:buNone/>
              <a:defRPr>
                <a:solidFill>
                  <a:schemeClr val="tx1">
                    <a:tint val="75000"/>
                  </a:schemeClr>
                </a:solidFill>
              </a:defRPr>
            </a:lvl3pPr>
            <a:lvl4pPr marL="1371487" indent="0" algn="ctr">
              <a:buNone/>
              <a:defRPr>
                <a:solidFill>
                  <a:schemeClr val="tx1">
                    <a:tint val="75000"/>
                  </a:schemeClr>
                </a:solidFill>
              </a:defRPr>
            </a:lvl4pPr>
            <a:lvl5pPr marL="1828650" indent="0" algn="ctr">
              <a:buNone/>
              <a:defRPr>
                <a:solidFill>
                  <a:schemeClr val="tx1">
                    <a:tint val="75000"/>
                  </a:schemeClr>
                </a:solidFill>
              </a:defRPr>
            </a:lvl5pPr>
            <a:lvl6pPr marL="2285811" indent="0" algn="ctr">
              <a:buNone/>
              <a:defRPr>
                <a:solidFill>
                  <a:schemeClr val="tx1">
                    <a:tint val="75000"/>
                  </a:schemeClr>
                </a:solidFill>
              </a:defRPr>
            </a:lvl6pPr>
            <a:lvl7pPr marL="2742974" indent="0" algn="ctr">
              <a:buNone/>
              <a:defRPr>
                <a:solidFill>
                  <a:schemeClr val="tx1">
                    <a:tint val="75000"/>
                  </a:schemeClr>
                </a:solidFill>
              </a:defRPr>
            </a:lvl7pPr>
            <a:lvl8pPr marL="3200136" indent="0" algn="ctr">
              <a:buNone/>
              <a:defRPr>
                <a:solidFill>
                  <a:schemeClr val="tx1">
                    <a:tint val="75000"/>
                  </a:schemeClr>
                </a:solidFill>
              </a:defRPr>
            </a:lvl8pPr>
            <a:lvl9pPr marL="3657299"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lvl1pPr>
              <a:defRPr>
                <a:latin typeface="メイリオ" pitchFamily="50" charset="-128"/>
                <a:ea typeface="メイリオ" pitchFamily="50" charset="-128"/>
                <a:cs typeface="メイリオ" pitchFamily="50" charset="-128"/>
              </a:defRPr>
            </a:lvl1pPr>
          </a:lstStyle>
          <a:p>
            <a:fld id="{F98E7E66-5DC5-47F0-A47C-D895FFE9441B}" type="datetime1">
              <a:rPr lang="ja-JP" altLang="en-US" smtClean="0">
                <a:solidFill>
                  <a:prstClr val="black">
                    <a:tint val="75000"/>
                  </a:prstClr>
                </a:solidFill>
              </a:rPr>
              <a:pPr/>
              <a:t>2025/9/19</a:t>
            </a:fld>
            <a:endParaRPr lang="ja-JP" altLang="en-US">
              <a:solidFill>
                <a:prstClr val="black">
                  <a:tint val="75000"/>
                </a:prstClr>
              </a:solidFill>
            </a:endParaRPr>
          </a:p>
        </p:txBody>
      </p:sp>
      <p:sp>
        <p:nvSpPr>
          <p:cNvPr id="5" name="フッター プレースホルダー 4"/>
          <p:cNvSpPr>
            <a:spLocks noGrp="1"/>
          </p:cNvSpPr>
          <p:nvPr>
            <p:ph type="ftr" sz="quarter" idx="11"/>
          </p:nvPr>
        </p:nvSpPr>
        <p:spPr/>
        <p:txBody>
          <a:bodyPr/>
          <a:lstStyle>
            <a:lvl1pPr>
              <a:defRPr>
                <a:latin typeface="メイリオ" pitchFamily="50" charset="-128"/>
                <a:ea typeface="メイリオ" pitchFamily="50" charset="-128"/>
                <a:cs typeface="メイリオ" pitchFamily="50" charset="-128"/>
              </a:defRPr>
            </a:lvl1pPr>
          </a:lstStyle>
          <a:p>
            <a:endParaRPr lang="ja-JP" altLang="en-US">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lvl1pPr>
              <a:defRPr>
                <a:latin typeface="メイリオ" pitchFamily="50" charset="-128"/>
                <a:ea typeface="メイリオ" pitchFamily="50" charset="-128"/>
                <a:cs typeface="メイリオ" pitchFamily="50" charset="-128"/>
              </a:defRPr>
            </a:lvl1pPr>
          </a:lstStyle>
          <a:p>
            <a:fld id="{7EF51226-DA47-428C-90A9-01D7D9FFCEA2}" type="slidenum">
              <a:rPr lang="ja-JP" altLang="en-US" smtClean="0">
                <a:solidFill>
                  <a:prstClr val="black">
                    <a:tint val="75000"/>
                  </a:prstClr>
                </a:solidFill>
              </a:rPr>
              <a:pPr/>
              <a:t>‹#›</a:t>
            </a:fld>
            <a:endParaRPr lang="ja-JP" altLang="en-US" dirty="0">
              <a:solidFill>
                <a:prstClr val="black">
                  <a:tint val="75000"/>
                </a:prstClr>
              </a:solidFill>
            </a:endParaRPr>
          </a:p>
        </p:txBody>
      </p:sp>
      <p:pic>
        <p:nvPicPr>
          <p:cNvPr id="7" name="図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183411"/>
            <a:ext cx="713232" cy="262128"/>
          </a:xfrm>
          <a:prstGeom prst="rect">
            <a:avLst/>
          </a:prstGeom>
        </p:spPr>
      </p:pic>
      <p:sp>
        <p:nvSpPr>
          <p:cNvPr id="8" name="正方形/長方形 7"/>
          <p:cNvSpPr/>
          <p:nvPr/>
        </p:nvSpPr>
        <p:spPr>
          <a:xfrm>
            <a:off x="0" y="3658435"/>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Tree>
    <p:extLst>
      <p:ext uri="{BB962C8B-B14F-4D97-AF65-F5344CB8AC3E}">
        <p14:creationId xmlns:p14="http://schemas.microsoft.com/office/powerpoint/2010/main" val="4091317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251520" y="188640"/>
            <a:ext cx="8229600" cy="562074"/>
          </a:xfrm>
        </p:spPr>
        <p:txBody>
          <a:bodyPr>
            <a:noAutofit/>
          </a:bodyPr>
          <a:lstStyle>
            <a:lvl1pPr algn="l">
              <a:defRPr sz="4000"/>
            </a:lvl1p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C21655DC-E6D3-4EDA-9F8F-A65FA8BCFFBE}" type="datetime1">
              <a:rPr lang="ja-JP" altLang="en-US" smtClean="0">
                <a:solidFill>
                  <a:prstClr val="black">
                    <a:tint val="75000"/>
                  </a:prstClr>
                </a:solidFill>
              </a:rPr>
              <a:pPr/>
              <a:t>2025/9/19</a:t>
            </a:fld>
            <a:endParaRPr lang="ja-JP" altLang="en-US">
              <a:solidFill>
                <a:prstClr val="black">
                  <a:tint val="75000"/>
                </a:prstClr>
              </a:solidFill>
            </a:endParaRPr>
          </a:p>
        </p:txBody>
      </p:sp>
      <p:sp>
        <p:nvSpPr>
          <p:cNvPr id="5" name="フッター プレースホルダー 4"/>
          <p:cNvSpPr>
            <a:spLocks noGrp="1"/>
          </p:cNvSpPr>
          <p:nvPr>
            <p:ph type="ftr" sz="quarter" idx="11"/>
          </p:nvPr>
        </p:nvSpPr>
        <p:spPr/>
        <p:txBody>
          <a:bodyPr/>
          <a:lstStyle/>
          <a:p>
            <a:endParaRPr lang="ja-JP" altLang="en-US">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7" name="正方形/長方形 6"/>
          <p:cNvSpPr/>
          <p:nvPr userDrawn="1"/>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8" name="正方形/長方形 7"/>
          <p:cNvSpPr/>
          <p:nvPr userDrawn="1"/>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9" name="図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1358464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pPr defTabSz="914325"/>
            <a:fld id="{BAFBE6EB-1CEC-4F1A-88BB-F7176E759EF3}" type="datetime1">
              <a:rPr lang="ja-JP" altLang="en-US" smtClean="0">
                <a:solidFill>
                  <a:prstClr val="black">
                    <a:tint val="75000"/>
                  </a:prstClr>
                </a:solidFill>
              </a:rPr>
              <a:pPr defTabSz="914325"/>
              <a:t>2025/9/19</a:t>
            </a:fld>
            <a:endParaRPr lang="ja-JP" altLang="en-US">
              <a:solidFill>
                <a:prstClr val="black">
                  <a:tint val="75000"/>
                </a:prstClr>
              </a:solidFill>
            </a:endParaRPr>
          </a:p>
        </p:txBody>
      </p:sp>
      <p:sp>
        <p:nvSpPr>
          <p:cNvPr id="4" name="フッター プレースホルダー 3"/>
          <p:cNvSpPr>
            <a:spLocks noGrp="1"/>
          </p:cNvSpPr>
          <p:nvPr>
            <p:ph type="ftr" sz="quarter" idx="11"/>
          </p:nvPr>
        </p:nvSpPr>
        <p:spPr/>
        <p:txBody>
          <a:bodyPr/>
          <a:lstStyle/>
          <a:p>
            <a:pPr defTabSz="914325"/>
            <a:endParaRPr lang="ja-JP" altLang="en-US">
              <a:solidFill>
                <a:prstClr val="black">
                  <a:tint val="75000"/>
                </a:prstClr>
              </a:solidFill>
            </a:endParaRPr>
          </a:p>
        </p:txBody>
      </p:sp>
      <p:sp>
        <p:nvSpPr>
          <p:cNvPr id="5" name="スライド番号プレースホルダー 4"/>
          <p:cNvSpPr>
            <a:spLocks noGrp="1"/>
          </p:cNvSpPr>
          <p:nvPr>
            <p:ph type="sldNum" sz="quarter" idx="12"/>
          </p:nvPr>
        </p:nvSpPr>
        <p:spPr/>
        <p:txBody>
          <a:bodyPr/>
          <a:lstStyle/>
          <a:p>
            <a:pPr defTabSz="914325"/>
            <a:fld id="{7EF51226-DA47-428C-90A9-01D7D9FFCEA2}" type="slidenum">
              <a:rPr lang="ja-JP" altLang="en-US" smtClean="0">
                <a:solidFill>
                  <a:prstClr val="black">
                    <a:tint val="75000"/>
                  </a:prstClr>
                </a:solidFill>
              </a:rPr>
              <a:pPr defTabSz="914325"/>
              <a:t>‹#›</a:t>
            </a:fld>
            <a:endParaRPr lang="ja-JP" altLang="en-US">
              <a:solidFill>
                <a:prstClr val="black">
                  <a:tint val="75000"/>
                </a:prstClr>
              </a:solidFill>
            </a:endParaRPr>
          </a:p>
        </p:txBody>
      </p:sp>
    </p:spTree>
    <p:extLst>
      <p:ext uri="{BB962C8B-B14F-4D97-AF65-F5344CB8AC3E}">
        <p14:creationId xmlns:p14="http://schemas.microsoft.com/office/powerpoint/2010/main" val="3023845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pPr defTabSz="914325"/>
            <a:fld id="{BAFBE6EB-1CEC-4F1A-88BB-F7176E759EF3}" type="datetime1">
              <a:rPr lang="ja-JP" altLang="en-US" smtClean="0">
                <a:solidFill>
                  <a:prstClr val="black">
                    <a:tint val="75000"/>
                  </a:prstClr>
                </a:solidFill>
              </a:rPr>
              <a:pPr defTabSz="914325"/>
              <a:t>2025/9/19</a:t>
            </a:fld>
            <a:endParaRPr lang="ja-JP" altLang="en-US">
              <a:solidFill>
                <a:prstClr val="black">
                  <a:tint val="75000"/>
                </a:prstClr>
              </a:solidFill>
            </a:endParaRPr>
          </a:p>
        </p:txBody>
      </p:sp>
      <p:sp>
        <p:nvSpPr>
          <p:cNvPr id="4" name="フッター プレースホルダー 3"/>
          <p:cNvSpPr>
            <a:spLocks noGrp="1"/>
          </p:cNvSpPr>
          <p:nvPr>
            <p:ph type="ftr" sz="quarter" idx="11"/>
          </p:nvPr>
        </p:nvSpPr>
        <p:spPr/>
        <p:txBody>
          <a:bodyPr/>
          <a:lstStyle/>
          <a:p>
            <a:pPr defTabSz="914325"/>
            <a:endParaRPr lang="ja-JP" altLang="en-US">
              <a:solidFill>
                <a:prstClr val="black">
                  <a:tint val="75000"/>
                </a:prstClr>
              </a:solidFill>
            </a:endParaRPr>
          </a:p>
        </p:txBody>
      </p:sp>
      <p:sp>
        <p:nvSpPr>
          <p:cNvPr id="5" name="スライド番号プレースホルダー 4"/>
          <p:cNvSpPr>
            <a:spLocks noGrp="1"/>
          </p:cNvSpPr>
          <p:nvPr>
            <p:ph type="sldNum" sz="quarter" idx="12"/>
          </p:nvPr>
        </p:nvSpPr>
        <p:spPr/>
        <p:txBody>
          <a:bodyPr/>
          <a:lstStyle/>
          <a:p>
            <a:pPr defTabSz="914325"/>
            <a:fld id="{7EF51226-DA47-428C-90A9-01D7D9FFCEA2}" type="slidenum">
              <a:rPr lang="ja-JP" altLang="en-US" smtClean="0">
                <a:solidFill>
                  <a:prstClr val="black">
                    <a:tint val="75000"/>
                  </a:prstClr>
                </a:solidFill>
              </a:rPr>
              <a:pPr defTabSz="914325"/>
              <a:t>‹#›</a:t>
            </a:fld>
            <a:endParaRPr lang="ja-JP" altLang="en-US">
              <a:solidFill>
                <a:prstClr val="black">
                  <a:tint val="75000"/>
                </a:prstClr>
              </a:solidFill>
            </a:endParaRPr>
          </a:p>
        </p:txBody>
      </p:sp>
    </p:spTree>
    <p:extLst>
      <p:ext uri="{BB962C8B-B14F-4D97-AF65-F5344CB8AC3E}">
        <p14:creationId xmlns:p14="http://schemas.microsoft.com/office/powerpoint/2010/main" val="3289303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マスター タイトルの書式設定</a:t>
            </a:r>
            <a:endParaRPr kumimoji="1" lang="ja-JP" altLang="en-US" dirty="0"/>
          </a:p>
        </p:txBody>
      </p:sp>
      <p:sp>
        <p:nvSpPr>
          <p:cNvPr id="3" name="テキスト プレースホルダー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162" indent="0">
              <a:buNone/>
              <a:defRPr sz="1800">
                <a:solidFill>
                  <a:schemeClr val="tx1">
                    <a:tint val="75000"/>
                  </a:schemeClr>
                </a:solidFill>
              </a:defRPr>
            </a:lvl2pPr>
            <a:lvl3pPr marL="914325" indent="0">
              <a:buNone/>
              <a:defRPr sz="1600">
                <a:solidFill>
                  <a:schemeClr val="tx1">
                    <a:tint val="75000"/>
                  </a:schemeClr>
                </a:solidFill>
              </a:defRPr>
            </a:lvl3pPr>
            <a:lvl4pPr marL="1371487" indent="0">
              <a:buNone/>
              <a:defRPr sz="1400">
                <a:solidFill>
                  <a:schemeClr val="tx1">
                    <a:tint val="75000"/>
                  </a:schemeClr>
                </a:solidFill>
              </a:defRPr>
            </a:lvl4pPr>
            <a:lvl5pPr marL="1828650" indent="0">
              <a:buNone/>
              <a:defRPr sz="1400">
                <a:solidFill>
                  <a:schemeClr val="tx1">
                    <a:tint val="75000"/>
                  </a:schemeClr>
                </a:solidFill>
              </a:defRPr>
            </a:lvl5pPr>
            <a:lvl6pPr marL="2285811" indent="0">
              <a:buNone/>
              <a:defRPr sz="1400">
                <a:solidFill>
                  <a:schemeClr val="tx1">
                    <a:tint val="75000"/>
                  </a:schemeClr>
                </a:solidFill>
              </a:defRPr>
            </a:lvl6pPr>
            <a:lvl7pPr marL="2742974" indent="0">
              <a:buNone/>
              <a:defRPr sz="1400">
                <a:solidFill>
                  <a:schemeClr val="tx1">
                    <a:tint val="75000"/>
                  </a:schemeClr>
                </a:solidFill>
              </a:defRPr>
            </a:lvl7pPr>
            <a:lvl8pPr marL="3200136" indent="0">
              <a:buNone/>
              <a:defRPr sz="1400">
                <a:solidFill>
                  <a:schemeClr val="tx1">
                    <a:tint val="75000"/>
                  </a:schemeClr>
                </a:solidFill>
              </a:defRPr>
            </a:lvl8pPr>
            <a:lvl9pPr marL="3657299"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883D8CF6-D4CE-4B93-94E9-61FC1C15347F}" type="datetime1">
              <a:rPr lang="ja-JP" altLang="en-US" smtClean="0">
                <a:solidFill>
                  <a:prstClr val="black">
                    <a:tint val="75000"/>
                  </a:prstClr>
                </a:solidFill>
              </a:rPr>
              <a:pPr/>
              <a:t>2025/9/19</a:t>
            </a:fld>
            <a:endParaRPr lang="ja-JP" altLang="en-US">
              <a:solidFill>
                <a:prstClr val="black">
                  <a:tint val="75000"/>
                </a:prstClr>
              </a:solidFill>
            </a:endParaRPr>
          </a:p>
        </p:txBody>
      </p:sp>
      <p:sp>
        <p:nvSpPr>
          <p:cNvPr id="5" name="フッター プレースホルダー 4"/>
          <p:cNvSpPr>
            <a:spLocks noGrp="1"/>
          </p:cNvSpPr>
          <p:nvPr>
            <p:ph type="ftr" sz="quarter" idx="11"/>
          </p:nvPr>
        </p:nvSpPr>
        <p:spPr/>
        <p:txBody>
          <a:bodyPr/>
          <a:lstStyle/>
          <a:p>
            <a:endParaRPr lang="ja-JP" altLang="en-US">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7" name="正方形/長方形 6"/>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8" name="正方形/長方形 7"/>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9" name="図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4156716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83DECB7B-2937-4752-B5A5-5534FD267DE9}" type="datetime1">
              <a:rPr lang="ja-JP" altLang="en-US" smtClean="0">
                <a:solidFill>
                  <a:prstClr val="black">
                    <a:tint val="75000"/>
                  </a:prstClr>
                </a:solidFill>
              </a:rPr>
              <a:pPr/>
              <a:t>2025/9/19</a:t>
            </a:fld>
            <a:endParaRPr lang="ja-JP" altLang="en-US">
              <a:solidFill>
                <a:prstClr val="black">
                  <a:tint val="75000"/>
                </a:prstClr>
              </a:solidFill>
            </a:endParaRPr>
          </a:p>
        </p:txBody>
      </p:sp>
      <p:sp>
        <p:nvSpPr>
          <p:cNvPr id="6" name="フッター プレースホルダー 5"/>
          <p:cNvSpPr>
            <a:spLocks noGrp="1"/>
          </p:cNvSpPr>
          <p:nvPr>
            <p:ph type="ftr" sz="quarter" idx="11"/>
          </p:nvPr>
        </p:nvSpPr>
        <p:spPr/>
        <p:txBody>
          <a:bodyPr/>
          <a:lstStyle/>
          <a:p>
            <a:endParaRPr lang="ja-JP" altLang="en-US">
              <a:solidFill>
                <a:prstClr val="black">
                  <a:tint val="75000"/>
                </a:prstClr>
              </a:solidFill>
            </a:endParaRPr>
          </a:p>
        </p:txBody>
      </p:sp>
      <p:sp>
        <p:nvSpPr>
          <p:cNvPr id="7" name="スライド番号プレースホルダー 6"/>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8" name="正方形/長方形 7"/>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9" name="正方形/長方形 8"/>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10" name="図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4066980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162" indent="0">
              <a:buNone/>
              <a:defRPr sz="2000" b="1"/>
            </a:lvl2pPr>
            <a:lvl3pPr marL="914325" indent="0">
              <a:buNone/>
              <a:defRPr sz="1800" b="1"/>
            </a:lvl3pPr>
            <a:lvl4pPr marL="1371487" indent="0">
              <a:buNone/>
              <a:defRPr sz="1600" b="1"/>
            </a:lvl4pPr>
            <a:lvl5pPr marL="1828650" indent="0">
              <a:buNone/>
              <a:defRPr sz="1600" b="1"/>
            </a:lvl5pPr>
            <a:lvl6pPr marL="2285811" indent="0">
              <a:buNone/>
              <a:defRPr sz="1600" b="1"/>
            </a:lvl6pPr>
            <a:lvl7pPr marL="2742974" indent="0">
              <a:buNone/>
              <a:defRPr sz="1600" b="1"/>
            </a:lvl7pPr>
            <a:lvl8pPr marL="3200136" indent="0">
              <a:buNone/>
              <a:defRPr sz="1600" b="1"/>
            </a:lvl8pPr>
            <a:lvl9pPr marL="3657299"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45026" y="1535113"/>
            <a:ext cx="4041775" cy="639762"/>
          </a:xfrm>
        </p:spPr>
        <p:txBody>
          <a:bodyPr anchor="b"/>
          <a:lstStyle>
            <a:lvl1pPr marL="0" indent="0">
              <a:buNone/>
              <a:defRPr sz="2400" b="1"/>
            </a:lvl1pPr>
            <a:lvl2pPr marL="457162" indent="0">
              <a:buNone/>
              <a:defRPr sz="2000" b="1"/>
            </a:lvl2pPr>
            <a:lvl3pPr marL="914325" indent="0">
              <a:buNone/>
              <a:defRPr sz="1800" b="1"/>
            </a:lvl3pPr>
            <a:lvl4pPr marL="1371487" indent="0">
              <a:buNone/>
              <a:defRPr sz="1600" b="1"/>
            </a:lvl4pPr>
            <a:lvl5pPr marL="1828650" indent="0">
              <a:buNone/>
              <a:defRPr sz="1600" b="1"/>
            </a:lvl5pPr>
            <a:lvl6pPr marL="2285811" indent="0">
              <a:buNone/>
              <a:defRPr sz="1600" b="1"/>
            </a:lvl6pPr>
            <a:lvl7pPr marL="2742974" indent="0">
              <a:buNone/>
              <a:defRPr sz="1600" b="1"/>
            </a:lvl7pPr>
            <a:lvl8pPr marL="3200136" indent="0">
              <a:buNone/>
              <a:defRPr sz="1600" b="1"/>
            </a:lvl8pPr>
            <a:lvl9pPr marL="3657299"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0A39BE25-239B-4F22-BC89-56B31AD745E6}" type="datetime1">
              <a:rPr lang="ja-JP" altLang="en-US" smtClean="0">
                <a:solidFill>
                  <a:prstClr val="black">
                    <a:tint val="75000"/>
                  </a:prstClr>
                </a:solidFill>
              </a:rPr>
              <a:pPr/>
              <a:t>2025/9/19</a:t>
            </a:fld>
            <a:endParaRPr lang="ja-JP" altLang="en-US">
              <a:solidFill>
                <a:prstClr val="black">
                  <a:tint val="75000"/>
                </a:prstClr>
              </a:solidFill>
            </a:endParaRPr>
          </a:p>
        </p:txBody>
      </p:sp>
      <p:sp>
        <p:nvSpPr>
          <p:cNvPr id="8" name="フッター プレースホルダー 7"/>
          <p:cNvSpPr>
            <a:spLocks noGrp="1"/>
          </p:cNvSpPr>
          <p:nvPr>
            <p:ph type="ftr" sz="quarter" idx="11"/>
          </p:nvPr>
        </p:nvSpPr>
        <p:spPr/>
        <p:txBody>
          <a:bodyPr/>
          <a:lstStyle/>
          <a:p>
            <a:endParaRPr lang="ja-JP" altLang="en-US">
              <a:solidFill>
                <a:prstClr val="black">
                  <a:tint val="75000"/>
                </a:prstClr>
              </a:solidFill>
            </a:endParaRPr>
          </a:p>
        </p:txBody>
      </p:sp>
      <p:sp>
        <p:nvSpPr>
          <p:cNvPr id="9" name="スライド番号プレースホルダー 8"/>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10" name="正方形/長方形 9"/>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11" name="正方形/長方形 10"/>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12" name="図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1069977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A91FD59B-0529-4F0A-AC1C-31F5FE96E54C}" type="datetime1">
              <a:rPr lang="ja-JP" altLang="en-US" smtClean="0">
                <a:solidFill>
                  <a:prstClr val="black">
                    <a:tint val="75000"/>
                  </a:prstClr>
                </a:solidFill>
              </a:rPr>
              <a:pPr/>
              <a:t>2025/9/19</a:t>
            </a:fld>
            <a:endParaRPr lang="ja-JP" altLang="en-US">
              <a:solidFill>
                <a:prstClr val="black">
                  <a:tint val="75000"/>
                </a:prstClr>
              </a:solidFill>
            </a:endParaRPr>
          </a:p>
        </p:txBody>
      </p:sp>
      <p:sp>
        <p:nvSpPr>
          <p:cNvPr id="4" name="フッター プレースホルダー 3"/>
          <p:cNvSpPr>
            <a:spLocks noGrp="1"/>
          </p:cNvSpPr>
          <p:nvPr>
            <p:ph type="ftr" sz="quarter" idx="11"/>
          </p:nvPr>
        </p:nvSpPr>
        <p:spPr/>
        <p:txBody>
          <a:bodyPr/>
          <a:lstStyle/>
          <a:p>
            <a:endParaRPr lang="ja-JP" altLang="en-US">
              <a:solidFill>
                <a:prstClr val="black">
                  <a:tint val="75000"/>
                </a:prstClr>
              </a:solidFill>
            </a:endParaRPr>
          </a:p>
        </p:txBody>
      </p:sp>
      <p:sp>
        <p:nvSpPr>
          <p:cNvPr id="5" name="スライド番号プレースホルダー 4"/>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6" name="正方形/長方形 5"/>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7" name="正方形/長方形 6"/>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8" name="図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1392650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77A05AD7-EFBD-467B-A229-56D93D416DD6}" type="datetime1">
              <a:rPr lang="ja-JP" altLang="en-US" smtClean="0">
                <a:solidFill>
                  <a:prstClr val="black">
                    <a:tint val="75000"/>
                  </a:prstClr>
                </a:solidFill>
              </a:rPr>
              <a:pPr/>
              <a:t>2025/9/19</a:t>
            </a:fld>
            <a:endParaRPr lang="ja-JP" altLang="en-US">
              <a:solidFill>
                <a:prstClr val="black">
                  <a:tint val="75000"/>
                </a:prstClr>
              </a:solidFill>
            </a:endParaRPr>
          </a:p>
        </p:txBody>
      </p:sp>
      <p:sp>
        <p:nvSpPr>
          <p:cNvPr id="3" name="フッター プレースホルダー 2"/>
          <p:cNvSpPr>
            <a:spLocks noGrp="1"/>
          </p:cNvSpPr>
          <p:nvPr>
            <p:ph type="ftr" sz="quarter" idx="11"/>
          </p:nvPr>
        </p:nvSpPr>
        <p:spPr/>
        <p:txBody>
          <a:bodyPr/>
          <a:lstStyle/>
          <a:p>
            <a:endParaRPr lang="ja-JP" altLang="en-US">
              <a:solidFill>
                <a:prstClr val="black">
                  <a:tint val="75000"/>
                </a:prstClr>
              </a:solidFill>
            </a:endParaRPr>
          </a:p>
        </p:txBody>
      </p:sp>
      <p:sp>
        <p:nvSpPr>
          <p:cNvPr id="4" name="スライド番号プレースホルダー 3"/>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5" name="正方形/長方形 4"/>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6" name="正方形/長方形 5"/>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7" name="図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3691013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1" y="273050"/>
            <a:ext cx="3008313"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57201" y="1435100"/>
            <a:ext cx="3008313" cy="4691063"/>
          </a:xfrm>
        </p:spPr>
        <p:txBody>
          <a:bodyPr/>
          <a:lstStyle>
            <a:lvl1pPr marL="0" indent="0">
              <a:buNone/>
              <a:defRPr sz="1400"/>
            </a:lvl1pPr>
            <a:lvl2pPr marL="457162" indent="0">
              <a:buNone/>
              <a:defRPr sz="1200"/>
            </a:lvl2pPr>
            <a:lvl3pPr marL="914325" indent="0">
              <a:buNone/>
              <a:defRPr sz="1000"/>
            </a:lvl3pPr>
            <a:lvl4pPr marL="1371487" indent="0">
              <a:buNone/>
              <a:defRPr sz="900"/>
            </a:lvl4pPr>
            <a:lvl5pPr marL="1828650" indent="0">
              <a:buNone/>
              <a:defRPr sz="900"/>
            </a:lvl5pPr>
            <a:lvl6pPr marL="2285811" indent="0">
              <a:buNone/>
              <a:defRPr sz="900"/>
            </a:lvl6pPr>
            <a:lvl7pPr marL="2742974" indent="0">
              <a:buNone/>
              <a:defRPr sz="900"/>
            </a:lvl7pPr>
            <a:lvl8pPr marL="3200136" indent="0">
              <a:buNone/>
              <a:defRPr sz="900"/>
            </a:lvl8pPr>
            <a:lvl9pPr marL="3657299"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791CA37-0F6F-4A80-8A05-676A5977E4BA}" type="datetime1">
              <a:rPr lang="ja-JP" altLang="en-US" smtClean="0">
                <a:solidFill>
                  <a:prstClr val="black">
                    <a:tint val="75000"/>
                  </a:prstClr>
                </a:solidFill>
              </a:rPr>
              <a:pPr/>
              <a:t>2025/9/19</a:t>
            </a:fld>
            <a:endParaRPr lang="ja-JP" altLang="en-US">
              <a:solidFill>
                <a:prstClr val="black">
                  <a:tint val="75000"/>
                </a:prstClr>
              </a:solidFill>
            </a:endParaRPr>
          </a:p>
        </p:txBody>
      </p:sp>
      <p:sp>
        <p:nvSpPr>
          <p:cNvPr id="6" name="フッター プレースホルダー 5"/>
          <p:cNvSpPr>
            <a:spLocks noGrp="1"/>
          </p:cNvSpPr>
          <p:nvPr>
            <p:ph type="ftr" sz="quarter" idx="11"/>
          </p:nvPr>
        </p:nvSpPr>
        <p:spPr/>
        <p:txBody>
          <a:bodyPr/>
          <a:lstStyle/>
          <a:p>
            <a:endParaRPr lang="ja-JP" altLang="en-US">
              <a:solidFill>
                <a:prstClr val="black">
                  <a:tint val="75000"/>
                </a:prstClr>
              </a:solidFill>
            </a:endParaRPr>
          </a:p>
        </p:txBody>
      </p:sp>
      <p:sp>
        <p:nvSpPr>
          <p:cNvPr id="7" name="スライド番号プレースホルダー 6"/>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8" name="正方形/長方形 7"/>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9" name="正方形/長方形 8"/>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10" name="図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2618947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162" indent="0">
              <a:buNone/>
              <a:defRPr sz="2800"/>
            </a:lvl2pPr>
            <a:lvl3pPr marL="914325" indent="0">
              <a:buNone/>
              <a:defRPr sz="2400"/>
            </a:lvl3pPr>
            <a:lvl4pPr marL="1371487" indent="0">
              <a:buNone/>
              <a:defRPr sz="2000"/>
            </a:lvl4pPr>
            <a:lvl5pPr marL="1828650" indent="0">
              <a:buNone/>
              <a:defRPr sz="2000"/>
            </a:lvl5pPr>
            <a:lvl6pPr marL="2285811" indent="0">
              <a:buNone/>
              <a:defRPr sz="2000"/>
            </a:lvl6pPr>
            <a:lvl7pPr marL="2742974" indent="0">
              <a:buNone/>
              <a:defRPr sz="2000"/>
            </a:lvl7pPr>
            <a:lvl8pPr marL="3200136" indent="0">
              <a:buNone/>
              <a:defRPr sz="2000"/>
            </a:lvl8pPr>
            <a:lvl9pPr marL="3657299" indent="0">
              <a:buNone/>
              <a:defRPr sz="2000"/>
            </a:lvl9pPr>
          </a:lstStyle>
          <a:p>
            <a:r>
              <a:rPr kumimoji="1" lang="ja-JP" altLang="en-US"/>
              <a:t>アイコンをクリックして図を追加</a:t>
            </a:r>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162" indent="0">
              <a:buNone/>
              <a:defRPr sz="1200"/>
            </a:lvl2pPr>
            <a:lvl3pPr marL="914325" indent="0">
              <a:buNone/>
              <a:defRPr sz="1000"/>
            </a:lvl3pPr>
            <a:lvl4pPr marL="1371487" indent="0">
              <a:buNone/>
              <a:defRPr sz="900"/>
            </a:lvl4pPr>
            <a:lvl5pPr marL="1828650" indent="0">
              <a:buNone/>
              <a:defRPr sz="900"/>
            </a:lvl5pPr>
            <a:lvl6pPr marL="2285811" indent="0">
              <a:buNone/>
              <a:defRPr sz="900"/>
            </a:lvl6pPr>
            <a:lvl7pPr marL="2742974" indent="0">
              <a:buNone/>
              <a:defRPr sz="900"/>
            </a:lvl7pPr>
            <a:lvl8pPr marL="3200136" indent="0">
              <a:buNone/>
              <a:defRPr sz="900"/>
            </a:lvl8pPr>
            <a:lvl9pPr marL="3657299"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F67B4C7B-9A88-45E7-989D-0D5562E770A7}" type="datetime1">
              <a:rPr lang="ja-JP" altLang="en-US" smtClean="0">
                <a:solidFill>
                  <a:prstClr val="black">
                    <a:tint val="75000"/>
                  </a:prstClr>
                </a:solidFill>
              </a:rPr>
              <a:pPr/>
              <a:t>2025/9/19</a:t>
            </a:fld>
            <a:endParaRPr lang="ja-JP" altLang="en-US">
              <a:solidFill>
                <a:prstClr val="black">
                  <a:tint val="75000"/>
                </a:prstClr>
              </a:solidFill>
            </a:endParaRPr>
          </a:p>
        </p:txBody>
      </p:sp>
      <p:sp>
        <p:nvSpPr>
          <p:cNvPr id="6" name="フッター プレースホルダー 5"/>
          <p:cNvSpPr>
            <a:spLocks noGrp="1"/>
          </p:cNvSpPr>
          <p:nvPr>
            <p:ph type="ftr" sz="quarter" idx="11"/>
          </p:nvPr>
        </p:nvSpPr>
        <p:spPr/>
        <p:txBody>
          <a:bodyPr/>
          <a:lstStyle/>
          <a:p>
            <a:endParaRPr lang="ja-JP" altLang="en-US">
              <a:solidFill>
                <a:prstClr val="black">
                  <a:tint val="75000"/>
                </a:prstClr>
              </a:solidFill>
            </a:endParaRPr>
          </a:p>
        </p:txBody>
      </p:sp>
      <p:sp>
        <p:nvSpPr>
          <p:cNvPr id="7" name="スライド番号プレースホルダー 6"/>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8" name="正方形/長方形 7"/>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9" name="正方形/長方形 8"/>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10" name="図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3022930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CD8487-2542-4F07-8131-B8BDEFC118FA}" type="datetime1">
              <a:rPr lang="ja-JP" altLang="en-US" smtClean="0">
                <a:solidFill>
                  <a:prstClr val="black">
                    <a:tint val="75000"/>
                  </a:prstClr>
                </a:solidFill>
              </a:rPr>
              <a:pPr/>
              <a:t>2025/9/19</a:t>
            </a:fld>
            <a:endParaRPr lang="ja-JP" altLang="en-US">
              <a:solidFill>
                <a:prstClr val="black">
                  <a:tint val="75000"/>
                </a:prstClr>
              </a:solidFill>
            </a:endParaRPr>
          </a:p>
        </p:txBody>
      </p:sp>
      <p:sp>
        <p:nvSpPr>
          <p:cNvPr id="5" name="フッター プレースホルダー 4"/>
          <p:cNvSpPr>
            <a:spLocks noGrp="1"/>
          </p:cNvSpPr>
          <p:nvPr>
            <p:ph type="ftr" sz="quarter" idx="11"/>
          </p:nvPr>
        </p:nvSpPr>
        <p:spPr/>
        <p:txBody>
          <a:bodyPr/>
          <a:lstStyle/>
          <a:p>
            <a:endParaRPr lang="ja-JP" altLang="en-US">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7" name="正方形/長方形 6"/>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8" name="正方形/長方形 7"/>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9" name="図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8969023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8EB3DB28-47F4-4AE5-AEE8-969A8F0FF8D0}" type="datetime1">
              <a:rPr lang="ja-JP" altLang="en-US" smtClean="0">
                <a:solidFill>
                  <a:prstClr val="black">
                    <a:tint val="75000"/>
                  </a:prstClr>
                </a:solidFill>
              </a:rPr>
              <a:pPr/>
              <a:t>2025/9/19</a:t>
            </a:fld>
            <a:endParaRPr lang="ja-JP" altLang="en-US">
              <a:solidFill>
                <a:prstClr val="black">
                  <a:tint val="75000"/>
                </a:prstClr>
              </a:solidFill>
            </a:endParaRPr>
          </a:p>
        </p:txBody>
      </p:sp>
      <p:sp>
        <p:nvSpPr>
          <p:cNvPr id="5" name="フッター プレースホルダー 4"/>
          <p:cNvSpPr>
            <a:spLocks noGrp="1"/>
          </p:cNvSpPr>
          <p:nvPr>
            <p:ph type="ftr" sz="quarter" idx="11"/>
          </p:nvPr>
        </p:nvSpPr>
        <p:spPr/>
        <p:txBody>
          <a:bodyPr/>
          <a:lstStyle/>
          <a:p>
            <a:endParaRPr lang="ja-JP" altLang="en-US">
              <a:solidFill>
                <a:prstClr val="black">
                  <a:tint val="75000"/>
                </a:prstClr>
              </a:solidFill>
            </a:endParaRPr>
          </a:p>
        </p:txBody>
      </p:sp>
      <p:sp>
        <p:nvSpPr>
          <p:cNvPr id="6" name="スライド番号プレースホルダー 5"/>
          <p:cNvSpPr>
            <a:spLocks noGrp="1"/>
          </p:cNvSpPr>
          <p:nvPr>
            <p:ph type="sldNum" sz="quarter" idx="12"/>
          </p:nvPr>
        </p:nvSpPr>
        <p:spPr/>
        <p:txBody>
          <a:bodyPr/>
          <a:lstStyle/>
          <a:p>
            <a:fld id="{7EF51226-DA47-428C-90A9-01D7D9FFCEA2}" type="slidenum">
              <a:rPr lang="ja-JP" altLang="en-US" smtClean="0">
                <a:solidFill>
                  <a:prstClr val="black">
                    <a:tint val="75000"/>
                  </a:prstClr>
                </a:solidFill>
              </a:rPr>
              <a:pPr/>
              <a:t>‹#›</a:t>
            </a:fld>
            <a:endParaRPr lang="ja-JP" altLang="en-US">
              <a:solidFill>
                <a:prstClr val="black">
                  <a:tint val="75000"/>
                </a:prstClr>
              </a:solidFill>
            </a:endParaRPr>
          </a:p>
        </p:txBody>
      </p:sp>
      <p:sp>
        <p:nvSpPr>
          <p:cNvPr id="7" name="正方形/長方形 6"/>
          <p:cNvSpPr/>
          <p:nvPr/>
        </p:nvSpPr>
        <p:spPr>
          <a:xfrm>
            <a:off x="0" y="781884"/>
            <a:ext cx="9144000" cy="45719"/>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sp>
        <p:nvSpPr>
          <p:cNvPr id="8" name="正方形/長方形 7"/>
          <p:cNvSpPr/>
          <p:nvPr/>
        </p:nvSpPr>
        <p:spPr>
          <a:xfrm>
            <a:off x="0" y="723286"/>
            <a:ext cx="91440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91432" tIns="45717" rIns="91432" bIns="45717" rtlCol="0" anchor="ctr"/>
          <a:lstStyle/>
          <a:p>
            <a:pPr algn="ctr" defTabSz="914325"/>
            <a:endParaRPr lang="ja-JP" altLang="en-US">
              <a:solidFill>
                <a:prstClr val="white"/>
              </a:solidFill>
            </a:endParaRPr>
          </a:p>
        </p:txBody>
      </p:sp>
      <p:pic>
        <p:nvPicPr>
          <p:cNvPr id="9" name="図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465" y="415231"/>
            <a:ext cx="713232" cy="262128"/>
          </a:xfrm>
          <a:prstGeom prst="rect">
            <a:avLst/>
          </a:prstGeom>
        </p:spPr>
      </p:pic>
    </p:spTree>
    <p:extLst>
      <p:ext uri="{BB962C8B-B14F-4D97-AF65-F5344CB8AC3E}">
        <p14:creationId xmlns:p14="http://schemas.microsoft.com/office/powerpoint/2010/main" val="16533251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738F980E-FF18-4E24-A0A6-DD4634AE14D0}" type="datetimeFigureOut">
              <a:rPr kumimoji="1" lang="ja-JP" altLang="en-US" smtClean="0"/>
              <a:t>2025/9/19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2396464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738F980E-FF18-4E24-A0A6-DD4634AE14D0}" type="datetimeFigureOut">
              <a:rPr kumimoji="1" lang="ja-JP" altLang="en-US" smtClean="0"/>
              <a:t>2025/9/19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244300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738F980E-FF18-4E24-A0A6-DD4634AE14D0}" type="datetimeFigureOut">
              <a:rPr kumimoji="1" lang="ja-JP" altLang="en-US" smtClean="0"/>
              <a:t>2025/9/19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28094465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738F980E-FF18-4E24-A0A6-DD4634AE14D0}" type="datetimeFigureOut">
              <a:rPr kumimoji="1" lang="ja-JP" altLang="en-US" smtClean="0"/>
              <a:t>2025/9/19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10244737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738F980E-FF18-4E24-A0A6-DD4634AE14D0}" type="datetimeFigureOut">
              <a:rPr kumimoji="1" lang="ja-JP" altLang="en-US" smtClean="0"/>
              <a:t>2025/9/19</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14123759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738F980E-FF18-4E24-A0A6-DD4634AE14D0}" type="datetimeFigureOut">
              <a:rPr kumimoji="1" lang="ja-JP" altLang="en-US" smtClean="0"/>
              <a:t>2025/9/19</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2029063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738F980E-FF18-4E24-A0A6-DD4634AE14D0}" type="datetimeFigureOut">
              <a:rPr kumimoji="1" lang="ja-JP" altLang="en-US" smtClean="0"/>
              <a:t>2025/9/19</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3015107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738F980E-FF18-4E24-A0A6-DD4634AE14D0}" type="datetimeFigureOut">
              <a:rPr kumimoji="1" lang="ja-JP" altLang="en-US" smtClean="0"/>
              <a:t>2025/9/19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34595669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738F980E-FF18-4E24-A0A6-DD4634AE14D0}" type="datetimeFigureOut">
              <a:rPr kumimoji="1" lang="ja-JP" altLang="en-US" smtClean="0"/>
              <a:t>2025/9/19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30017538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738F980E-FF18-4E24-A0A6-DD4634AE14D0}" type="datetimeFigureOut">
              <a:rPr kumimoji="1" lang="ja-JP" altLang="en-US" smtClean="0"/>
              <a:t>2025/9/19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27421496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738F980E-FF18-4E24-A0A6-DD4634AE14D0}" type="datetimeFigureOut">
              <a:rPr kumimoji="1" lang="ja-JP" altLang="en-US" smtClean="0"/>
              <a:t>2025/9/19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11815686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C3F829A3-21EE-40DE-96AB-F49D620B79E1}" type="datetimeFigureOut">
              <a:rPr kumimoji="1" lang="ja-JP" altLang="en-US" smtClean="0"/>
              <a:t>2025/9/19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31561690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C3F829A3-21EE-40DE-96AB-F49D620B79E1}" type="datetimeFigureOut">
              <a:rPr kumimoji="1" lang="ja-JP" altLang="en-US" smtClean="0"/>
              <a:t>2025/9/19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11618442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C3F829A3-21EE-40DE-96AB-F49D620B79E1}" type="datetimeFigureOut">
              <a:rPr kumimoji="1" lang="ja-JP" altLang="en-US" smtClean="0"/>
              <a:t>2025/9/19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41430106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C3F829A3-21EE-40DE-96AB-F49D620B79E1}" type="datetimeFigureOut">
              <a:rPr kumimoji="1" lang="ja-JP" altLang="en-US" smtClean="0"/>
              <a:t>2025/9/19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1455193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C3F829A3-21EE-40DE-96AB-F49D620B79E1}" type="datetimeFigureOut">
              <a:rPr kumimoji="1" lang="ja-JP" altLang="en-US" smtClean="0"/>
              <a:t>2025/9/19</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34932193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C3F829A3-21EE-40DE-96AB-F49D620B79E1}" type="datetimeFigureOut">
              <a:rPr kumimoji="1" lang="ja-JP" altLang="en-US" smtClean="0"/>
              <a:t>2025/9/19</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16281743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C3F829A3-21EE-40DE-96AB-F49D620B79E1}" type="datetimeFigureOut">
              <a:rPr kumimoji="1" lang="ja-JP" altLang="en-US" smtClean="0"/>
              <a:t>2025/9/19</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34690380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C3F829A3-21EE-40DE-96AB-F49D620B79E1}" type="datetimeFigureOut">
              <a:rPr kumimoji="1" lang="ja-JP" altLang="en-US" smtClean="0"/>
              <a:t>2025/9/19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2448459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C3F829A3-21EE-40DE-96AB-F49D620B79E1}" type="datetimeFigureOut">
              <a:rPr kumimoji="1" lang="ja-JP" altLang="en-US" smtClean="0"/>
              <a:t>2025/9/19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32003962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C3F829A3-21EE-40DE-96AB-F49D620B79E1}" type="datetimeFigureOut">
              <a:rPr kumimoji="1" lang="ja-JP" altLang="en-US" smtClean="0"/>
              <a:t>2025/9/19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31990020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C3F829A3-21EE-40DE-96AB-F49D620B79E1}" type="datetimeFigureOut">
              <a:rPr kumimoji="1" lang="ja-JP" altLang="en-US" smtClean="0"/>
              <a:t>2025/9/19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2398579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テキスト ボックス 8"/>
          <p:cNvSpPr txBox="1"/>
          <p:nvPr/>
        </p:nvSpPr>
        <p:spPr>
          <a:xfrm>
            <a:off x="107504" y="6692756"/>
            <a:ext cx="5400600" cy="200049"/>
          </a:xfrm>
          <a:prstGeom prst="rect">
            <a:avLst/>
          </a:prstGeom>
          <a:noFill/>
        </p:spPr>
        <p:txBody>
          <a:bodyPr wrap="square" lIns="91432" tIns="45717" rIns="91432" bIns="45717" rtlCol="0">
            <a:spAutoFit/>
          </a:bodyPr>
          <a:lstStyle/>
          <a:p>
            <a:pPr defTabSz="914325"/>
            <a:r>
              <a:rPr lang="en-US" altLang="ja-JP" sz="700" dirty="0">
                <a:solidFill>
                  <a:prstClr val="black"/>
                </a:solidFill>
              </a:rPr>
              <a:t>Copyright(C) </a:t>
            </a:r>
            <a:r>
              <a:rPr lang="en-US" altLang="ja-JP" sz="700" dirty="0" err="1">
                <a:solidFill>
                  <a:prstClr val="black"/>
                </a:solidFill>
              </a:rPr>
              <a:t>MMInternational</a:t>
            </a:r>
            <a:r>
              <a:rPr lang="en-US" altLang="ja-JP" sz="700" dirty="0">
                <a:solidFill>
                  <a:prstClr val="black"/>
                </a:solidFill>
              </a:rPr>
              <a:t> Inc. All rights reserved</a:t>
            </a:r>
            <a:endParaRPr lang="ja-JP" altLang="en-US" sz="700" dirty="0">
              <a:solidFill>
                <a:prstClr val="black"/>
              </a:solidFill>
            </a:endParaRPr>
          </a:p>
        </p:txBody>
      </p:sp>
      <p:sp>
        <p:nvSpPr>
          <p:cNvPr id="2" name="タイトル プレースホルダー 1"/>
          <p:cNvSpPr>
            <a:spLocks noGrp="1"/>
          </p:cNvSpPr>
          <p:nvPr>
            <p:ph type="title"/>
          </p:nvPr>
        </p:nvSpPr>
        <p:spPr>
          <a:xfrm>
            <a:off x="457200" y="188641"/>
            <a:ext cx="8229600" cy="488719"/>
          </a:xfrm>
          <a:prstGeom prst="rect">
            <a:avLst/>
          </a:prstGeom>
        </p:spPr>
        <p:txBody>
          <a:bodyPr vert="horz" lIns="91432" tIns="45717" rIns="91432" bIns="45717"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457200" y="1600201"/>
            <a:ext cx="8229600" cy="4525963"/>
          </a:xfrm>
          <a:prstGeom prst="rect">
            <a:avLst/>
          </a:prstGeom>
        </p:spPr>
        <p:txBody>
          <a:bodyPr vert="horz" lIns="91432" tIns="45717" rIns="91432" bIns="45717"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57200" y="6240439"/>
            <a:ext cx="2133600" cy="365125"/>
          </a:xfrm>
          <a:prstGeom prst="rect">
            <a:avLst/>
          </a:prstGeom>
        </p:spPr>
        <p:txBody>
          <a:bodyPr vert="horz" lIns="91432" tIns="45717" rIns="91432" bIns="45717" rtlCol="0" anchor="ctr"/>
          <a:lstStyle>
            <a:lvl1pPr algn="l">
              <a:defRPr sz="1200">
                <a:solidFill>
                  <a:schemeClr val="tx1">
                    <a:tint val="75000"/>
                  </a:schemeClr>
                </a:solidFill>
              </a:defRPr>
            </a:lvl1pPr>
          </a:lstStyle>
          <a:p>
            <a:pPr defTabSz="914325"/>
            <a:fld id="{BAFBE6EB-1CEC-4F1A-88BB-F7176E759EF3}" type="datetime1">
              <a:rPr lang="ja-JP" altLang="en-US" smtClean="0">
                <a:solidFill>
                  <a:prstClr val="black">
                    <a:tint val="75000"/>
                  </a:prstClr>
                </a:solidFill>
              </a:rPr>
              <a:pPr defTabSz="914325"/>
              <a:t>2025/9/19</a:t>
            </a:fld>
            <a:endParaRPr lang="ja-JP" altLang="en-US">
              <a:solidFill>
                <a:prstClr val="black">
                  <a:tint val="75000"/>
                </a:prstClr>
              </a:solidFill>
            </a:endParaRPr>
          </a:p>
        </p:txBody>
      </p:sp>
      <p:sp>
        <p:nvSpPr>
          <p:cNvPr id="5" name="フッター プレースホルダー 4"/>
          <p:cNvSpPr>
            <a:spLocks noGrp="1"/>
          </p:cNvSpPr>
          <p:nvPr>
            <p:ph type="ftr" sz="quarter" idx="3"/>
          </p:nvPr>
        </p:nvSpPr>
        <p:spPr>
          <a:xfrm>
            <a:off x="3124200" y="6240439"/>
            <a:ext cx="2895600" cy="365125"/>
          </a:xfrm>
          <a:prstGeom prst="rect">
            <a:avLst/>
          </a:prstGeom>
        </p:spPr>
        <p:txBody>
          <a:bodyPr vert="horz" lIns="91432" tIns="45717" rIns="91432" bIns="45717" rtlCol="0" anchor="ctr"/>
          <a:lstStyle>
            <a:lvl1pPr algn="ctr">
              <a:defRPr sz="1200">
                <a:solidFill>
                  <a:schemeClr val="tx1">
                    <a:tint val="75000"/>
                  </a:schemeClr>
                </a:solidFill>
              </a:defRPr>
            </a:lvl1pPr>
          </a:lstStyle>
          <a:p>
            <a:pPr defTabSz="914325"/>
            <a:endParaRPr lang="ja-JP" altLang="en-US">
              <a:solidFill>
                <a:prstClr val="black">
                  <a:tint val="75000"/>
                </a:prstClr>
              </a:solidFill>
            </a:endParaRPr>
          </a:p>
        </p:txBody>
      </p:sp>
      <p:sp>
        <p:nvSpPr>
          <p:cNvPr id="6" name="スライド番号プレースホルダー 5"/>
          <p:cNvSpPr>
            <a:spLocks noGrp="1"/>
          </p:cNvSpPr>
          <p:nvPr>
            <p:ph type="sldNum" sz="quarter" idx="4"/>
          </p:nvPr>
        </p:nvSpPr>
        <p:spPr>
          <a:xfrm>
            <a:off x="6553200" y="6240439"/>
            <a:ext cx="2133600" cy="365125"/>
          </a:xfrm>
          <a:prstGeom prst="rect">
            <a:avLst/>
          </a:prstGeom>
        </p:spPr>
        <p:txBody>
          <a:bodyPr vert="horz" lIns="91432" tIns="45717" rIns="91432" bIns="45717" rtlCol="0" anchor="ctr"/>
          <a:lstStyle>
            <a:lvl1pPr algn="r">
              <a:defRPr sz="1200">
                <a:solidFill>
                  <a:schemeClr val="tx1">
                    <a:tint val="75000"/>
                  </a:schemeClr>
                </a:solidFill>
              </a:defRPr>
            </a:lvl1pPr>
          </a:lstStyle>
          <a:p>
            <a:pPr defTabSz="914325"/>
            <a:fld id="{7EF51226-DA47-428C-90A9-01D7D9FFCEA2}" type="slidenum">
              <a:rPr lang="ja-JP" altLang="en-US" smtClean="0">
                <a:solidFill>
                  <a:prstClr val="black">
                    <a:tint val="75000"/>
                  </a:prstClr>
                </a:solidFill>
              </a:rPr>
              <a:pPr defTabSz="914325"/>
              <a:t>‹#›</a:t>
            </a:fld>
            <a:endParaRPr lang="ja-JP" altLang="en-US">
              <a:solidFill>
                <a:prstClr val="black">
                  <a:tint val="75000"/>
                </a:prstClr>
              </a:solidFill>
            </a:endParaRPr>
          </a:p>
        </p:txBody>
      </p:sp>
      <p:cxnSp>
        <p:nvCxnSpPr>
          <p:cNvPr id="13" name="直線コネクタ 12"/>
          <p:cNvCxnSpPr/>
          <p:nvPr/>
        </p:nvCxnSpPr>
        <p:spPr>
          <a:xfrm>
            <a:off x="0" y="6692755"/>
            <a:ext cx="9144000" cy="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91172302"/>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85" r:id="rId3"/>
    <p:sldLayoutId id="2147483884"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Lst>
  <p:hf hdr="0" ftr="0" dt="0"/>
  <p:txStyles>
    <p:titleStyle>
      <a:lvl1pPr algn="ctr" defTabSz="914325"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p:titleStyle>
    <p:bodyStyle>
      <a:lvl1pPr marL="342872" indent="-342872" algn="l" defTabSz="914325" rtl="0" eaLnBrk="1" latinLnBrk="0" hangingPunct="1">
        <a:spcBef>
          <a:spcPct val="20000"/>
        </a:spcBef>
        <a:buFont typeface="Arial" pitchFamily="34" charset="0"/>
        <a:buChar char="•"/>
        <a:defRPr kumimoji="1" sz="3200" kern="1200">
          <a:solidFill>
            <a:schemeClr val="tx1"/>
          </a:solidFill>
          <a:latin typeface="メイリオ" pitchFamily="50" charset="-128"/>
          <a:ea typeface="メイリオ" pitchFamily="50" charset="-128"/>
          <a:cs typeface="メイリオ" pitchFamily="50" charset="-128"/>
        </a:defRPr>
      </a:lvl1pPr>
      <a:lvl2pPr marL="742889" indent="-285726" algn="l" defTabSz="914325" rtl="0" eaLnBrk="1" latinLnBrk="0" hangingPunct="1">
        <a:spcBef>
          <a:spcPct val="20000"/>
        </a:spcBef>
        <a:buFont typeface="Arial" pitchFamily="34" charset="0"/>
        <a:buChar char="–"/>
        <a:defRPr kumimoji="1" sz="2800" kern="1200">
          <a:solidFill>
            <a:schemeClr val="tx1"/>
          </a:solidFill>
          <a:latin typeface="メイリオ" pitchFamily="50" charset="-128"/>
          <a:ea typeface="メイリオ" pitchFamily="50" charset="-128"/>
          <a:cs typeface="メイリオ" pitchFamily="50" charset="-128"/>
        </a:defRPr>
      </a:lvl2pPr>
      <a:lvl3pPr marL="1142906" indent="-228581" algn="l" defTabSz="914325" rtl="0" eaLnBrk="1" latinLnBrk="0" hangingPunct="1">
        <a:spcBef>
          <a:spcPct val="20000"/>
        </a:spcBef>
        <a:buFont typeface="Arial" pitchFamily="34" charset="0"/>
        <a:buChar char="•"/>
        <a:defRPr kumimoji="1" sz="2400" kern="1200">
          <a:solidFill>
            <a:schemeClr val="tx1"/>
          </a:solidFill>
          <a:latin typeface="メイリオ" pitchFamily="50" charset="-128"/>
          <a:ea typeface="メイリオ" pitchFamily="50" charset="-128"/>
          <a:cs typeface="メイリオ" pitchFamily="50" charset="-128"/>
        </a:defRPr>
      </a:lvl3pPr>
      <a:lvl4pPr marL="1600068" indent="-228581" algn="l" defTabSz="914325" rtl="0" eaLnBrk="1" latinLnBrk="0" hangingPunct="1">
        <a:spcBef>
          <a:spcPct val="20000"/>
        </a:spcBef>
        <a:buFont typeface="Arial" pitchFamily="34" charset="0"/>
        <a:buChar char="–"/>
        <a:defRPr kumimoji="1" sz="2000" kern="1200">
          <a:solidFill>
            <a:schemeClr val="tx1"/>
          </a:solidFill>
          <a:latin typeface="メイリオ" pitchFamily="50" charset="-128"/>
          <a:ea typeface="メイリオ" pitchFamily="50" charset="-128"/>
          <a:cs typeface="メイリオ" pitchFamily="50" charset="-128"/>
        </a:defRPr>
      </a:lvl4pPr>
      <a:lvl5pPr marL="2057230" indent="-228581" algn="l" defTabSz="914325" rtl="0" eaLnBrk="1" latinLnBrk="0" hangingPunct="1">
        <a:spcBef>
          <a:spcPct val="20000"/>
        </a:spcBef>
        <a:buFont typeface="Arial" pitchFamily="34" charset="0"/>
        <a:buChar char="»"/>
        <a:defRPr kumimoji="1" sz="2000" kern="1200">
          <a:solidFill>
            <a:schemeClr val="tx1"/>
          </a:solidFill>
          <a:latin typeface="メイリオ" pitchFamily="50" charset="-128"/>
          <a:ea typeface="メイリオ" pitchFamily="50" charset="-128"/>
          <a:cs typeface="メイリオ" pitchFamily="50" charset="-128"/>
        </a:defRPr>
      </a:lvl5pPr>
      <a:lvl6pPr marL="2514393" indent="-228581" algn="l" defTabSz="914325"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555" indent="-228581" algn="l" defTabSz="914325"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718" indent="-228581" algn="l" defTabSz="914325"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880" indent="-228581" algn="l" defTabSz="914325"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325" rtl="0" eaLnBrk="1" latinLnBrk="0" hangingPunct="1">
        <a:defRPr kumimoji="1" sz="1800" kern="1200">
          <a:solidFill>
            <a:schemeClr val="tx1"/>
          </a:solidFill>
          <a:latin typeface="+mn-lt"/>
          <a:ea typeface="+mn-ea"/>
          <a:cs typeface="+mn-cs"/>
        </a:defRPr>
      </a:lvl1pPr>
      <a:lvl2pPr marL="457162" algn="l" defTabSz="914325" rtl="0" eaLnBrk="1" latinLnBrk="0" hangingPunct="1">
        <a:defRPr kumimoji="1" sz="1800" kern="1200">
          <a:solidFill>
            <a:schemeClr val="tx1"/>
          </a:solidFill>
          <a:latin typeface="+mn-lt"/>
          <a:ea typeface="+mn-ea"/>
          <a:cs typeface="+mn-cs"/>
        </a:defRPr>
      </a:lvl2pPr>
      <a:lvl3pPr marL="914325" algn="l" defTabSz="914325" rtl="0" eaLnBrk="1" latinLnBrk="0" hangingPunct="1">
        <a:defRPr kumimoji="1" sz="1800" kern="1200">
          <a:solidFill>
            <a:schemeClr val="tx1"/>
          </a:solidFill>
          <a:latin typeface="+mn-lt"/>
          <a:ea typeface="+mn-ea"/>
          <a:cs typeface="+mn-cs"/>
        </a:defRPr>
      </a:lvl3pPr>
      <a:lvl4pPr marL="1371487" algn="l" defTabSz="914325" rtl="0" eaLnBrk="1" latinLnBrk="0" hangingPunct="1">
        <a:defRPr kumimoji="1" sz="1800" kern="1200">
          <a:solidFill>
            <a:schemeClr val="tx1"/>
          </a:solidFill>
          <a:latin typeface="+mn-lt"/>
          <a:ea typeface="+mn-ea"/>
          <a:cs typeface="+mn-cs"/>
        </a:defRPr>
      </a:lvl4pPr>
      <a:lvl5pPr marL="1828650" algn="l" defTabSz="914325" rtl="0" eaLnBrk="1" latinLnBrk="0" hangingPunct="1">
        <a:defRPr kumimoji="1" sz="1800" kern="1200">
          <a:solidFill>
            <a:schemeClr val="tx1"/>
          </a:solidFill>
          <a:latin typeface="+mn-lt"/>
          <a:ea typeface="+mn-ea"/>
          <a:cs typeface="+mn-cs"/>
        </a:defRPr>
      </a:lvl5pPr>
      <a:lvl6pPr marL="2285811" algn="l" defTabSz="914325" rtl="0" eaLnBrk="1" latinLnBrk="0" hangingPunct="1">
        <a:defRPr kumimoji="1" sz="1800" kern="1200">
          <a:solidFill>
            <a:schemeClr val="tx1"/>
          </a:solidFill>
          <a:latin typeface="+mn-lt"/>
          <a:ea typeface="+mn-ea"/>
          <a:cs typeface="+mn-cs"/>
        </a:defRPr>
      </a:lvl6pPr>
      <a:lvl7pPr marL="2742974" algn="l" defTabSz="914325" rtl="0" eaLnBrk="1" latinLnBrk="0" hangingPunct="1">
        <a:defRPr kumimoji="1" sz="1800" kern="1200">
          <a:solidFill>
            <a:schemeClr val="tx1"/>
          </a:solidFill>
          <a:latin typeface="+mn-lt"/>
          <a:ea typeface="+mn-ea"/>
          <a:cs typeface="+mn-cs"/>
        </a:defRPr>
      </a:lvl7pPr>
      <a:lvl8pPr marL="3200136" algn="l" defTabSz="914325" rtl="0" eaLnBrk="1" latinLnBrk="0" hangingPunct="1">
        <a:defRPr kumimoji="1" sz="1800" kern="1200">
          <a:solidFill>
            <a:schemeClr val="tx1"/>
          </a:solidFill>
          <a:latin typeface="+mn-lt"/>
          <a:ea typeface="+mn-ea"/>
          <a:cs typeface="+mn-cs"/>
        </a:defRPr>
      </a:lvl8pPr>
      <a:lvl9pPr marL="3657299" algn="l" defTabSz="914325"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F980E-FF18-4E24-A0A6-DD4634AE14D0}" type="datetimeFigureOut">
              <a:rPr kumimoji="1" lang="ja-JP" altLang="en-US" smtClean="0"/>
              <a:t>2025/9/19</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368DD4-2CA9-484A-A36C-348433D1E508}" type="slidenum">
              <a:rPr kumimoji="1" lang="ja-JP" altLang="en-US" smtClean="0"/>
              <a:t>‹#›</a:t>
            </a:fld>
            <a:endParaRPr kumimoji="1" lang="ja-JP" altLang="en-US"/>
          </a:p>
        </p:txBody>
      </p:sp>
    </p:spTree>
    <p:extLst>
      <p:ext uri="{BB962C8B-B14F-4D97-AF65-F5344CB8AC3E}">
        <p14:creationId xmlns:p14="http://schemas.microsoft.com/office/powerpoint/2010/main" val="4160461979"/>
      </p:ext>
    </p:extLst>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 id="2147483897"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F829A3-21EE-40DE-96AB-F49D620B79E1}" type="datetimeFigureOut">
              <a:rPr kumimoji="1" lang="ja-JP" altLang="en-US" smtClean="0"/>
              <a:t>2025/9/19</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179D24-47EE-4FF4-8ACB-6EC5C0560049}" type="slidenum">
              <a:rPr kumimoji="1" lang="ja-JP" altLang="en-US" smtClean="0"/>
              <a:t>‹#›</a:t>
            </a:fld>
            <a:endParaRPr kumimoji="1" lang="ja-JP" altLang="en-US"/>
          </a:p>
        </p:txBody>
      </p:sp>
    </p:spTree>
    <p:extLst>
      <p:ext uri="{BB962C8B-B14F-4D97-AF65-F5344CB8AC3E}">
        <p14:creationId xmlns:p14="http://schemas.microsoft.com/office/powerpoint/2010/main" val="186888748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2564904"/>
            <a:ext cx="9144000" cy="819522"/>
          </a:xfrm>
          <a:effectLst/>
        </p:spPr>
        <p:txBody>
          <a:bodyPr>
            <a:noAutofit/>
          </a:bodyPr>
          <a:lstStyle/>
          <a:p>
            <a:r>
              <a:rPr lang="ja-JP" altLang="en-US" b="1" dirty="0">
                <a:latin typeface="BIZ UDPゴシック" panose="020B0400000000000000" pitchFamily="50" charset="-128"/>
                <a:ea typeface="BIZ UDPゴシック" panose="020B0400000000000000" pitchFamily="50" charset="-128"/>
              </a:rPr>
              <a:t>人事評価制度の変更について</a:t>
            </a:r>
            <a:br>
              <a:rPr lang="en-US" altLang="ja-JP" b="1" dirty="0">
                <a:latin typeface="BIZ UDPゴシック" panose="020B0400000000000000" pitchFamily="50" charset="-128"/>
                <a:ea typeface="BIZ UDPゴシック" panose="020B0400000000000000" pitchFamily="50" charset="-128"/>
              </a:rPr>
            </a:br>
            <a:r>
              <a:rPr lang="ja-JP" altLang="en-US" b="1" dirty="0">
                <a:latin typeface="BIZ UDPゴシック" panose="020B0400000000000000" pitchFamily="50" charset="-128"/>
                <a:ea typeface="BIZ UDPゴシック" panose="020B0400000000000000" pitchFamily="50" charset="-128"/>
              </a:rPr>
              <a:t>（「格付と役職及び公的資格と役職」等について）</a:t>
            </a:r>
            <a:endParaRPr kumimoji="1" lang="ja-JP" altLang="en-US" b="1" dirty="0">
              <a:latin typeface="BIZ UDPゴシック" panose="020B0400000000000000" pitchFamily="50" charset="-128"/>
              <a:ea typeface="BIZ UDPゴシック" panose="020B0400000000000000" pitchFamily="50" charset="-128"/>
            </a:endParaRPr>
          </a:p>
        </p:txBody>
      </p:sp>
      <p:sp>
        <p:nvSpPr>
          <p:cNvPr id="6"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Helvetica" pitchFamily="34" charset="0"/>
                <a:ea typeface="中ゴシックBBB" pitchFamily="49" charset="-128"/>
              </a:rPr>
              <a:t>－</a:t>
            </a:r>
            <a:fld id="{B0F819B3-9E8F-4282-8AF7-A5F025A1BD25}" type="slidenum">
              <a:rPr lang="ja-JP" altLang="en-US" sz="1050">
                <a:latin typeface="Helvetica" pitchFamily="34" charset="0"/>
                <a:ea typeface="中ゴシックBBB" pitchFamily="49" charset="-128"/>
              </a:rPr>
              <a:pPr algn="ctr" eaLnBrk="0" hangingPunct="0">
                <a:lnSpc>
                  <a:spcPct val="100000"/>
                </a:lnSpc>
                <a:buClrTx/>
                <a:buSzTx/>
                <a:buFontTx/>
                <a:buNone/>
              </a:pPr>
              <a:t>1</a:t>
            </a:fld>
            <a:r>
              <a:rPr lang="ja-JP" altLang="en-US" sz="1050" dirty="0">
                <a:latin typeface="Helvetica" pitchFamily="34" charset="0"/>
                <a:ea typeface="中ゴシックBBB" pitchFamily="49" charset="-128"/>
              </a:rPr>
              <a:t>－</a:t>
            </a:r>
          </a:p>
        </p:txBody>
      </p:sp>
      <p:sp>
        <p:nvSpPr>
          <p:cNvPr id="9" name="タイトル 1"/>
          <p:cNvSpPr txBox="1">
            <a:spLocks/>
          </p:cNvSpPr>
          <p:nvPr/>
        </p:nvSpPr>
        <p:spPr>
          <a:xfrm>
            <a:off x="1336104" y="3637564"/>
            <a:ext cx="7772400" cy="819522"/>
          </a:xfrm>
          <a:prstGeom prst="rect">
            <a:avLst/>
          </a:prstGeom>
          <a:effectLst/>
        </p:spPr>
        <p:txBody>
          <a:bodyPr vert="horz" lIns="91440" tIns="45720" rIns="91440" bIns="45720" rtlCol="0" anchor="ctr">
            <a:noAutofit/>
          </a:bodyPr>
          <a:lstStyle>
            <a:lvl1pPr algn="ctr" defTabSz="914400"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algn="r"/>
            <a:r>
              <a:rPr lang="en-US" altLang="ja-JP" sz="1400" dirty="0">
                <a:latin typeface="BIZ UDPゴシック" panose="020B0400000000000000" pitchFamily="50" charset="-128"/>
                <a:ea typeface="BIZ UDPゴシック" panose="020B0400000000000000" pitchFamily="50" charset="-128"/>
              </a:rPr>
              <a:t>2025</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3</a:t>
            </a:r>
            <a:r>
              <a:rPr lang="ja-JP" altLang="en-US" sz="1400" dirty="0">
                <a:latin typeface="BIZ UDPゴシック" panose="020B0400000000000000" pitchFamily="50" charset="-128"/>
                <a:ea typeface="BIZ UDPゴシック" panose="020B0400000000000000" pitchFamily="50" charset="-128"/>
              </a:rPr>
              <a:t>月</a:t>
            </a:r>
            <a:r>
              <a:rPr lang="en-US" altLang="ja-JP" sz="1400" dirty="0">
                <a:latin typeface="BIZ UDPゴシック" panose="020B0400000000000000" pitchFamily="50" charset="-128"/>
                <a:ea typeface="BIZ UDPゴシック" panose="020B0400000000000000" pitchFamily="50" charset="-128"/>
              </a:rPr>
              <a:t>25</a:t>
            </a:r>
            <a:r>
              <a:rPr lang="ja-JP" altLang="en-US" sz="1400" dirty="0">
                <a:latin typeface="BIZ UDPゴシック" panose="020B0400000000000000" pitchFamily="50" charset="-128"/>
                <a:ea typeface="BIZ UDPゴシック" panose="020B0400000000000000" pitchFamily="50" charset="-128"/>
              </a:rPr>
              <a:t>日</a:t>
            </a:r>
            <a:endParaRPr lang="en-US" altLang="ja-JP" sz="1400" dirty="0">
              <a:latin typeface="BIZ UDPゴシック" panose="020B0400000000000000" pitchFamily="50" charset="-128"/>
              <a:ea typeface="BIZ UDPゴシック" panose="020B0400000000000000" pitchFamily="50" charset="-128"/>
            </a:endParaRPr>
          </a:p>
          <a:p>
            <a:pPr algn="r"/>
            <a:r>
              <a:rPr lang="en-US" altLang="ja-JP" sz="1400" dirty="0">
                <a:latin typeface="BIZ UDPゴシック" panose="020B0400000000000000" pitchFamily="50" charset="-128"/>
                <a:ea typeface="BIZ UDPゴシック" panose="020B0400000000000000" pitchFamily="50" charset="-128"/>
              </a:rPr>
              <a:t>MMI</a:t>
            </a:r>
            <a:r>
              <a:rPr lang="ja-JP" altLang="en-US" sz="1400" dirty="0">
                <a:latin typeface="BIZ UDPゴシック" panose="020B0400000000000000" pitchFamily="50" charset="-128"/>
                <a:ea typeface="BIZ UDPゴシック" panose="020B0400000000000000" pitchFamily="50" charset="-128"/>
              </a:rPr>
              <a:t>管理部</a:t>
            </a:r>
            <a:endParaRPr lang="en-US" altLang="ja-JP" sz="1400" dirty="0">
              <a:latin typeface="BIZ UDPゴシック" panose="020B0400000000000000" pitchFamily="50" charset="-128"/>
              <a:ea typeface="BIZ UDPゴシック" panose="020B0400000000000000" pitchFamily="50" charset="-128"/>
            </a:endParaRPr>
          </a:p>
        </p:txBody>
      </p:sp>
      <p:sp>
        <p:nvSpPr>
          <p:cNvPr id="5" name="タイトル 1">
            <a:extLst>
              <a:ext uri="{FF2B5EF4-FFF2-40B4-BE49-F238E27FC236}">
                <a16:creationId xmlns:a16="http://schemas.microsoft.com/office/drawing/2014/main" id="{3E722B96-4C75-70ED-52D0-6C0DC5095ECF}"/>
              </a:ext>
            </a:extLst>
          </p:cNvPr>
          <p:cNvSpPr txBox="1">
            <a:spLocks/>
          </p:cNvSpPr>
          <p:nvPr/>
        </p:nvSpPr>
        <p:spPr>
          <a:xfrm>
            <a:off x="12661" y="4336639"/>
            <a:ext cx="9144000" cy="2160240"/>
          </a:xfrm>
          <a:prstGeom prst="rect">
            <a:avLst/>
          </a:prstGeom>
          <a:effectLst/>
        </p:spPr>
        <p:txBody>
          <a:bodyPr vert="horz" lIns="91432" tIns="45717" rIns="91432" bIns="45717" rtlCol="0" anchor="ctr">
            <a:noAutofit/>
          </a:bodyPr>
          <a:lstStyle>
            <a:lvl1pPr algn="ctr" defTabSz="914325" rtl="0" eaLnBrk="1" latinLnBrk="0" hangingPunct="1">
              <a:spcBef>
                <a:spcPct val="0"/>
              </a:spcBef>
              <a:buNone/>
              <a:defRPr kumimoji="1" sz="2800" kern="1200">
                <a:solidFill>
                  <a:schemeClr val="tx1"/>
                </a:solidFill>
                <a:latin typeface="メイリオ" pitchFamily="50" charset="-128"/>
                <a:ea typeface="メイリオ" pitchFamily="50" charset="-128"/>
                <a:cs typeface="メイリオ" pitchFamily="50" charset="-128"/>
              </a:defRPr>
            </a:lvl1pPr>
          </a:lstStyle>
          <a:p>
            <a:pPr marL="171450" indent="-171450" algn="l">
              <a:lnSpc>
                <a:spcPts val="1800"/>
              </a:lnSpc>
              <a:buFont typeface="Arial" panose="020B0604020202020204" pitchFamily="34" charset="0"/>
              <a:buChar char="•"/>
            </a:pPr>
            <a:r>
              <a:rPr lang="ja-JP" altLang="en-US" sz="1100" dirty="0">
                <a:effectLst/>
                <a:latin typeface="BIZ UDPゴシック" panose="020B0400000000000000" pitchFamily="50" charset="-128"/>
                <a:ea typeface="BIZ UDPゴシック" panose="020B0400000000000000" pitchFamily="50" charset="-128"/>
              </a:rPr>
              <a:t>当社では、常に新しい視点やアイデアを取り入れ、組織全体の活性化を目指しています。</a:t>
            </a:r>
            <a:endParaRPr lang="en-US" altLang="ja-JP" sz="1100" dirty="0">
              <a:effectLst/>
              <a:latin typeface="BIZ UDPゴシック" panose="020B0400000000000000" pitchFamily="50" charset="-128"/>
              <a:ea typeface="BIZ UDPゴシック" panose="020B0400000000000000" pitchFamily="50" charset="-128"/>
            </a:endParaRPr>
          </a:p>
          <a:p>
            <a:pPr marL="171450" indent="-171450" algn="l">
              <a:lnSpc>
                <a:spcPts val="1800"/>
              </a:lnSpc>
              <a:buFont typeface="Arial" panose="020B0604020202020204" pitchFamily="34" charset="0"/>
              <a:buChar char="•"/>
            </a:pPr>
            <a:r>
              <a:rPr lang="ja-JP" altLang="en-US" sz="1100" dirty="0">
                <a:effectLst/>
                <a:latin typeface="BIZ UDPゴシック" panose="020B0400000000000000" pitchFamily="50" charset="-128"/>
                <a:ea typeface="BIZ UDPゴシック" panose="020B0400000000000000" pitchFamily="50" charset="-128"/>
              </a:rPr>
              <a:t>そのため、従来の固定的な登用基準にとらわれず、幅広い層の人材に対して登用の機会を提供する方針です。これにより、様々な経験や知識を持った人材が組織に加わり、革新的なアイデアの創出や柔軟な問題解決が実現できると考えています。</a:t>
            </a:r>
            <a:endParaRPr lang="en-US" altLang="ja-JP" sz="1100" dirty="0">
              <a:effectLst/>
              <a:latin typeface="BIZ UDPゴシック" panose="020B0400000000000000" pitchFamily="50" charset="-128"/>
              <a:ea typeface="BIZ UDPゴシック" panose="020B0400000000000000" pitchFamily="50" charset="-128"/>
            </a:endParaRPr>
          </a:p>
          <a:p>
            <a:pPr marL="171450" indent="-171450" algn="l">
              <a:lnSpc>
                <a:spcPts val="1800"/>
              </a:lnSpc>
              <a:buFont typeface="Arial" panose="020B0604020202020204" pitchFamily="34" charset="0"/>
              <a:buChar char="•"/>
            </a:pPr>
            <a:r>
              <a:rPr lang="ja-JP" altLang="en-US" sz="1100" dirty="0">
                <a:latin typeface="BIZ UDPゴシック" panose="020B0400000000000000" pitchFamily="50" charset="-128"/>
                <a:ea typeface="BIZ UDPゴシック" panose="020B0400000000000000" pitchFamily="50" charset="-128"/>
              </a:rPr>
              <a:t>具体的には、</a:t>
            </a:r>
            <a:r>
              <a:rPr lang="ja-JP" altLang="en-US" sz="1100" dirty="0">
                <a:effectLst/>
                <a:latin typeface="BIZ UDPゴシック" panose="020B0400000000000000" pitchFamily="50" charset="-128"/>
                <a:ea typeface="BIZ UDPゴシック" panose="020B0400000000000000" pitchFamily="50" charset="-128"/>
              </a:rPr>
              <a:t>事業領域が急速に拡大している現状を踏まえ、単に公的資格や従来の評価指標だけでは測りきれない実践的な問題解決能力を持つ人材の重要性が高まっています。こうした能力を持つ人材は、現場での迅速な対応や新たなビジネスチャンスの発掘、さらには複雑な課題に対する創造的な解決策の提案において大きな力を発揮すると期待されます。</a:t>
            </a:r>
            <a:endParaRPr lang="en-US" altLang="ja-JP" sz="1100" dirty="0">
              <a:effectLst/>
              <a:latin typeface="BIZ UDPゴシック" panose="020B0400000000000000" pitchFamily="50" charset="-128"/>
              <a:ea typeface="BIZ UDPゴシック" panose="020B0400000000000000" pitchFamily="50" charset="-128"/>
            </a:endParaRPr>
          </a:p>
          <a:p>
            <a:pPr marL="171450" indent="-171450" algn="l">
              <a:lnSpc>
                <a:spcPts val="1800"/>
              </a:lnSpc>
              <a:buFont typeface="Arial" panose="020B0604020202020204" pitchFamily="34" charset="0"/>
              <a:buChar char="•"/>
            </a:pPr>
            <a:r>
              <a:rPr lang="ja-JP" altLang="en-US" sz="1100" dirty="0">
                <a:effectLst/>
                <a:latin typeface="BIZ UDPゴシック" panose="020B0400000000000000" pitchFamily="50" charset="-128"/>
                <a:ea typeface="BIZ UDPゴシック" panose="020B0400000000000000" pitchFamily="50" charset="-128"/>
              </a:rPr>
              <a:t>このような背景から、</a:t>
            </a:r>
            <a:r>
              <a:rPr lang="en-US" altLang="ja-JP" sz="1100" b="1" u="sng" dirty="0">
                <a:solidFill>
                  <a:srgbClr val="FF0000"/>
                </a:solidFill>
                <a:effectLst/>
                <a:latin typeface="BIZ UDPゴシック" panose="020B0400000000000000" pitchFamily="50" charset="-128"/>
                <a:ea typeface="BIZ UDPゴシック" panose="020B0400000000000000" pitchFamily="50" charset="-128"/>
              </a:rPr>
              <a:t>2025</a:t>
            </a:r>
            <a:r>
              <a:rPr lang="ja-JP" altLang="en-US" sz="1100" b="1" u="sng" dirty="0">
                <a:solidFill>
                  <a:srgbClr val="FF0000"/>
                </a:solidFill>
                <a:effectLst/>
                <a:latin typeface="BIZ UDPゴシック" panose="020B0400000000000000" pitchFamily="50" charset="-128"/>
                <a:ea typeface="BIZ UDPゴシック" panose="020B0400000000000000" pitchFamily="50" charset="-128"/>
              </a:rPr>
              <a:t>年度以降、「「格付と役職」及び「公的資格と役職」に関わる登用プロセスの見直し」、「新たに本部長職を設置するにあたり評価要件を設定」、「契約社員の雇用条件が多様化することに伴う行動評価の達成基準</a:t>
            </a:r>
            <a:r>
              <a:rPr lang="ja-JP" altLang="en-US" sz="1100" b="1" u="sng" dirty="0">
                <a:solidFill>
                  <a:srgbClr val="FF0000"/>
                </a:solidFill>
                <a:latin typeface="BIZ UDPゴシック" panose="020B0400000000000000" pitchFamily="50" charset="-128"/>
                <a:ea typeface="BIZ UDPゴシック" panose="020B0400000000000000" pitchFamily="50" charset="-128"/>
              </a:rPr>
              <a:t>の明確化</a:t>
            </a:r>
            <a:r>
              <a:rPr lang="ja-JP" altLang="en-US" sz="1100" b="1" u="sng" dirty="0">
                <a:solidFill>
                  <a:srgbClr val="FF0000"/>
                </a:solidFill>
                <a:effectLst/>
                <a:latin typeface="BIZ UDPゴシック" panose="020B0400000000000000" pitchFamily="50" charset="-128"/>
                <a:ea typeface="BIZ UDPゴシック" panose="020B0400000000000000" pitchFamily="50" charset="-128"/>
              </a:rPr>
              <a:t>」を行います。</a:t>
            </a:r>
            <a:endParaRPr lang="en-US" altLang="ja-JP" sz="1100" b="1" u="sng" dirty="0">
              <a:solidFill>
                <a:srgbClr val="FF0000"/>
              </a:solidFill>
              <a:effectLst/>
              <a:latin typeface="BIZ UDPゴシック" panose="020B0400000000000000" pitchFamily="50" charset="-128"/>
              <a:ea typeface="BIZ UDPゴシック" panose="020B0400000000000000" pitchFamily="50" charset="-128"/>
            </a:endParaRPr>
          </a:p>
          <a:p>
            <a:pPr marL="171450" indent="-171450" algn="l">
              <a:lnSpc>
                <a:spcPts val="1800"/>
              </a:lnSpc>
              <a:buFont typeface="Arial" panose="020B0604020202020204" pitchFamily="34" charset="0"/>
              <a:buChar char="•"/>
            </a:pPr>
            <a:r>
              <a:rPr lang="ja-JP" altLang="en-US" sz="1100" dirty="0">
                <a:effectLst/>
                <a:latin typeface="BIZ UDPゴシック" panose="020B0400000000000000" pitchFamily="50" charset="-128"/>
                <a:ea typeface="BIZ UDPゴシック" panose="020B0400000000000000" pitchFamily="50" charset="-128"/>
              </a:rPr>
              <a:t>これにより、柔軟性と多様性を兼ね備えた人材を積極的に登用する取り組みを強化していきます。</a:t>
            </a:r>
            <a:r>
              <a:rPr lang="ja-JP" altLang="en-US" sz="1100" dirty="0">
                <a:latin typeface="BIZ UDPゴシック" panose="020B0400000000000000" pitchFamily="50" charset="-128"/>
                <a:ea typeface="BIZ UDPゴシック" panose="020B0400000000000000" pitchFamily="50" charset="-128"/>
              </a:rPr>
              <a:t>これらは、</a:t>
            </a:r>
            <a:r>
              <a:rPr lang="ja-JP" altLang="en-US" sz="1100" dirty="0">
                <a:effectLst/>
                <a:latin typeface="BIZ UDPゴシック" panose="020B0400000000000000" pitchFamily="50" charset="-128"/>
                <a:ea typeface="BIZ UDPゴシック" panose="020B0400000000000000" pitchFamily="50" charset="-128"/>
              </a:rPr>
              <a:t>組織全体が時代の変化に迅速に対応し、持続的な成長と競争力の向上を実現することを狙いとしています。</a:t>
            </a:r>
            <a:endParaRPr lang="ja-JP" altLang="en-US" sz="11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377488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タイトル 2"/>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mn-ea"/>
                <a:ea typeface="+mn-ea"/>
              </a:rPr>
              <a:t>スケジュール</a:t>
            </a:r>
          </a:p>
        </p:txBody>
      </p:sp>
      <p:sp>
        <p:nvSpPr>
          <p:cNvPr id="11"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2</a:t>
            </a:fld>
            <a:r>
              <a:rPr lang="ja-JP" altLang="en-US" sz="1050" dirty="0">
                <a:latin typeface="+mn-ea"/>
              </a:rPr>
              <a:t>－</a:t>
            </a:r>
          </a:p>
        </p:txBody>
      </p:sp>
      <p:sp>
        <p:nvSpPr>
          <p:cNvPr id="10" name="矢印: 五方向 9">
            <a:extLst>
              <a:ext uri="{FF2B5EF4-FFF2-40B4-BE49-F238E27FC236}">
                <a16:creationId xmlns:a16="http://schemas.microsoft.com/office/drawing/2014/main" id="{F4884696-BC3B-4C11-B746-1D3FBC50B720}"/>
              </a:ext>
            </a:extLst>
          </p:cNvPr>
          <p:cNvSpPr/>
          <p:nvPr/>
        </p:nvSpPr>
        <p:spPr>
          <a:xfrm>
            <a:off x="3729931" y="2250226"/>
            <a:ext cx="1620000" cy="2618934"/>
          </a:xfrm>
          <a:prstGeom prst="homePlate">
            <a:avLst>
              <a:gd name="adj" fmla="val 1914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決議</a:t>
            </a:r>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新人事制度の</a:t>
            </a:r>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決議</a:t>
            </a:r>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（規程の整備等）</a:t>
            </a:r>
            <a:endParaRPr kumimoji="1"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16" name="タイトル 2">
            <a:extLst>
              <a:ext uri="{FF2B5EF4-FFF2-40B4-BE49-F238E27FC236}">
                <a16:creationId xmlns:a16="http://schemas.microsoft.com/office/drawing/2014/main" id="{50163522-76DB-4697-9747-E2321CD23ADC}"/>
              </a:ext>
            </a:extLst>
          </p:cNvPr>
          <p:cNvSpPr txBox="1">
            <a:spLocks/>
          </p:cNvSpPr>
          <p:nvPr/>
        </p:nvSpPr>
        <p:spPr>
          <a:xfrm>
            <a:off x="184302" y="1667920"/>
            <a:ext cx="2515890"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200" dirty="0">
                <a:latin typeface="BIZ UDPゴシック" panose="020B0400000000000000" pitchFamily="50" charset="-128"/>
                <a:ea typeface="BIZ UDPゴシック" panose="020B0400000000000000" pitchFamily="50" charset="-128"/>
              </a:rPr>
              <a:t>2022</a:t>
            </a:r>
            <a:r>
              <a:rPr lang="ja-JP" altLang="en-US" sz="1200" dirty="0">
                <a:latin typeface="BIZ UDPゴシック" panose="020B0400000000000000" pitchFamily="50" charset="-128"/>
                <a:ea typeface="BIZ UDPゴシック" panose="020B0400000000000000" pitchFamily="50" charset="-128"/>
              </a:rPr>
              <a:t>年</a:t>
            </a:r>
            <a:r>
              <a:rPr lang="en-US" altLang="ja-JP" sz="1200" dirty="0">
                <a:latin typeface="BIZ UDPゴシック" panose="020B0400000000000000" pitchFamily="50" charset="-128"/>
                <a:ea typeface="BIZ UDPゴシック" panose="020B0400000000000000" pitchFamily="50" charset="-128"/>
              </a:rPr>
              <a:t>10</a:t>
            </a:r>
            <a:r>
              <a:rPr lang="ja-JP" altLang="en-US" sz="1200" dirty="0">
                <a:latin typeface="BIZ UDPゴシック" panose="020B0400000000000000" pitchFamily="50" charset="-128"/>
                <a:ea typeface="BIZ UDPゴシック" panose="020B0400000000000000" pitchFamily="50" charset="-128"/>
              </a:rPr>
              <a:t>月度</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取締役会</a:t>
            </a:r>
            <a:endParaRPr lang="en-US" altLang="ja-JP" sz="1200" dirty="0">
              <a:latin typeface="BIZ UDPゴシック" panose="020B0400000000000000" pitchFamily="50" charset="-128"/>
              <a:ea typeface="BIZ UDPゴシック" panose="020B0400000000000000" pitchFamily="50" charset="-128"/>
            </a:endParaRPr>
          </a:p>
        </p:txBody>
      </p:sp>
      <p:sp>
        <p:nvSpPr>
          <p:cNvPr id="18" name="タイトル 2">
            <a:extLst>
              <a:ext uri="{FF2B5EF4-FFF2-40B4-BE49-F238E27FC236}">
                <a16:creationId xmlns:a16="http://schemas.microsoft.com/office/drawing/2014/main" id="{8CCE259C-01F7-49EC-9C15-B49BEC31FC60}"/>
              </a:ext>
            </a:extLst>
          </p:cNvPr>
          <p:cNvSpPr txBox="1">
            <a:spLocks/>
          </p:cNvSpPr>
          <p:nvPr/>
        </p:nvSpPr>
        <p:spPr>
          <a:xfrm>
            <a:off x="1952827" y="1667920"/>
            <a:ext cx="242361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200" dirty="0">
                <a:latin typeface="BIZ UDPゴシック" panose="020B0400000000000000" pitchFamily="50" charset="-128"/>
                <a:ea typeface="BIZ UDPゴシック" panose="020B0400000000000000" pitchFamily="50" charset="-128"/>
              </a:rPr>
              <a:t>2023</a:t>
            </a:r>
            <a:r>
              <a:rPr lang="ja-JP" altLang="en-US" sz="1200" dirty="0">
                <a:latin typeface="BIZ UDPゴシック" panose="020B0400000000000000" pitchFamily="50" charset="-128"/>
                <a:ea typeface="BIZ UDPゴシック" panose="020B0400000000000000" pitchFamily="50" charset="-128"/>
              </a:rPr>
              <a:t>年</a:t>
            </a:r>
            <a:r>
              <a:rPr lang="en-US" altLang="ja-JP" sz="1200" dirty="0">
                <a:latin typeface="BIZ UDPゴシック" panose="020B0400000000000000" pitchFamily="50" charset="-128"/>
                <a:ea typeface="BIZ UDPゴシック" panose="020B0400000000000000" pitchFamily="50" charset="-128"/>
              </a:rPr>
              <a:t>1</a:t>
            </a:r>
            <a:r>
              <a:rPr lang="ja-JP" altLang="en-US" sz="1200" dirty="0">
                <a:latin typeface="BIZ UDPゴシック" panose="020B0400000000000000" pitchFamily="50" charset="-128"/>
                <a:ea typeface="BIZ UDPゴシック" panose="020B0400000000000000" pitchFamily="50" charset="-128"/>
              </a:rPr>
              <a:t>月度</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取締役会</a:t>
            </a:r>
            <a:endParaRPr lang="en-US" altLang="ja-JP" sz="1200" dirty="0">
              <a:latin typeface="BIZ UDPゴシック" panose="020B0400000000000000" pitchFamily="50" charset="-128"/>
              <a:ea typeface="BIZ UDPゴシック" panose="020B0400000000000000" pitchFamily="50" charset="-128"/>
            </a:endParaRPr>
          </a:p>
        </p:txBody>
      </p:sp>
      <p:sp>
        <p:nvSpPr>
          <p:cNvPr id="19" name="タイトル 2">
            <a:extLst>
              <a:ext uri="{FF2B5EF4-FFF2-40B4-BE49-F238E27FC236}">
                <a16:creationId xmlns:a16="http://schemas.microsoft.com/office/drawing/2014/main" id="{7191576B-B515-413E-A79D-943BB53A4C42}"/>
              </a:ext>
            </a:extLst>
          </p:cNvPr>
          <p:cNvSpPr txBox="1">
            <a:spLocks/>
          </p:cNvSpPr>
          <p:nvPr/>
        </p:nvSpPr>
        <p:spPr>
          <a:xfrm>
            <a:off x="3683975" y="1667920"/>
            <a:ext cx="2614949"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200" dirty="0">
                <a:latin typeface="BIZ UDPゴシック" panose="020B0400000000000000" pitchFamily="50" charset="-128"/>
                <a:ea typeface="BIZ UDPゴシック" panose="020B0400000000000000" pitchFamily="50" charset="-128"/>
              </a:rPr>
              <a:t>2023</a:t>
            </a:r>
            <a:r>
              <a:rPr lang="ja-JP" altLang="en-US" sz="1200" dirty="0">
                <a:latin typeface="BIZ UDPゴシック" panose="020B0400000000000000" pitchFamily="50" charset="-128"/>
                <a:ea typeface="BIZ UDPゴシック" panose="020B0400000000000000" pitchFamily="50" charset="-128"/>
              </a:rPr>
              <a:t>年</a:t>
            </a:r>
            <a:r>
              <a:rPr lang="en-US" altLang="ja-JP" sz="1200" dirty="0">
                <a:latin typeface="BIZ UDPゴシック" panose="020B0400000000000000" pitchFamily="50" charset="-128"/>
                <a:ea typeface="BIZ UDPゴシック" panose="020B0400000000000000" pitchFamily="50" charset="-128"/>
              </a:rPr>
              <a:t>3</a:t>
            </a:r>
            <a:r>
              <a:rPr lang="ja-JP" altLang="en-US" sz="1200" dirty="0">
                <a:latin typeface="BIZ UDPゴシック" panose="020B0400000000000000" pitchFamily="50" charset="-128"/>
                <a:ea typeface="BIZ UDPゴシック" panose="020B0400000000000000" pitchFamily="50" charset="-128"/>
              </a:rPr>
              <a:t>月度</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取締役会</a:t>
            </a:r>
            <a:endParaRPr lang="en-US" altLang="ja-JP" sz="1200" dirty="0">
              <a:latin typeface="BIZ UDPゴシック" panose="020B0400000000000000" pitchFamily="50" charset="-128"/>
              <a:ea typeface="BIZ UDPゴシック" panose="020B0400000000000000" pitchFamily="50" charset="-128"/>
            </a:endParaRPr>
          </a:p>
        </p:txBody>
      </p:sp>
      <p:sp>
        <p:nvSpPr>
          <p:cNvPr id="9" name="矢印: 五方向 8">
            <a:extLst>
              <a:ext uri="{FF2B5EF4-FFF2-40B4-BE49-F238E27FC236}">
                <a16:creationId xmlns:a16="http://schemas.microsoft.com/office/drawing/2014/main" id="{224EF0E0-5762-4CA3-B200-6243CB9BADB4}"/>
              </a:ext>
            </a:extLst>
          </p:cNvPr>
          <p:cNvSpPr/>
          <p:nvPr/>
        </p:nvSpPr>
        <p:spPr>
          <a:xfrm>
            <a:off x="1950367" y="2250226"/>
            <a:ext cx="1620000" cy="2618934"/>
          </a:xfrm>
          <a:prstGeom prst="homePlate">
            <a:avLst>
              <a:gd name="adj" fmla="val 1914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報告</a:t>
            </a:r>
            <a:endParaRPr kumimoji="1"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新人事制度の</a:t>
            </a:r>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詳細説明</a:t>
            </a:r>
            <a:endParaRPr kumimoji="1"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2" name="矢印: 五方向 1">
            <a:extLst>
              <a:ext uri="{FF2B5EF4-FFF2-40B4-BE49-F238E27FC236}">
                <a16:creationId xmlns:a16="http://schemas.microsoft.com/office/drawing/2014/main" id="{0DE7BD2A-EC87-4F9F-8BD0-07CACED68180}"/>
              </a:ext>
            </a:extLst>
          </p:cNvPr>
          <p:cNvSpPr/>
          <p:nvPr/>
        </p:nvSpPr>
        <p:spPr>
          <a:xfrm>
            <a:off x="170803" y="2250226"/>
            <a:ext cx="1620000" cy="2618934"/>
          </a:xfrm>
          <a:prstGeom prst="homePlate">
            <a:avLst>
              <a:gd name="adj" fmla="val 1914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報告</a:t>
            </a:r>
            <a:endParaRPr kumimoji="1"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新人事制度の</a:t>
            </a:r>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概要説明</a:t>
            </a:r>
            <a:endParaRPr kumimoji="1"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 name="矢印: 右 2">
            <a:extLst>
              <a:ext uri="{FF2B5EF4-FFF2-40B4-BE49-F238E27FC236}">
                <a16:creationId xmlns:a16="http://schemas.microsoft.com/office/drawing/2014/main" id="{F1F1EFD2-B06B-50F2-C588-664E0745CB86}"/>
              </a:ext>
            </a:extLst>
          </p:cNvPr>
          <p:cNvSpPr/>
          <p:nvPr/>
        </p:nvSpPr>
        <p:spPr>
          <a:xfrm rot="16200000">
            <a:off x="7612301" y="4955158"/>
            <a:ext cx="792088" cy="79208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タイトル 2">
            <a:extLst>
              <a:ext uri="{FF2B5EF4-FFF2-40B4-BE49-F238E27FC236}">
                <a16:creationId xmlns:a16="http://schemas.microsoft.com/office/drawing/2014/main" id="{D3E34B5B-9B84-56AB-B6B9-0CA8701EADA5}"/>
              </a:ext>
            </a:extLst>
          </p:cNvPr>
          <p:cNvSpPr txBox="1">
            <a:spLocks/>
          </p:cNvSpPr>
          <p:nvPr/>
        </p:nvSpPr>
        <p:spPr>
          <a:xfrm>
            <a:off x="6700870" y="5747246"/>
            <a:ext cx="2614949"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b="1" dirty="0">
                <a:solidFill>
                  <a:srgbClr val="FF0000"/>
                </a:solidFill>
                <a:latin typeface="BIZ UDPゴシック" panose="020B0400000000000000" pitchFamily="50" charset="-128"/>
                <a:ea typeface="BIZ UDPゴシック" panose="020B0400000000000000" pitchFamily="50" charset="-128"/>
              </a:rPr>
              <a:t>今回</a:t>
            </a:r>
            <a:endParaRPr lang="en-US" altLang="ja-JP" sz="1600" b="1" dirty="0">
              <a:solidFill>
                <a:srgbClr val="FF0000"/>
              </a:solidFill>
              <a:latin typeface="BIZ UDPゴシック" panose="020B0400000000000000" pitchFamily="50" charset="-128"/>
              <a:ea typeface="BIZ UDPゴシック" panose="020B0400000000000000" pitchFamily="50" charset="-128"/>
            </a:endParaRPr>
          </a:p>
        </p:txBody>
      </p:sp>
      <p:sp>
        <p:nvSpPr>
          <p:cNvPr id="6" name="矢印: 五方向 5">
            <a:extLst>
              <a:ext uri="{FF2B5EF4-FFF2-40B4-BE49-F238E27FC236}">
                <a16:creationId xmlns:a16="http://schemas.microsoft.com/office/drawing/2014/main" id="{651DE6FE-38C6-9886-5FAA-FB735A4CC3FF}"/>
              </a:ext>
            </a:extLst>
          </p:cNvPr>
          <p:cNvSpPr/>
          <p:nvPr/>
        </p:nvSpPr>
        <p:spPr>
          <a:xfrm>
            <a:off x="5509495" y="2250226"/>
            <a:ext cx="1620000" cy="2618934"/>
          </a:xfrm>
          <a:prstGeom prst="homePlate">
            <a:avLst>
              <a:gd name="adj" fmla="val 1914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決議</a:t>
            </a:r>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人事制度の改定決議</a:t>
            </a:r>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（昇格対象者の選定方法を改定する）</a:t>
            </a:r>
            <a:endParaRPr kumimoji="1"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endParaRPr kumimoji="1"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7" name="タイトル 2">
            <a:extLst>
              <a:ext uri="{FF2B5EF4-FFF2-40B4-BE49-F238E27FC236}">
                <a16:creationId xmlns:a16="http://schemas.microsoft.com/office/drawing/2014/main" id="{62A6B0DE-D675-4A10-7D7E-06E4F790A8B2}"/>
              </a:ext>
            </a:extLst>
          </p:cNvPr>
          <p:cNvSpPr txBox="1">
            <a:spLocks/>
          </p:cNvSpPr>
          <p:nvPr/>
        </p:nvSpPr>
        <p:spPr>
          <a:xfrm>
            <a:off x="5517130" y="1667920"/>
            <a:ext cx="2614949"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200" dirty="0">
                <a:latin typeface="BIZ UDPゴシック" panose="020B0400000000000000" pitchFamily="50" charset="-128"/>
                <a:ea typeface="BIZ UDPゴシック" panose="020B0400000000000000" pitchFamily="50" charset="-128"/>
              </a:rPr>
              <a:t>2024</a:t>
            </a:r>
            <a:r>
              <a:rPr lang="ja-JP" altLang="en-US" sz="1200" dirty="0">
                <a:latin typeface="BIZ UDPゴシック" panose="020B0400000000000000" pitchFamily="50" charset="-128"/>
                <a:ea typeface="BIZ UDPゴシック" panose="020B0400000000000000" pitchFamily="50" charset="-128"/>
              </a:rPr>
              <a:t>年</a:t>
            </a:r>
            <a:r>
              <a:rPr lang="en-US" altLang="ja-JP" sz="1200" dirty="0">
                <a:latin typeface="BIZ UDPゴシック" panose="020B0400000000000000" pitchFamily="50" charset="-128"/>
                <a:ea typeface="BIZ UDPゴシック" panose="020B0400000000000000" pitchFamily="50" charset="-128"/>
              </a:rPr>
              <a:t>3</a:t>
            </a:r>
            <a:r>
              <a:rPr lang="ja-JP" altLang="en-US" sz="1200" dirty="0">
                <a:latin typeface="BIZ UDPゴシック" panose="020B0400000000000000" pitchFamily="50" charset="-128"/>
                <a:ea typeface="BIZ UDPゴシック" panose="020B0400000000000000" pitchFamily="50" charset="-128"/>
              </a:rPr>
              <a:t>月度</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取締役会</a:t>
            </a:r>
            <a:endParaRPr lang="en-US" altLang="ja-JP" sz="1200" dirty="0">
              <a:latin typeface="BIZ UDPゴシック" panose="020B0400000000000000" pitchFamily="50" charset="-128"/>
              <a:ea typeface="BIZ UDPゴシック" panose="020B0400000000000000" pitchFamily="50" charset="-128"/>
            </a:endParaRPr>
          </a:p>
        </p:txBody>
      </p:sp>
      <p:sp>
        <p:nvSpPr>
          <p:cNvPr id="5" name="矢印: 五方向 4">
            <a:extLst>
              <a:ext uri="{FF2B5EF4-FFF2-40B4-BE49-F238E27FC236}">
                <a16:creationId xmlns:a16="http://schemas.microsoft.com/office/drawing/2014/main" id="{904CD8B1-05F9-765E-7FA0-9028EA04B902}"/>
              </a:ext>
            </a:extLst>
          </p:cNvPr>
          <p:cNvSpPr/>
          <p:nvPr/>
        </p:nvSpPr>
        <p:spPr>
          <a:xfrm>
            <a:off x="7289059" y="2250226"/>
            <a:ext cx="1620000" cy="2618934"/>
          </a:xfrm>
          <a:prstGeom prst="homePlate">
            <a:avLst>
              <a:gd name="adj" fmla="val 19140"/>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決議</a:t>
            </a:r>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人事制度の改定決議</a:t>
            </a:r>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endParaRPr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ja-JP" altLang="en-US" sz="1400" b="1" dirty="0">
                <a:solidFill>
                  <a:schemeClr val="tx1"/>
                </a:solidFill>
                <a:latin typeface="BIZ UDPゴシック" panose="020B0400000000000000" pitchFamily="50" charset="-128"/>
                <a:ea typeface="BIZ UDPゴシック" panose="020B0400000000000000" pitchFamily="50" charset="-128"/>
              </a:rPr>
              <a:t> 「格付と役職」及び「公的資格と役職」の廃止等</a:t>
            </a:r>
            <a:r>
              <a:rPr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a:t>
            </a:r>
            <a:endParaRPr kumimoji="1" lang="en-US" altLang="ja-JP"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endParaRPr kumimoji="1" lang="ja-JP" altLang="en-US" sz="1400" b="1"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8" name="タイトル 2">
            <a:extLst>
              <a:ext uri="{FF2B5EF4-FFF2-40B4-BE49-F238E27FC236}">
                <a16:creationId xmlns:a16="http://schemas.microsoft.com/office/drawing/2014/main" id="{7F12FDC3-29CB-8C98-0ADE-318FABE6ECD4}"/>
              </a:ext>
            </a:extLst>
          </p:cNvPr>
          <p:cNvSpPr txBox="1">
            <a:spLocks/>
          </p:cNvSpPr>
          <p:nvPr/>
        </p:nvSpPr>
        <p:spPr>
          <a:xfrm>
            <a:off x="7289060" y="1667920"/>
            <a:ext cx="199024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200" dirty="0">
                <a:latin typeface="BIZ UDPゴシック" panose="020B0400000000000000" pitchFamily="50" charset="-128"/>
                <a:ea typeface="BIZ UDPゴシック" panose="020B0400000000000000" pitchFamily="50" charset="-128"/>
              </a:rPr>
              <a:t>2025</a:t>
            </a:r>
            <a:r>
              <a:rPr lang="ja-JP" altLang="en-US" sz="1200" dirty="0">
                <a:latin typeface="BIZ UDPゴシック" panose="020B0400000000000000" pitchFamily="50" charset="-128"/>
                <a:ea typeface="BIZ UDPゴシック" panose="020B0400000000000000" pitchFamily="50" charset="-128"/>
              </a:rPr>
              <a:t>年</a:t>
            </a:r>
            <a:r>
              <a:rPr lang="en-US" altLang="ja-JP" sz="1200" dirty="0">
                <a:latin typeface="BIZ UDPゴシック" panose="020B0400000000000000" pitchFamily="50" charset="-128"/>
                <a:ea typeface="BIZ UDPゴシック" panose="020B0400000000000000" pitchFamily="50" charset="-128"/>
              </a:rPr>
              <a:t>3</a:t>
            </a:r>
            <a:r>
              <a:rPr lang="ja-JP" altLang="en-US" sz="1200" dirty="0">
                <a:latin typeface="BIZ UDPゴシック" panose="020B0400000000000000" pitchFamily="50" charset="-128"/>
                <a:ea typeface="BIZ UDPゴシック" panose="020B0400000000000000" pitchFamily="50" charset="-128"/>
              </a:rPr>
              <a:t>月度</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取締役会</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8324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3</a:t>
            </a:fld>
            <a:r>
              <a:rPr lang="ja-JP" altLang="en-US" sz="1050" dirty="0">
                <a:latin typeface="+mn-ea"/>
              </a:rPr>
              <a:t>－</a:t>
            </a:r>
          </a:p>
        </p:txBody>
      </p:sp>
      <p:sp>
        <p:nvSpPr>
          <p:cNvPr id="12" name="タイトル 2"/>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人事制度へ遍歴</a:t>
            </a:r>
          </a:p>
        </p:txBody>
      </p:sp>
      <p:sp>
        <p:nvSpPr>
          <p:cNvPr id="3" name="正方形/長方形 2">
            <a:extLst>
              <a:ext uri="{FF2B5EF4-FFF2-40B4-BE49-F238E27FC236}">
                <a16:creationId xmlns:a16="http://schemas.microsoft.com/office/drawing/2014/main" id="{77494F1C-8A5E-E063-E7E8-9B0236E91A28}"/>
              </a:ext>
            </a:extLst>
          </p:cNvPr>
          <p:cNvSpPr/>
          <p:nvPr/>
        </p:nvSpPr>
        <p:spPr>
          <a:xfrm>
            <a:off x="1259632" y="1625377"/>
            <a:ext cx="2232248" cy="2016224"/>
          </a:xfrm>
          <a:prstGeom prst="rect">
            <a:avLst/>
          </a:prstGeom>
          <a:solidFill>
            <a:schemeClr val="accent1">
              <a:lumMod val="5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lumMod val="95000"/>
                  </a:schemeClr>
                </a:solidFill>
                <a:latin typeface="BIZ UDPゴシック" panose="020B0400000000000000" pitchFamily="50" charset="-128"/>
                <a:ea typeface="BIZ UDPゴシック" panose="020B0400000000000000" pitchFamily="50" charset="-128"/>
                <a:cs typeface="メイリオ" panose="020B0604030504040204" pitchFamily="50" charset="-128"/>
              </a:rPr>
              <a:t>人事制度</a:t>
            </a:r>
            <a:endParaRPr kumimoji="1" lang="en-US" altLang="ja-JP" sz="1400" b="1" dirty="0">
              <a:solidFill>
                <a:schemeClr val="bg1">
                  <a:lumMod val="95000"/>
                </a:schemeClr>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algn="ctr"/>
            <a:r>
              <a:rPr lang="ja-JP" altLang="en-US" sz="1400" b="1" dirty="0">
                <a:solidFill>
                  <a:schemeClr val="bg1">
                    <a:lumMod val="95000"/>
                  </a:schemeClr>
                </a:solidFill>
                <a:latin typeface="BIZ UDPゴシック" panose="020B0400000000000000" pitchFamily="50" charset="-128"/>
                <a:ea typeface="BIZ UDPゴシック" panose="020B0400000000000000" pitchFamily="50" charset="-128"/>
                <a:cs typeface="メイリオ" panose="020B0604030504040204" pitchFamily="50" charset="-128"/>
              </a:rPr>
              <a:t>（総合職・ゼネラリスト）</a:t>
            </a:r>
            <a:endParaRPr kumimoji="1" lang="ja-JP" altLang="en-US" sz="1400" b="1" dirty="0">
              <a:solidFill>
                <a:schemeClr val="bg1">
                  <a:lumMod val="95000"/>
                </a:schemeClr>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5" name="正方形/長方形 4">
            <a:extLst>
              <a:ext uri="{FF2B5EF4-FFF2-40B4-BE49-F238E27FC236}">
                <a16:creationId xmlns:a16="http://schemas.microsoft.com/office/drawing/2014/main" id="{BE48BA65-0A6C-A7D6-F641-ED96CF5888E7}"/>
              </a:ext>
            </a:extLst>
          </p:cNvPr>
          <p:cNvSpPr/>
          <p:nvPr/>
        </p:nvSpPr>
        <p:spPr>
          <a:xfrm>
            <a:off x="5760640" y="1628800"/>
            <a:ext cx="2232248" cy="2016224"/>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人事制度</a:t>
            </a:r>
            <a:endParaRPr kumimoji="1" lang="en-US" altLang="ja-JP" sz="1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algn="ctr"/>
            <a:r>
              <a:rPr lang="ja-JP" altLang="en-US" sz="1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（総合職・ゼネラリスト）</a:t>
            </a:r>
            <a:endParaRPr kumimoji="1" lang="ja-JP" altLang="en-US" sz="1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10F97FCA-9693-3546-4F49-AB0AEF0EEEA2}"/>
              </a:ext>
            </a:extLst>
          </p:cNvPr>
          <p:cNvSpPr/>
          <p:nvPr/>
        </p:nvSpPr>
        <p:spPr>
          <a:xfrm>
            <a:off x="5760640" y="4005064"/>
            <a:ext cx="2232248" cy="2016224"/>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人事制度</a:t>
            </a:r>
            <a:endParaRPr kumimoji="1" lang="en-US" altLang="ja-JP" sz="1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algn="ctr"/>
            <a:r>
              <a:rPr lang="ja-JP" altLang="en-US" sz="1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（専門職・スペシャリスト）</a:t>
            </a:r>
            <a:endParaRPr kumimoji="1" lang="ja-JP" altLang="en-US" sz="1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cxnSp>
        <p:nvCxnSpPr>
          <p:cNvPr id="8" name="コネクタ: カギ線 7">
            <a:extLst>
              <a:ext uri="{FF2B5EF4-FFF2-40B4-BE49-F238E27FC236}">
                <a16:creationId xmlns:a16="http://schemas.microsoft.com/office/drawing/2014/main" id="{438BEB28-AC24-18F4-865A-1A53BEE198D8}"/>
              </a:ext>
            </a:extLst>
          </p:cNvPr>
          <p:cNvCxnSpPr>
            <a:stCxn id="3" idx="3"/>
            <a:endCxn id="6" idx="1"/>
          </p:cNvCxnSpPr>
          <p:nvPr/>
        </p:nvCxnSpPr>
        <p:spPr>
          <a:xfrm>
            <a:off x="3491880" y="2633489"/>
            <a:ext cx="2268760" cy="2379687"/>
          </a:xfrm>
          <a:prstGeom prst="bentConnector3">
            <a:avLst/>
          </a:prstGeom>
          <a:ln w="285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3B90AB3F-058B-AC0D-922B-B45480BD18BD}"/>
              </a:ext>
            </a:extLst>
          </p:cNvPr>
          <p:cNvCxnSpPr>
            <a:stCxn id="3" idx="3"/>
            <a:endCxn id="5" idx="1"/>
          </p:cNvCxnSpPr>
          <p:nvPr/>
        </p:nvCxnSpPr>
        <p:spPr>
          <a:xfrm>
            <a:off x="3491880" y="2633489"/>
            <a:ext cx="2268760" cy="3423"/>
          </a:xfrm>
          <a:prstGeom prst="straightConnector1">
            <a:avLst/>
          </a:prstGeom>
          <a:ln w="285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タイトル 2">
            <a:extLst>
              <a:ext uri="{FF2B5EF4-FFF2-40B4-BE49-F238E27FC236}">
                <a16:creationId xmlns:a16="http://schemas.microsoft.com/office/drawing/2014/main" id="{AA4E8756-3F55-B41F-FEB3-EF85EC29B8BC}"/>
              </a:ext>
            </a:extLst>
          </p:cNvPr>
          <p:cNvSpPr txBox="1">
            <a:spLocks/>
          </p:cNvSpPr>
          <p:nvPr/>
        </p:nvSpPr>
        <p:spPr>
          <a:xfrm>
            <a:off x="1238325" y="1066726"/>
            <a:ext cx="223224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en-US" altLang="ja-JP" sz="1600" dirty="0">
                <a:latin typeface="BIZ UDPゴシック" panose="020B0400000000000000" pitchFamily="50" charset="-128"/>
                <a:ea typeface="BIZ UDPゴシック" panose="020B0400000000000000" pitchFamily="50" charset="-128"/>
              </a:rPr>
              <a:t>2022</a:t>
            </a:r>
            <a:r>
              <a:rPr lang="ja-JP" altLang="en-US" sz="1600" dirty="0">
                <a:latin typeface="BIZ UDPゴシック" panose="020B0400000000000000" pitchFamily="50" charset="-128"/>
                <a:ea typeface="BIZ UDPゴシック" panose="020B0400000000000000" pitchFamily="50" charset="-128"/>
              </a:rPr>
              <a:t>年度まで</a:t>
            </a:r>
          </a:p>
        </p:txBody>
      </p:sp>
      <p:sp>
        <p:nvSpPr>
          <p:cNvPr id="15" name="タイトル 2">
            <a:extLst>
              <a:ext uri="{FF2B5EF4-FFF2-40B4-BE49-F238E27FC236}">
                <a16:creationId xmlns:a16="http://schemas.microsoft.com/office/drawing/2014/main" id="{069E9D1F-C47A-72D2-4292-43AA494D77CB}"/>
              </a:ext>
            </a:extLst>
          </p:cNvPr>
          <p:cNvSpPr txBox="1">
            <a:spLocks/>
          </p:cNvSpPr>
          <p:nvPr/>
        </p:nvSpPr>
        <p:spPr>
          <a:xfrm>
            <a:off x="5796136" y="1066726"/>
            <a:ext cx="223224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en-US" altLang="ja-JP" sz="1600" dirty="0">
                <a:latin typeface="BIZ UDPゴシック" panose="020B0400000000000000" pitchFamily="50" charset="-128"/>
                <a:ea typeface="BIZ UDPゴシック" panose="020B0400000000000000" pitchFamily="50" charset="-128"/>
              </a:rPr>
              <a:t>2023</a:t>
            </a:r>
            <a:r>
              <a:rPr lang="ja-JP" altLang="en-US" sz="1600" dirty="0">
                <a:latin typeface="BIZ UDPゴシック" panose="020B0400000000000000" pitchFamily="50" charset="-128"/>
                <a:ea typeface="BIZ UDPゴシック" panose="020B0400000000000000" pitchFamily="50" charset="-128"/>
              </a:rPr>
              <a:t>年度以降</a:t>
            </a:r>
          </a:p>
        </p:txBody>
      </p:sp>
      <p:sp>
        <p:nvSpPr>
          <p:cNvPr id="16" name="タイトル 2">
            <a:extLst>
              <a:ext uri="{FF2B5EF4-FFF2-40B4-BE49-F238E27FC236}">
                <a16:creationId xmlns:a16="http://schemas.microsoft.com/office/drawing/2014/main" id="{6469DEC0-C83A-47B7-FF9C-FAC38452D7C3}"/>
              </a:ext>
            </a:extLst>
          </p:cNvPr>
          <p:cNvSpPr txBox="1">
            <a:spLocks/>
          </p:cNvSpPr>
          <p:nvPr/>
        </p:nvSpPr>
        <p:spPr>
          <a:xfrm>
            <a:off x="1259632" y="3798553"/>
            <a:ext cx="223224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dirty="0">
                <a:latin typeface="BIZ UDPゴシック" panose="020B0400000000000000" pitchFamily="50" charset="-128"/>
                <a:ea typeface="BIZ UDPゴシック" panose="020B0400000000000000" pitchFamily="50" charset="-128"/>
              </a:rPr>
              <a:t>単線型人事制度</a:t>
            </a:r>
          </a:p>
        </p:txBody>
      </p:sp>
      <p:sp>
        <p:nvSpPr>
          <p:cNvPr id="17" name="タイトル 2">
            <a:extLst>
              <a:ext uri="{FF2B5EF4-FFF2-40B4-BE49-F238E27FC236}">
                <a16:creationId xmlns:a16="http://schemas.microsoft.com/office/drawing/2014/main" id="{5ED9FE37-4C3B-3F6E-336E-23748B8E480B}"/>
              </a:ext>
            </a:extLst>
          </p:cNvPr>
          <p:cNvSpPr txBox="1">
            <a:spLocks/>
          </p:cNvSpPr>
          <p:nvPr/>
        </p:nvSpPr>
        <p:spPr>
          <a:xfrm>
            <a:off x="5773638" y="6021288"/>
            <a:ext cx="223224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dirty="0">
                <a:latin typeface="BIZ UDPゴシック" panose="020B0400000000000000" pitchFamily="50" charset="-128"/>
                <a:ea typeface="BIZ UDPゴシック" panose="020B0400000000000000" pitchFamily="50" charset="-128"/>
              </a:rPr>
              <a:t>複線型人事制度</a:t>
            </a:r>
          </a:p>
        </p:txBody>
      </p:sp>
    </p:spTree>
    <p:extLst>
      <p:ext uri="{BB962C8B-B14F-4D97-AF65-F5344CB8AC3E}">
        <p14:creationId xmlns:p14="http://schemas.microsoft.com/office/powerpoint/2010/main" val="3822065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4</a:t>
            </a:fld>
            <a:r>
              <a:rPr lang="ja-JP" altLang="en-US" sz="1050" dirty="0">
                <a:latin typeface="+mn-ea"/>
              </a:rPr>
              <a:t>－</a:t>
            </a:r>
          </a:p>
        </p:txBody>
      </p:sp>
      <p:sp>
        <p:nvSpPr>
          <p:cNvPr id="12" name="タイトル 2"/>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専門職の定義</a:t>
            </a:r>
          </a:p>
        </p:txBody>
      </p:sp>
      <p:graphicFrame>
        <p:nvGraphicFramePr>
          <p:cNvPr id="13" name="表 12">
            <a:extLst>
              <a:ext uri="{FF2B5EF4-FFF2-40B4-BE49-F238E27FC236}">
                <a16:creationId xmlns:a16="http://schemas.microsoft.com/office/drawing/2014/main" id="{3BEECCAB-C526-4928-A3C0-BA7764938CE3}"/>
              </a:ext>
            </a:extLst>
          </p:cNvPr>
          <p:cNvGraphicFramePr>
            <a:graphicFrameLocks noGrp="1"/>
          </p:cNvGraphicFramePr>
          <p:nvPr>
            <p:extLst>
              <p:ext uri="{D42A27DB-BD31-4B8C-83A1-F6EECF244321}">
                <p14:modId xmlns:p14="http://schemas.microsoft.com/office/powerpoint/2010/main" val="99115694"/>
              </p:ext>
            </p:extLst>
          </p:nvPr>
        </p:nvGraphicFramePr>
        <p:xfrm>
          <a:off x="107504" y="938000"/>
          <a:ext cx="8928991" cy="5904206"/>
        </p:xfrm>
        <a:graphic>
          <a:graphicData uri="http://schemas.openxmlformats.org/drawingml/2006/table">
            <a:tbl>
              <a:tblPr firstRow="1" bandRow="1">
                <a:tableStyleId>{5C22544A-7EE6-4342-B048-85BDC9FD1C3A}</a:tableStyleId>
              </a:tblPr>
              <a:tblGrid>
                <a:gridCol w="1249671">
                  <a:extLst>
                    <a:ext uri="{9D8B030D-6E8A-4147-A177-3AD203B41FA5}">
                      <a16:colId xmlns:a16="http://schemas.microsoft.com/office/drawing/2014/main" val="512372472"/>
                    </a:ext>
                  </a:extLst>
                </a:gridCol>
                <a:gridCol w="3641862">
                  <a:extLst>
                    <a:ext uri="{9D8B030D-6E8A-4147-A177-3AD203B41FA5}">
                      <a16:colId xmlns:a16="http://schemas.microsoft.com/office/drawing/2014/main" val="1848559048"/>
                    </a:ext>
                  </a:extLst>
                </a:gridCol>
                <a:gridCol w="4037458">
                  <a:extLst>
                    <a:ext uri="{9D8B030D-6E8A-4147-A177-3AD203B41FA5}">
                      <a16:colId xmlns:a16="http://schemas.microsoft.com/office/drawing/2014/main" val="2374557689"/>
                    </a:ext>
                  </a:extLst>
                </a:gridCol>
              </a:tblGrid>
              <a:tr h="265547">
                <a:tc>
                  <a:txBody>
                    <a:bodyPr/>
                    <a:lstStyle/>
                    <a:p>
                      <a:pPr algn="ctr"/>
                      <a:r>
                        <a:rPr kumimoji="1" lang="ja-JP" altLang="en-US" sz="1200" dirty="0">
                          <a:solidFill>
                            <a:schemeClr val="tx1"/>
                          </a:solidFill>
                          <a:latin typeface="BIZ UDPゴシック" panose="020B0400000000000000" pitchFamily="50" charset="-128"/>
                          <a:ea typeface="BIZ UDPゴシック" panose="020B0400000000000000" pitchFamily="50" charset="-128"/>
                        </a:rPr>
                        <a:t>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ja-JP" altLang="en-US" sz="1200" dirty="0">
                          <a:solidFill>
                            <a:schemeClr val="tx1"/>
                          </a:solidFill>
                          <a:latin typeface="BIZ UDPゴシック" panose="020B0400000000000000" pitchFamily="50" charset="-128"/>
                          <a:ea typeface="BIZ UDPゴシック" panose="020B0400000000000000" pitchFamily="50" charset="-128"/>
                        </a:rPr>
                        <a:t>総合職　新制度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kumimoji="1" lang="ja-JP" altLang="en-US" sz="1200" dirty="0">
                          <a:solidFill>
                            <a:schemeClr val="tx1"/>
                          </a:solidFill>
                          <a:latin typeface="BIZ UDPゴシック" panose="020B0400000000000000" pitchFamily="50" charset="-128"/>
                          <a:ea typeface="BIZ UDPゴシック" panose="020B0400000000000000" pitchFamily="50" charset="-128"/>
                        </a:rPr>
                        <a:t>専門職　新制度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442345474"/>
                  </a:ext>
                </a:extLst>
              </a:tr>
              <a:tr h="623038">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①特徴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lang="ja-JP" altLang="en-US" sz="1050" dirty="0">
                          <a:solidFill>
                            <a:srgbClr val="222222"/>
                          </a:solidFill>
                          <a:latin typeface="BIZ UDPゴシック" panose="020B0400000000000000" pitchFamily="50" charset="-128"/>
                          <a:ea typeface="BIZ UDPゴシック" panose="020B0400000000000000" pitchFamily="50" charset="-128"/>
                        </a:rPr>
                        <a:t>・総合職を育成・評価する制度。</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・格付と役職（職位）を一致させず、一定以上の格付対象者へ、広く昇格・昇進の機会を与える。　</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accent1">
                        <a:lumMod val="20000"/>
                        <a:lumOff val="80000"/>
                      </a:schemeClr>
                    </a:solidFill>
                  </a:tcPr>
                </a:tc>
                <a:tc>
                  <a:txBody>
                    <a:bodyPr/>
                    <a:lstStyle/>
                    <a:p>
                      <a:pPr algn="l"/>
                      <a:r>
                        <a:rPr lang="ja-JP" altLang="en-US" sz="1050" dirty="0">
                          <a:solidFill>
                            <a:srgbClr val="222222"/>
                          </a:solidFill>
                          <a:latin typeface="BIZ UDPゴシック" panose="020B0400000000000000" pitchFamily="50" charset="-128"/>
                          <a:ea typeface="BIZ UDPゴシック" panose="020B0400000000000000" pitchFamily="50" charset="-128"/>
                        </a:rPr>
                        <a:t>専門職を育成・評価する制度。</a:t>
                      </a:r>
                      <a:endParaRPr lang="en-US" altLang="ja-JP" sz="1050" dirty="0">
                        <a:solidFill>
                          <a:srgbClr val="222222"/>
                        </a:solidFill>
                        <a:latin typeface="BIZ UDPゴシック" panose="020B0400000000000000" pitchFamily="50" charset="-128"/>
                        <a:ea typeface="BIZ UDPゴシック" panose="020B0400000000000000" pitchFamily="50" charset="-128"/>
                      </a:endParaRPr>
                    </a:p>
                    <a:p>
                      <a:pPr algn="l"/>
                      <a:r>
                        <a:rPr lang="ja-JP" altLang="en-US" sz="1050" dirty="0">
                          <a:solidFill>
                            <a:srgbClr val="222222"/>
                          </a:solidFill>
                          <a:latin typeface="BIZ UDPゴシック" panose="020B0400000000000000" pitchFamily="50" charset="-128"/>
                          <a:ea typeface="BIZ UDPゴシック" panose="020B0400000000000000" pitchFamily="50" charset="-128"/>
                        </a:rPr>
                        <a:t>管理職などのマネジメントを担うのではなく、個々人の技能に基づくパフォーマンスを発揮し、売上高の獲得に貢献する者を厚遇する。</a:t>
                      </a:r>
                      <a:endParaRPr lang="en-US" altLang="ja-JP" sz="1050" dirty="0">
                        <a:solidFill>
                          <a:srgbClr val="222222"/>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79205789"/>
                  </a:ext>
                </a:extLst>
              </a:tr>
              <a:tr h="265547">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②格付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en-US" altLang="ja-JP" sz="1050" dirty="0">
                          <a:solidFill>
                            <a:schemeClr val="tx1"/>
                          </a:solidFill>
                          <a:latin typeface="BIZ UDPゴシック" panose="020B0400000000000000" pitchFamily="50" charset="-128"/>
                          <a:ea typeface="BIZ UDPゴシック" panose="020B0400000000000000" pitchFamily="50" charset="-128"/>
                        </a:rPr>
                        <a:t>11</a:t>
                      </a:r>
                      <a:r>
                        <a:rPr kumimoji="1" lang="ja-JP" altLang="en-US" sz="1050" dirty="0">
                          <a:solidFill>
                            <a:schemeClr val="tx1"/>
                          </a:solidFill>
                          <a:latin typeface="BIZ UDPゴシック" panose="020B0400000000000000" pitchFamily="50" charset="-128"/>
                          <a:ea typeface="BIZ UDPゴシック" panose="020B0400000000000000" pitchFamily="50" charset="-128"/>
                        </a:rPr>
                        <a:t>　段階</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1">
                        <a:lumMod val="20000"/>
                        <a:lumOff val="80000"/>
                      </a:schemeClr>
                    </a:solidFill>
                  </a:tcPr>
                </a:tc>
                <a:tc>
                  <a:txBody>
                    <a:bodyPr/>
                    <a:lstStyle/>
                    <a:p>
                      <a:pPr algn="l"/>
                      <a:r>
                        <a:rPr kumimoji="1" lang="en-US" altLang="ja-JP" sz="1050" u="sng" dirty="0">
                          <a:solidFill>
                            <a:schemeClr val="tx1"/>
                          </a:solidFill>
                          <a:latin typeface="BIZ UDPゴシック" panose="020B0400000000000000" pitchFamily="50" charset="-128"/>
                          <a:ea typeface="BIZ UDPゴシック" panose="020B0400000000000000" pitchFamily="50" charset="-128"/>
                        </a:rPr>
                        <a:t>5</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　段階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3986651"/>
                  </a:ext>
                </a:extLst>
              </a:tr>
              <a:tr h="2655474">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③昇降格 条件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325"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BIZ UDPゴシック" panose="020B0400000000000000" pitchFamily="50" charset="-128"/>
                          <a:ea typeface="BIZ UDPゴシック" panose="020B0400000000000000" pitchFamily="50" charset="-128"/>
                        </a:rPr>
                        <a:t>直近</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年間の</a:t>
                      </a:r>
                      <a:r>
                        <a:rPr lang="en-US" altLang="ja-JP" sz="1050" dirty="0">
                          <a:solidFill>
                            <a:schemeClr val="tx1"/>
                          </a:solidFill>
                          <a:latin typeface="BIZ UDPゴシック" panose="020B0400000000000000" pitchFamily="50" charset="-128"/>
                          <a:ea typeface="BIZ UDPゴシック" panose="020B0400000000000000" pitchFamily="50" charset="-128"/>
                        </a:rPr>
                        <a:t>4</a:t>
                      </a:r>
                      <a:r>
                        <a:rPr lang="ja-JP" altLang="en-US" sz="1050" dirty="0">
                          <a:solidFill>
                            <a:schemeClr val="tx1"/>
                          </a:solidFill>
                          <a:latin typeface="BIZ UDPゴシック" panose="020B0400000000000000" pitchFamily="50" charset="-128"/>
                          <a:ea typeface="BIZ UDPゴシック" panose="020B0400000000000000" pitchFamily="50" charset="-128"/>
                        </a:rPr>
                        <a:t>回のジョブ評価で、</a:t>
                      </a:r>
                      <a:r>
                        <a:rPr lang="en-US" altLang="ja-JP" sz="1050" dirty="0">
                          <a:solidFill>
                            <a:schemeClr val="tx1"/>
                          </a:solidFill>
                          <a:latin typeface="BIZ UDPゴシック" panose="020B0400000000000000" pitchFamily="50" charset="-128"/>
                          <a:ea typeface="BIZ UDPゴシック" panose="020B0400000000000000" pitchFamily="50" charset="-128"/>
                        </a:rPr>
                        <a:t>15</a:t>
                      </a:r>
                      <a:r>
                        <a:rPr lang="ja-JP" altLang="en-US" sz="1050" dirty="0">
                          <a:solidFill>
                            <a:schemeClr val="tx1"/>
                          </a:solidFill>
                          <a:latin typeface="BIZ UDPゴシック" panose="020B0400000000000000" pitchFamily="50" charset="-128"/>
                          <a:ea typeface="BIZ UDPゴシック" panose="020B0400000000000000" pitchFamily="50" charset="-128"/>
                        </a:rPr>
                        <a:t>点以上（</a:t>
                      </a:r>
                      <a:r>
                        <a:rPr lang="en-US" altLang="ja-JP" sz="1050" dirty="0">
                          <a:solidFill>
                            <a:schemeClr val="tx1"/>
                          </a:solidFill>
                          <a:latin typeface="BIZ UDPゴシック" panose="020B0400000000000000" pitchFamily="50" charset="-128"/>
                          <a:ea typeface="BIZ UDPゴシック" panose="020B0400000000000000" pitchFamily="50" charset="-128"/>
                        </a:rPr>
                        <a:t>S</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5</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A</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4</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B</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3</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C</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D</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1</a:t>
                      </a:r>
                      <a:r>
                        <a:rPr lang="ja-JP" altLang="en-US" sz="1050" dirty="0">
                          <a:solidFill>
                            <a:schemeClr val="tx1"/>
                          </a:solidFill>
                          <a:latin typeface="BIZ UDPゴシック" panose="020B0400000000000000" pitchFamily="50" charset="-128"/>
                          <a:ea typeface="BIZ UDPゴシック" panose="020B0400000000000000" pitchFamily="50" charset="-128"/>
                        </a:rPr>
                        <a:t>点）を得た人を対象に、一次試験（ペーパー試験）と二次試験（経営層との面接）を実施し、最終的に昇格を決定する。ただし、連続して</a:t>
                      </a:r>
                      <a:r>
                        <a:rPr lang="en-US" altLang="ja-JP" sz="1050" dirty="0">
                          <a:solidFill>
                            <a:schemeClr val="tx1"/>
                          </a:solidFill>
                          <a:latin typeface="BIZ UDPゴシック" panose="020B0400000000000000" pitchFamily="50" charset="-128"/>
                          <a:ea typeface="BIZ UDPゴシック" panose="020B0400000000000000" pitchFamily="50" charset="-128"/>
                        </a:rPr>
                        <a:t>S</a:t>
                      </a:r>
                      <a:r>
                        <a:rPr lang="ja-JP" altLang="en-US" sz="1050" dirty="0">
                          <a:solidFill>
                            <a:schemeClr val="tx1"/>
                          </a:solidFill>
                          <a:latin typeface="BIZ UDPゴシック" panose="020B0400000000000000" pitchFamily="50" charset="-128"/>
                          <a:ea typeface="BIZ UDPゴシック" panose="020B0400000000000000" pitchFamily="50" charset="-128"/>
                        </a:rPr>
                        <a:t>評価を</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回獲得するなど、特に優秀な成績を収めた人は、上記の基準に関わらず、昇格試験の対象者として推薦されることがある。会社が特に認めた場合、</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段階以上の昇格もあり得る。</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lang="en-US" altLang="ja-JP" sz="90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050" dirty="0">
                          <a:solidFill>
                            <a:schemeClr val="tx1"/>
                          </a:solidFill>
                          <a:latin typeface="BIZ UDPゴシック" panose="020B0400000000000000" pitchFamily="50" charset="-128"/>
                          <a:ea typeface="BIZ UDPゴシック" panose="020B0400000000000000" pitchFamily="50" charset="-128"/>
                        </a:rPr>
                        <a:t>昇格試験は、年</a:t>
                      </a:r>
                      <a:r>
                        <a:rPr lang="en-US" altLang="ja-JP" sz="1050" dirty="0">
                          <a:solidFill>
                            <a:schemeClr val="tx1"/>
                          </a:solidFill>
                          <a:latin typeface="BIZ UDPゴシック" panose="020B0400000000000000" pitchFamily="50" charset="-128"/>
                          <a:ea typeface="BIZ UDPゴシック" panose="020B0400000000000000" pitchFamily="50" charset="-128"/>
                        </a:rPr>
                        <a:t>1</a:t>
                      </a:r>
                      <a:r>
                        <a:rPr lang="ja-JP" altLang="en-US" sz="1050" dirty="0">
                          <a:solidFill>
                            <a:schemeClr val="tx1"/>
                          </a:solidFill>
                          <a:latin typeface="BIZ UDPゴシック" panose="020B0400000000000000" pitchFamily="50" charset="-128"/>
                          <a:ea typeface="BIZ UDPゴシック" panose="020B0400000000000000" pitchFamily="50" charset="-128"/>
                        </a:rPr>
                        <a:t>回とする。試験の時期は年度末とし、年度により格付けを定める。</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lang="en-US" altLang="ja-JP" sz="90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050" dirty="0">
                          <a:solidFill>
                            <a:schemeClr val="tx1"/>
                          </a:solidFill>
                          <a:latin typeface="BIZ UDPゴシック" panose="020B0400000000000000" pitchFamily="50" charset="-128"/>
                          <a:ea typeface="BIZ UDPゴシック" panose="020B0400000000000000" pitchFamily="50" charset="-128"/>
                        </a:rPr>
                        <a:t>昇格試験では、格付グループに応じて、問題解決能力や事業構想能力を問う。</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lang="en-US" altLang="ja-JP" sz="900"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降格は、直近</a:t>
                      </a:r>
                      <a:r>
                        <a:rPr kumimoji="1" lang="en-US" altLang="ja-JP" sz="1050" dirty="0">
                          <a:solidFill>
                            <a:schemeClr val="tx1"/>
                          </a:solidFill>
                          <a:latin typeface="BIZ UDPゴシック" panose="020B0400000000000000" pitchFamily="50" charset="-128"/>
                          <a:ea typeface="BIZ UDPゴシック" panose="020B0400000000000000" pitchFamily="50" charset="-128"/>
                        </a:rPr>
                        <a:t>4</a:t>
                      </a:r>
                      <a:r>
                        <a:rPr kumimoji="1" lang="ja-JP" altLang="en-US" sz="1050" dirty="0">
                          <a:solidFill>
                            <a:schemeClr val="tx1"/>
                          </a:solidFill>
                          <a:latin typeface="BIZ UDPゴシック" panose="020B0400000000000000" pitchFamily="50" charset="-128"/>
                          <a:ea typeface="BIZ UDPゴシック" panose="020B0400000000000000" pitchFamily="50" charset="-128"/>
                        </a:rPr>
                        <a:t>回の評価において、</a:t>
                      </a:r>
                      <a:r>
                        <a:rPr kumimoji="1" lang="en-US" altLang="ja-JP" sz="1050" dirty="0">
                          <a:solidFill>
                            <a:schemeClr val="tx1"/>
                          </a:solidFill>
                          <a:latin typeface="BIZ UDPゴシック" panose="020B0400000000000000" pitchFamily="50" charset="-128"/>
                          <a:ea typeface="BIZ UDPゴシック" panose="020B0400000000000000" pitchFamily="50" charset="-128"/>
                        </a:rPr>
                        <a:t>9</a:t>
                      </a:r>
                      <a:r>
                        <a:rPr lang="ja-JP" altLang="en-US" sz="1050" dirty="0">
                          <a:solidFill>
                            <a:schemeClr val="tx1"/>
                          </a:solidFill>
                          <a:latin typeface="BIZ UDPゴシック" panose="020B0400000000000000" pitchFamily="50" charset="-128"/>
                          <a:ea typeface="BIZ UDPゴシック" panose="020B0400000000000000" pitchFamily="50" charset="-128"/>
                        </a:rPr>
                        <a:t>点以下で</a:t>
                      </a:r>
                      <a:r>
                        <a:rPr kumimoji="1" lang="ja-JP" altLang="en-US" sz="1050" dirty="0">
                          <a:solidFill>
                            <a:schemeClr val="tx1"/>
                          </a:solidFill>
                          <a:latin typeface="BIZ UDPゴシック" panose="020B0400000000000000" pitchFamily="50" charset="-128"/>
                          <a:ea typeface="BIZ UDPゴシック" panose="020B0400000000000000" pitchFamily="50" charset="-128"/>
                        </a:rPr>
                        <a:t>あれば降格対象とする。実際の降格是非は総合考課により決定する。</a:t>
                      </a:r>
                      <a:r>
                        <a:rPr kumimoji="1" lang="en-US" altLang="ja-JP" sz="1050" dirty="0">
                          <a:solidFill>
                            <a:schemeClr val="tx1"/>
                          </a:solidFill>
                          <a:latin typeface="BIZ UDPゴシック" panose="020B0400000000000000" pitchFamily="50" charset="-128"/>
                          <a:ea typeface="BIZ UDPゴシック" panose="020B0400000000000000" pitchFamily="50" charset="-128"/>
                        </a:rPr>
                        <a:t>2</a:t>
                      </a:r>
                      <a:r>
                        <a:rPr kumimoji="1" lang="ja-JP" altLang="en-US" sz="1050" dirty="0">
                          <a:solidFill>
                            <a:schemeClr val="tx1"/>
                          </a:solidFill>
                          <a:latin typeface="BIZ UDPゴシック" panose="020B0400000000000000" pitchFamily="50" charset="-128"/>
                          <a:ea typeface="BIZ UDPゴシック" panose="020B0400000000000000" pitchFamily="50" charset="-128"/>
                        </a:rPr>
                        <a:t>段階以上の降格もあり得る。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1">
                        <a:lumMod val="20000"/>
                        <a:lumOff val="80000"/>
                      </a:schemeClr>
                    </a:solidFill>
                  </a:tcPr>
                </a:tc>
                <a:tc>
                  <a:txBody>
                    <a:bodyPr/>
                    <a:lstStyle/>
                    <a:p>
                      <a:pPr algn="l"/>
                      <a:r>
                        <a:rPr lang="ja-JP" altLang="en-US" sz="1050" dirty="0">
                          <a:solidFill>
                            <a:schemeClr val="tx1"/>
                          </a:solidFill>
                          <a:latin typeface="BIZ UDPゴシック" panose="020B0400000000000000" pitchFamily="50" charset="-128"/>
                          <a:ea typeface="BIZ UDPゴシック" panose="020B0400000000000000" pitchFamily="50" charset="-128"/>
                        </a:rPr>
                        <a:t>専門職の任命は、専門職となる対象者は、「①会社指名→②本人の合意→③任命」により年度単位で定める。</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050" dirty="0">
                          <a:solidFill>
                            <a:schemeClr val="tx1"/>
                          </a:solidFill>
                          <a:latin typeface="BIZ UDPゴシック" panose="020B0400000000000000" pitchFamily="50" charset="-128"/>
                          <a:ea typeface="BIZ UDPゴシック" panose="020B0400000000000000" pitchFamily="50" charset="-128"/>
                        </a:rPr>
                        <a:t>任命後の「昇格及び降格」は、</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年</a:t>
                      </a:r>
                      <a:r>
                        <a:rPr kumimoji="1" lang="en-US" altLang="ja-JP" sz="1050" u="sng" dirty="0">
                          <a:solidFill>
                            <a:schemeClr val="tx1"/>
                          </a:solidFill>
                          <a:latin typeface="BIZ UDPゴシック" panose="020B0400000000000000" pitchFamily="50" charset="-128"/>
                          <a:ea typeface="BIZ UDPゴシック" panose="020B0400000000000000" pitchFamily="50" charset="-128"/>
                        </a:rPr>
                        <a:t>1</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回の頻度で行うことがある。</a:t>
                      </a:r>
                      <a:endParaRPr kumimoji="1" lang="en-US" altLang="ja-JP" sz="1050" u="sng"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050" dirty="0">
                          <a:solidFill>
                            <a:schemeClr val="tx1"/>
                          </a:solidFill>
                          <a:latin typeface="BIZ UDPゴシック" panose="020B0400000000000000" pitchFamily="50" charset="-128"/>
                          <a:ea typeface="BIZ UDPゴシック" panose="020B0400000000000000" pitchFamily="50" charset="-128"/>
                        </a:rPr>
                        <a:t>昇格及び降格の評価方法は、部長及び統括リーダー以上で構成する経営幹部間による合議により行う。合議にいたるフローは、「</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①本人は、年</a:t>
                      </a:r>
                      <a:r>
                        <a:rPr kumimoji="1" lang="en-US" altLang="ja-JP" sz="1050" u="sng" dirty="0">
                          <a:solidFill>
                            <a:schemeClr val="tx1"/>
                          </a:solidFill>
                          <a:latin typeface="BIZ UDPゴシック" panose="020B0400000000000000" pitchFamily="50" charset="-128"/>
                          <a:ea typeface="BIZ UDPゴシック" panose="020B0400000000000000" pitchFamily="50" charset="-128"/>
                        </a:rPr>
                        <a:t>1</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回（</a:t>
                      </a:r>
                      <a:r>
                        <a:rPr kumimoji="1" lang="en-US" altLang="ja-JP" sz="1050" u="sng" dirty="0">
                          <a:solidFill>
                            <a:schemeClr val="tx1"/>
                          </a:solidFill>
                          <a:latin typeface="BIZ UDPゴシック" panose="020B0400000000000000" pitchFamily="50" charset="-128"/>
                          <a:ea typeface="BIZ UDPゴシック" panose="020B0400000000000000" pitchFamily="50" charset="-128"/>
                        </a:rPr>
                        <a:t>3</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月初旬）の、当期の事業構想シートの結果報告及び、翌期事業構想シートの策定を行い、経営幹部へプレゼンする→②経営幹部は、評価と承認を行う→③本人の翌期の格付を決定する」とする。</a:t>
                      </a:r>
                    </a:p>
                    <a:p>
                      <a:pPr algn="l"/>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marL="0" marR="0" lvl="0" indent="0" algn="l" defTabSz="914325"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BIZ UDPゴシック" panose="020B0400000000000000" pitchFamily="50" charset="-128"/>
                          <a:ea typeface="BIZ UDPゴシック" panose="020B0400000000000000" pitchFamily="50" charset="-128"/>
                        </a:rPr>
                        <a:t>キャリアチェンジ（専門職→総合職）は、年</a:t>
                      </a:r>
                      <a:r>
                        <a:rPr lang="en-US" altLang="ja-JP" sz="1050" dirty="0">
                          <a:solidFill>
                            <a:schemeClr val="tx1"/>
                          </a:solidFill>
                          <a:latin typeface="BIZ UDPゴシック" panose="020B0400000000000000" pitchFamily="50" charset="-128"/>
                          <a:ea typeface="BIZ UDPゴシック" panose="020B0400000000000000" pitchFamily="50" charset="-128"/>
                        </a:rPr>
                        <a:t>1</a:t>
                      </a:r>
                      <a:r>
                        <a:rPr lang="ja-JP" altLang="en-US" sz="1050" dirty="0">
                          <a:solidFill>
                            <a:schemeClr val="tx1"/>
                          </a:solidFill>
                          <a:latin typeface="BIZ UDPゴシック" panose="020B0400000000000000" pitchFamily="50" charset="-128"/>
                          <a:ea typeface="BIZ UDPゴシック" panose="020B0400000000000000" pitchFamily="50" charset="-128"/>
                        </a:rPr>
                        <a:t>回、会社と本人による意見交換を経て、会社指示により行うことがある。</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marL="0" marR="0" lvl="0" indent="0" algn="l" defTabSz="914325" rtl="0" eaLnBrk="1" fontAlgn="auto" latinLnBrk="0" hangingPunct="1">
                        <a:lnSpc>
                          <a:spcPct val="100000"/>
                        </a:lnSpc>
                        <a:spcBef>
                          <a:spcPts val="0"/>
                        </a:spcBef>
                        <a:spcAft>
                          <a:spcPts val="0"/>
                        </a:spcAft>
                        <a:buClrTx/>
                        <a:buSzTx/>
                        <a:buFontTx/>
                        <a:buNone/>
                        <a:tabLst/>
                        <a:defRPr/>
                      </a:pP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marL="0" marR="0" lvl="0" indent="0" algn="l" defTabSz="914325"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BIZ UDPゴシック" panose="020B0400000000000000" pitchFamily="50" charset="-128"/>
                          <a:ea typeface="BIZ UDPゴシック" panose="020B0400000000000000" pitchFamily="50" charset="-128"/>
                        </a:rPr>
                        <a:t>新規入社者が専門職として入社する場合もありえる。</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32675028"/>
                  </a:ext>
                </a:extLst>
              </a:tr>
              <a:tr h="503428">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④管理監督者</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管理監督者は、部長・統括リーダーとする。</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1">
                        <a:lumMod val="20000"/>
                        <a:lumOff val="80000"/>
                      </a:schemeClr>
                    </a:solidFill>
                  </a:tcPr>
                </a:tc>
                <a:tc>
                  <a:txBody>
                    <a:bodyPr/>
                    <a:lstStyle/>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管理監督者ではない。</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基本的にはマネジメントは担わない。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99519960"/>
                  </a:ext>
                </a:extLst>
              </a:tr>
              <a:tr h="1172834">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⑤賃金テーブルと各種手当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325" rtl="0" eaLnBrk="1" fontAlgn="auto" latinLnBrk="0" hangingPunct="1">
                        <a:lnSpc>
                          <a:spcPct val="100000"/>
                        </a:lnSpc>
                        <a:spcBef>
                          <a:spcPts val="0"/>
                        </a:spcBef>
                        <a:spcAft>
                          <a:spcPts val="0"/>
                        </a:spcAft>
                        <a:buClrTx/>
                        <a:buSzTx/>
                        <a:buFontTx/>
                        <a:buNone/>
                        <a:tabLst/>
                        <a:defRPr/>
                      </a:pPr>
                      <a:r>
                        <a:rPr kumimoji="1" lang="ja-JP" altLang="en-US" sz="1050" strike="noStrike" kern="1200" baseline="0" dirty="0">
                          <a:solidFill>
                            <a:schemeClr val="tx1"/>
                          </a:solidFill>
                          <a:latin typeface="BIZ UDPゴシック" panose="020B0400000000000000" pitchFamily="50" charset="-128"/>
                          <a:ea typeface="BIZ UDPゴシック" panose="020B0400000000000000" pitchFamily="50" charset="-128"/>
                          <a:cs typeface="+mn-cs"/>
                        </a:rPr>
                        <a:t>総合職用の賃金テーブルを用いる。</a:t>
                      </a:r>
                      <a:endParaRPr kumimoji="1" lang="en-US" altLang="ja-JP" sz="1050" strike="noStrike" kern="1200" baseline="0" dirty="0">
                        <a:solidFill>
                          <a:schemeClr val="tx1"/>
                        </a:solidFill>
                        <a:latin typeface="BIZ UDPゴシック" panose="020B0400000000000000" pitchFamily="50" charset="-128"/>
                        <a:ea typeface="BIZ UDPゴシック" panose="020B0400000000000000" pitchFamily="50" charset="-128"/>
                        <a:cs typeface="+mn-cs"/>
                      </a:endParaRPr>
                    </a:p>
                    <a:p>
                      <a:pPr marL="0" marR="0" lvl="0" indent="0" algn="l" defTabSz="914325" rtl="0" eaLnBrk="1" fontAlgn="auto" latinLnBrk="0" hangingPunct="1">
                        <a:lnSpc>
                          <a:spcPct val="100000"/>
                        </a:lnSpc>
                        <a:spcBef>
                          <a:spcPts val="0"/>
                        </a:spcBef>
                        <a:spcAft>
                          <a:spcPts val="0"/>
                        </a:spcAft>
                        <a:buClrTx/>
                        <a:buSzTx/>
                        <a:buFontTx/>
                        <a:buNone/>
                        <a:tabLst/>
                        <a:defRPr/>
                      </a:pPr>
                      <a:endParaRPr kumimoji="1" lang="en-US" altLang="ja-JP" sz="1050" strike="noStrike" kern="1200" baseline="0" dirty="0">
                        <a:solidFill>
                          <a:schemeClr val="tx1"/>
                        </a:solidFill>
                        <a:latin typeface="BIZ UDPゴシック" panose="020B0400000000000000" pitchFamily="50" charset="-128"/>
                        <a:ea typeface="BIZ UDPゴシック" panose="020B0400000000000000" pitchFamily="50" charset="-128"/>
                        <a:cs typeface="+mn-cs"/>
                      </a:endParaRPr>
                    </a:p>
                    <a:p>
                      <a:pPr marL="0" marR="0" lvl="0" indent="0" algn="l" defTabSz="914325" rtl="0" eaLnBrk="1" fontAlgn="auto" latinLnBrk="0" hangingPunct="1">
                        <a:lnSpc>
                          <a:spcPct val="100000"/>
                        </a:lnSpc>
                        <a:spcBef>
                          <a:spcPts val="0"/>
                        </a:spcBef>
                        <a:spcAft>
                          <a:spcPts val="0"/>
                        </a:spcAft>
                        <a:buClrTx/>
                        <a:buSzTx/>
                        <a:buFontTx/>
                        <a:buNone/>
                        <a:tabLst/>
                        <a:defRPr/>
                      </a:pPr>
                      <a:r>
                        <a:rPr kumimoji="1" lang="ja-JP" altLang="en-US" sz="1050" strike="noStrike" kern="1200" baseline="0" dirty="0">
                          <a:solidFill>
                            <a:schemeClr val="tx1"/>
                          </a:solidFill>
                          <a:latin typeface="BIZ UDPゴシック" panose="020B0400000000000000" pitchFamily="50" charset="-128"/>
                          <a:ea typeface="BIZ UDPゴシック" panose="020B0400000000000000" pitchFamily="50" charset="-128"/>
                          <a:cs typeface="+mn-cs"/>
                        </a:rPr>
                        <a:t>手当は、</a:t>
                      </a: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①家族手当・②資格</a:t>
                      </a:r>
                      <a:r>
                        <a:rPr kumimoji="1" lang="ja-JP" altLang="en-US" sz="1050" b="0" kern="1200" dirty="0">
                          <a:solidFill>
                            <a:schemeClr val="tx1"/>
                          </a:solidFill>
                          <a:latin typeface="BIZ UDPゴシック" panose="020B0400000000000000" pitchFamily="50" charset="-128"/>
                          <a:ea typeface="BIZ UDPゴシック" panose="020B0400000000000000" pitchFamily="50" charset="-128"/>
                          <a:cs typeface="+mn-cs"/>
                        </a:rPr>
                        <a:t>手当・</a:t>
                      </a:r>
                      <a:r>
                        <a:rPr kumimoji="1" lang="ja-JP" altLang="en-US" sz="1050" b="0" u="none" kern="1200" dirty="0">
                          <a:solidFill>
                            <a:schemeClr val="tx1"/>
                          </a:solidFill>
                          <a:latin typeface="BIZ UDPゴシック" panose="020B0400000000000000" pitchFamily="50" charset="-128"/>
                          <a:ea typeface="BIZ UDPゴシック" panose="020B0400000000000000" pitchFamily="50" charset="-128"/>
                          <a:cs typeface="+mn-cs"/>
                        </a:rPr>
                        <a:t>③通勤手当・</a:t>
                      </a:r>
                      <a:r>
                        <a:rPr kumimoji="1" lang="ja-JP" altLang="en-US" sz="1050" strike="noStrike" kern="1200" baseline="0" dirty="0">
                          <a:solidFill>
                            <a:schemeClr val="tx1"/>
                          </a:solidFill>
                          <a:latin typeface="BIZ UDPゴシック" panose="020B0400000000000000" pitchFamily="50" charset="-128"/>
                          <a:ea typeface="BIZ UDPゴシック" panose="020B0400000000000000" pitchFamily="50" charset="-128"/>
                          <a:cs typeface="+mn-cs"/>
                        </a:rPr>
                        <a:t>④</a:t>
                      </a: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役職手当・</a:t>
                      </a:r>
                      <a:r>
                        <a:rPr kumimoji="1" lang="ja-JP" altLang="en-US" sz="1050" b="0" kern="1200" dirty="0">
                          <a:solidFill>
                            <a:schemeClr val="tx1"/>
                          </a:solidFill>
                          <a:latin typeface="BIZ UDPゴシック" panose="020B0400000000000000" pitchFamily="50" charset="-128"/>
                          <a:ea typeface="BIZ UDPゴシック" panose="020B0400000000000000" pitchFamily="50" charset="-128"/>
                          <a:cs typeface="+mn-cs"/>
                        </a:rPr>
                        <a:t>⑤</a:t>
                      </a:r>
                      <a:r>
                        <a:rPr kumimoji="1" lang="ja-JP" altLang="en-US" sz="1050" b="0" u="none" kern="1200" dirty="0">
                          <a:solidFill>
                            <a:schemeClr val="tx1"/>
                          </a:solidFill>
                          <a:latin typeface="BIZ UDPゴシック" panose="020B0400000000000000" pitchFamily="50" charset="-128"/>
                          <a:ea typeface="BIZ UDPゴシック" panose="020B0400000000000000" pitchFamily="50" charset="-128"/>
                          <a:cs typeface="+mn-cs"/>
                        </a:rPr>
                        <a:t>専門スキル手当⑥時間外みなし手当⑦単身赴任手当を支給する。</a:t>
                      </a:r>
                      <a:endPar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050" u="sng" dirty="0">
                          <a:solidFill>
                            <a:schemeClr val="tx1"/>
                          </a:solidFill>
                          <a:latin typeface="BIZ UDPゴシック" panose="020B0400000000000000" pitchFamily="50" charset="-128"/>
                          <a:ea typeface="BIZ UDPゴシック" panose="020B0400000000000000" pitchFamily="50" charset="-128"/>
                        </a:rPr>
                        <a:t>専門職用の賃金テーブルを用いる。</a:t>
                      </a:r>
                      <a:endParaRPr kumimoji="1" lang="en-US" altLang="ja-JP" sz="1050" u="sng"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050" u="sng" dirty="0">
                          <a:solidFill>
                            <a:schemeClr val="tx1"/>
                          </a:solidFill>
                          <a:latin typeface="BIZ UDPゴシック" panose="020B0400000000000000" pitchFamily="50" charset="-128"/>
                          <a:ea typeface="BIZ UDPゴシック" panose="020B0400000000000000" pitchFamily="50" charset="-128"/>
                        </a:rPr>
                        <a:t>年棒制とし、賞与は発生しない。</a:t>
                      </a:r>
                      <a:r>
                        <a:rPr kumimoji="1" lang="ja-JP" altLang="en-US" sz="1050" u="none" dirty="0">
                          <a:solidFill>
                            <a:schemeClr val="tx1"/>
                          </a:solidFill>
                          <a:latin typeface="BIZ UDPゴシック" panose="020B0400000000000000" pitchFamily="50" charset="-128"/>
                          <a:ea typeface="BIZ UDPゴシック" panose="020B0400000000000000" pitchFamily="50" charset="-128"/>
                        </a:rPr>
                        <a:t>ただし、</a:t>
                      </a:r>
                      <a:r>
                        <a:rPr kumimoji="1" lang="ja-JP" altLang="en-US" sz="1050" dirty="0">
                          <a:solidFill>
                            <a:schemeClr val="tx1"/>
                          </a:solidFill>
                          <a:latin typeface="BIZ UDPゴシック" panose="020B0400000000000000" pitchFamily="50" charset="-128"/>
                          <a:ea typeface="BIZ UDPゴシック" panose="020B0400000000000000" pitchFamily="50" charset="-128"/>
                        </a:rPr>
                        <a:t>賞与分は月割りとし、月額給与として支給される。（後述）</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kumimoji="1" lang="en-US" altLang="ja-JP" sz="1050" strike="noStrike" kern="1200" baseline="0" dirty="0">
                        <a:solidFill>
                          <a:schemeClr val="tx1"/>
                        </a:solidFill>
                        <a:latin typeface="BIZ UDPゴシック" panose="020B0400000000000000" pitchFamily="50" charset="-128"/>
                        <a:ea typeface="BIZ UDPゴシック" panose="020B0400000000000000" pitchFamily="50" charset="-128"/>
                        <a:cs typeface="+mn-cs"/>
                      </a:endParaRPr>
                    </a:p>
                    <a:p>
                      <a:pPr marL="0" marR="0" lvl="0" indent="0" algn="l" defTabSz="914325" rtl="0" eaLnBrk="1" fontAlgn="auto" latinLnBrk="0" hangingPunct="1">
                        <a:lnSpc>
                          <a:spcPct val="100000"/>
                        </a:lnSpc>
                        <a:spcBef>
                          <a:spcPts val="0"/>
                        </a:spcBef>
                        <a:spcAft>
                          <a:spcPts val="0"/>
                        </a:spcAft>
                        <a:buClrTx/>
                        <a:buSzTx/>
                        <a:buFontTx/>
                        <a:buNone/>
                        <a:tabLst/>
                        <a:defRPr/>
                      </a:pPr>
                      <a:r>
                        <a:rPr kumimoji="1" lang="ja-JP" altLang="en-US" sz="1050" strike="noStrike" kern="1200" baseline="0" dirty="0">
                          <a:solidFill>
                            <a:schemeClr val="tx1"/>
                          </a:solidFill>
                          <a:latin typeface="BIZ UDPゴシック" panose="020B0400000000000000" pitchFamily="50" charset="-128"/>
                          <a:ea typeface="BIZ UDPゴシック" panose="020B0400000000000000" pitchFamily="50" charset="-128"/>
                          <a:cs typeface="+mn-cs"/>
                        </a:rPr>
                        <a:t>手当は、①</a:t>
                      </a: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家族手当・②資格</a:t>
                      </a:r>
                      <a:r>
                        <a:rPr kumimoji="1" lang="ja-JP" altLang="en-US" sz="1050" b="0" kern="1200" dirty="0">
                          <a:solidFill>
                            <a:schemeClr val="tx1"/>
                          </a:solidFill>
                          <a:latin typeface="BIZ UDPゴシック" panose="020B0400000000000000" pitchFamily="50" charset="-128"/>
                          <a:ea typeface="BIZ UDPゴシック" panose="020B0400000000000000" pitchFamily="50" charset="-128"/>
                          <a:cs typeface="+mn-cs"/>
                        </a:rPr>
                        <a:t>手当・③</a:t>
                      </a:r>
                      <a:r>
                        <a:rPr kumimoji="1" lang="ja-JP" altLang="en-US" sz="1050" b="0" u="none" kern="1200" dirty="0">
                          <a:solidFill>
                            <a:schemeClr val="tx1"/>
                          </a:solidFill>
                          <a:latin typeface="BIZ UDPゴシック" panose="020B0400000000000000" pitchFamily="50" charset="-128"/>
                          <a:ea typeface="BIZ UDPゴシック" panose="020B0400000000000000" pitchFamily="50" charset="-128"/>
                          <a:cs typeface="+mn-cs"/>
                        </a:rPr>
                        <a:t>通勤手当・⑤専門スキル手当⑥時間外みなし手当・⑦単身赴任手当、を支給する。</a:t>
                      </a:r>
                      <a:r>
                        <a:rPr kumimoji="1" lang="ja-JP" altLang="en-US" sz="1050" b="0" u="sng" kern="1200" dirty="0">
                          <a:solidFill>
                            <a:schemeClr val="tx1"/>
                          </a:solidFill>
                          <a:latin typeface="BIZ UDPゴシック" panose="020B0400000000000000" pitchFamily="50" charset="-128"/>
                          <a:ea typeface="BIZ UDPゴシック" panose="020B0400000000000000" pitchFamily="50" charset="-128"/>
                          <a:cs typeface="+mn-cs"/>
                        </a:rPr>
                        <a:t>④役職手当は支給しない。</a:t>
                      </a:r>
                      <a:endParaRPr kumimoji="1" lang="ja-JP" altLang="en-US" sz="1050" u="sng" kern="1200" dirty="0">
                        <a:solidFill>
                          <a:schemeClr val="tx1"/>
                        </a:solidFill>
                        <a:latin typeface="BIZ UDPゴシック" panose="020B0400000000000000" pitchFamily="50" charset="-128"/>
                        <a:ea typeface="BIZ UDPゴシック" panose="020B0400000000000000"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04248590"/>
                  </a:ext>
                </a:extLst>
              </a:tr>
              <a:tr h="265547">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⑥ジョブ評価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325" rtl="0" eaLnBrk="1" fontAlgn="auto" latinLnBrk="0" hangingPunct="1">
                        <a:lnSpc>
                          <a:spcPct val="100000"/>
                        </a:lnSpc>
                        <a:spcBef>
                          <a:spcPts val="0"/>
                        </a:spcBef>
                        <a:spcAft>
                          <a:spcPts val="0"/>
                        </a:spcAft>
                        <a:buClrTx/>
                        <a:buSzTx/>
                        <a:buFontTx/>
                        <a:buNone/>
                        <a:tabLst/>
                        <a:defRPr/>
                      </a:pP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半期に</a:t>
                      </a:r>
                      <a:r>
                        <a:rPr kumimoji="1" lang="en-US" altLang="ja-JP" sz="1050" kern="1200" dirty="0">
                          <a:solidFill>
                            <a:schemeClr val="tx1"/>
                          </a:solidFill>
                          <a:latin typeface="BIZ UDPゴシック" panose="020B0400000000000000" pitchFamily="50" charset="-128"/>
                          <a:ea typeface="BIZ UDPゴシック" panose="020B0400000000000000" pitchFamily="50" charset="-128"/>
                          <a:cs typeface="+mn-cs"/>
                        </a:rPr>
                        <a:t>1</a:t>
                      </a: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度の目標管理によるジョブ評価シートを用いる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050" u="sng" dirty="0">
                          <a:solidFill>
                            <a:schemeClr val="tx1"/>
                          </a:solidFill>
                          <a:latin typeface="BIZ UDPゴシック" panose="020B0400000000000000" pitchFamily="50" charset="-128"/>
                          <a:ea typeface="BIZ UDPゴシック" panose="020B0400000000000000" pitchFamily="50" charset="-128"/>
                        </a:rPr>
                        <a:t>年に</a:t>
                      </a:r>
                      <a:r>
                        <a:rPr kumimoji="1" lang="en-US" altLang="ja-JP" sz="1050" u="sng" dirty="0">
                          <a:solidFill>
                            <a:schemeClr val="tx1"/>
                          </a:solidFill>
                          <a:latin typeface="BIZ UDPゴシック" panose="020B0400000000000000" pitchFamily="50" charset="-128"/>
                          <a:ea typeface="BIZ UDPゴシック" panose="020B0400000000000000" pitchFamily="50" charset="-128"/>
                        </a:rPr>
                        <a:t>1</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度の結果管理による事業構想シート（新設）を用いる。</a:t>
                      </a:r>
                      <a:endParaRPr kumimoji="1" lang="en-US" altLang="ja-JP" sz="1050" u="sng"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95287525"/>
                  </a:ext>
                </a:extLst>
              </a:tr>
            </a:tbl>
          </a:graphicData>
        </a:graphic>
      </p:graphicFrame>
    </p:spTree>
    <p:extLst>
      <p:ext uri="{BB962C8B-B14F-4D97-AF65-F5344CB8AC3E}">
        <p14:creationId xmlns:p14="http://schemas.microsoft.com/office/powerpoint/2010/main" val="2620944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DBD50-C6F3-C1B9-F3B2-E755A54D170C}"/>
            </a:ext>
          </a:extLst>
        </p:cNvPr>
        <p:cNvGrpSpPr/>
        <p:nvPr/>
      </p:nvGrpSpPr>
      <p:grpSpPr>
        <a:xfrm>
          <a:off x="0" y="0"/>
          <a:ext cx="0" cy="0"/>
          <a:chOff x="0" y="0"/>
          <a:chExt cx="0" cy="0"/>
        </a:xfrm>
      </p:grpSpPr>
      <p:sp>
        <p:nvSpPr>
          <p:cNvPr id="11" name="Text Box 31">
            <a:extLst>
              <a:ext uri="{FF2B5EF4-FFF2-40B4-BE49-F238E27FC236}">
                <a16:creationId xmlns:a16="http://schemas.microsoft.com/office/drawing/2014/main" id="{FA27B84E-E025-2539-7729-4FA49768DA3C}"/>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j-ea"/>
                <a:ea typeface="+mj-ea"/>
              </a:rPr>
              <a:t>－</a:t>
            </a:r>
            <a:fld id="{B0F819B3-9E8F-4282-8AF7-A5F025A1BD25}" type="slidenum">
              <a:rPr lang="ja-JP" altLang="en-US" sz="1050">
                <a:latin typeface="+mj-ea"/>
                <a:ea typeface="+mj-ea"/>
              </a:rPr>
              <a:pPr algn="ctr" eaLnBrk="0" hangingPunct="0">
                <a:lnSpc>
                  <a:spcPct val="100000"/>
                </a:lnSpc>
                <a:buClrTx/>
                <a:buSzTx/>
                <a:buFontTx/>
                <a:buNone/>
              </a:pPr>
              <a:t>5</a:t>
            </a:fld>
            <a:r>
              <a:rPr lang="ja-JP" altLang="en-US" sz="1050" dirty="0">
                <a:latin typeface="+mj-ea"/>
                <a:ea typeface="+mj-ea"/>
              </a:rPr>
              <a:t>－</a:t>
            </a:r>
          </a:p>
        </p:txBody>
      </p:sp>
      <p:sp>
        <p:nvSpPr>
          <p:cNvPr id="8" name="タイトル 2">
            <a:extLst>
              <a:ext uri="{FF2B5EF4-FFF2-40B4-BE49-F238E27FC236}">
                <a16:creationId xmlns:a16="http://schemas.microsoft.com/office/drawing/2014/main" id="{3D79AD3C-F9A3-29A1-2E84-2E5EDE5D41EB}"/>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総合職　「格付と役職」及び「公的資格と役職」について</a:t>
            </a:r>
          </a:p>
        </p:txBody>
      </p:sp>
      <p:graphicFrame>
        <p:nvGraphicFramePr>
          <p:cNvPr id="15" name="表 14">
            <a:extLst>
              <a:ext uri="{FF2B5EF4-FFF2-40B4-BE49-F238E27FC236}">
                <a16:creationId xmlns:a16="http://schemas.microsoft.com/office/drawing/2014/main" id="{F6E22ABA-2B18-7D96-1CCD-ACA9D48E4775}"/>
              </a:ext>
            </a:extLst>
          </p:cNvPr>
          <p:cNvGraphicFramePr>
            <a:graphicFrameLocks noGrp="1"/>
          </p:cNvGraphicFramePr>
          <p:nvPr>
            <p:extLst>
              <p:ext uri="{D42A27DB-BD31-4B8C-83A1-F6EECF244321}">
                <p14:modId xmlns:p14="http://schemas.microsoft.com/office/powerpoint/2010/main" val="2234931025"/>
              </p:ext>
            </p:extLst>
          </p:nvPr>
        </p:nvGraphicFramePr>
        <p:xfrm>
          <a:off x="324612" y="2344647"/>
          <a:ext cx="3095802" cy="3148253"/>
        </p:xfrm>
        <a:graphic>
          <a:graphicData uri="http://schemas.openxmlformats.org/drawingml/2006/table">
            <a:tbl>
              <a:tblPr/>
              <a:tblGrid>
                <a:gridCol w="398131">
                  <a:extLst>
                    <a:ext uri="{9D8B030D-6E8A-4147-A177-3AD203B41FA5}">
                      <a16:colId xmlns:a16="http://schemas.microsoft.com/office/drawing/2014/main" val="20000"/>
                    </a:ext>
                  </a:extLst>
                </a:gridCol>
                <a:gridCol w="2697671">
                  <a:extLst>
                    <a:ext uri="{9D8B030D-6E8A-4147-A177-3AD203B41FA5}">
                      <a16:colId xmlns:a16="http://schemas.microsoft.com/office/drawing/2014/main" val="20001"/>
                    </a:ext>
                  </a:extLst>
                </a:gridCol>
              </a:tblGrid>
              <a:tr h="316539">
                <a:tc>
                  <a:txBody>
                    <a:bodyPr/>
                    <a:lstStyle/>
                    <a:p>
                      <a:pPr algn="ctr"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11</a:t>
                      </a:r>
                      <a:endParaRPr lang="en-US" sz="12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2408">
                <a:tc>
                  <a:txBody>
                    <a:bodyPr/>
                    <a:lstStyle/>
                    <a:p>
                      <a:pPr algn="ctr"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10</a:t>
                      </a: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08618">
                <a:tc>
                  <a:txBody>
                    <a:bodyPr/>
                    <a:lstStyle/>
                    <a:p>
                      <a:pPr algn="ctr"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9</a:t>
                      </a:r>
                      <a:endParaRPr lang="en-US" sz="12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82211">
                <a:tc>
                  <a:txBody>
                    <a:bodyPr/>
                    <a:lstStyle/>
                    <a:p>
                      <a:pPr algn="ctr"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8</a:t>
                      </a:r>
                      <a:endParaRPr lang="en-US" sz="12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82211">
                <a:tc>
                  <a:txBody>
                    <a:bodyPr/>
                    <a:lstStyle/>
                    <a:p>
                      <a:pPr algn="ctr"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7</a:t>
                      </a:r>
                      <a:endParaRPr lang="en-US" sz="12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82211">
                <a:tc>
                  <a:txBody>
                    <a:bodyPr/>
                    <a:lstStyle/>
                    <a:p>
                      <a:pPr algn="ctr"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6</a:t>
                      </a:r>
                      <a:endParaRPr lang="en-US" sz="12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64390">
                <a:tc>
                  <a:txBody>
                    <a:bodyPr/>
                    <a:lstStyle/>
                    <a:p>
                      <a:pPr algn="ctr"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5</a:t>
                      </a:r>
                      <a:endParaRPr lang="en-US" sz="12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64563">
                <a:tc>
                  <a:txBody>
                    <a:bodyPr/>
                    <a:lstStyle/>
                    <a:p>
                      <a:pPr algn="ctr"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4</a:t>
                      </a:r>
                      <a:endParaRPr lang="en-US" sz="12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94077">
                <a:tc>
                  <a:txBody>
                    <a:bodyPr/>
                    <a:lstStyle/>
                    <a:p>
                      <a:pPr algn="ctr"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3</a:t>
                      </a:r>
                      <a:endParaRPr lang="en-US" sz="12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49203">
                <a:tc>
                  <a:txBody>
                    <a:bodyPr/>
                    <a:lstStyle/>
                    <a:p>
                      <a:pPr algn="ctr"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2</a:t>
                      </a:r>
                      <a:endParaRPr lang="en-US" sz="12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301822">
                <a:tc>
                  <a:txBody>
                    <a:bodyPr/>
                    <a:lstStyle/>
                    <a:p>
                      <a:pPr algn="ctr"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1</a:t>
                      </a:r>
                      <a:endParaRPr lang="en-US" sz="12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3801" marR="3801" marT="38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6" name="正方形/長方形 15">
            <a:extLst>
              <a:ext uri="{FF2B5EF4-FFF2-40B4-BE49-F238E27FC236}">
                <a16:creationId xmlns:a16="http://schemas.microsoft.com/office/drawing/2014/main" id="{B32E71C1-E28F-721F-F621-104CC8D2B630}"/>
              </a:ext>
            </a:extLst>
          </p:cNvPr>
          <p:cNvSpPr/>
          <p:nvPr/>
        </p:nvSpPr>
        <p:spPr>
          <a:xfrm>
            <a:off x="840866" y="2345678"/>
            <a:ext cx="627186" cy="2296617"/>
          </a:xfrm>
          <a:prstGeom prst="rect">
            <a:avLst/>
          </a:prstGeom>
          <a:gradFill flip="none" rotWithShape="1">
            <a:gsLst>
              <a:gs pos="0">
                <a:schemeClr val="accent1">
                  <a:shade val="30000"/>
                  <a:satMod val="115000"/>
                </a:schemeClr>
              </a:gs>
              <a:gs pos="100000">
                <a:schemeClr val="accent1">
                  <a:shade val="67500"/>
                  <a:satMod val="115000"/>
                  <a:alpha val="71000"/>
                </a:schemeClr>
              </a:gs>
              <a:gs pos="100000">
                <a:schemeClr val="accent1">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00" dirty="0">
                <a:latin typeface="BIZ UDPゴシック" panose="020B0400000000000000" pitchFamily="50" charset="-128"/>
                <a:ea typeface="BIZ UDPゴシック" panose="020B0400000000000000" pitchFamily="50" charset="-128"/>
              </a:rPr>
              <a:t>リーダー・サブリーダー</a:t>
            </a:r>
            <a:endParaRPr lang="en-US" altLang="ja-JP" sz="1400" dirty="0">
              <a:latin typeface="BIZ UDPゴシック" panose="020B0400000000000000" pitchFamily="50" charset="-128"/>
              <a:ea typeface="BIZ UDPゴシック" panose="020B0400000000000000" pitchFamily="50" charset="-128"/>
            </a:endParaRPr>
          </a:p>
        </p:txBody>
      </p:sp>
      <p:sp>
        <p:nvSpPr>
          <p:cNvPr id="17" name="正方形/長方形 16">
            <a:extLst>
              <a:ext uri="{FF2B5EF4-FFF2-40B4-BE49-F238E27FC236}">
                <a16:creationId xmlns:a16="http://schemas.microsoft.com/office/drawing/2014/main" id="{0BC39F69-8E1A-49BF-6B7F-52B02A9B8B06}"/>
              </a:ext>
            </a:extLst>
          </p:cNvPr>
          <p:cNvSpPr/>
          <p:nvPr/>
        </p:nvSpPr>
        <p:spPr>
          <a:xfrm>
            <a:off x="1644002" y="2345678"/>
            <a:ext cx="627186" cy="1502987"/>
          </a:xfrm>
          <a:prstGeom prst="rect">
            <a:avLst/>
          </a:prstGeom>
          <a:gradFill flip="none" rotWithShape="1">
            <a:gsLst>
              <a:gs pos="0">
                <a:schemeClr val="accent1">
                  <a:shade val="30000"/>
                  <a:satMod val="115000"/>
                </a:schemeClr>
              </a:gs>
              <a:gs pos="100000">
                <a:schemeClr val="accent1">
                  <a:shade val="67500"/>
                  <a:satMod val="115000"/>
                  <a:alpha val="71000"/>
                </a:schemeClr>
              </a:gs>
              <a:gs pos="100000">
                <a:schemeClr val="accent1">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400" dirty="0">
                <a:latin typeface="BIZ UDPゴシック" panose="020B0400000000000000" pitchFamily="50" charset="-128"/>
                <a:ea typeface="BIZ UDPゴシック" panose="020B0400000000000000" pitchFamily="50" charset="-128"/>
              </a:rPr>
              <a:t>統括リーダー</a:t>
            </a:r>
            <a:endParaRPr lang="en-US" altLang="ja-JP" sz="1400" dirty="0">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1B02F08F-A243-ACE3-D86A-BD93C0CB8E26}"/>
              </a:ext>
            </a:extLst>
          </p:cNvPr>
          <p:cNvSpPr/>
          <p:nvPr/>
        </p:nvSpPr>
        <p:spPr>
          <a:xfrm>
            <a:off x="2433188" y="2345678"/>
            <a:ext cx="627186" cy="1502987"/>
          </a:xfrm>
          <a:prstGeom prst="rect">
            <a:avLst/>
          </a:prstGeom>
          <a:gradFill flip="none" rotWithShape="1">
            <a:gsLst>
              <a:gs pos="0">
                <a:schemeClr val="accent1">
                  <a:shade val="30000"/>
                  <a:satMod val="115000"/>
                </a:schemeClr>
              </a:gs>
              <a:gs pos="100000">
                <a:schemeClr val="accent1">
                  <a:shade val="67500"/>
                  <a:satMod val="115000"/>
                  <a:alpha val="71000"/>
                </a:schemeClr>
              </a:gs>
              <a:gs pos="100000">
                <a:schemeClr val="accent1">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400" dirty="0">
                <a:latin typeface="BIZ UDPゴシック" panose="020B0400000000000000" pitchFamily="50" charset="-128"/>
                <a:ea typeface="BIZ UDPゴシック" panose="020B0400000000000000" pitchFamily="50" charset="-128"/>
              </a:rPr>
              <a:t>部長</a:t>
            </a:r>
            <a:endParaRPr lang="en-US" altLang="ja-JP" sz="1400" dirty="0">
              <a:latin typeface="BIZ UDPゴシック" panose="020B0400000000000000" pitchFamily="50" charset="-128"/>
              <a:ea typeface="BIZ UDPゴシック" panose="020B0400000000000000" pitchFamily="50" charset="-128"/>
            </a:endParaRPr>
          </a:p>
        </p:txBody>
      </p:sp>
      <p:graphicFrame>
        <p:nvGraphicFramePr>
          <p:cNvPr id="21" name="表 20">
            <a:extLst>
              <a:ext uri="{FF2B5EF4-FFF2-40B4-BE49-F238E27FC236}">
                <a16:creationId xmlns:a16="http://schemas.microsoft.com/office/drawing/2014/main" id="{A3899ABE-60D5-01F8-EB8C-457023CF84DF}"/>
              </a:ext>
            </a:extLst>
          </p:cNvPr>
          <p:cNvGraphicFramePr>
            <a:graphicFrameLocks noGrp="1"/>
          </p:cNvGraphicFramePr>
          <p:nvPr>
            <p:extLst>
              <p:ext uri="{D42A27DB-BD31-4B8C-83A1-F6EECF244321}">
                <p14:modId xmlns:p14="http://schemas.microsoft.com/office/powerpoint/2010/main" val="3950104224"/>
              </p:ext>
            </p:extLst>
          </p:nvPr>
        </p:nvGraphicFramePr>
        <p:xfrm>
          <a:off x="3518549" y="2352870"/>
          <a:ext cx="5229915" cy="3142728"/>
        </p:xfrm>
        <a:graphic>
          <a:graphicData uri="http://schemas.openxmlformats.org/drawingml/2006/table">
            <a:tbl>
              <a:tblPr firstRow="1" bandRow="1">
                <a:tableStyleId>{5C22544A-7EE6-4342-B048-85BDC9FD1C3A}</a:tableStyleId>
              </a:tblPr>
              <a:tblGrid>
                <a:gridCol w="641404">
                  <a:extLst>
                    <a:ext uri="{9D8B030D-6E8A-4147-A177-3AD203B41FA5}">
                      <a16:colId xmlns:a16="http://schemas.microsoft.com/office/drawing/2014/main" val="1284644807"/>
                    </a:ext>
                  </a:extLst>
                </a:gridCol>
                <a:gridCol w="1480165">
                  <a:extLst>
                    <a:ext uri="{9D8B030D-6E8A-4147-A177-3AD203B41FA5}">
                      <a16:colId xmlns:a16="http://schemas.microsoft.com/office/drawing/2014/main" val="1293548918"/>
                    </a:ext>
                  </a:extLst>
                </a:gridCol>
                <a:gridCol w="1628181">
                  <a:extLst>
                    <a:ext uri="{9D8B030D-6E8A-4147-A177-3AD203B41FA5}">
                      <a16:colId xmlns:a16="http://schemas.microsoft.com/office/drawing/2014/main" val="97026447"/>
                    </a:ext>
                  </a:extLst>
                </a:gridCol>
                <a:gridCol w="1480165">
                  <a:extLst>
                    <a:ext uri="{9D8B030D-6E8A-4147-A177-3AD203B41FA5}">
                      <a16:colId xmlns:a16="http://schemas.microsoft.com/office/drawing/2014/main" val="1869699945"/>
                    </a:ext>
                  </a:extLst>
                </a:gridCol>
              </a:tblGrid>
              <a:tr h="448047">
                <a:tc>
                  <a:txBody>
                    <a:bodyPr/>
                    <a:lstStyle/>
                    <a:p>
                      <a:pPr algn="ctr"/>
                      <a:r>
                        <a:rPr kumimoji="1" lang="ja-JP" altLang="en-US" sz="1400" b="0" dirty="0">
                          <a:solidFill>
                            <a:schemeClr val="tx1"/>
                          </a:solidFill>
                          <a:latin typeface="BIZ UDPゴシック" panose="020B0400000000000000" pitchFamily="50" charset="-128"/>
                          <a:ea typeface="BIZ UDPゴシック" panose="020B0400000000000000" pitchFamily="50" charset="-128"/>
                        </a:rPr>
                        <a:t>部門</a:t>
                      </a:r>
                    </a:p>
                  </a:txBody>
                  <a:tcPr anchor="ctr">
                    <a:lnL w="28575"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ctr"/>
                      <a:r>
                        <a:rPr kumimoji="1" lang="ja-JP" altLang="en-US" sz="1200" b="0" dirty="0">
                          <a:solidFill>
                            <a:schemeClr val="tx1"/>
                          </a:solidFill>
                          <a:latin typeface="BIZ UDPゴシック" panose="020B0400000000000000" pitchFamily="50" charset="-128"/>
                          <a:ea typeface="BIZ UDPゴシック" panose="020B0400000000000000" pitchFamily="50" charset="-128"/>
                        </a:rPr>
                        <a:t>営業部門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a:endParaRPr kumimoji="1" lang="ja-JP" altLang="en-US" sz="1200" b="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ja-JP" altLang="en-US" sz="1200" b="0" dirty="0">
                          <a:solidFill>
                            <a:schemeClr val="tx1"/>
                          </a:solidFill>
                          <a:latin typeface="BIZ UDPゴシック" panose="020B0400000000000000" pitchFamily="50" charset="-128"/>
                          <a:ea typeface="BIZ UDPゴシック" panose="020B0400000000000000" pitchFamily="50" charset="-128"/>
                        </a:rPr>
                        <a:t>管理部門</a:t>
                      </a:r>
                    </a:p>
                  </a:txBody>
                  <a:tcPr anchor="ctr">
                    <a:lnL w="12700" cap="flat" cmpd="sng" algn="ctr">
                      <a:solidFill>
                        <a:schemeClr val="tx1"/>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04342405"/>
                  </a:ext>
                </a:extLst>
              </a:tr>
              <a:tr h="2694681">
                <a:tc>
                  <a:txBody>
                    <a:bodyPr/>
                    <a:lstStyle/>
                    <a:p>
                      <a:pPr algn="ctr"/>
                      <a:r>
                        <a:rPr kumimoji="1" lang="ja-JP" altLang="en-US" sz="1400" dirty="0">
                          <a:latin typeface="BIZ UDPゴシック" panose="020B0400000000000000" pitchFamily="50" charset="-128"/>
                          <a:ea typeface="BIZ UDPゴシック" panose="020B0400000000000000" pitchFamily="50" charset="-128"/>
                        </a:rPr>
                        <a:t>資格</a:t>
                      </a:r>
                    </a:p>
                  </a:txBody>
                  <a:tcPr anchor="ctr">
                    <a:lnL w="28575"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FF0000"/>
                      </a:solidFill>
                      <a:prstDash val="solid"/>
                      <a:round/>
                      <a:headEnd type="none" w="med" len="med"/>
                      <a:tailEnd type="none" w="med" len="med"/>
                    </a:lnB>
                    <a:solidFill>
                      <a:schemeClr val="bg1">
                        <a:lumMod val="95000"/>
                      </a:schemeClr>
                    </a:solidFill>
                  </a:tcPr>
                </a:tc>
                <a:tc>
                  <a:txBody>
                    <a:bodyPr/>
                    <a:lstStyle/>
                    <a:p>
                      <a:endParaRPr kumimoji="1" lang="en-US" altLang="ja-JP" sz="1400" dirty="0">
                        <a:latin typeface="BIZ UDPゴシック" panose="020B0400000000000000" pitchFamily="50" charset="-128"/>
                        <a:ea typeface="BIZ UDPゴシック" panose="020B0400000000000000" pitchFamily="50" charset="-128"/>
                      </a:endParaRPr>
                    </a:p>
                    <a:p>
                      <a:endParaRPr kumimoji="1" lang="en-US" altLang="ja-JP" sz="1400" dirty="0">
                        <a:latin typeface="BIZ UDPゴシック" panose="020B0400000000000000" pitchFamily="50" charset="-128"/>
                        <a:ea typeface="BIZ UDPゴシック" panose="020B0400000000000000" pitchFamily="50" charset="-128"/>
                      </a:endParaRPr>
                    </a:p>
                    <a:p>
                      <a:endParaRPr kumimoji="1" lang="en-US" altLang="ja-JP" sz="1400" dirty="0">
                        <a:latin typeface="BIZ UDPゴシック" panose="020B0400000000000000" pitchFamily="50" charset="-128"/>
                        <a:ea typeface="BIZ UDPゴシック" panose="020B0400000000000000" pitchFamily="50" charset="-128"/>
                      </a:endParaRPr>
                    </a:p>
                    <a:p>
                      <a:endParaRPr kumimoji="1" lang="en-US" altLang="ja-JP" sz="1400" dirty="0">
                        <a:latin typeface="BIZ UDPゴシック" panose="020B0400000000000000" pitchFamily="50" charset="-128"/>
                        <a:ea typeface="BIZ UDPゴシック" panose="020B0400000000000000" pitchFamily="50" charset="-128"/>
                      </a:endParaRPr>
                    </a:p>
                    <a:p>
                      <a:endParaRPr kumimoji="1" lang="en-US" altLang="ja-JP" sz="1400" dirty="0">
                        <a:latin typeface="BIZ UDPゴシック" panose="020B0400000000000000" pitchFamily="50" charset="-128"/>
                        <a:ea typeface="BIZ UDPゴシック" panose="020B0400000000000000" pitchFamily="50" charset="-128"/>
                      </a:endParaRPr>
                    </a:p>
                    <a:p>
                      <a:endParaRPr kumimoji="1" lang="en-US" altLang="ja-JP" sz="1400" dirty="0">
                        <a:latin typeface="BIZ UDPゴシック" panose="020B0400000000000000" pitchFamily="50" charset="-128"/>
                        <a:ea typeface="BIZ UDPゴシック" panose="020B0400000000000000" pitchFamily="50" charset="-128"/>
                      </a:endParaRPr>
                    </a:p>
                    <a:p>
                      <a:endParaRPr kumimoji="1" lang="en-US" altLang="ja-JP" sz="1400" dirty="0">
                        <a:latin typeface="BIZ UDPゴシック" panose="020B0400000000000000" pitchFamily="50" charset="-128"/>
                        <a:ea typeface="BIZ UDPゴシック" panose="020B0400000000000000" pitchFamily="50" charset="-128"/>
                      </a:endParaRPr>
                    </a:p>
                    <a:p>
                      <a:endParaRPr kumimoji="1" lang="en-US" altLang="ja-JP" sz="1400" dirty="0">
                        <a:latin typeface="BIZ UDPゴシック" panose="020B0400000000000000" pitchFamily="50" charset="-128"/>
                        <a:ea typeface="BIZ UDPゴシック" panose="020B0400000000000000"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FF0000"/>
                      </a:solidFill>
                      <a:prstDash val="solid"/>
                      <a:round/>
                      <a:headEnd type="none" w="med" len="med"/>
                      <a:tailEnd type="none" w="med" len="med"/>
                    </a:lnB>
                    <a:solidFill>
                      <a:schemeClr val="bg1">
                        <a:lumMod val="95000"/>
                      </a:schemeClr>
                    </a:solidFill>
                  </a:tcPr>
                </a:tc>
                <a:tc>
                  <a:txBody>
                    <a:bodyPr/>
                    <a:lstStyle/>
                    <a:p>
                      <a:endParaRPr kumimoji="1" lang="en-US" altLang="ja-JP" sz="1400" dirty="0">
                        <a:latin typeface="BIZ UDPゴシック" panose="020B0400000000000000" pitchFamily="50" charset="-128"/>
                        <a:ea typeface="BIZ UDPゴシック" panose="020B0400000000000000" pitchFamily="50" charset="-128"/>
                      </a:endParaRPr>
                    </a:p>
                    <a:p>
                      <a:endParaRPr kumimoji="1" lang="en-US" altLang="ja-JP" sz="1400" dirty="0">
                        <a:latin typeface="BIZ UDPゴシック" panose="020B0400000000000000" pitchFamily="50" charset="-128"/>
                        <a:ea typeface="BIZ UDPゴシック" panose="020B0400000000000000" pitchFamily="50" charset="-128"/>
                      </a:endParaRPr>
                    </a:p>
                    <a:p>
                      <a:endParaRPr kumimoji="1" lang="en-US" altLang="ja-JP" sz="1400" dirty="0">
                        <a:latin typeface="BIZ UDPゴシック" panose="020B0400000000000000" pitchFamily="50" charset="-128"/>
                        <a:ea typeface="BIZ UDPゴシック" panose="020B0400000000000000"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FF0000"/>
                      </a:solidFill>
                      <a:prstDash val="solid"/>
                      <a:round/>
                      <a:headEnd type="none" w="med" len="med"/>
                      <a:tailEnd type="none" w="med" len="med"/>
                    </a:lnB>
                    <a:solidFill>
                      <a:schemeClr val="bg1">
                        <a:lumMod val="95000"/>
                      </a:schemeClr>
                    </a:solidFill>
                  </a:tcPr>
                </a:tc>
                <a:tc>
                  <a:txBody>
                    <a:bodyPr/>
                    <a:lstStyle/>
                    <a:p>
                      <a:endParaRPr kumimoji="1" lang="en-US" altLang="ja-JP" sz="1400" dirty="0">
                        <a:latin typeface="BIZ UDPゴシック" panose="020B0400000000000000" pitchFamily="50" charset="-128"/>
                        <a:ea typeface="BIZ UDPゴシック" panose="020B0400000000000000" pitchFamily="50" charset="-128"/>
                      </a:endParaRPr>
                    </a:p>
                    <a:p>
                      <a:endParaRPr kumimoji="1" lang="en-US" altLang="ja-JP" sz="1400" dirty="0">
                        <a:latin typeface="BIZ UDPゴシック" panose="020B0400000000000000" pitchFamily="50" charset="-128"/>
                        <a:ea typeface="BIZ UDPゴシック" panose="020B0400000000000000" pitchFamily="50" charset="-128"/>
                      </a:endParaRPr>
                    </a:p>
                    <a:p>
                      <a:endParaRPr kumimoji="1" lang="ja-JP" altLang="en-US" sz="1400" dirty="0">
                        <a:latin typeface="BIZ UDPゴシック" panose="020B0400000000000000" pitchFamily="50" charset="-128"/>
                        <a:ea typeface="BIZ UDPゴシック" panose="020B0400000000000000" pitchFamily="50" charset="-128"/>
                      </a:endParaRPr>
                    </a:p>
                  </a:txBody>
                  <a:tcPr>
                    <a:lnL w="12700" cap="flat" cmpd="sng" algn="ctr">
                      <a:solidFill>
                        <a:schemeClr val="tx1"/>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FF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888100"/>
                  </a:ext>
                </a:extLst>
              </a:tr>
            </a:tbl>
          </a:graphicData>
        </a:graphic>
      </p:graphicFrame>
      <p:sp>
        <p:nvSpPr>
          <p:cNvPr id="22" name="四角形: 角を丸くする 21">
            <a:extLst>
              <a:ext uri="{FF2B5EF4-FFF2-40B4-BE49-F238E27FC236}">
                <a16:creationId xmlns:a16="http://schemas.microsoft.com/office/drawing/2014/main" id="{BFAFCC88-6DFC-7DE9-A528-6B6220145A6C}"/>
              </a:ext>
            </a:extLst>
          </p:cNvPr>
          <p:cNvSpPr/>
          <p:nvPr/>
        </p:nvSpPr>
        <p:spPr>
          <a:xfrm>
            <a:off x="4221410" y="3068960"/>
            <a:ext cx="4455588" cy="45720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BIZ UDPゴシック" panose="020B0400000000000000" pitchFamily="50" charset="-128"/>
                <a:ea typeface="BIZ UDPゴシック" panose="020B0400000000000000" pitchFamily="50" charset="-128"/>
              </a:rPr>
              <a:t>ビル経営管理士</a:t>
            </a:r>
          </a:p>
        </p:txBody>
      </p:sp>
      <p:sp>
        <p:nvSpPr>
          <p:cNvPr id="23" name="四角形: 角を丸くする 22">
            <a:extLst>
              <a:ext uri="{FF2B5EF4-FFF2-40B4-BE49-F238E27FC236}">
                <a16:creationId xmlns:a16="http://schemas.microsoft.com/office/drawing/2014/main" id="{303B4FC3-FA07-FBE7-AA41-4B289D3DFC06}"/>
              </a:ext>
            </a:extLst>
          </p:cNvPr>
          <p:cNvSpPr/>
          <p:nvPr/>
        </p:nvSpPr>
        <p:spPr>
          <a:xfrm>
            <a:off x="4221410" y="3881972"/>
            <a:ext cx="4436100" cy="45720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BIZ UDPゴシック" panose="020B0400000000000000" pitchFamily="50" charset="-128"/>
                <a:ea typeface="BIZ UDPゴシック" panose="020B0400000000000000" pitchFamily="50" charset="-128"/>
              </a:rPr>
              <a:t>ファシリティマネージャー</a:t>
            </a:r>
          </a:p>
        </p:txBody>
      </p:sp>
      <p:sp>
        <p:nvSpPr>
          <p:cNvPr id="24" name="四角形: 角を丸くする 23">
            <a:extLst>
              <a:ext uri="{FF2B5EF4-FFF2-40B4-BE49-F238E27FC236}">
                <a16:creationId xmlns:a16="http://schemas.microsoft.com/office/drawing/2014/main" id="{F43D095B-8D4A-7821-1F5D-7319B565C9D4}"/>
              </a:ext>
            </a:extLst>
          </p:cNvPr>
          <p:cNvSpPr/>
          <p:nvPr/>
        </p:nvSpPr>
        <p:spPr>
          <a:xfrm>
            <a:off x="4221410" y="4690223"/>
            <a:ext cx="1333117" cy="45720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BIZ UDPゴシック" panose="020B0400000000000000" pitchFamily="50" charset="-128"/>
                <a:ea typeface="BIZ UDPゴシック" panose="020B0400000000000000" pitchFamily="50" charset="-128"/>
              </a:rPr>
              <a:t>建築物環境衛生</a:t>
            </a:r>
            <a:endParaRPr kumimoji="1" lang="en-US" altLang="ja-JP" sz="1200" dirty="0">
              <a:latin typeface="BIZ UDPゴシック" panose="020B0400000000000000" pitchFamily="50" charset="-128"/>
              <a:ea typeface="BIZ UDPゴシック" panose="020B0400000000000000" pitchFamily="50" charset="-128"/>
            </a:endParaRPr>
          </a:p>
          <a:p>
            <a:pPr algn="ctr"/>
            <a:r>
              <a:rPr kumimoji="1" lang="ja-JP" altLang="en-US" sz="1200" dirty="0">
                <a:latin typeface="BIZ UDPゴシック" panose="020B0400000000000000" pitchFamily="50" charset="-128"/>
                <a:ea typeface="BIZ UDPゴシック" panose="020B0400000000000000" pitchFamily="50" charset="-128"/>
              </a:rPr>
              <a:t>管理技術者</a:t>
            </a:r>
          </a:p>
        </p:txBody>
      </p:sp>
      <p:sp>
        <p:nvSpPr>
          <p:cNvPr id="25" name="四角形: 角を丸くする 24">
            <a:extLst>
              <a:ext uri="{FF2B5EF4-FFF2-40B4-BE49-F238E27FC236}">
                <a16:creationId xmlns:a16="http://schemas.microsoft.com/office/drawing/2014/main" id="{B7F321CA-F24D-88F2-46FD-955BEC8CBA0B}"/>
              </a:ext>
            </a:extLst>
          </p:cNvPr>
          <p:cNvSpPr/>
          <p:nvPr/>
        </p:nvSpPr>
        <p:spPr>
          <a:xfrm>
            <a:off x="5690874" y="4699992"/>
            <a:ext cx="1473956" cy="45720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BIZ UDPゴシック" panose="020B0400000000000000" pitchFamily="50" charset="-128"/>
                <a:ea typeface="BIZ UDPゴシック" panose="020B0400000000000000" pitchFamily="50" charset="-128"/>
              </a:rPr>
              <a:t>宅地建物取引士</a:t>
            </a:r>
          </a:p>
        </p:txBody>
      </p:sp>
      <p:sp>
        <p:nvSpPr>
          <p:cNvPr id="26" name="四角形: 角を丸くする 25">
            <a:extLst>
              <a:ext uri="{FF2B5EF4-FFF2-40B4-BE49-F238E27FC236}">
                <a16:creationId xmlns:a16="http://schemas.microsoft.com/office/drawing/2014/main" id="{BD5E85B0-764C-AC39-EE9C-FFC8E7304F38}"/>
              </a:ext>
            </a:extLst>
          </p:cNvPr>
          <p:cNvSpPr/>
          <p:nvPr/>
        </p:nvSpPr>
        <p:spPr>
          <a:xfrm>
            <a:off x="7308846" y="4699310"/>
            <a:ext cx="1368152" cy="45720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latin typeface="BIZ UDPゴシック" panose="020B0400000000000000" pitchFamily="50" charset="-128"/>
                <a:ea typeface="BIZ UDPゴシック" panose="020B0400000000000000" pitchFamily="50" charset="-128"/>
              </a:rPr>
              <a:t>簿記２級</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2" name="正方形/長方形 1">
            <a:extLst>
              <a:ext uri="{FF2B5EF4-FFF2-40B4-BE49-F238E27FC236}">
                <a16:creationId xmlns:a16="http://schemas.microsoft.com/office/drawing/2014/main" id="{D9186BF6-D62B-960B-D557-7E88C1F1BDC5}"/>
              </a:ext>
            </a:extLst>
          </p:cNvPr>
          <p:cNvSpPr/>
          <p:nvPr/>
        </p:nvSpPr>
        <p:spPr>
          <a:xfrm>
            <a:off x="1566187" y="2241518"/>
            <a:ext cx="1607401" cy="17366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cxnSp>
        <p:nvCxnSpPr>
          <p:cNvPr id="4" name="コネクタ: カギ線 3">
            <a:extLst>
              <a:ext uri="{FF2B5EF4-FFF2-40B4-BE49-F238E27FC236}">
                <a16:creationId xmlns:a16="http://schemas.microsoft.com/office/drawing/2014/main" id="{88120D9D-AAEA-1044-DD7C-6A1FE07FC193}"/>
              </a:ext>
            </a:extLst>
          </p:cNvPr>
          <p:cNvCxnSpPr>
            <a:cxnSpLocks/>
            <a:stCxn id="2" idx="0"/>
            <a:endCxn id="21" idx="0"/>
          </p:cNvCxnSpPr>
          <p:nvPr/>
        </p:nvCxnSpPr>
        <p:spPr>
          <a:xfrm rot="16200000" flipH="1">
            <a:off x="4196021" y="415385"/>
            <a:ext cx="111352" cy="3763618"/>
          </a:xfrm>
          <a:prstGeom prst="bentConnector3">
            <a:avLst>
              <a:gd name="adj1" fmla="val -205295"/>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C2EFFDDA-CC89-1E1F-58B4-C5D6DDE04436}"/>
              </a:ext>
            </a:extLst>
          </p:cNvPr>
          <p:cNvSpPr/>
          <p:nvPr/>
        </p:nvSpPr>
        <p:spPr>
          <a:xfrm>
            <a:off x="3516595" y="5552873"/>
            <a:ext cx="5229915" cy="396407"/>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公的資格とリーダー職の考え方</a:t>
            </a:r>
            <a:endParaRPr lang="en-US" altLang="ja-JP" sz="11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27" name="正方形/長方形 26">
            <a:extLst>
              <a:ext uri="{FF2B5EF4-FFF2-40B4-BE49-F238E27FC236}">
                <a16:creationId xmlns:a16="http://schemas.microsoft.com/office/drawing/2014/main" id="{2A13A042-1D18-CD11-8F7A-45E5E16C1A42}"/>
              </a:ext>
            </a:extLst>
          </p:cNvPr>
          <p:cNvSpPr/>
          <p:nvPr/>
        </p:nvSpPr>
        <p:spPr>
          <a:xfrm>
            <a:off x="324612" y="5552873"/>
            <a:ext cx="3095802" cy="396407"/>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格付と役職の考え方</a:t>
            </a:r>
            <a:endParaRPr lang="en-US" altLang="ja-JP" sz="11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28" name="吹き出し: 四角形 27">
            <a:extLst>
              <a:ext uri="{FF2B5EF4-FFF2-40B4-BE49-F238E27FC236}">
                <a16:creationId xmlns:a16="http://schemas.microsoft.com/office/drawing/2014/main" id="{37E7D317-0BA9-429E-916B-25F9F325964B}"/>
              </a:ext>
            </a:extLst>
          </p:cNvPr>
          <p:cNvSpPr/>
          <p:nvPr/>
        </p:nvSpPr>
        <p:spPr>
          <a:xfrm>
            <a:off x="7271612" y="1818775"/>
            <a:ext cx="1368152" cy="479241"/>
          </a:xfrm>
          <a:prstGeom prst="wedgeRectCallout">
            <a:avLst>
              <a:gd name="adj1" fmla="val -22912"/>
              <a:gd name="adj2" fmla="val 74759"/>
            </a:avLst>
          </a:prstGeom>
          <a:solidFill>
            <a:schemeClr val="accent1">
              <a:lumMod val="20000"/>
              <a:lumOff val="8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公的資格要件</a:t>
            </a: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9" name="正方形/長方形 8">
            <a:extLst>
              <a:ext uri="{FF2B5EF4-FFF2-40B4-BE49-F238E27FC236}">
                <a16:creationId xmlns:a16="http://schemas.microsoft.com/office/drawing/2014/main" id="{AB239024-B7A0-F813-128A-F026D940ADEF}"/>
              </a:ext>
            </a:extLst>
          </p:cNvPr>
          <p:cNvSpPr/>
          <p:nvPr/>
        </p:nvSpPr>
        <p:spPr>
          <a:xfrm>
            <a:off x="131225" y="6094244"/>
            <a:ext cx="8881549" cy="503108"/>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rPr>
              <a:t>公的資格要件は、 </a:t>
            </a:r>
            <a:r>
              <a:rPr lang="ja-JP" altLang="en-US" sz="14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年度に応じて</a:t>
            </a:r>
            <a:r>
              <a:rPr lang="ja-JP" altLang="en-US" sz="1400" dirty="0">
                <a:solidFill>
                  <a:schemeClr val="tx1"/>
                </a:solidFill>
                <a:latin typeface="BIZ UDPゴシック" panose="020B0400000000000000" pitchFamily="50" charset="-128"/>
                <a:ea typeface="BIZ UDPゴシック" panose="020B0400000000000000" pitchFamily="50" charset="-128"/>
              </a:rPr>
              <a:t>変更することがある。</a:t>
            </a:r>
            <a:endParaRPr lang="en-US" altLang="ja-JP" sz="1400" dirty="0">
              <a:solidFill>
                <a:schemeClr val="tx1"/>
              </a:solidFill>
              <a:latin typeface="BIZ UDPゴシック" panose="020B0400000000000000" pitchFamily="50" charset="-128"/>
              <a:ea typeface="BIZ UDPゴシック" panose="020B0400000000000000" pitchFamily="50" charset="-128"/>
            </a:endParaRPr>
          </a:p>
        </p:txBody>
      </p:sp>
      <p:sp>
        <p:nvSpPr>
          <p:cNvPr id="3" name="タイトル 2">
            <a:extLst>
              <a:ext uri="{FF2B5EF4-FFF2-40B4-BE49-F238E27FC236}">
                <a16:creationId xmlns:a16="http://schemas.microsoft.com/office/drawing/2014/main" id="{060AFB32-8B7E-5894-E6E1-2C834C490A3F}"/>
              </a:ext>
            </a:extLst>
          </p:cNvPr>
          <p:cNvSpPr txBox="1">
            <a:spLocks/>
          </p:cNvSpPr>
          <p:nvPr/>
        </p:nvSpPr>
        <p:spPr>
          <a:xfrm>
            <a:off x="107504" y="922710"/>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2000" dirty="0">
                <a:highlight>
                  <a:srgbClr val="FFFF00"/>
                </a:highlight>
                <a:latin typeface="BIZ UDPゴシック" panose="020B0400000000000000" pitchFamily="50" charset="-128"/>
                <a:ea typeface="BIZ UDPゴシック" panose="020B0400000000000000" pitchFamily="50" charset="-128"/>
              </a:rPr>
              <a:t>2025</a:t>
            </a:r>
            <a:r>
              <a:rPr lang="ja-JP" altLang="en-US" sz="2000" dirty="0">
                <a:highlight>
                  <a:srgbClr val="FFFF00"/>
                </a:highlight>
                <a:latin typeface="BIZ UDPゴシック" panose="020B0400000000000000" pitchFamily="50" charset="-128"/>
                <a:ea typeface="BIZ UDPゴシック" panose="020B0400000000000000" pitchFamily="50" charset="-128"/>
              </a:rPr>
              <a:t>年</a:t>
            </a:r>
            <a:r>
              <a:rPr lang="en-US" altLang="ja-JP" sz="2000" dirty="0">
                <a:highlight>
                  <a:srgbClr val="FFFF00"/>
                </a:highlight>
                <a:latin typeface="BIZ UDPゴシック" panose="020B0400000000000000" pitchFamily="50" charset="-128"/>
                <a:ea typeface="BIZ UDPゴシック" panose="020B0400000000000000" pitchFamily="50" charset="-128"/>
              </a:rPr>
              <a:t>4</a:t>
            </a:r>
            <a:r>
              <a:rPr lang="ja-JP" altLang="en-US" sz="2000" dirty="0">
                <a:highlight>
                  <a:srgbClr val="FFFF00"/>
                </a:highlight>
                <a:latin typeface="BIZ UDPゴシック" panose="020B0400000000000000" pitchFamily="50" charset="-128"/>
                <a:ea typeface="BIZ UDPゴシック" panose="020B0400000000000000" pitchFamily="50" charset="-128"/>
              </a:rPr>
              <a:t>月</a:t>
            </a:r>
            <a:r>
              <a:rPr lang="en-US" altLang="ja-JP" sz="2000" dirty="0">
                <a:highlight>
                  <a:srgbClr val="FFFF00"/>
                </a:highlight>
                <a:latin typeface="BIZ UDPゴシック" panose="020B0400000000000000" pitchFamily="50" charset="-128"/>
                <a:ea typeface="BIZ UDPゴシック" panose="020B0400000000000000" pitchFamily="50" charset="-128"/>
              </a:rPr>
              <a:t>1</a:t>
            </a:r>
            <a:r>
              <a:rPr lang="ja-JP" altLang="en-US" sz="2000" dirty="0">
                <a:highlight>
                  <a:srgbClr val="FFFF00"/>
                </a:highlight>
                <a:latin typeface="BIZ UDPゴシック" panose="020B0400000000000000" pitchFamily="50" charset="-128"/>
                <a:ea typeface="BIZ UDPゴシック" panose="020B0400000000000000" pitchFamily="50" charset="-128"/>
              </a:rPr>
              <a:t>日以降、以下の要件を廃止する。</a:t>
            </a:r>
          </a:p>
        </p:txBody>
      </p:sp>
    </p:spTree>
    <p:extLst>
      <p:ext uri="{BB962C8B-B14F-4D97-AF65-F5344CB8AC3E}">
        <p14:creationId xmlns:p14="http://schemas.microsoft.com/office/powerpoint/2010/main" val="1731923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CA610-CACD-B8D2-C37F-F219383B85A8}"/>
            </a:ext>
          </a:extLst>
        </p:cNvPr>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521B0A44-26CF-909F-15E0-CCFEF6C03EEE}"/>
              </a:ext>
            </a:extLst>
          </p:cNvPr>
          <p:cNvGraphicFramePr>
            <a:graphicFrameLocks noGrp="1"/>
          </p:cNvGraphicFramePr>
          <p:nvPr>
            <p:extLst>
              <p:ext uri="{D42A27DB-BD31-4B8C-83A1-F6EECF244321}">
                <p14:modId xmlns:p14="http://schemas.microsoft.com/office/powerpoint/2010/main" val="1471411727"/>
              </p:ext>
            </p:extLst>
          </p:nvPr>
        </p:nvGraphicFramePr>
        <p:xfrm>
          <a:off x="115285" y="1716506"/>
          <a:ext cx="8880575" cy="1432984"/>
        </p:xfrm>
        <a:graphic>
          <a:graphicData uri="http://schemas.openxmlformats.org/drawingml/2006/table">
            <a:tbl>
              <a:tblPr/>
              <a:tblGrid>
                <a:gridCol w="531506">
                  <a:extLst>
                    <a:ext uri="{9D8B030D-6E8A-4147-A177-3AD203B41FA5}">
                      <a16:colId xmlns:a16="http://schemas.microsoft.com/office/drawing/2014/main" val="1929790110"/>
                    </a:ext>
                  </a:extLst>
                </a:gridCol>
                <a:gridCol w="509360">
                  <a:extLst>
                    <a:ext uri="{9D8B030D-6E8A-4147-A177-3AD203B41FA5}">
                      <a16:colId xmlns:a16="http://schemas.microsoft.com/office/drawing/2014/main" val="1445327876"/>
                    </a:ext>
                  </a:extLst>
                </a:gridCol>
                <a:gridCol w="1151595">
                  <a:extLst>
                    <a:ext uri="{9D8B030D-6E8A-4147-A177-3AD203B41FA5}">
                      <a16:colId xmlns:a16="http://schemas.microsoft.com/office/drawing/2014/main" val="1090894469"/>
                    </a:ext>
                  </a:extLst>
                </a:gridCol>
                <a:gridCol w="1114685">
                  <a:extLst>
                    <a:ext uri="{9D8B030D-6E8A-4147-A177-3AD203B41FA5}">
                      <a16:colId xmlns:a16="http://schemas.microsoft.com/office/drawing/2014/main" val="1283833770"/>
                    </a:ext>
                  </a:extLst>
                </a:gridCol>
                <a:gridCol w="1114685">
                  <a:extLst>
                    <a:ext uri="{9D8B030D-6E8A-4147-A177-3AD203B41FA5}">
                      <a16:colId xmlns:a16="http://schemas.microsoft.com/office/drawing/2014/main" val="3059238420"/>
                    </a:ext>
                  </a:extLst>
                </a:gridCol>
                <a:gridCol w="1114685">
                  <a:extLst>
                    <a:ext uri="{9D8B030D-6E8A-4147-A177-3AD203B41FA5}">
                      <a16:colId xmlns:a16="http://schemas.microsoft.com/office/drawing/2014/main" val="1930360063"/>
                    </a:ext>
                  </a:extLst>
                </a:gridCol>
                <a:gridCol w="1146021">
                  <a:extLst>
                    <a:ext uri="{9D8B030D-6E8A-4147-A177-3AD203B41FA5}">
                      <a16:colId xmlns:a16="http://schemas.microsoft.com/office/drawing/2014/main" val="560093819"/>
                    </a:ext>
                  </a:extLst>
                </a:gridCol>
                <a:gridCol w="1083353">
                  <a:extLst>
                    <a:ext uri="{9D8B030D-6E8A-4147-A177-3AD203B41FA5}">
                      <a16:colId xmlns:a16="http://schemas.microsoft.com/office/drawing/2014/main" val="3434817349"/>
                    </a:ext>
                  </a:extLst>
                </a:gridCol>
                <a:gridCol w="1114685">
                  <a:extLst>
                    <a:ext uri="{9D8B030D-6E8A-4147-A177-3AD203B41FA5}">
                      <a16:colId xmlns:a16="http://schemas.microsoft.com/office/drawing/2014/main" val="1545057269"/>
                    </a:ext>
                  </a:extLst>
                </a:gridCol>
              </a:tblGrid>
              <a:tr h="317904">
                <a:tc gridSpan="3">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項目</a:t>
                      </a:r>
                    </a:p>
                  </a:txBody>
                  <a:tcPr marL="6850" marR="6850" marT="6850" marB="0" anchor="ctr">
                    <a:lnL w="6350" cap="flat" cmpd="sng" algn="ctr">
                      <a:solidFill>
                        <a:srgbClr val="000000"/>
                      </a:solidFill>
                      <a:prstDash val="solid"/>
                      <a:round/>
                      <a:headEnd type="none" w="med" len="med"/>
                      <a:tailEnd type="none" w="med" len="med"/>
                    </a:lnL>
                    <a:lnR w="12700" cap="flat" cmpd="sng" algn="ctr">
                      <a:solidFill>
                        <a:srgbClr val="F2F2F2"/>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kumimoji="1" lang="ja-JP" altLang="en-US"/>
                    </a:p>
                  </a:txBody>
                  <a:tcPr/>
                </a:tc>
                <a:tc hMerge="1">
                  <a:txBody>
                    <a:bodyPr/>
                    <a:lstStyle/>
                    <a:p>
                      <a:endParaRPr kumimoji="1" lang="ja-JP" altLang="en-US"/>
                    </a:p>
                  </a:txBody>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①</a:t>
                      </a:r>
                      <a:endParaRPr lang="en-US" altLang="zh-TW"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zh-TW"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職務達成責任</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②</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ﾁｬﾚﾝｼﾞ精神</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③</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チームワーク</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④</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ｺﾐｭﾆｹｰｼｮﾝ</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⑤</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業務改善</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⑥</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人材育成</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extLst>
                  <a:ext uri="{0D108BD9-81ED-4DB2-BD59-A6C34878D82A}">
                    <a16:rowId xmlns:a16="http://schemas.microsoft.com/office/drawing/2014/main" val="219164197"/>
                  </a:ext>
                </a:extLst>
              </a:tr>
              <a:tr h="296622">
                <a:tc rowSpan="5">
                  <a:txBody>
                    <a:bodyPr/>
                    <a:lstStyle/>
                    <a:p>
                      <a:pPr algn="ctr" fontAlgn="ctr"/>
                      <a:r>
                        <a:rPr lang="ja-JP" altLang="en-US" sz="1200" b="1" i="0" u="none" strike="noStrike" dirty="0">
                          <a:solidFill>
                            <a:srgbClr val="FFFFFF"/>
                          </a:solidFill>
                          <a:effectLst/>
                          <a:latin typeface="BIZ UDPゴシック" panose="020B0400000000000000" pitchFamily="50" charset="-128"/>
                          <a:ea typeface="BIZ UDPゴシック" panose="020B0400000000000000" pitchFamily="50" charset="-128"/>
                        </a:rPr>
                        <a:t>②</a:t>
                      </a:r>
                      <a:endParaRPr lang="en-US" altLang="ja-JP" sz="1200" b="1"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fontAlgn="ctr"/>
                      <a:r>
                        <a:rPr lang="ja-JP" altLang="en-US" sz="1200" b="1" i="0" u="none" strike="noStrike" dirty="0">
                          <a:solidFill>
                            <a:srgbClr val="FFFFFF"/>
                          </a:solidFill>
                          <a:effectLst/>
                          <a:latin typeface="BIZ UDPゴシック" panose="020B0400000000000000" pitchFamily="50" charset="-128"/>
                          <a:ea typeface="BIZ UDPゴシック" panose="020B0400000000000000" pitchFamily="50" charset="-128"/>
                        </a:rPr>
                        <a:t>行動</a:t>
                      </a:r>
                      <a:endParaRPr lang="en-US" altLang="ja-JP" sz="1200" b="1"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fontAlgn="ctr"/>
                      <a:r>
                        <a:rPr lang="ja-JP" altLang="en-US" sz="1200" b="1" i="0" u="none" strike="noStrike" dirty="0">
                          <a:solidFill>
                            <a:srgbClr val="FFFFFF"/>
                          </a:solidFill>
                          <a:effectLst/>
                          <a:latin typeface="BIZ UDPゴシック" panose="020B0400000000000000" pitchFamily="50" charset="-128"/>
                          <a:ea typeface="BIZ UDPゴシック" panose="020B0400000000000000" pitchFamily="50" charset="-128"/>
                        </a:rPr>
                        <a:t>評価</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rowSpan="4">
                  <a:txBody>
                    <a:bodyPr/>
                    <a:lstStyle/>
                    <a:p>
                      <a:pPr algn="ctr"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総合職</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ctr"/>
                      <a:r>
                        <a:rPr lang="ja-JP" altLang="en-US" sz="1050" b="1" i="0" u="none" strike="noStrike" dirty="0">
                          <a:solidFill>
                            <a:srgbClr val="FF0000"/>
                          </a:solidFill>
                          <a:effectLst/>
                          <a:latin typeface="BIZ UDPゴシック" panose="020B0400000000000000" pitchFamily="50" charset="-128"/>
                          <a:ea typeface="BIZ UDPゴシック" panose="020B0400000000000000" pitchFamily="50" charset="-128"/>
                        </a:rPr>
                        <a:t>本部長・</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部長・統括ﾘｰﾀﾞｰ</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50%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30%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104274789"/>
                  </a:ext>
                </a:extLst>
              </a:tr>
              <a:tr h="194801">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リーダー</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09210230"/>
                  </a:ext>
                </a:extLst>
              </a:tr>
              <a:tr h="194801">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サブﾘｰﾀﾞｰ（館長）</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40316221"/>
                  </a:ext>
                </a:extLst>
              </a:tr>
              <a:tr h="194801">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一般・契約社員</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30%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73622632"/>
                  </a:ext>
                </a:extLst>
              </a:tr>
              <a:tr h="194801">
                <a:tc vMerge="1">
                  <a:txBody>
                    <a:bodyPr/>
                    <a:lstStyle/>
                    <a:p>
                      <a:endParaRPr kumimoji="1" lang="ja-JP" altLang="en-US"/>
                    </a:p>
                  </a:txBody>
                  <a:tcPr/>
                </a:tc>
                <a:tc gridSpan="2">
                  <a:txBody>
                    <a:bodyPr/>
                    <a:lstStyle/>
                    <a:p>
                      <a:pPr algn="ctr"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専門職</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kumimoji="1" lang="ja-JP" altLang="en-US"/>
                    </a:p>
                  </a:txBody>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07723510"/>
                  </a:ext>
                </a:extLst>
              </a:tr>
            </a:tbl>
          </a:graphicData>
        </a:graphic>
      </p:graphicFrame>
      <p:graphicFrame>
        <p:nvGraphicFramePr>
          <p:cNvPr id="3" name="表 2">
            <a:extLst>
              <a:ext uri="{FF2B5EF4-FFF2-40B4-BE49-F238E27FC236}">
                <a16:creationId xmlns:a16="http://schemas.microsoft.com/office/drawing/2014/main" id="{E58E5178-AA36-0639-A79B-5208C8B0D786}"/>
              </a:ext>
            </a:extLst>
          </p:cNvPr>
          <p:cNvGraphicFramePr>
            <a:graphicFrameLocks noGrp="1"/>
          </p:cNvGraphicFramePr>
          <p:nvPr>
            <p:extLst>
              <p:ext uri="{D42A27DB-BD31-4B8C-83A1-F6EECF244321}">
                <p14:modId xmlns:p14="http://schemas.microsoft.com/office/powerpoint/2010/main" val="615643887"/>
              </p:ext>
            </p:extLst>
          </p:nvPr>
        </p:nvGraphicFramePr>
        <p:xfrm>
          <a:off x="114319" y="3428708"/>
          <a:ext cx="8881542" cy="1584468"/>
        </p:xfrm>
        <a:graphic>
          <a:graphicData uri="http://schemas.openxmlformats.org/drawingml/2006/table">
            <a:tbl>
              <a:tblPr/>
              <a:tblGrid>
                <a:gridCol w="1601674">
                  <a:extLst>
                    <a:ext uri="{9D8B030D-6E8A-4147-A177-3AD203B41FA5}">
                      <a16:colId xmlns:a16="http://schemas.microsoft.com/office/drawing/2014/main" val="1143918663"/>
                    </a:ext>
                  </a:extLst>
                </a:gridCol>
                <a:gridCol w="485669">
                  <a:extLst>
                    <a:ext uri="{9D8B030D-6E8A-4147-A177-3AD203B41FA5}">
                      <a16:colId xmlns:a16="http://schemas.microsoft.com/office/drawing/2014/main" val="1493460869"/>
                    </a:ext>
                  </a:extLst>
                </a:gridCol>
                <a:gridCol w="485669">
                  <a:extLst>
                    <a:ext uri="{9D8B030D-6E8A-4147-A177-3AD203B41FA5}">
                      <a16:colId xmlns:a16="http://schemas.microsoft.com/office/drawing/2014/main" val="3072068793"/>
                    </a:ext>
                  </a:extLst>
                </a:gridCol>
                <a:gridCol w="485669">
                  <a:extLst>
                    <a:ext uri="{9D8B030D-6E8A-4147-A177-3AD203B41FA5}">
                      <a16:colId xmlns:a16="http://schemas.microsoft.com/office/drawing/2014/main" val="3546210422"/>
                    </a:ext>
                  </a:extLst>
                </a:gridCol>
                <a:gridCol w="485669">
                  <a:extLst>
                    <a:ext uri="{9D8B030D-6E8A-4147-A177-3AD203B41FA5}">
                      <a16:colId xmlns:a16="http://schemas.microsoft.com/office/drawing/2014/main" val="636571829"/>
                    </a:ext>
                  </a:extLst>
                </a:gridCol>
                <a:gridCol w="480502">
                  <a:extLst>
                    <a:ext uri="{9D8B030D-6E8A-4147-A177-3AD203B41FA5}">
                      <a16:colId xmlns:a16="http://schemas.microsoft.com/office/drawing/2014/main" val="3153578282"/>
                    </a:ext>
                  </a:extLst>
                </a:gridCol>
                <a:gridCol w="485669">
                  <a:extLst>
                    <a:ext uri="{9D8B030D-6E8A-4147-A177-3AD203B41FA5}">
                      <a16:colId xmlns:a16="http://schemas.microsoft.com/office/drawing/2014/main" val="2434052610"/>
                    </a:ext>
                  </a:extLst>
                </a:gridCol>
                <a:gridCol w="485669">
                  <a:extLst>
                    <a:ext uri="{9D8B030D-6E8A-4147-A177-3AD203B41FA5}">
                      <a16:colId xmlns:a16="http://schemas.microsoft.com/office/drawing/2014/main" val="3591620833"/>
                    </a:ext>
                  </a:extLst>
                </a:gridCol>
                <a:gridCol w="485669">
                  <a:extLst>
                    <a:ext uri="{9D8B030D-6E8A-4147-A177-3AD203B41FA5}">
                      <a16:colId xmlns:a16="http://schemas.microsoft.com/office/drawing/2014/main" val="306685310"/>
                    </a:ext>
                  </a:extLst>
                </a:gridCol>
                <a:gridCol w="485669">
                  <a:extLst>
                    <a:ext uri="{9D8B030D-6E8A-4147-A177-3AD203B41FA5}">
                      <a16:colId xmlns:a16="http://schemas.microsoft.com/office/drawing/2014/main" val="1693228559"/>
                    </a:ext>
                  </a:extLst>
                </a:gridCol>
                <a:gridCol w="485669">
                  <a:extLst>
                    <a:ext uri="{9D8B030D-6E8A-4147-A177-3AD203B41FA5}">
                      <a16:colId xmlns:a16="http://schemas.microsoft.com/office/drawing/2014/main" val="629780812"/>
                    </a:ext>
                  </a:extLst>
                </a:gridCol>
                <a:gridCol w="485669">
                  <a:extLst>
                    <a:ext uri="{9D8B030D-6E8A-4147-A177-3AD203B41FA5}">
                      <a16:colId xmlns:a16="http://schemas.microsoft.com/office/drawing/2014/main" val="3030220376"/>
                    </a:ext>
                  </a:extLst>
                </a:gridCol>
                <a:gridCol w="485669">
                  <a:extLst>
                    <a:ext uri="{9D8B030D-6E8A-4147-A177-3AD203B41FA5}">
                      <a16:colId xmlns:a16="http://schemas.microsoft.com/office/drawing/2014/main" val="4142679519"/>
                    </a:ext>
                  </a:extLst>
                </a:gridCol>
                <a:gridCol w="485669">
                  <a:extLst>
                    <a:ext uri="{9D8B030D-6E8A-4147-A177-3AD203B41FA5}">
                      <a16:colId xmlns:a16="http://schemas.microsoft.com/office/drawing/2014/main" val="636100432"/>
                    </a:ext>
                  </a:extLst>
                </a:gridCol>
                <a:gridCol w="485669">
                  <a:extLst>
                    <a:ext uri="{9D8B030D-6E8A-4147-A177-3AD203B41FA5}">
                      <a16:colId xmlns:a16="http://schemas.microsoft.com/office/drawing/2014/main" val="18698577"/>
                    </a:ext>
                  </a:extLst>
                </a:gridCol>
                <a:gridCol w="485669">
                  <a:extLst>
                    <a:ext uri="{9D8B030D-6E8A-4147-A177-3AD203B41FA5}">
                      <a16:colId xmlns:a16="http://schemas.microsoft.com/office/drawing/2014/main" val="1728375627"/>
                    </a:ext>
                  </a:extLst>
                </a:gridCol>
              </a:tblGrid>
              <a:tr h="195318">
                <a:tc rowSpan="2">
                  <a:txBody>
                    <a:bodyPr/>
                    <a:lstStyle/>
                    <a:p>
                      <a:pPr algn="ctr" fontAlgn="ctr"/>
                      <a:r>
                        <a:rPr lang="ja-JP" alt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②行動評価</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900" b="0" i="0" u="none" strike="noStrike" dirty="0">
                          <a:solidFill>
                            <a:srgbClr val="FFFFFF"/>
                          </a:solidFill>
                          <a:effectLst/>
                          <a:latin typeface="BIZ UDPゴシック" panose="020B0400000000000000" pitchFamily="50" charset="-128"/>
                          <a:ea typeface="BIZ UDPゴシック" panose="020B0400000000000000" pitchFamily="50" charset="-128"/>
                        </a:rPr>
                        <a:t>G1</a:t>
                      </a: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900" b="0" i="0" u="none" strike="noStrike" dirty="0">
                          <a:solidFill>
                            <a:srgbClr val="FFFFFF"/>
                          </a:solidFill>
                          <a:effectLst/>
                          <a:latin typeface="BIZ UDPゴシック" panose="020B0400000000000000" pitchFamily="50" charset="-128"/>
                          <a:ea typeface="BIZ UDPゴシック" panose="020B0400000000000000" pitchFamily="50" charset="-128"/>
                        </a:rPr>
                        <a:t>G2・3</a:t>
                      </a: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gridSpan="3">
                  <a:txBody>
                    <a:bodyPr/>
                    <a:lstStyle/>
                    <a:p>
                      <a:pPr algn="ctr" fontAlgn="ctr"/>
                      <a:r>
                        <a:rPr lang="en-US" sz="900" b="0" i="0" u="none" strike="noStrike" dirty="0">
                          <a:solidFill>
                            <a:srgbClr val="FFFFFF"/>
                          </a:solidFill>
                          <a:effectLst/>
                          <a:latin typeface="BIZ UDPゴシック" panose="020B0400000000000000" pitchFamily="50" charset="-128"/>
                          <a:ea typeface="BIZ UDPゴシック" panose="020B0400000000000000" pitchFamily="50" charset="-128"/>
                        </a:rPr>
                        <a:t>G4・5・6</a:t>
                      </a: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hMerge="1">
                  <a:txBody>
                    <a:bodyPr/>
                    <a:lstStyle/>
                    <a:p>
                      <a:endParaRPr kumimoji="1" lang="ja-JP" altLang="en-US"/>
                    </a:p>
                  </a:txBody>
                  <a:tcPr/>
                </a:tc>
                <a:tc hMerge="1">
                  <a:txBody>
                    <a:bodyPr/>
                    <a:lstStyle/>
                    <a:p>
                      <a:endParaRPr kumimoji="1" lang="ja-JP" altLang="en-US"/>
                    </a:p>
                  </a:txBody>
                  <a:tcPr/>
                </a:tc>
                <a:tc gridSpan="5">
                  <a:txBody>
                    <a:bodyPr/>
                    <a:lstStyle/>
                    <a:p>
                      <a:pPr algn="ctr" fontAlgn="ctr"/>
                      <a:r>
                        <a:rPr lang="en-US" sz="900" b="0" i="0" u="none" strike="noStrike" dirty="0">
                          <a:solidFill>
                            <a:srgbClr val="FFFFFF"/>
                          </a:solidFill>
                          <a:effectLst/>
                          <a:latin typeface="BIZ UDPゴシック" panose="020B0400000000000000" pitchFamily="50" charset="-128"/>
                          <a:ea typeface="BIZ UDPゴシック" panose="020B0400000000000000" pitchFamily="50" charset="-128"/>
                        </a:rPr>
                        <a:t>G7・8・9</a:t>
                      </a: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p>
                      <a:pPr algn="ctr" fontAlgn="ctr"/>
                      <a:r>
                        <a:rPr lang="en-US" sz="900" b="0" i="0" u="none" strike="noStrike" dirty="0">
                          <a:solidFill>
                            <a:srgbClr val="FFFFFF"/>
                          </a:solidFill>
                          <a:effectLst/>
                          <a:latin typeface="BIZ UDPゴシック" panose="020B0400000000000000" pitchFamily="50" charset="-128"/>
                          <a:ea typeface="BIZ UDPゴシック" panose="020B0400000000000000" pitchFamily="50" charset="-128"/>
                        </a:rPr>
                        <a:t>G10・11</a:t>
                      </a:r>
                    </a:p>
                  </a:txBody>
                  <a:tcPr marL="0" marR="0" marT="0" marB="0" anchor="ctr">
                    <a:lnL w="12700" cap="flat" cmpd="sng" algn="ctr">
                      <a:solidFill>
                        <a:schemeClr val="bg1">
                          <a:lumMod val="95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116782785"/>
                  </a:ext>
                </a:extLst>
              </a:tr>
              <a:tr h="318082">
                <a:tc vMerge="1">
                  <a:txBody>
                    <a:bodyPr/>
                    <a:lstStyle/>
                    <a:p>
                      <a:endParaRPr kumimoji="1" lang="ja-JP" altLang="en-US"/>
                    </a:p>
                  </a:txBody>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一般</a:t>
                      </a:r>
                      <a:endParaRPr lang="en-US" altLang="ja-JP"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fontAlgn="ctr"/>
                      <a:r>
                        <a:rPr lang="ja-JP" altLang="en-US" sz="800" b="1" i="0" u="none" strike="noStrike" dirty="0">
                          <a:solidFill>
                            <a:srgbClr val="FF0000"/>
                          </a:solidFill>
                          <a:effectLst/>
                          <a:latin typeface="BIZ UDPゴシック" panose="020B0400000000000000" pitchFamily="50" charset="-128"/>
                          <a:ea typeface="BIZ UDPゴシック" panose="020B0400000000000000" pitchFamily="50" charset="-128"/>
                        </a:rPr>
                        <a:t>契約社員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一般</a:t>
                      </a:r>
                      <a:endParaRPr lang="en-US" altLang="ja-JP"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p>
                      <a:pPr marL="0" marR="0" lvl="0" indent="0" algn="ctr" defTabSz="914325" rtl="0" eaLnBrk="1" fontAlgn="ctr" latinLnBrk="0" hangingPunct="1">
                        <a:lnSpc>
                          <a:spcPct val="100000"/>
                        </a:lnSpc>
                        <a:spcBef>
                          <a:spcPts val="0"/>
                        </a:spcBef>
                        <a:spcAft>
                          <a:spcPts val="0"/>
                        </a:spcAft>
                        <a:buClrTx/>
                        <a:buSzTx/>
                        <a:buFontTx/>
                        <a:buNone/>
                        <a:tabLst/>
                        <a:defRPr/>
                      </a:pPr>
                      <a:r>
                        <a:rPr lang="ja-JP" altLang="en-US" sz="800" b="1" i="0" u="none" strike="noStrike" dirty="0">
                          <a:solidFill>
                            <a:srgbClr val="FF0000"/>
                          </a:solidFill>
                          <a:effectLst/>
                          <a:latin typeface="BIZ UDPゴシック" panose="020B0400000000000000" pitchFamily="50" charset="-128"/>
                          <a:ea typeface="BIZ UDPゴシック" panose="020B0400000000000000" pitchFamily="50" charset="-128"/>
                        </a:rPr>
                        <a:t>契約社員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一般</a:t>
                      </a:r>
                      <a:endParaRPr lang="en-US" altLang="ja-JP"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p>
                      <a:pPr marL="0" marR="0" lvl="0" indent="0" algn="ctr" defTabSz="914325" rtl="0" eaLnBrk="1" fontAlgn="ctr" latinLnBrk="0" hangingPunct="1">
                        <a:lnSpc>
                          <a:spcPct val="100000"/>
                        </a:lnSpc>
                        <a:spcBef>
                          <a:spcPts val="0"/>
                        </a:spcBef>
                        <a:spcAft>
                          <a:spcPts val="0"/>
                        </a:spcAft>
                        <a:buClrTx/>
                        <a:buSzTx/>
                        <a:buFontTx/>
                        <a:buNone/>
                        <a:tabLst/>
                        <a:defRPr/>
                      </a:pPr>
                      <a:r>
                        <a:rPr lang="ja-JP" altLang="en-US" sz="800" b="1" i="0" u="none" strike="noStrike" dirty="0">
                          <a:solidFill>
                            <a:srgbClr val="FF0000"/>
                          </a:solidFill>
                          <a:effectLst/>
                          <a:latin typeface="BIZ UDPゴシック" panose="020B0400000000000000" pitchFamily="50" charset="-128"/>
                          <a:ea typeface="BIZ UDPゴシック" panose="020B0400000000000000" pitchFamily="50" charset="-128"/>
                        </a:rPr>
                        <a:t>契約社員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ｻﾌﾞﾘｰﾀﾞｰ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一般</a:t>
                      </a:r>
                      <a:endParaRPr lang="en-US" altLang="ja-JP"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p>
                      <a:pPr marL="0" marR="0" lvl="0" indent="0" algn="ctr" defTabSz="914325" rtl="0" eaLnBrk="1" fontAlgn="ctr" latinLnBrk="0" hangingPunct="1">
                        <a:lnSpc>
                          <a:spcPct val="100000"/>
                        </a:lnSpc>
                        <a:spcBef>
                          <a:spcPts val="0"/>
                        </a:spcBef>
                        <a:spcAft>
                          <a:spcPts val="0"/>
                        </a:spcAft>
                        <a:buClrTx/>
                        <a:buSzTx/>
                        <a:buFontTx/>
                        <a:buNone/>
                        <a:tabLst/>
                        <a:defRPr/>
                      </a:pPr>
                      <a:r>
                        <a:rPr lang="ja-JP" altLang="en-US" sz="800" b="1" i="0" u="none" strike="noStrike" dirty="0">
                          <a:solidFill>
                            <a:srgbClr val="FF0000"/>
                          </a:solidFill>
                          <a:effectLst/>
                          <a:latin typeface="BIZ UDPゴシック" panose="020B0400000000000000" pitchFamily="50" charset="-128"/>
                          <a:ea typeface="BIZ UDPゴシック" panose="020B0400000000000000" pitchFamily="50" charset="-128"/>
                        </a:rPr>
                        <a:t>契約社員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ｻﾌﾞﾘｰﾀﾞｰ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FF0000"/>
                          </a:solidFill>
                          <a:effectLst/>
                          <a:latin typeface="BIZ UDPゴシック" panose="020B0400000000000000" pitchFamily="50" charset="-128"/>
                          <a:ea typeface="BIZ UDPゴシック" panose="020B0400000000000000" pitchFamily="50" charset="-128"/>
                        </a:rPr>
                        <a:t>本部長</a:t>
                      </a: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・部長・統括ﾘｰﾀﾞｰ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専門職</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一般</a:t>
                      </a:r>
                      <a:endParaRPr lang="en-US" altLang="ja-JP"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p>
                      <a:pPr marL="0" marR="0" lvl="0" indent="0" algn="ctr" defTabSz="914325" rtl="0" eaLnBrk="1" fontAlgn="ctr" latinLnBrk="0" hangingPunct="1">
                        <a:lnSpc>
                          <a:spcPct val="100000"/>
                        </a:lnSpc>
                        <a:spcBef>
                          <a:spcPts val="0"/>
                        </a:spcBef>
                        <a:spcAft>
                          <a:spcPts val="0"/>
                        </a:spcAft>
                        <a:buClrTx/>
                        <a:buSzTx/>
                        <a:buFontTx/>
                        <a:buNone/>
                        <a:tabLst/>
                        <a:defRPr/>
                      </a:pPr>
                      <a:r>
                        <a:rPr lang="ja-JP" altLang="en-US" sz="800" b="1" i="0" u="none" strike="noStrike" dirty="0">
                          <a:solidFill>
                            <a:srgbClr val="FF0000"/>
                          </a:solidFill>
                          <a:effectLst/>
                          <a:latin typeface="BIZ UDPゴシック" panose="020B0400000000000000" pitchFamily="50" charset="-128"/>
                          <a:ea typeface="BIZ UDPゴシック" panose="020B0400000000000000" pitchFamily="50" charset="-128"/>
                        </a:rPr>
                        <a:t>契約社員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rPr>
                        <a:t>ｻﾌﾞﾘｰﾀﾞｰ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rPr>
                        <a:t>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FF0000"/>
                          </a:solidFill>
                          <a:effectLst/>
                          <a:latin typeface="BIZ UDPゴシック" panose="020B0400000000000000" pitchFamily="50" charset="-128"/>
                          <a:ea typeface="BIZ UDPゴシック" panose="020B0400000000000000" pitchFamily="50" charset="-128"/>
                        </a:rPr>
                        <a:t>本部長</a:t>
                      </a: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・部長・統括ﾘｰﾀﾞｰ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専門職</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6567838"/>
                  </a:ext>
                </a:extLst>
              </a:tr>
              <a:tr h="113412">
                <a:tc>
                  <a:txBody>
                    <a:bodyPr/>
                    <a:lstStyle/>
                    <a:p>
                      <a:pPr algn="l" fontAlgn="ctr"/>
                      <a:endParaRPr lang="ja-JP" altLang="en-US" sz="8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2730862"/>
                  </a:ext>
                </a:extLst>
              </a:tr>
              <a:tr h="180294">
                <a:tc>
                  <a:txBody>
                    <a:bodyPr/>
                    <a:lstStyle/>
                    <a:p>
                      <a:pPr algn="l" fontAlgn="ct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G10</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11</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7P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6P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5P</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5P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5P</a:t>
                      </a: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extLst>
                  <a:ext uri="{0D108BD9-81ED-4DB2-BD59-A6C34878D82A}">
                    <a16:rowId xmlns:a16="http://schemas.microsoft.com/office/drawing/2014/main" val="3456481568"/>
                  </a:ext>
                </a:extLst>
              </a:tr>
              <a:tr h="180294">
                <a:tc>
                  <a:txBody>
                    <a:bodyPr/>
                    <a:lstStyle/>
                    <a:p>
                      <a:pPr algn="l" fontAlgn="ct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G7</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8</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9</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6P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5P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2557215"/>
                  </a:ext>
                </a:extLst>
              </a:tr>
              <a:tr h="180294">
                <a:tc>
                  <a:txBody>
                    <a:bodyPr/>
                    <a:lstStyle/>
                    <a:p>
                      <a:pPr algn="l" fontAlgn="ct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G4</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5</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6</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5P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3284802"/>
                  </a:ext>
                </a:extLst>
              </a:tr>
              <a:tr h="180294">
                <a:tc>
                  <a:txBody>
                    <a:bodyPr/>
                    <a:lstStyle/>
                    <a:p>
                      <a:pPr algn="l" fontAlgn="ct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G2</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3</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0859390"/>
                  </a:ext>
                </a:extLst>
              </a:tr>
              <a:tr h="180294">
                <a:tc>
                  <a:txBody>
                    <a:bodyPr/>
                    <a:lstStyle/>
                    <a:p>
                      <a:pPr algn="l" fontAlgn="ct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G1</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6719878"/>
                  </a:ext>
                </a:extLst>
              </a:tr>
            </a:tbl>
          </a:graphicData>
        </a:graphic>
      </p:graphicFrame>
      <p:sp>
        <p:nvSpPr>
          <p:cNvPr id="11" name="Text Box 31">
            <a:extLst>
              <a:ext uri="{FF2B5EF4-FFF2-40B4-BE49-F238E27FC236}">
                <a16:creationId xmlns:a16="http://schemas.microsoft.com/office/drawing/2014/main" id="{30A02D57-401F-D7E1-E8FB-C15FC47F2B0B}"/>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6</a:t>
            </a:fld>
            <a:r>
              <a:rPr lang="ja-JP" altLang="en-US" sz="1050" dirty="0">
                <a:latin typeface="+mn-ea"/>
              </a:rPr>
              <a:t>－</a:t>
            </a:r>
          </a:p>
        </p:txBody>
      </p:sp>
      <p:sp>
        <p:nvSpPr>
          <p:cNvPr id="9" name="タイトル 2">
            <a:extLst>
              <a:ext uri="{FF2B5EF4-FFF2-40B4-BE49-F238E27FC236}">
                <a16:creationId xmlns:a16="http://schemas.microsoft.com/office/drawing/2014/main" id="{43902474-F515-D520-5CD0-4DE0531991C0}"/>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新制度　総合職　②行動評価について（</a:t>
            </a:r>
            <a:r>
              <a:rPr lang="en-US" altLang="ja-JP" sz="1600" dirty="0">
                <a:latin typeface="BIZ UDPゴシック" panose="020B0400000000000000" pitchFamily="50" charset="-128"/>
                <a:ea typeface="BIZ UDPゴシック" panose="020B0400000000000000" pitchFamily="50" charset="-128"/>
              </a:rPr>
              <a:t>2025</a:t>
            </a:r>
            <a:r>
              <a:rPr lang="ja-JP" altLang="en-US" sz="1600" dirty="0">
                <a:latin typeface="BIZ UDPゴシック" panose="020B0400000000000000" pitchFamily="50" charset="-128"/>
                <a:ea typeface="BIZ UDPゴシック" panose="020B0400000000000000" pitchFamily="50" charset="-128"/>
              </a:rPr>
              <a:t>年</a:t>
            </a:r>
            <a:r>
              <a:rPr lang="en-US" altLang="ja-JP" sz="1600" dirty="0">
                <a:latin typeface="BIZ UDPゴシック" panose="020B0400000000000000" pitchFamily="50" charset="-128"/>
                <a:ea typeface="BIZ UDPゴシック" panose="020B0400000000000000" pitchFamily="50" charset="-128"/>
              </a:rPr>
              <a:t>4</a:t>
            </a:r>
            <a:r>
              <a:rPr lang="ja-JP" altLang="en-US" sz="1600" dirty="0">
                <a:latin typeface="BIZ UDPゴシック" panose="020B0400000000000000" pitchFamily="50" charset="-128"/>
                <a:ea typeface="BIZ UDPゴシック" panose="020B0400000000000000" pitchFamily="50" charset="-128"/>
              </a:rPr>
              <a:t>月</a:t>
            </a:r>
            <a:r>
              <a:rPr lang="en-US" altLang="ja-JP" sz="1600" dirty="0">
                <a:latin typeface="BIZ UDPゴシック" panose="020B0400000000000000" pitchFamily="50" charset="-128"/>
                <a:ea typeface="BIZ UDPゴシック" panose="020B0400000000000000" pitchFamily="50" charset="-128"/>
              </a:rPr>
              <a:t>1</a:t>
            </a:r>
            <a:r>
              <a:rPr lang="ja-JP" altLang="en-US" sz="1600" dirty="0">
                <a:latin typeface="BIZ UDPゴシック" panose="020B0400000000000000" pitchFamily="50" charset="-128"/>
                <a:ea typeface="BIZ UDPゴシック" panose="020B0400000000000000" pitchFamily="50" charset="-128"/>
              </a:rPr>
              <a:t>日現在）</a:t>
            </a:r>
          </a:p>
        </p:txBody>
      </p:sp>
      <p:sp>
        <p:nvSpPr>
          <p:cNvPr id="19" name="タイトル 2">
            <a:extLst>
              <a:ext uri="{FF2B5EF4-FFF2-40B4-BE49-F238E27FC236}">
                <a16:creationId xmlns:a16="http://schemas.microsoft.com/office/drawing/2014/main" id="{115E964D-04AD-4DDC-7D2A-1B5B9D603E67}"/>
              </a:ext>
            </a:extLst>
          </p:cNvPr>
          <p:cNvSpPr txBox="1">
            <a:spLocks/>
          </p:cNvSpPr>
          <p:nvPr/>
        </p:nvSpPr>
        <p:spPr>
          <a:xfrm>
            <a:off x="52880" y="1306674"/>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役職・評価項目ごとの重み</a:t>
            </a:r>
          </a:p>
        </p:txBody>
      </p:sp>
      <p:sp>
        <p:nvSpPr>
          <p:cNvPr id="20" name="タイトル 2">
            <a:extLst>
              <a:ext uri="{FF2B5EF4-FFF2-40B4-BE49-F238E27FC236}">
                <a16:creationId xmlns:a16="http://schemas.microsoft.com/office/drawing/2014/main" id="{6BBFABF1-171F-70BC-9973-ECA058746C67}"/>
              </a:ext>
            </a:extLst>
          </p:cNvPr>
          <p:cNvSpPr txBox="1">
            <a:spLocks/>
          </p:cNvSpPr>
          <p:nvPr/>
        </p:nvSpPr>
        <p:spPr>
          <a:xfrm>
            <a:off x="52880" y="30249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達成基準</a:t>
            </a:r>
          </a:p>
        </p:txBody>
      </p:sp>
      <p:sp>
        <p:nvSpPr>
          <p:cNvPr id="2" name="正方形/長方形 1">
            <a:extLst>
              <a:ext uri="{FF2B5EF4-FFF2-40B4-BE49-F238E27FC236}">
                <a16:creationId xmlns:a16="http://schemas.microsoft.com/office/drawing/2014/main" id="{5E0CF9A1-42F4-9501-53FE-2587BFFF4FEF}"/>
              </a:ext>
            </a:extLst>
          </p:cNvPr>
          <p:cNvSpPr/>
          <p:nvPr/>
        </p:nvSpPr>
        <p:spPr>
          <a:xfrm flipV="1">
            <a:off x="640080" y="2049779"/>
            <a:ext cx="8350286" cy="8939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215C4DD8-AF36-2388-173B-CF81FD618360}"/>
              </a:ext>
            </a:extLst>
          </p:cNvPr>
          <p:cNvSpPr/>
          <p:nvPr/>
        </p:nvSpPr>
        <p:spPr>
          <a:xfrm>
            <a:off x="108817" y="5295685"/>
            <a:ext cx="8881549" cy="1301667"/>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rPr>
              <a:t>役職や評価項目ごとの重みは、「役職」に応じ、行動面の評価基準が定まり、求められる行動基準を明確にする。また、「重さ」は、</a:t>
            </a:r>
            <a:r>
              <a:rPr lang="ja-JP" altLang="en-US" sz="14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年度に応じて変更させることがあり得る。</a:t>
            </a:r>
            <a:endParaRPr lang="en-US" altLang="ja-JP" sz="14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171450" indent="-171450">
              <a:buFont typeface="Arial" panose="020B0604020202020204" pitchFamily="34" charset="0"/>
              <a:buChar char="•"/>
            </a:pP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契約社員の「②行動評価」の達成基準は、理論年収に応じて「</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G1</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G2</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3</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G7</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8</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9</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G10</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11</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」のいずれかに分類され、各半期の初めに決定される。</a:t>
            </a:r>
            <a:endPar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171450" indent="-17145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rPr>
              <a:t>評価の定義は、</a:t>
            </a:r>
            <a:r>
              <a:rPr lang="en-US" altLang="ja-JP" sz="1400" dirty="0">
                <a:solidFill>
                  <a:schemeClr val="tx1"/>
                </a:solidFill>
                <a:latin typeface="BIZ UDPゴシック" panose="020B0400000000000000" pitchFamily="50" charset="-128"/>
                <a:ea typeface="BIZ UDPゴシック" panose="020B0400000000000000" pitchFamily="50" charset="-128"/>
              </a:rPr>
              <a:t>30</a:t>
            </a:r>
            <a:r>
              <a:rPr lang="ja-JP" altLang="en-US" sz="1400" dirty="0">
                <a:solidFill>
                  <a:schemeClr val="tx1"/>
                </a:solidFill>
                <a:latin typeface="BIZ UDPゴシック" panose="020B0400000000000000" pitchFamily="50" charset="-128"/>
                <a:ea typeface="BIZ UDPゴシック" panose="020B0400000000000000" pitchFamily="50" charset="-128"/>
              </a:rPr>
              <a:t>通り（</a:t>
            </a:r>
            <a:r>
              <a:rPr lang="en-US" altLang="ja-JP" sz="1400" dirty="0">
                <a:solidFill>
                  <a:schemeClr val="tx1"/>
                </a:solidFill>
                <a:latin typeface="BIZ UDPゴシック" panose="020B0400000000000000" pitchFamily="50" charset="-128"/>
                <a:ea typeface="BIZ UDPゴシック" panose="020B0400000000000000" pitchFamily="50" charset="-128"/>
              </a:rPr>
              <a:t>6</a:t>
            </a:r>
            <a:r>
              <a:rPr lang="ja-JP" altLang="en-US" sz="1400" dirty="0">
                <a:solidFill>
                  <a:schemeClr val="tx1"/>
                </a:solidFill>
                <a:latin typeface="BIZ UDPゴシック" panose="020B0400000000000000" pitchFamily="50" charset="-128"/>
                <a:ea typeface="BIZ UDPゴシック" panose="020B0400000000000000" pitchFamily="50" charset="-128"/>
              </a:rPr>
              <a:t>項目</a:t>
            </a:r>
            <a:r>
              <a:rPr lang="en-US" altLang="ja-JP" sz="1400" dirty="0">
                <a:solidFill>
                  <a:schemeClr val="tx1"/>
                </a:solidFill>
                <a:latin typeface="BIZ UDPゴシック" panose="020B0400000000000000" pitchFamily="50" charset="-128"/>
                <a:ea typeface="BIZ UDPゴシック" panose="020B0400000000000000" pitchFamily="50" charset="-128"/>
              </a:rPr>
              <a:t>×5</a:t>
            </a:r>
            <a:r>
              <a:rPr lang="ja-JP" altLang="en-US" sz="1400" dirty="0">
                <a:solidFill>
                  <a:schemeClr val="tx1"/>
                </a:solidFill>
                <a:latin typeface="BIZ UDPゴシック" panose="020B0400000000000000" pitchFamily="50" charset="-128"/>
                <a:ea typeface="BIZ UDPゴシック" panose="020B0400000000000000" pitchFamily="50" charset="-128"/>
              </a:rPr>
              <a:t>段階）（次頁参照） 。期待通りの行動であれば評価「</a:t>
            </a:r>
            <a:r>
              <a:rPr lang="en-US" altLang="ja-JP" sz="1400" dirty="0">
                <a:solidFill>
                  <a:schemeClr val="tx1"/>
                </a:solidFill>
                <a:latin typeface="BIZ UDPゴシック" panose="020B0400000000000000" pitchFamily="50" charset="-128"/>
                <a:ea typeface="BIZ UDPゴシック" panose="020B0400000000000000" pitchFamily="50" charset="-128"/>
              </a:rPr>
              <a:t>3</a:t>
            </a:r>
            <a:r>
              <a:rPr lang="ja-JP" altLang="en-US" sz="1400" dirty="0">
                <a:solidFill>
                  <a:schemeClr val="tx1"/>
                </a:solidFill>
                <a:latin typeface="BIZ UDPゴシック" panose="020B0400000000000000" pitchFamily="50" charset="-128"/>
                <a:ea typeface="BIZ UDPゴシック" panose="020B0400000000000000" pitchFamily="50" charset="-128"/>
              </a:rPr>
              <a:t>Ｐ」とする。</a:t>
            </a:r>
            <a:endParaRPr lang="en-US" altLang="ja-JP" sz="14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12" name="タイトル 2">
            <a:extLst>
              <a:ext uri="{FF2B5EF4-FFF2-40B4-BE49-F238E27FC236}">
                <a16:creationId xmlns:a16="http://schemas.microsoft.com/office/drawing/2014/main" id="{04BED95A-471F-88E7-A12E-EF61A2B7C799}"/>
              </a:ext>
            </a:extLst>
          </p:cNvPr>
          <p:cNvSpPr txBox="1">
            <a:spLocks/>
          </p:cNvSpPr>
          <p:nvPr/>
        </p:nvSpPr>
        <p:spPr>
          <a:xfrm>
            <a:off x="52880" y="4874441"/>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備考</a:t>
            </a:r>
          </a:p>
        </p:txBody>
      </p:sp>
      <p:sp>
        <p:nvSpPr>
          <p:cNvPr id="5" name="タイトル 2">
            <a:extLst>
              <a:ext uri="{FF2B5EF4-FFF2-40B4-BE49-F238E27FC236}">
                <a16:creationId xmlns:a16="http://schemas.microsoft.com/office/drawing/2014/main" id="{329A8C22-0547-68FA-0947-B2ACEC3D4463}"/>
              </a:ext>
            </a:extLst>
          </p:cNvPr>
          <p:cNvSpPr txBox="1">
            <a:spLocks/>
          </p:cNvSpPr>
          <p:nvPr/>
        </p:nvSpPr>
        <p:spPr>
          <a:xfrm>
            <a:off x="107504" y="922710"/>
            <a:ext cx="8888356"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600" dirty="0">
                <a:highlight>
                  <a:srgbClr val="FFFF00"/>
                </a:highlight>
                <a:latin typeface="BIZ UDPゴシック" panose="020B0400000000000000" pitchFamily="50" charset="-128"/>
                <a:ea typeface="BIZ UDPゴシック" panose="020B0400000000000000" pitchFamily="50" charset="-128"/>
              </a:rPr>
              <a:t>2025</a:t>
            </a:r>
            <a:r>
              <a:rPr lang="ja-JP" altLang="en-US" sz="1600" dirty="0">
                <a:highlight>
                  <a:srgbClr val="FFFF00"/>
                </a:highlight>
                <a:latin typeface="BIZ UDPゴシック" panose="020B0400000000000000" pitchFamily="50" charset="-128"/>
                <a:ea typeface="BIZ UDPゴシック" panose="020B0400000000000000" pitchFamily="50" charset="-128"/>
              </a:rPr>
              <a:t>年</a:t>
            </a:r>
            <a:r>
              <a:rPr lang="en-US" altLang="ja-JP" sz="1600" dirty="0">
                <a:highlight>
                  <a:srgbClr val="FFFF00"/>
                </a:highlight>
                <a:latin typeface="BIZ UDPゴシック" panose="020B0400000000000000" pitchFamily="50" charset="-128"/>
                <a:ea typeface="BIZ UDPゴシック" panose="020B0400000000000000" pitchFamily="50" charset="-128"/>
              </a:rPr>
              <a:t>4</a:t>
            </a:r>
            <a:r>
              <a:rPr lang="ja-JP" altLang="en-US" sz="1600" dirty="0">
                <a:highlight>
                  <a:srgbClr val="FFFF00"/>
                </a:highlight>
                <a:latin typeface="BIZ UDPゴシック" panose="020B0400000000000000" pitchFamily="50" charset="-128"/>
                <a:ea typeface="BIZ UDPゴシック" panose="020B0400000000000000" pitchFamily="50" charset="-128"/>
              </a:rPr>
              <a:t>月</a:t>
            </a:r>
            <a:r>
              <a:rPr lang="en-US" altLang="ja-JP" sz="1600" dirty="0">
                <a:highlight>
                  <a:srgbClr val="FFFF00"/>
                </a:highlight>
                <a:latin typeface="BIZ UDPゴシック" panose="020B0400000000000000" pitchFamily="50" charset="-128"/>
                <a:ea typeface="BIZ UDPゴシック" panose="020B0400000000000000" pitchFamily="50" charset="-128"/>
              </a:rPr>
              <a:t>1</a:t>
            </a:r>
            <a:r>
              <a:rPr lang="ja-JP" altLang="en-US" sz="1600" dirty="0">
                <a:highlight>
                  <a:srgbClr val="FFFF00"/>
                </a:highlight>
                <a:latin typeface="BIZ UDPゴシック" panose="020B0400000000000000" pitchFamily="50" charset="-128"/>
                <a:ea typeface="BIZ UDPゴシック" panose="020B0400000000000000" pitchFamily="50" charset="-128"/>
              </a:rPr>
              <a:t>日以降、「本部長」および「契約社員」の要件を、以下のとおり明確に定める。</a:t>
            </a:r>
          </a:p>
        </p:txBody>
      </p:sp>
    </p:spTree>
    <p:extLst>
      <p:ext uri="{BB962C8B-B14F-4D97-AF65-F5344CB8AC3E}">
        <p14:creationId xmlns:p14="http://schemas.microsoft.com/office/powerpoint/2010/main" val="1516048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2F6ED-75A6-E6CB-BBA8-D2BEDA1D3BBE}"/>
            </a:ext>
          </a:extLst>
        </p:cNvPr>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713CDFD2-3062-3058-96B9-084255E0D55D}"/>
              </a:ext>
            </a:extLst>
          </p:cNvPr>
          <p:cNvSpPr/>
          <p:nvPr/>
        </p:nvSpPr>
        <p:spPr>
          <a:xfrm>
            <a:off x="7045506" y="4439954"/>
            <a:ext cx="1838348" cy="2016224"/>
          </a:xfrm>
          <a:prstGeom prst="rect">
            <a:avLst/>
          </a:prstGeom>
          <a:solidFill>
            <a:schemeClr val="accent1">
              <a:lumMod val="60000"/>
              <a:lumOff val="4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2P</a:t>
            </a:r>
          </a:p>
          <a:p>
            <a:pPr algn="ctr"/>
            <a:r>
              <a:rPr lang="ja-JP" altLang="en-US"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（不足）</a:t>
            </a:r>
            <a:endParaRPr kumimoji="1" lang="en-US" altLang="ja-JP"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18" name="正方形/長方形 17">
            <a:extLst>
              <a:ext uri="{FF2B5EF4-FFF2-40B4-BE49-F238E27FC236}">
                <a16:creationId xmlns:a16="http://schemas.microsoft.com/office/drawing/2014/main" id="{2C11091E-3861-BC5D-E757-23F6680C66F1}"/>
              </a:ext>
            </a:extLst>
          </p:cNvPr>
          <p:cNvSpPr/>
          <p:nvPr/>
        </p:nvSpPr>
        <p:spPr>
          <a:xfrm>
            <a:off x="1971086" y="4439954"/>
            <a:ext cx="1838348" cy="2016224"/>
          </a:xfrm>
          <a:prstGeom prst="rect">
            <a:avLst/>
          </a:prstGeom>
          <a:solidFill>
            <a:schemeClr val="accent1">
              <a:lumMod val="20000"/>
              <a:lumOff val="8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G4</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5</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6</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レベル</a:t>
            </a:r>
          </a:p>
        </p:txBody>
      </p:sp>
      <p:sp>
        <p:nvSpPr>
          <p:cNvPr id="11" name="Text Box 31">
            <a:extLst>
              <a:ext uri="{FF2B5EF4-FFF2-40B4-BE49-F238E27FC236}">
                <a16:creationId xmlns:a16="http://schemas.microsoft.com/office/drawing/2014/main" id="{44D120EC-CF78-B844-8119-75E6EADD95A9}"/>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7</a:t>
            </a:fld>
            <a:r>
              <a:rPr lang="ja-JP" altLang="en-US" sz="1050" dirty="0">
                <a:latin typeface="+mn-ea"/>
              </a:rPr>
              <a:t>－</a:t>
            </a:r>
          </a:p>
        </p:txBody>
      </p:sp>
      <p:sp>
        <p:nvSpPr>
          <p:cNvPr id="9" name="タイトル 2">
            <a:extLst>
              <a:ext uri="{FF2B5EF4-FFF2-40B4-BE49-F238E27FC236}">
                <a16:creationId xmlns:a16="http://schemas.microsoft.com/office/drawing/2014/main" id="{32A289A5-3AB6-E2B3-048F-C9EEB764A810}"/>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新制度　総合職　②行動評価について　例示</a:t>
            </a:r>
          </a:p>
        </p:txBody>
      </p:sp>
      <p:pic>
        <p:nvPicPr>
          <p:cNvPr id="5" name="図 4" descr="スーツを着た人の絵&#10;&#10;中程度の精度で自動的に生成された説明">
            <a:extLst>
              <a:ext uri="{FF2B5EF4-FFF2-40B4-BE49-F238E27FC236}">
                <a16:creationId xmlns:a16="http://schemas.microsoft.com/office/drawing/2014/main" id="{A357177A-55C0-4112-283B-AD6182A255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76" y="1478524"/>
            <a:ext cx="1155297" cy="1658888"/>
          </a:xfrm>
          <a:prstGeom prst="rect">
            <a:avLst/>
          </a:prstGeom>
        </p:spPr>
      </p:pic>
      <p:pic>
        <p:nvPicPr>
          <p:cNvPr id="8" name="図 7" descr="スーツを着ている人形&#10;&#10;中程度の精度で自動的に生成された説明">
            <a:extLst>
              <a:ext uri="{FF2B5EF4-FFF2-40B4-BE49-F238E27FC236}">
                <a16:creationId xmlns:a16="http://schemas.microsoft.com/office/drawing/2014/main" id="{45AF4428-A192-0EC5-F82A-218929E254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755" y="4451102"/>
            <a:ext cx="1300433" cy="1664061"/>
          </a:xfrm>
          <a:prstGeom prst="rect">
            <a:avLst/>
          </a:prstGeom>
        </p:spPr>
      </p:pic>
      <p:sp>
        <p:nvSpPr>
          <p:cNvPr id="10" name="タイトル 2">
            <a:extLst>
              <a:ext uri="{FF2B5EF4-FFF2-40B4-BE49-F238E27FC236}">
                <a16:creationId xmlns:a16="http://schemas.microsoft.com/office/drawing/2014/main" id="{8743E95B-AC08-3EF5-87C7-C44D34025AFF}"/>
              </a:ext>
            </a:extLst>
          </p:cNvPr>
          <p:cNvSpPr txBox="1">
            <a:spLocks/>
          </p:cNvSpPr>
          <p:nvPr/>
        </p:nvSpPr>
        <p:spPr>
          <a:xfrm>
            <a:off x="367086" y="5963270"/>
            <a:ext cx="7920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en-US" altLang="ja-JP" sz="2400" b="1" dirty="0">
                <a:latin typeface="BIZ UDPゴシック" panose="020B0400000000000000" pitchFamily="50" charset="-128"/>
                <a:ea typeface="BIZ UDPゴシック" panose="020B0400000000000000" pitchFamily="50" charset="-128"/>
              </a:rPr>
              <a:t>G7</a:t>
            </a:r>
            <a:endParaRPr lang="ja-JP" altLang="en-US" sz="2400" b="1" dirty="0">
              <a:latin typeface="BIZ UDPゴシック" panose="020B0400000000000000" pitchFamily="50" charset="-128"/>
              <a:ea typeface="BIZ UDPゴシック" panose="020B0400000000000000" pitchFamily="50" charset="-128"/>
            </a:endParaRPr>
          </a:p>
        </p:txBody>
      </p:sp>
      <p:sp>
        <p:nvSpPr>
          <p:cNvPr id="12" name="タイトル 2">
            <a:extLst>
              <a:ext uri="{FF2B5EF4-FFF2-40B4-BE49-F238E27FC236}">
                <a16:creationId xmlns:a16="http://schemas.microsoft.com/office/drawing/2014/main" id="{F0DD47A7-6BA3-68A4-F0DE-358FC5A2C999}"/>
              </a:ext>
            </a:extLst>
          </p:cNvPr>
          <p:cNvSpPr txBox="1">
            <a:spLocks/>
          </p:cNvSpPr>
          <p:nvPr/>
        </p:nvSpPr>
        <p:spPr>
          <a:xfrm>
            <a:off x="367086" y="3010942"/>
            <a:ext cx="7920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en-US" altLang="ja-JP" sz="2400" b="1" dirty="0">
                <a:latin typeface="BIZ UDPゴシック" panose="020B0400000000000000" pitchFamily="50" charset="-128"/>
                <a:ea typeface="BIZ UDPゴシック" panose="020B0400000000000000" pitchFamily="50" charset="-128"/>
              </a:rPr>
              <a:t>G5</a:t>
            </a:r>
            <a:endParaRPr lang="ja-JP" altLang="en-US" sz="2400" b="1" dirty="0">
              <a:latin typeface="BIZ UDPゴシック" panose="020B0400000000000000" pitchFamily="50" charset="-128"/>
              <a:ea typeface="BIZ UDPゴシック" panose="020B0400000000000000" pitchFamily="50" charset="-128"/>
            </a:endParaRPr>
          </a:p>
        </p:txBody>
      </p:sp>
      <p:sp>
        <p:nvSpPr>
          <p:cNvPr id="16" name="矢印: 上 15">
            <a:extLst>
              <a:ext uri="{FF2B5EF4-FFF2-40B4-BE49-F238E27FC236}">
                <a16:creationId xmlns:a16="http://schemas.microsoft.com/office/drawing/2014/main" id="{09E9BD33-4B5E-93B6-9486-7C209C6C1ECD}"/>
              </a:ext>
            </a:extLst>
          </p:cNvPr>
          <p:cNvSpPr/>
          <p:nvPr/>
        </p:nvSpPr>
        <p:spPr>
          <a:xfrm rot="5400000">
            <a:off x="1251006" y="5268046"/>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17" name="タイトル 2">
            <a:extLst>
              <a:ext uri="{FF2B5EF4-FFF2-40B4-BE49-F238E27FC236}">
                <a16:creationId xmlns:a16="http://schemas.microsoft.com/office/drawing/2014/main" id="{626CB6A0-EB1C-382A-5503-196BF23D95D1}"/>
              </a:ext>
            </a:extLst>
          </p:cNvPr>
          <p:cNvSpPr txBox="1">
            <a:spLocks/>
          </p:cNvSpPr>
          <p:nvPr/>
        </p:nvSpPr>
        <p:spPr>
          <a:xfrm>
            <a:off x="1971086" y="3957184"/>
            <a:ext cx="183834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dirty="0">
                <a:latin typeface="BIZ UDPゴシック" panose="020B0400000000000000" pitchFamily="50" charset="-128"/>
                <a:ea typeface="BIZ UDPゴシック" panose="020B0400000000000000" pitchFamily="50" charset="-128"/>
              </a:rPr>
              <a:t>評価</a:t>
            </a:r>
          </a:p>
        </p:txBody>
      </p:sp>
      <p:pic>
        <p:nvPicPr>
          <p:cNvPr id="28" name="図 27" descr="ロゴ&#10;&#10;自動的に生成された説明">
            <a:extLst>
              <a:ext uri="{FF2B5EF4-FFF2-40B4-BE49-F238E27FC236}">
                <a16:creationId xmlns:a16="http://schemas.microsoft.com/office/drawing/2014/main" id="{40E135E5-3456-A23A-C375-28EC83EDBB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6122" y="4495566"/>
            <a:ext cx="1905000" cy="1905000"/>
          </a:xfrm>
          <a:prstGeom prst="rect">
            <a:avLst/>
          </a:prstGeom>
        </p:spPr>
      </p:pic>
      <p:sp>
        <p:nvSpPr>
          <p:cNvPr id="29" name="矢印: 上 28">
            <a:extLst>
              <a:ext uri="{FF2B5EF4-FFF2-40B4-BE49-F238E27FC236}">
                <a16:creationId xmlns:a16="http://schemas.microsoft.com/office/drawing/2014/main" id="{892020F7-8E54-CBB7-7BB4-47C41C779DA6}"/>
              </a:ext>
            </a:extLst>
          </p:cNvPr>
          <p:cNvSpPr/>
          <p:nvPr/>
        </p:nvSpPr>
        <p:spPr>
          <a:xfrm rot="5400000">
            <a:off x="3915302" y="5268046"/>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1" name="矢印: 上 30">
            <a:extLst>
              <a:ext uri="{FF2B5EF4-FFF2-40B4-BE49-F238E27FC236}">
                <a16:creationId xmlns:a16="http://schemas.microsoft.com/office/drawing/2014/main" id="{352B83E3-B09B-0994-D593-7F99CE2A2036}"/>
              </a:ext>
            </a:extLst>
          </p:cNvPr>
          <p:cNvSpPr/>
          <p:nvPr/>
        </p:nvSpPr>
        <p:spPr>
          <a:xfrm rot="5400000">
            <a:off x="6363574" y="5268046"/>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3" name="タイトル 2">
            <a:extLst>
              <a:ext uri="{FF2B5EF4-FFF2-40B4-BE49-F238E27FC236}">
                <a16:creationId xmlns:a16="http://schemas.microsoft.com/office/drawing/2014/main" id="{1A70C31D-7A1A-E83A-D502-9A99071AAEF2}"/>
              </a:ext>
            </a:extLst>
          </p:cNvPr>
          <p:cNvSpPr txBox="1">
            <a:spLocks/>
          </p:cNvSpPr>
          <p:nvPr/>
        </p:nvSpPr>
        <p:spPr>
          <a:xfrm>
            <a:off x="7007557" y="3957184"/>
            <a:ext cx="1904999"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dirty="0">
                <a:latin typeface="BIZ UDPゴシック" panose="020B0400000000000000" pitchFamily="50" charset="-128"/>
                <a:ea typeface="BIZ UDPゴシック" panose="020B0400000000000000" pitchFamily="50" charset="-128"/>
              </a:rPr>
              <a:t>結果</a:t>
            </a:r>
          </a:p>
        </p:txBody>
      </p:sp>
      <p:sp>
        <p:nvSpPr>
          <p:cNvPr id="34" name="正方形/長方形 33">
            <a:extLst>
              <a:ext uri="{FF2B5EF4-FFF2-40B4-BE49-F238E27FC236}">
                <a16:creationId xmlns:a16="http://schemas.microsoft.com/office/drawing/2014/main" id="{4CFBD5AB-4B82-3E63-7AF7-453511F4FA47}"/>
              </a:ext>
            </a:extLst>
          </p:cNvPr>
          <p:cNvSpPr/>
          <p:nvPr/>
        </p:nvSpPr>
        <p:spPr>
          <a:xfrm>
            <a:off x="7045506" y="1475528"/>
            <a:ext cx="1838348" cy="2016224"/>
          </a:xfrm>
          <a:prstGeom prst="rect">
            <a:avLst/>
          </a:prstGeom>
          <a:solidFill>
            <a:schemeClr val="accent1">
              <a:lumMod val="60000"/>
              <a:lumOff val="4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3P</a:t>
            </a:r>
          </a:p>
          <a:p>
            <a:pPr algn="ctr"/>
            <a:r>
              <a:rPr lang="ja-JP" altLang="en-US"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（期待通り）</a:t>
            </a:r>
            <a:endParaRPr kumimoji="1" lang="ja-JP" altLang="en-US"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5" name="正方形/長方形 34">
            <a:extLst>
              <a:ext uri="{FF2B5EF4-FFF2-40B4-BE49-F238E27FC236}">
                <a16:creationId xmlns:a16="http://schemas.microsoft.com/office/drawing/2014/main" id="{90E84264-928D-58E6-7DA9-046604EC792B}"/>
              </a:ext>
            </a:extLst>
          </p:cNvPr>
          <p:cNvSpPr/>
          <p:nvPr/>
        </p:nvSpPr>
        <p:spPr>
          <a:xfrm>
            <a:off x="1971086" y="1475528"/>
            <a:ext cx="1838348" cy="2016224"/>
          </a:xfrm>
          <a:prstGeom prst="rect">
            <a:avLst/>
          </a:prstGeom>
          <a:solidFill>
            <a:schemeClr val="accent1">
              <a:lumMod val="20000"/>
              <a:lumOff val="8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G4</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5</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6</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レベル</a:t>
            </a:r>
          </a:p>
        </p:txBody>
      </p:sp>
      <p:sp>
        <p:nvSpPr>
          <p:cNvPr id="36" name="矢印: 上 35">
            <a:extLst>
              <a:ext uri="{FF2B5EF4-FFF2-40B4-BE49-F238E27FC236}">
                <a16:creationId xmlns:a16="http://schemas.microsoft.com/office/drawing/2014/main" id="{4626F232-D44B-4107-C9E7-0B918E4BD43B}"/>
              </a:ext>
            </a:extLst>
          </p:cNvPr>
          <p:cNvSpPr/>
          <p:nvPr/>
        </p:nvSpPr>
        <p:spPr>
          <a:xfrm rot="5400000">
            <a:off x="1251006" y="2303620"/>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7" name="タイトル 2">
            <a:extLst>
              <a:ext uri="{FF2B5EF4-FFF2-40B4-BE49-F238E27FC236}">
                <a16:creationId xmlns:a16="http://schemas.microsoft.com/office/drawing/2014/main" id="{7EF3FF9D-5668-CFED-6E88-8B8B4DB87419}"/>
              </a:ext>
            </a:extLst>
          </p:cNvPr>
          <p:cNvSpPr txBox="1">
            <a:spLocks/>
          </p:cNvSpPr>
          <p:nvPr/>
        </p:nvSpPr>
        <p:spPr>
          <a:xfrm>
            <a:off x="1971086" y="992758"/>
            <a:ext cx="183834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dirty="0">
                <a:latin typeface="BIZ UDPゴシック" panose="020B0400000000000000" pitchFamily="50" charset="-128"/>
                <a:ea typeface="BIZ UDPゴシック" panose="020B0400000000000000" pitchFamily="50" charset="-128"/>
              </a:rPr>
              <a:t>評価</a:t>
            </a:r>
          </a:p>
        </p:txBody>
      </p:sp>
      <p:sp>
        <p:nvSpPr>
          <p:cNvPr id="39" name="矢印: 上 38">
            <a:extLst>
              <a:ext uri="{FF2B5EF4-FFF2-40B4-BE49-F238E27FC236}">
                <a16:creationId xmlns:a16="http://schemas.microsoft.com/office/drawing/2014/main" id="{D2555626-C220-1EF8-0C3D-F7EF058B5FDE}"/>
              </a:ext>
            </a:extLst>
          </p:cNvPr>
          <p:cNvSpPr/>
          <p:nvPr/>
        </p:nvSpPr>
        <p:spPr>
          <a:xfrm rot="5400000">
            <a:off x="3915302" y="2303620"/>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40" name="矢印: 上 39">
            <a:extLst>
              <a:ext uri="{FF2B5EF4-FFF2-40B4-BE49-F238E27FC236}">
                <a16:creationId xmlns:a16="http://schemas.microsoft.com/office/drawing/2014/main" id="{43B69A47-3232-0826-C64C-BA9AB8111936}"/>
              </a:ext>
            </a:extLst>
          </p:cNvPr>
          <p:cNvSpPr/>
          <p:nvPr/>
        </p:nvSpPr>
        <p:spPr>
          <a:xfrm rot="5400000">
            <a:off x="6363574" y="2303620"/>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41" name="タイトル 2">
            <a:extLst>
              <a:ext uri="{FF2B5EF4-FFF2-40B4-BE49-F238E27FC236}">
                <a16:creationId xmlns:a16="http://schemas.microsoft.com/office/drawing/2014/main" id="{53A20687-279C-A718-2E10-0FA5DE784DB0}"/>
              </a:ext>
            </a:extLst>
          </p:cNvPr>
          <p:cNvSpPr txBox="1">
            <a:spLocks/>
          </p:cNvSpPr>
          <p:nvPr/>
        </p:nvSpPr>
        <p:spPr>
          <a:xfrm>
            <a:off x="7007557" y="992758"/>
            <a:ext cx="1904999"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dirty="0">
                <a:latin typeface="BIZ UDPゴシック" panose="020B0400000000000000" pitchFamily="50" charset="-128"/>
                <a:ea typeface="BIZ UDPゴシック" panose="020B0400000000000000" pitchFamily="50" charset="-128"/>
              </a:rPr>
              <a:t>結果</a:t>
            </a:r>
          </a:p>
        </p:txBody>
      </p:sp>
      <p:pic>
        <p:nvPicPr>
          <p:cNvPr id="45" name="図 44">
            <a:extLst>
              <a:ext uri="{FF2B5EF4-FFF2-40B4-BE49-F238E27FC236}">
                <a16:creationId xmlns:a16="http://schemas.microsoft.com/office/drawing/2014/main" id="{C8C48D39-E2D7-FD7E-EAD9-BBE8D08CAE5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99992" y="1570417"/>
            <a:ext cx="1905000" cy="1905000"/>
          </a:xfrm>
          <a:prstGeom prst="rect">
            <a:avLst/>
          </a:prstGeom>
        </p:spPr>
      </p:pic>
    </p:spTree>
    <p:extLst>
      <p:ext uri="{BB962C8B-B14F-4D97-AF65-F5344CB8AC3E}">
        <p14:creationId xmlns:p14="http://schemas.microsoft.com/office/powerpoint/2010/main" val="2541329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8</a:t>
            </a:fld>
            <a:r>
              <a:rPr lang="ja-JP" altLang="en-US" sz="1050" dirty="0">
                <a:latin typeface="+mn-ea"/>
              </a:rPr>
              <a:t>－</a:t>
            </a:r>
          </a:p>
        </p:txBody>
      </p:sp>
      <p:sp>
        <p:nvSpPr>
          <p:cNvPr id="2" name="正方形/長方形 1">
            <a:extLst>
              <a:ext uri="{FF2B5EF4-FFF2-40B4-BE49-F238E27FC236}">
                <a16:creationId xmlns:a16="http://schemas.microsoft.com/office/drawing/2014/main" id="{B6EF3F9F-ED82-21C6-CB50-EAAAD8F39A89}"/>
              </a:ext>
            </a:extLst>
          </p:cNvPr>
          <p:cNvSpPr/>
          <p:nvPr/>
        </p:nvSpPr>
        <p:spPr>
          <a:xfrm>
            <a:off x="755576" y="1772816"/>
            <a:ext cx="7881466" cy="3744416"/>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dirty="0">
                <a:latin typeface="BIZ UDPゴシック" panose="020B0400000000000000" pitchFamily="50" charset="-128"/>
                <a:ea typeface="BIZ UDPゴシック" panose="020B0400000000000000" pitchFamily="50" charset="-128"/>
              </a:rPr>
              <a:t>（以下、参考資料）</a:t>
            </a:r>
            <a:endParaRPr lang="en-US" altLang="ja-JP" sz="36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916159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9</a:t>
            </a:fld>
            <a:r>
              <a:rPr lang="ja-JP" altLang="en-US" sz="1050" dirty="0">
                <a:latin typeface="+mn-ea"/>
              </a:rPr>
              <a:t>－</a:t>
            </a:r>
          </a:p>
        </p:txBody>
      </p:sp>
      <p:sp>
        <p:nvSpPr>
          <p:cNvPr id="2" name="正方形/長方形 1">
            <a:extLst>
              <a:ext uri="{FF2B5EF4-FFF2-40B4-BE49-F238E27FC236}">
                <a16:creationId xmlns:a16="http://schemas.microsoft.com/office/drawing/2014/main" id="{B6EF3F9F-ED82-21C6-CB50-EAAAD8F39A89}"/>
              </a:ext>
            </a:extLst>
          </p:cNvPr>
          <p:cNvSpPr/>
          <p:nvPr/>
        </p:nvSpPr>
        <p:spPr>
          <a:xfrm>
            <a:off x="574423" y="1772816"/>
            <a:ext cx="7881466" cy="1368152"/>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dirty="0">
                <a:latin typeface="BIZ UDPゴシック" panose="020B0400000000000000" pitchFamily="50" charset="-128"/>
                <a:ea typeface="BIZ UDPゴシック" panose="020B0400000000000000" pitchFamily="50" charset="-128"/>
              </a:rPr>
              <a:t>総合職についての説明</a:t>
            </a:r>
            <a:endParaRPr lang="en-US" altLang="ja-JP" sz="3600" dirty="0">
              <a:latin typeface="BIZ UDPゴシック" panose="020B0400000000000000" pitchFamily="50" charset="-128"/>
              <a:ea typeface="BIZ UDPゴシック" panose="020B0400000000000000" pitchFamily="50" charset="-128"/>
            </a:endParaRPr>
          </a:p>
        </p:txBody>
      </p:sp>
      <p:sp>
        <p:nvSpPr>
          <p:cNvPr id="5" name="タイトル 2">
            <a:extLst>
              <a:ext uri="{FF2B5EF4-FFF2-40B4-BE49-F238E27FC236}">
                <a16:creationId xmlns:a16="http://schemas.microsoft.com/office/drawing/2014/main" id="{A2D3AB5E-7841-044A-427D-C492B71FB105}"/>
              </a:ext>
            </a:extLst>
          </p:cNvPr>
          <p:cNvSpPr txBox="1">
            <a:spLocks/>
          </p:cNvSpPr>
          <p:nvPr/>
        </p:nvSpPr>
        <p:spPr>
          <a:xfrm>
            <a:off x="611560" y="3831808"/>
            <a:ext cx="7881466" cy="1728192"/>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marL="285750" indent="-285750">
              <a:lnSpc>
                <a:spcPct val="200000"/>
              </a:lnSpc>
              <a:buFont typeface="Arial" panose="020B0604020202020204" pitchFamily="34" charset="0"/>
              <a:buChar char="•"/>
            </a:pPr>
            <a:r>
              <a:rPr lang="ja-JP" altLang="en-US" sz="2000" dirty="0">
                <a:latin typeface="BIZ UDPゴシック" panose="020B0400000000000000" pitchFamily="50" charset="-128"/>
                <a:ea typeface="BIZ UDPゴシック" panose="020B0400000000000000" pitchFamily="50" charset="-128"/>
              </a:rPr>
              <a:t>総合職の定義　（現制度との比較表）</a:t>
            </a:r>
            <a:endParaRPr lang="en-US" altLang="ja-JP" sz="2000" dirty="0">
              <a:latin typeface="BIZ UDPゴシック" panose="020B0400000000000000" pitchFamily="50" charset="-128"/>
              <a:ea typeface="BIZ UDPゴシック" panose="020B0400000000000000" pitchFamily="50" charset="-128"/>
            </a:endParaRPr>
          </a:p>
          <a:p>
            <a:pPr marL="285750" indent="-285750">
              <a:lnSpc>
                <a:spcPct val="200000"/>
              </a:lnSpc>
              <a:buFont typeface="Arial" panose="020B0604020202020204" pitchFamily="34" charset="0"/>
              <a:buChar char="•"/>
            </a:pPr>
            <a:r>
              <a:rPr lang="ja-JP" altLang="en-US" sz="2000" dirty="0">
                <a:latin typeface="BIZ UDPゴシック" panose="020B0400000000000000" pitchFamily="50" charset="-128"/>
                <a:ea typeface="BIZ UDPゴシック" panose="020B0400000000000000" pitchFamily="50" charset="-128"/>
              </a:rPr>
              <a:t>総合職　賃金テーブルの一例について</a:t>
            </a:r>
            <a:endParaRPr lang="en-US" altLang="ja-JP" sz="2000" dirty="0">
              <a:latin typeface="BIZ UDPゴシック" panose="020B0400000000000000" pitchFamily="50" charset="-128"/>
              <a:ea typeface="BIZ UDPゴシック" panose="020B0400000000000000" pitchFamily="50" charset="-128"/>
            </a:endParaRPr>
          </a:p>
          <a:p>
            <a:pPr marL="285750" indent="-285750">
              <a:lnSpc>
                <a:spcPct val="200000"/>
              </a:lnSpc>
              <a:buFont typeface="Arial" panose="020B0604020202020204" pitchFamily="34" charset="0"/>
              <a:buChar char="•"/>
            </a:pPr>
            <a:r>
              <a:rPr lang="ja-JP" altLang="en-US" sz="2000" dirty="0">
                <a:latin typeface="BIZ UDPゴシック" panose="020B0400000000000000" pitchFamily="50" charset="-128"/>
                <a:ea typeface="BIZ UDPゴシック" panose="020B0400000000000000" pitchFamily="50" charset="-128"/>
              </a:rPr>
              <a:t>成果評価について</a:t>
            </a:r>
            <a:endParaRPr lang="en-US" altLang="ja-JP" sz="2000" dirty="0">
              <a:latin typeface="BIZ UDPゴシック" panose="020B0400000000000000" pitchFamily="50" charset="-128"/>
              <a:ea typeface="BIZ UDPゴシック" panose="020B0400000000000000" pitchFamily="50" charset="-128"/>
            </a:endParaRPr>
          </a:p>
          <a:p>
            <a:pPr marL="285750" indent="-285750">
              <a:lnSpc>
                <a:spcPct val="200000"/>
              </a:lnSpc>
              <a:buFont typeface="Arial" panose="020B0604020202020204" pitchFamily="34" charset="0"/>
              <a:buChar char="•"/>
            </a:pPr>
            <a:r>
              <a:rPr lang="ja-JP" altLang="en-US" sz="2000" dirty="0">
                <a:latin typeface="BIZ UDPゴシック" panose="020B0400000000000000" pitchFamily="50" charset="-128"/>
                <a:ea typeface="BIZ UDPゴシック" panose="020B0400000000000000" pitchFamily="50" charset="-128"/>
              </a:rPr>
              <a:t>行動評価について</a:t>
            </a:r>
            <a:endParaRPr lang="en-US" altLang="ja-JP" sz="2000" dirty="0">
              <a:latin typeface="BIZ UDPゴシック" panose="020B0400000000000000" pitchFamily="50" charset="-128"/>
              <a:ea typeface="BIZ UDPゴシック" panose="020B0400000000000000" pitchFamily="50" charset="-128"/>
            </a:endParaRPr>
          </a:p>
          <a:p>
            <a:pPr marL="285750" indent="-285750">
              <a:lnSpc>
                <a:spcPct val="200000"/>
              </a:lnSpc>
              <a:buFont typeface="Arial" panose="020B0604020202020204" pitchFamily="34" charset="0"/>
              <a:buChar char="•"/>
            </a:pPr>
            <a:r>
              <a:rPr lang="ja-JP" altLang="en-US" sz="2000" dirty="0">
                <a:latin typeface="BIZ UDPゴシック" panose="020B0400000000000000" pitchFamily="50" charset="-128"/>
                <a:ea typeface="BIZ UDPゴシック" panose="020B0400000000000000" pitchFamily="50" charset="-128"/>
              </a:rPr>
              <a:t>総合評語について</a:t>
            </a:r>
            <a:endParaRPr lang="en-US" altLang="ja-JP" sz="20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37213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10</a:t>
            </a:fld>
            <a:r>
              <a:rPr lang="ja-JP" altLang="en-US" sz="1050" dirty="0">
                <a:latin typeface="+mn-ea"/>
              </a:rPr>
              <a:t>－</a:t>
            </a:r>
          </a:p>
        </p:txBody>
      </p:sp>
      <p:sp>
        <p:nvSpPr>
          <p:cNvPr id="12" name="タイトル 2"/>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総合職の定義　（新旧比較表）</a:t>
            </a:r>
          </a:p>
        </p:txBody>
      </p:sp>
      <p:sp>
        <p:nvSpPr>
          <p:cNvPr id="3" name="タイトル 2">
            <a:extLst>
              <a:ext uri="{FF2B5EF4-FFF2-40B4-BE49-F238E27FC236}">
                <a16:creationId xmlns:a16="http://schemas.microsoft.com/office/drawing/2014/main" id="{91CC7A2B-6243-2B17-5F63-4C0B4112BE6F}"/>
              </a:ext>
            </a:extLst>
          </p:cNvPr>
          <p:cNvSpPr txBox="1">
            <a:spLocks/>
          </p:cNvSpPr>
          <p:nvPr/>
        </p:nvSpPr>
        <p:spPr>
          <a:xfrm>
            <a:off x="271772" y="677901"/>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100" dirty="0">
                <a:solidFill>
                  <a:srgbClr val="FF0000"/>
                </a:solidFill>
                <a:latin typeface="BIZ UDPゴシック" panose="020B0400000000000000" pitchFamily="50" charset="-128"/>
                <a:ea typeface="BIZ UDPゴシック" panose="020B0400000000000000" pitchFamily="50" charset="-128"/>
              </a:rPr>
              <a:t>赤字が変更箇所</a:t>
            </a:r>
          </a:p>
        </p:txBody>
      </p:sp>
      <p:graphicFrame>
        <p:nvGraphicFramePr>
          <p:cNvPr id="5" name="表 4">
            <a:extLst>
              <a:ext uri="{FF2B5EF4-FFF2-40B4-BE49-F238E27FC236}">
                <a16:creationId xmlns:a16="http://schemas.microsoft.com/office/drawing/2014/main" id="{84F981DF-4268-AE63-4612-8C1D1A27B584}"/>
              </a:ext>
            </a:extLst>
          </p:cNvPr>
          <p:cNvGraphicFramePr>
            <a:graphicFrameLocks noGrp="1"/>
          </p:cNvGraphicFramePr>
          <p:nvPr>
            <p:extLst>
              <p:ext uri="{D42A27DB-BD31-4B8C-83A1-F6EECF244321}">
                <p14:modId xmlns:p14="http://schemas.microsoft.com/office/powerpoint/2010/main" val="1484994793"/>
              </p:ext>
            </p:extLst>
          </p:nvPr>
        </p:nvGraphicFramePr>
        <p:xfrm>
          <a:off x="107504" y="1072088"/>
          <a:ext cx="8928991" cy="5625315"/>
        </p:xfrm>
        <a:graphic>
          <a:graphicData uri="http://schemas.openxmlformats.org/drawingml/2006/table">
            <a:tbl>
              <a:tblPr firstRow="1" bandRow="1">
                <a:tableStyleId>{5C22544A-7EE6-4342-B048-85BDC9FD1C3A}</a:tableStyleId>
              </a:tblPr>
              <a:tblGrid>
                <a:gridCol w="1172104">
                  <a:extLst>
                    <a:ext uri="{9D8B030D-6E8A-4147-A177-3AD203B41FA5}">
                      <a16:colId xmlns:a16="http://schemas.microsoft.com/office/drawing/2014/main" val="512372472"/>
                    </a:ext>
                  </a:extLst>
                </a:gridCol>
                <a:gridCol w="3796448">
                  <a:extLst>
                    <a:ext uri="{9D8B030D-6E8A-4147-A177-3AD203B41FA5}">
                      <a16:colId xmlns:a16="http://schemas.microsoft.com/office/drawing/2014/main" val="1848559048"/>
                    </a:ext>
                  </a:extLst>
                </a:gridCol>
                <a:gridCol w="3960439">
                  <a:extLst>
                    <a:ext uri="{9D8B030D-6E8A-4147-A177-3AD203B41FA5}">
                      <a16:colId xmlns:a16="http://schemas.microsoft.com/office/drawing/2014/main" val="2374557689"/>
                    </a:ext>
                  </a:extLst>
                </a:gridCol>
              </a:tblGrid>
              <a:tr h="293096">
                <a:tc>
                  <a:txBody>
                    <a:bodyPr/>
                    <a:lstStyle/>
                    <a:p>
                      <a:pPr algn="ctr"/>
                      <a:r>
                        <a:rPr kumimoji="1" lang="ja-JP" altLang="en-US" sz="1200" dirty="0">
                          <a:solidFill>
                            <a:schemeClr val="tx1"/>
                          </a:solidFill>
                          <a:latin typeface="BIZ UDPゴシック" panose="020B0400000000000000" pitchFamily="50" charset="-128"/>
                          <a:ea typeface="BIZ UDPゴシック" panose="020B0400000000000000" pitchFamily="50" charset="-128"/>
                        </a:rPr>
                        <a:t>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ja-JP" altLang="en-US" sz="1200" dirty="0">
                          <a:solidFill>
                            <a:schemeClr val="tx1"/>
                          </a:solidFill>
                          <a:latin typeface="BIZ UDPゴシック" panose="020B0400000000000000" pitchFamily="50" charset="-128"/>
                          <a:ea typeface="BIZ UDPゴシック" panose="020B0400000000000000" pitchFamily="50" charset="-128"/>
                        </a:rPr>
                        <a:t>総合職　旧制度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ja-JP" altLang="en-US" sz="1200" dirty="0">
                          <a:solidFill>
                            <a:schemeClr val="tx1"/>
                          </a:solidFill>
                          <a:latin typeface="BIZ UDPゴシック" panose="020B0400000000000000" pitchFamily="50" charset="-128"/>
                          <a:ea typeface="BIZ UDPゴシック" panose="020B0400000000000000" pitchFamily="50" charset="-128"/>
                        </a:rPr>
                        <a:t>総合職　　現行制度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442345474"/>
                  </a:ext>
                </a:extLst>
              </a:tr>
              <a:tr h="610618">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①特徴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lang="ja-JP" altLang="en-US" sz="1050" dirty="0">
                          <a:solidFill>
                            <a:srgbClr val="222222"/>
                          </a:solidFill>
                          <a:latin typeface="BIZ UDPゴシック" panose="020B0400000000000000" pitchFamily="50" charset="-128"/>
                          <a:ea typeface="BIZ UDPゴシック" panose="020B0400000000000000" pitchFamily="50" charset="-128"/>
                        </a:rPr>
                        <a:t>・総合職を育成・評価する制度。</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・格付と役職（職位）を一致させず、一定以上の格付対象者へ、広く昇格・昇進の機会を与える。　</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95000"/>
                      </a:schemeClr>
                    </a:solidFill>
                  </a:tcPr>
                </a:tc>
                <a:tc>
                  <a:txBody>
                    <a:bodyPr/>
                    <a:lstStyle/>
                    <a:p>
                      <a:pPr algn="l"/>
                      <a:r>
                        <a:rPr lang="ja-JP" altLang="en-US" sz="1050" dirty="0">
                          <a:solidFill>
                            <a:srgbClr val="222222"/>
                          </a:solidFill>
                          <a:latin typeface="BIZ UDPゴシック" panose="020B0400000000000000" pitchFamily="50" charset="-128"/>
                          <a:ea typeface="BIZ UDPゴシック" panose="020B0400000000000000" pitchFamily="50" charset="-128"/>
                        </a:rPr>
                        <a:t>・総合職を育成・評価する制度。</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・格付と役職（職位）を一致させず、一定以上の格付対象者へ、広く昇格・昇進の機会を与える。　</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79205789"/>
                  </a:ext>
                </a:extLst>
              </a:tr>
              <a:tr h="293096">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②格付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en-US" altLang="ja-JP" sz="1050" dirty="0">
                          <a:solidFill>
                            <a:schemeClr val="tx1"/>
                          </a:solidFill>
                          <a:latin typeface="BIZ UDPゴシック" panose="020B0400000000000000" pitchFamily="50" charset="-128"/>
                          <a:ea typeface="BIZ UDPゴシック" panose="020B0400000000000000" pitchFamily="50" charset="-128"/>
                        </a:rPr>
                        <a:t>11</a:t>
                      </a:r>
                      <a:r>
                        <a:rPr kumimoji="1" lang="ja-JP" altLang="en-US" sz="1050" dirty="0">
                          <a:solidFill>
                            <a:schemeClr val="tx1"/>
                          </a:solidFill>
                          <a:latin typeface="BIZ UDPゴシック" panose="020B0400000000000000" pitchFamily="50" charset="-128"/>
                          <a:ea typeface="BIZ UDPゴシック" panose="020B0400000000000000" pitchFamily="50" charset="-128"/>
                        </a:rPr>
                        <a:t>　段階</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95000"/>
                      </a:schemeClr>
                    </a:solidFill>
                  </a:tcPr>
                </a:tc>
                <a:tc>
                  <a:txBody>
                    <a:bodyPr/>
                    <a:lstStyle/>
                    <a:p>
                      <a:pPr algn="l"/>
                      <a:r>
                        <a:rPr kumimoji="1" lang="en-US" altLang="ja-JP" sz="1050" dirty="0">
                          <a:solidFill>
                            <a:schemeClr val="tx1"/>
                          </a:solidFill>
                          <a:latin typeface="BIZ UDPゴシック" panose="020B0400000000000000" pitchFamily="50" charset="-128"/>
                          <a:ea typeface="BIZ UDPゴシック" panose="020B0400000000000000" pitchFamily="50" charset="-128"/>
                        </a:rPr>
                        <a:t>11</a:t>
                      </a:r>
                      <a:r>
                        <a:rPr kumimoji="1" lang="ja-JP" altLang="en-US" sz="1050" dirty="0">
                          <a:solidFill>
                            <a:schemeClr val="tx1"/>
                          </a:solidFill>
                          <a:latin typeface="BIZ UDPゴシック" panose="020B0400000000000000" pitchFamily="50" charset="-128"/>
                          <a:ea typeface="BIZ UDPゴシック" panose="020B0400000000000000" pitchFamily="50" charset="-128"/>
                        </a:rPr>
                        <a:t>　段階</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986651"/>
                  </a:ext>
                </a:extLst>
              </a:tr>
              <a:tr h="2589019">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③昇降格 条件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lang="ja-JP" altLang="en-US" sz="1050" dirty="0">
                          <a:solidFill>
                            <a:schemeClr val="tx1"/>
                          </a:solidFill>
                          <a:latin typeface="BIZ UDPゴシック" panose="020B0400000000000000" pitchFamily="50" charset="-128"/>
                          <a:ea typeface="BIZ UDPゴシック" panose="020B0400000000000000" pitchFamily="50" charset="-128"/>
                        </a:rPr>
                        <a:t>直近</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年の</a:t>
                      </a:r>
                      <a:r>
                        <a:rPr lang="en-US" altLang="ja-JP" sz="1050" dirty="0">
                          <a:solidFill>
                            <a:schemeClr val="tx1"/>
                          </a:solidFill>
                          <a:latin typeface="BIZ UDPゴシック" panose="020B0400000000000000" pitchFamily="50" charset="-128"/>
                          <a:ea typeface="BIZ UDPゴシック" panose="020B0400000000000000" pitchFamily="50" charset="-128"/>
                        </a:rPr>
                        <a:t>4</a:t>
                      </a:r>
                      <a:r>
                        <a:rPr lang="ja-JP" altLang="en-US" sz="1050" dirty="0">
                          <a:solidFill>
                            <a:schemeClr val="tx1"/>
                          </a:solidFill>
                          <a:latin typeface="BIZ UDPゴシック" panose="020B0400000000000000" pitchFamily="50" charset="-128"/>
                          <a:ea typeface="BIZ UDPゴシック" panose="020B0400000000000000" pitchFamily="50" charset="-128"/>
                        </a:rPr>
                        <a:t>回のジョブ評価のおいて、</a:t>
                      </a:r>
                      <a:r>
                        <a:rPr lang="en-US" altLang="ja-JP" sz="1050" dirty="0">
                          <a:solidFill>
                            <a:schemeClr val="tx1"/>
                          </a:solidFill>
                          <a:latin typeface="BIZ UDPゴシック" panose="020B0400000000000000" pitchFamily="50" charset="-128"/>
                          <a:ea typeface="BIZ UDPゴシック" panose="020B0400000000000000" pitchFamily="50" charset="-128"/>
                        </a:rPr>
                        <a:t>15</a:t>
                      </a:r>
                      <a:r>
                        <a:rPr lang="ja-JP" altLang="en-US" sz="1050" dirty="0">
                          <a:solidFill>
                            <a:schemeClr val="tx1"/>
                          </a:solidFill>
                          <a:latin typeface="BIZ UDPゴシック" panose="020B0400000000000000" pitchFamily="50" charset="-128"/>
                          <a:ea typeface="BIZ UDPゴシック" panose="020B0400000000000000" pitchFamily="50" charset="-128"/>
                        </a:rPr>
                        <a:t>点以上（</a:t>
                      </a:r>
                      <a:r>
                        <a:rPr lang="en-US" altLang="ja-JP" sz="1050" dirty="0">
                          <a:solidFill>
                            <a:schemeClr val="tx1"/>
                          </a:solidFill>
                          <a:latin typeface="BIZ UDPゴシック" panose="020B0400000000000000" pitchFamily="50" charset="-128"/>
                          <a:ea typeface="BIZ UDPゴシック" panose="020B0400000000000000" pitchFamily="50" charset="-128"/>
                        </a:rPr>
                        <a:t>S</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5</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A</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4</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B</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3</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C</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点、Ｄ：</a:t>
                      </a:r>
                      <a:r>
                        <a:rPr lang="en-US" altLang="ja-JP" sz="1050" dirty="0">
                          <a:solidFill>
                            <a:schemeClr val="tx1"/>
                          </a:solidFill>
                          <a:latin typeface="BIZ UDPゴシック" panose="020B0400000000000000" pitchFamily="50" charset="-128"/>
                          <a:ea typeface="BIZ UDPゴシック" panose="020B0400000000000000" pitchFamily="50" charset="-128"/>
                        </a:rPr>
                        <a:t>1</a:t>
                      </a:r>
                      <a:r>
                        <a:rPr lang="ja-JP" altLang="en-US" sz="1050" dirty="0">
                          <a:solidFill>
                            <a:schemeClr val="tx1"/>
                          </a:solidFill>
                          <a:latin typeface="BIZ UDPゴシック" panose="020B0400000000000000" pitchFamily="50" charset="-128"/>
                          <a:ea typeface="BIZ UDPゴシック" panose="020B0400000000000000" pitchFamily="50" charset="-128"/>
                        </a:rPr>
                        <a:t>点）を満たした者を対象として、</a:t>
                      </a:r>
                      <a:r>
                        <a:rPr lang="ja-JP" altLang="en-US" sz="1050" dirty="0">
                          <a:solidFill>
                            <a:srgbClr val="FF0000"/>
                          </a:solidFill>
                          <a:latin typeface="BIZ UDPゴシック" panose="020B0400000000000000" pitchFamily="50" charset="-128"/>
                          <a:ea typeface="BIZ UDPゴシック" panose="020B0400000000000000" pitchFamily="50" charset="-128"/>
                        </a:rPr>
                        <a:t>一次試験（ペーパー試験）を実施する。ペーパー試験合格者は、二次試験として経営層と面接を行い、最終的に昇格を決定する。</a:t>
                      </a:r>
                      <a:r>
                        <a:rPr lang="ja-JP" altLang="en-US" sz="1050" dirty="0">
                          <a:solidFill>
                            <a:schemeClr val="tx1"/>
                          </a:solidFill>
                          <a:latin typeface="BIZ UDPゴシック" panose="020B0400000000000000" pitchFamily="50" charset="-128"/>
                          <a:ea typeface="BIZ UDPゴシック" panose="020B0400000000000000" pitchFamily="50" charset="-128"/>
                        </a:rPr>
                        <a:t>会社が特に認めた場合、</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段階以上の昇格もあり得る。</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lang="en-US" altLang="ja-JP" sz="90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050" dirty="0">
                          <a:solidFill>
                            <a:schemeClr val="tx1"/>
                          </a:solidFill>
                          <a:latin typeface="BIZ UDPゴシック" panose="020B0400000000000000" pitchFamily="50" charset="-128"/>
                          <a:ea typeface="BIZ UDPゴシック" panose="020B0400000000000000" pitchFamily="50" charset="-128"/>
                        </a:rPr>
                        <a:t>昇格試験は、年</a:t>
                      </a:r>
                      <a:r>
                        <a:rPr lang="en-US" altLang="ja-JP" sz="1050" dirty="0">
                          <a:solidFill>
                            <a:schemeClr val="tx1"/>
                          </a:solidFill>
                          <a:latin typeface="BIZ UDPゴシック" panose="020B0400000000000000" pitchFamily="50" charset="-128"/>
                          <a:ea typeface="BIZ UDPゴシック" panose="020B0400000000000000" pitchFamily="50" charset="-128"/>
                        </a:rPr>
                        <a:t>1</a:t>
                      </a:r>
                      <a:r>
                        <a:rPr lang="ja-JP" altLang="en-US" sz="1050" dirty="0">
                          <a:solidFill>
                            <a:schemeClr val="tx1"/>
                          </a:solidFill>
                          <a:latin typeface="BIZ UDPゴシック" panose="020B0400000000000000" pitchFamily="50" charset="-128"/>
                          <a:ea typeface="BIZ UDPゴシック" panose="020B0400000000000000" pitchFamily="50" charset="-128"/>
                        </a:rPr>
                        <a:t>回とする。試験の時期は年度末とし、年度により格付けを定める。</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lang="en-US" altLang="ja-JP" sz="90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050" dirty="0">
                          <a:solidFill>
                            <a:schemeClr val="tx1"/>
                          </a:solidFill>
                          <a:latin typeface="BIZ UDPゴシック" panose="020B0400000000000000" pitchFamily="50" charset="-128"/>
                          <a:ea typeface="BIZ UDPゴシック" panose="020B0400000000000000" pitchFamily="50" charset="-128"/>
                        </a:rPr>
                        <a:t>昇格試験では、格付グループに応じて、問題解決能力や事業構想能力を問う。</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lang="en-US" altLang="ja-JP" sz="900"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降格は、直近</a:t>
                      </a:r>
                      <a:r>
                        <a:rPr kumimoji="1" lang="en-US" altLang="ja-JP" sz="1050" dirty="0">
                          <a:solidFill>
                            <a:schemeClr val="tx1"/>
                          </a:solidFill>
                          <a:latin typeface="BIZ UDPゴシック" panose="020B0400000000000000" pitchFamily="50" charset="-128"/>
                          <a:ea typeface="BIZ UDPゴシック" panose="020B0400000000000000" pitchFamily="50" charset="-128"/>
                        </a:rPr>
                        <a:t>4</a:t>
                      </a:r>
                      <a:r>
                        <a:rPr kumimoji="1" lang="ja-JP" altLang="en-US" sz="1050" dirty="0">
                          <a:solidFill>
                            <a:schemeClr val="tx1"/>
                          </a:solidFill>
                          <a:latin typeface="BIZ UDPゴシック" panose="020B0400000000000000" pitchFamily="50" charset="-128"/>
                          <a:ea typeface="BIZ UDPゴシック" panose="020B0400000000000000" pitchFamily="50" charset="-128"/>
                        </a:rPr>
                        <a:t>回の評価において、</a:t>
                      </a:r>
                      <a:r>
                        <a:rPr kumimoji="1" lang="en-US" altLang="ja-JP" sz="1050" dirty="0">
                          <a:solidFill>
                            <a:schemeClr val="tx1"/>
                          </a:solidFill>
                          <a:latin typeface="BIZ UDPゴシック" panose="020B0400000000000000" pitchFamily="50" charset="-128"/>
                          <a:ea typeface="BIZ UDPゴシック" panose="020B0400000000000000" pitchFamily="50" charset="-128"/>
                        </a:rPr>
                        <a:t>9</a:t>
                      </a:r>
                      <a:r>
                        <a:rPr lang="ja-JP" altLang="en-US" sz="1050" dirty="0">
                          <a:solidFill>
                            <a:schemeClr val="tx1"/>
                          </a:solidFill>
                          <a:latin typeface="BIZ UDPゴシック" panose="020B0400000000000000" pitchFamily="50" charset="-128"/>
                          <a:ea typeface="BIZ UDPゴシック" panose="020B0400000000000000" pitchFamily="50" charset="-128"/>
                        </a:rPr>
                        <a:t>点以下で</a:t>
                      </a:r>
                      <a:r>
                        <a:rPr kumimoji="1" lang="ja-JP" altLang="en-US" sz="1050" dirty="0">
                          <a:solidFill>
                            <a:schemeClr val="tx1"/>
                          </a:solidFill>
                          <a:latin typeface="BIZ UDPゴシック" panose="020B0400000000000000" pitchFamily="50" charset="-128"/>
                          <a:ea typeface="BIZ UDPゴシック" panose="020B0400000000000000" pitchFamily="50" charset="-128"/>
                        </a:rPr>
                        <a:t>あれば降格対象とする。実際の降格是非は総合考課により決定する。</a:t>
                      </a:r>
                      <a:r>
                        <a:rPr kumimoji="1" lang="en-US" altLang="ja-JP" sz="1050" dirty="0">
                          <a:solidFill>
                            <a:schemeClr val="tx1"/>
                          </a:solidFill>
                          <a:latin typeface="BIZ UDPゴシック" panose="020B0400000000000000" pitchFamily="50" charset="-128"/>
                          <a:ea typeface="BIZ UDPゴシック" panose="020B0400000000000000" pitchFamily="50" charset="-128"/>
                        </a:rPr>
                        <a:t>2</a:t>
                      </a:r>
                      <a:r>
                        <a:rPr kumimoji="1" lang="ja-JP" altLang="en-US" sz="1050" dirty="0">
                          <a:solidFill>
                            <a:schemeClr val="tx1"/>
                          </a:solidFill>
                          <a:latin typeface="BIZ UDPゴシック" panose="020B0400000000000000" pitchFamily="50" charset="-128"/>
                          <a:ea typeface="BIZ UDPゴシック" panose="020B0400000000000000" pitchFamily="50" charset="-128"/>
                        </a:rPr>
                        <a:t>段階以上の降格もあり得る。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95000"/>
                      </a:schemeClr>
                    </a:solidFill>
                  </a:tcPr>
                </a:tc>
                <a:tc>
                  <a:txBody>
                    <a:bodyPr/>
                    <a:lstStyle/>
                    <a:p>
                      <a:pPr marL="0" marR="0" lvl="0" indent="0" algn="l" defTabSz="914325"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BIZ UDPゴシック" panose="020B0400000000000000" pitchFamily="50" charset="-128"/>
                          <a:ea typeface="BIZ UDPゴシック" panose="020B0400000000000000" pitchFamily="50" charset="-128"/>
                        </a:rPr>
                        <a:t>直近</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年間の</a:t>
                      </a:r>
                      <a:r>
                        <a:rPr lang="en-US" altLang="ja-JP" sz="1050" dirty="0">
                          <a:solidFill>
                            <a:schemeClr val="tx1"/>
                          </a:solidFill>
                          <a:latin typeface="BIZ UDPゴシック" panose="020B0400000000000000" pitchFamily="50" charset="-128"/>
                          <a:ea typeface="BIZ UDPゴシック" panose="020B0400000000000000" pitchFamily="50" charset="-128"/>
                        </a:rPr>
                        <a:t>4</a:t>
                      </a:r>
                      <a:r>
                        <a:rPr lang="ja-JP" altLang="en-US" sz="1050" dirty="0">
                          <a:solidFill>
                            <a:schemeClr val="tx1"/>
                          </a:solidFill>
                          <a:latin typeface="BIZ UDPゴシック" panose="020B0400000000000000" pitchFamily="50" charset="-128"/>
                          <a:ea typeface="BIZ UDPゴシック" panose="020B0400000000000000" pitchFamily="50" charset="-128"/>
                        </a:rPr>
                        <a:t>回のジョブ評価で、</a:t>
                      </a:r>
                      <a:r>
                        <a:rPr lang="en-US" altLang="ja-JP" sz="1050" dirty="0">
                          <a:solidFill>
                            <a:schemeClr val="tx1"/>
                          </a:solidFill>
                          <a:latin typeface="BIZ UDPゴシック" panose="020B0400000000000000" pitchFamily="50" charset="-128"/>
                          <a:ea typeface="BIZ UDPゴシック" panose="020B0400000000000000" pitchFamily="50" charset="-128"/>
                        </a:rPr>
                        <a:t>15</a:t>
                      </a:r>
                      <a:r>
                        <a:rPr lang="ja-JP" altLang="en-US" sz="1050" dirty="0">
                          <a:solidFill>
                            <a:schemeClr val="tx1"/>
                          </a:solidFill>
                          <a:latin typeface="BIZ UDPゴシック" panose="020B0400000000000000" pitchFamily="50" charset="-128"/>
                          <a:ea typeface="BIZ UDPゴシック" panose="020B0400000000000000" pitchFamily="50" charset="-128"/>
                        </a:rPr>
                        <a:t>点以上（</a:t>
                      </a:r>
                      <a:r>
                        <a:rPr lang="en-US" altLang="ja-JP" sz="1050" dirty="0">
                          <a:solidFill>
                            <a:schemeClr val="tx1"/>
                          </a:solidFill>
                          <a:latin typeface="BIZ UDPゴシック" panose="020B0400000000000000" pitchFamily="50" charset="-128"/>
                          <a:ea typeface="BIZ UDPゴシック" panose="020B0400000000000000" pitchFamily="50" charset="-128"/>
                        </a:rPr>
                        <a:t>S</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5</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A</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4</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B</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3</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C</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D</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1</a:t>
                      </a:r>
                      <a:r>
                        <a:rPr lang="ja-JP" altLang="en-US" sz="1050" dirty="0">
                          <a:solidFill>
                            <a:schemeClr val="tx1"/>
                          </a:solidFill>
                          <a:latin typeface="BIZ UDPゴシック" panose="020B0400000000000000" pitchFamily="50" charset="-128"/>
                          <a:ea typeface="BIZ UDPゴシック" panose="020B0400000000000000" pitchFamily="50" charset="-128"/>
                        </a:rPr>
                        <a:t>点）を得た人を対象に、</a:t>
                      </a:r>
                      <a:r>
                        <a:rPr lang="ja-JP" altLang="en-US" sz="1050" dirty="0">
                          <a:solidFill>
                            <a:srgbClr val="FF0000"/>
                          </a:solidFill>
                          <a:latin typeface="BIZ UDPゴシック" panose="020B0400000000000000" pitchFamily="50" charset="-128"/>
                          <a:ea typeface="BIZ UDPゴシック" panose="020B0400000000000000" pitchFamily="50" charset="-128"/>
                        </a:rPr>
                        <a:t>一次試験（ペーパー試験）と二次試験（経営層との面接）を実施し、最終的に昇格を決定する。ただし、連続して</a:t>
                      </a:r>
                      <a:r>
                        <a:rPr lang="en-US" altLang="ja-JP" sz="1050" dirty="0">
                          <a:solidFill>
                            <a:srgbClr val="FF0000"/>
                          </a:solidFill>
                          <a:latin typeface="BIZ UDPゴシック" panose="020B0400000000000000" pitchFamily="50" charset="-128"/>
                          <a:ea typeface="BIZ UDPゴシック" panose="020B0400000000000000" pitchFamily="50" charset="-128"/>
                        </a:rPr>
                        <a:t>S</a:t>
                      </a:r>
                      <a:r>
                        <a:rPr lang="ja-JP" altLang="en-US" sz="1050" dirty="0">
                          <a:solidFill>
                            <a:srgbClr val="FF0000"/>
                          </a:solidFill>
                          <a:latin typeface="BIZ UDPゴシック" panose="020B0400000000000000" pitchFamily="50" charset="-128"/>
                          <a:ea typeface="BIZ UDPゴシック" panose="020B0400000000000000" pitchFamily="50" charset="-128"/>
                        </a:rPr>
                        <a:t>評価を</a:t>
                      </a:r>
                      <a:r>
                        <a:rPr lang="en-US" altLang="ja-JP" sz="1050" dirty="0">
                          <a:solidFill>
                            <a:srgbClr val="FF0000"/>
                          </a:solidFill>
                          <a:latin typeface="BIZ UDPゴシック" panose="020B0400000000000000" pitchFamily="50" charset="-128"/>
                          <a:ea typeface="BIZ UDPゴシック" panose="020B0400000000000000" pitchFamily="50" charset="-128"/>
                        </a:rPr>
                        <a:t>2</a:t>
                      </a:r>
                      <a:r>
                        <a:rPr lang="ja-JP" altLang="en-US" sz="1050" dirty="0">
                          <a:solidFill>
                            <a:srgbClr val="FF0000"/>
                          </a:solidFill>
                          <a:latin typeface="BIZ UDPゴシック" panose="020B0400000000000000" pitchFamily="50" charset="-128"/>
                          <a:ea typeface="BIZ UDPゴシック" panose="020B0400000000000000" pitchFamily="50" charset="-128"/>
                        </a:rPr>
                        <a:t>回獲得するなど、特に優秀な成績を収めた人は、上記の基準に関わらず、昇格試験の対象者として推薦されることがある</a:t>
                      </a:r>
                      <a:r>
                        <a:rPr lang="ja-JP" altLang="en-US" sz="1050" dirty="0">
                          <a:solidFill>
                            <a:schemeClr val="tx1"/>
                          </a:solidFill>
                          <a:latin typeface="BIZ UDPゴシック" panose="020B0400000000000000" pitchFamily="50" charset="-128"/>
                          <a:ea typeface="BIZ UDPゴシック" panose="020B0400000000000000" pitchFamily="50" charset="-128"/>
                        </a:rPr>
                        <a:t>。会社が特に認めた場合、</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段階以上の昇格もあり得る。</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lang="en-US" altLang="ja-JP" sz="900" dirty="0">
                        <a:solidFill>
                          <a:srgbClr val="FF0000"/>
                        </a:solidFill>
                        <a:latin typeface="BIZ UDPゴシック" panose="020B0400000000000000" pitchFamily="50" charset="-128"/>
                        <a:ea typeface="BIZ UDPゴシック" panose="020B0400000000000000" pitchFamily="50" charset="-128"/>
                      </a:endParaRPr>
                    </a:p>
                    <a:p>
                      <a:pPr algn="l"/>
                      <a:r>
                        <a:rPr lang="ja-JP" altLang="en-US" sz="1050" dirty="0">
                          <a:solidFill>
                            <a:schemeClr val="tx1"/>
                          </a:solidFill>
                          <a:latin typeface="BIZ UDPゴシック" panose="020B0400000000000000" pitchFamily="50" charset="-128"/>
                          <a:ea typeface="BIZ UDPゴシック" panose="020B0400000000000000" pitchFamily="50" charset="-128"/>
                        </a:rPr>
                        <a:t>昇格試験は、年</a:t>
                      </a:r>
                      <a:r>
                        <a:rPr lang="en-US" altLang="ja-JP" sz="1050" dirty="0">
                          <a:solidFill>
                            <a:schemeClr val="tx1"/>
                          </a:solidFill>
                          <a:latin typeface="BIZ UDPゴシック" panose="020B0400000000000000" pitchFamily="50" charset="-128"/>
                          <a:ea typeface="BIZ UDPゴシック" panose="020B0400000000000000" pitchFamily="50" charset="-128"/>
                        </a:rPr>
                        <a:t>1</a:t>
                      </a:r>
                      <a:r>
                        <a:rPr lang="ja-JP" altLang="en-US" sz="1050" dirty="0">
                          <a:solidFill>
                            <a:schemeClr val="tx1"/>
                          </a:solidFill>
                          <a:latin typeface="BIZ UDPゴシック" panose="020B0400000000000000" pitchFamily="50" charset="-128"/>
                          <a:ea typeface="BIZ UDPゴシック" panose="020B0400000000000000" pitchFamily="50" charset="-128"/>
                        </a:rPr>
                        <a:t>回とする。試験の時期は年度末とし、年度により格付けを定める。</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lang="en-US" altLang="ja-JP" sz="90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050" dirty="0">
                          <a:solidFill>
                            <a:schemeClr val="tx1"/>
                          </a:solidFill>
                          <a:latin typeface="BIZ UDPゴシック" panose="020B0400000000000000" pitchFamily="50" charset="-128"/>
                          <a:ea typeface="BIZ UDPゴシック" panose="020B0400000000000000" pitchFamily="50" charset="-128"/>
                        </a:rPr>
                        <a:t>昇格試験では、格付グループに応じて、問題解決能力や事業構想能力を問う。</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lang="en-US" altLang="ja-JP" sz="900"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降格は、直近</a:t>
                      </a:r>
                      <a:r>
                        <a:rPr kumimoji="1" lang="en-US" altLang="ja-JP" sz="1050" dirty="0">
                          <a:solidFill>
                            <a:schemeClr val="tx1"/>
                          </a:solidFill>
                          <a:latin typeface="BIZ UDPゴシック" panose="020B0400000000000000" pitchFamily="50" charset="-128"/>
                          <a:ea typeface="BIZ UDPゴシック" panose="020B0400000000000000" pitchFamily="50" charset="-128"/>
                        </a:rPr>
                        <a:t>4</a:t>
                      </a:r>
                      <a:r>
                        <a:rPr kumimoji="1" lang="ja-JP" altLang="en-US" sz="1050" dirty="0">
                          <a:solidFill>
                            <a:schemeClr val="tx1"/>
                          </a:solidFill>
                          <a:latin typeface="BIZ UDPゴシック" panose="020B0400000000000000" pitchFamily="50" charset="-128"/>
                          <a:ea typeface="BIZ UDPゴシック" panose="020B0400000000000000" pitchFamily="50" charset="-128"/>
                        </a:rPr>
                        <a:t>回の評価において、</a:t>
                      </a:r>
                      <a:r>
                        <a:rPr kumimoji="1" lang="en-US" altLang="ja-JP" sz="1050" dirty="0">
                          <a:solidFill>
                            <a:schemeClr val="tx1"/>
                          </a:solidFill>
                          <a:latin typeface="BIZ UDPゴシック" panose="020B0400000000000000" pitchFamily="50" charset="-128"/>
                          <a:ea typeface="BIZ UDPゴシック" panose="020B0400000000000000" pitchFamily="50" charset="-128"/>
                        </a:rPr>
                        <a:t>9</a:t>
                      </a:r>
                      <a:r>
                        <a:rPr lang="ja-JP" altLang="en-US" sz="1050" dirty="0">
                          <a:solidFill>
                            <a:schemeClr val="tx1"/>
                          </a:solidFill>
                          <a:latin typeface="BIZ UDPゴシック" panose="020B0400000000000000" pitchFamily="50" charset="-128"/>
                          <a:ea typeface="BIZ UDPゴシック" panose="020B0400000000000000" pitchFamily="50" charset="-128"/>
                        </a:rPr>
                        <a:t>点以下で</a:t>
                      </a:r>
                      <a:r>
                        <a:rPr kumimoji="1" lang="ja-JP" altLang="en-US" sz="1050" dirty="0">
                          <a:solidFill>
                            <a:schemeClr val="tx1"/>
                          </a:solidFill>
                          <a:latin typeface="BIZ UDPゴシック" panose="020B0400000000000000" pitchFamily="50" charset="-128"/>
                          <a:ea typeface="BIZ UDPゴシック" panose="020B0400000000000000" pitchFamily="50" charset="-128"/>
                        </a:rPr>
                        <a:t>あれば降格対象とする。実際の降格是非は総合考課により決定する。</a:t>
                      </a:r>
                      <a:r>
                        <a:rPr kumimoji="1" lang="en-US" altLang="ja-JP" sz="1050" dirty="0">
                          <a:solidFill>
                            <a:schemeClr val="tx1"/>
                          </a:solidFill>
                          <a:latin typeface="BIZ UDPゴシック" panose="020B0400000000000000" pitchFamily="50" charset="-128"/>
                          <a:ea typeface="BIZ UDPゴシック" panose="020B0400000000000000" pitchFamily="50" charset="-128"/>
                        </a:rPr>
                        <a:t>2</a:t>
                      </a:r>
                      <a:r>
                        <a:rPr kumimoji="1" lang="ja-JP" altLang="en-US" sz="1050" dirty="0">
                          <a:solidFill>
                            <a:schemeClr val="tx1"/>
                          </a:solidFill>
                          <a:latin typeface="BIZ UDPゴシック" panose="020B0400000000000000" pitchFamily="50" charset="-128"/>
                          <a:ea typeface="BIZ UDPゴシック" panose="020B0400000000000000" pitchFamily="50" charset="-128"/>
                        </a:rPr>
                        <a:t>段階以上の降格もあり得る。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32675028"/>
                  </a:ext>
                </a:extLst>
              </a:tr>
              <a:tr h="610618">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④管理監督者</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管理監督者は、部長・統括リーダーとする。</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登用要件として、一定以上の格付と、特定の公的資格を取得していることとする。</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bg1">
                        <a:lumMod val="95000"/>
                      </a:schemeClr>
                    </a:solidFill>
                  </a:tcPr>
                </a:tc>
                <a:tc>
                  <a:txBody>
                    <a:bodyPr/>
                    <a:lstStyle/>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管理監督者は、部長・統括リーダーとする。</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99519960"/>
                  </a:ext>
                </a:extLst>
              </a:tr>
              <a:tr h="781591">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⑤賃金テーブルと各種手当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325" rtl="0" eaLnBrk="1" fontAlgn="auto" latinLnBrk="0" hangingPunct="1">
                        <a:lnSpc>
                          <a:spcPct val="100000"/>
                        </a:lnSpc>
                        <a:spcBef>
                          <a:spcPts val="0"/>
                        </a:spcBef>
                        <a:spcAft>
                          <a:spcPts val="0"/>
                        </a:spcAft>
                        <a:buClrTx/>
                        <a:buSzTx/>
                        <a:buFontTx/>
                        <a:buNone/>
                        <a:tabLst/>
                        <a:defRPr/>
                      </a:pPr>
                      <a:r>
                        <a:rPr kumimoji="1" lang="ja-JP" altLang="en-US" sz="1050" strike="noStrike" kern="1200" baseline="0" dirty="0">
                          <a:solidFill>
                            <a:schemeClr val="tx1"/>
                          </a:solidFill>
                          <a:latin typeface="BIZ UDPゴシック" panose="020B0400000000000000" pitchFamily="50" charset="-128"/>
                          <a:ea typeface="BIZ UDPゴシック" panose="020B0400000000000000" pitchFamily="50" charset="-128"/>
                          <a:cs typeface="+mn-cs"/>
                        </a:rPr>
                        <a:t>総合職用の賃金テーブルを用いる。</a:t>
                      </a:r>
                      <a:endParaRPr kumimoji="1" lang="en-US" altLang="ja-JP" sz="1050" strike="noStrike" kern="1200" baseline="0" dirty="0">
                        <a:solidFill>
                          <a:schemeClr val="tx1"/>
                        </a:solidFill>
                        <a:latin typeface="BIZ UDPゴシック" panose="020B0400000000000000" pitchFamily="50" charset="-128"/>
                        <a:ea typeface="BIZ UDPゴシック" panose="020B0400000000000000" pitchFamily="50" charset="-128"/>
                        <a:cs typeface="+mn-cs"/>
                      </a:endParaRPr>
                    </a:p>
                    <a:p>
                      <a:pPr marL="0" marR="0" lvl="0" indent="0" algn="l" defTabSz="914325" rtl="0" eaLnBrk="1" fontAlgn="auto" latinLnBrk="0" hangingPunct="1">
                        <a:lnSpc>
                          <a:spcPct val="100000"/>
                        </a:lnSpc>
                        <a:spcBef>
                          <a:spcPts val="0"/>
                        </a:spcBef>
                        <a:spcAft>
                          <a:spcPts val="0"/>
                        </a:spcAft>
                        <a:buClrTx/>
                        <a:buSzTx/>
                        <a:buFontTx/>
                        <a:buNone/>
                        <a:tabLst/>
                        <a:defRPr/>
                      </a:pPr>
                      <a:endParaRPr kumimoji="1" lang="en-US" altLang="ja-JP" sz="1050" strike="noStrike" kern="1200" baseline="0" dirty="0">
                        <a:solidFill>
                          <a:schemeClr val="tx1"/>
                        </a:solidFill>
                        <a:latin typeface="BIZ UDPゴシック" panose="020B0400000000000000" pitchFamily="50" charset="-128"/>
                        <a:ea typeface="BIZ UDPゴシック" panose="020B0400000000000000" pitchFamily="50" charset="-128"/>
                        <a:cs typeface="+mn-cs"/>
                      </a:endParaRPr>
                    </a:p>
                    <a:p>
                      <a:pPr marL="0" marR="0" lvl="0" indent="0" algn="l" defTabSz="914325" rtl="0" eaLnBrk="1" fontAlgn="auto" latinLnBrk="0" hangingPunct="1">
                        <a:lnSpc>
                          <a:spcPct val="100000"/>
                        </a:lnSpc>
                        <a:spcBef>
                          <a:spcPts val="0"/>
                        </a:spcBef>
                        <a:spcAft>
                          <a:spcPts val="0"/>
                        </a:spcAft>
                        <a:buClrTx/>
                        <a:buSzTx/>
                        <a:buFontTx/>
                        <a:buNone/>
                        <a:tabLst/>
                        <a:defRPr/>
                      </a:pPr>
                      <a:r>
                        <a:rPr kumimoji="1" lang="ja-JP" altLang="en-US" sz="1050" strike="noStrike" kern="1200" baseline="0" dirty="0">
                          <a:solidFill>
                            <a:schemeClr val="tx1"/>
                          </a:solidFill>
                          <a:latin typeface="BIZ UDPゴシック" panose="020B0400000000000000" pitchFamily="50" charset="-128"/>
                          <a:ea typeface="BIZ UDPゴシック" panose="020B0400000000000000" pitchFamily="50" charset="-128"/>
                          <a:cs typeface="+mn-cs"/>
                        </a:rPr>
                        <a:t>手当は、</a:t>
                      </a: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①家族手当・②資格</a:t>
                      </a:r>
                      <a:r>
                        <a:rPr kumimoji="1" lang="ja-JP" altLang="en-US" sz="1050" b="0" kern="1200" dirty="0">
                          <a:solidFill>
                            <a:schemeClr val="tx1"/>
                          </a:solidFill>
                          <a:latin typeface="BIZ UDPゴシック" panose="020B0400000000000000" pitchFamily="50" charset="-128"/>
                          <a:ea typeface="BIZ UDPゴシック" panose="020B0400000000000000" pitchFamily="50" charset="-128"/>
                          <a:cs typeface="+mn-cs"/>
                        </a:rPr>
                        <a:t>手当・</a:t>
                      </a:r>
                      <a:r>
                        <a:rPr kumimoji="1" lang="ja-JP" altLang="en-US" sz="1050" b="0" u="none" kern="1200" dirty="0">
                          <a:solidFill>
                            <a:schemeClr val="tx1"/>
                          </a:solidFill>
                          <a:latin typeface="BIZ UDPゴシック" panose="020B0400000000000000" pitchFamily="50" charset="-128"/>
                          <a:ea typeface="BIZ UDPゴシック" panose="020B0400000000000000" pitchFamily="50" charset="-128"/>
                          <a:cs typeface="+mn-cs"/>
                        </a:rPr>
                        <a:t>③通勤手当・</a:t>
                      </a:r>
                      <a:r>
                        <a:rPr kumimoji="1" lang="ja-JP" altLang="en-US" sz="1050" strike="noStrike" kern="1200" baseline="0" dirty="0">
                          <a:solidFill>
                            <a:schemeClr val="tx1"/>
                          </a:solidFill>
                          <a:latin typeface="BIZ UDPゴシック" panose="020B0400000000000000" pitchFamily="50" charset="-128"/>
                          <a:ea typeface="BIZ UDPゴシック" panose="020B0400000000000000" pitchFamily="50" charset="-128"/>
                          <a:cs typeface="+mn-cs"/>
                        </a:rPr>
                        <a:t>④</a:t>
                      </a: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役職手当・</a:t>
                      </a:r>
                      <a:r>
                        <a:rPr kumimoji="1" lang="ja-JP" altLang="en-US" sz="1050" b="0" kern="1200" dirty="0">
                          <a:solidFill>
                            <a:schemeClr val="tx1"/>
                          </a:solidFill>
                          <a:latin typeface="BIZ UDPゴシック" panose="020B0400000000000000" pitchFamily="50" charset="-128"/>
                          <a:ea typeface="BIZ UDPゴシック" panose="020B0400000000000000" pitchFamily="50" charset="-128"/>
                          <a:cs typeface="+mn-cs"/>
                        </a:rPr>
                        <a:t>⑤</a:t>
                      </a:r>
                      <a:r>
                        <a:rPr kumimoji="1" lang="ja-JP" altLang="en-US" sz="1050" b="0" u="none" kern="1200" dirty="0">
                          <a:solidFill>
                            <a:schemeClr val="tx1"/>
                          </a:solidFill>
                          <a:latin typeface="BIZ UDPゴシック" panose="020B0400000000000000" pitchFamily="50" charset="-128"/>
                          <a:ea typeface="BIZ UDPゴシック" panose="020B0400000000000000" pitchFamily="50" charset="-128"/>
                          <a:cs typeface="+mn-cs"/>
                        </a:rPr>
                        <a:t>専門スキル手当⑥時間外みなし手当、を支給する。</a:t>
                      </a:r>
                      <a:endPar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325" rtl="0" eaLnBrk="1" fontAlgn="auto" latinLnBrk="0" hangingPunct="1">
                        <a:lnSpc>
                          <a:spcPct val="100000"/>
                        </a:lnSpc>
                        <a:spcBef>
                          <a:spcPts val="0"/>
                        </a:spcBef>
                        <a:spcAft>
                          <a:spcPts val="0"/>
                        </a:spcAft>
                        <a:buClrTx/>
                        <a:buSzTx/>
                        <a:buFontTx/>
                        <a:buNone/>
                        <a:tabLst/>
                        <a:defRPr/>
                      </a:pPr>
                      <a:r>
                        <a:rPr kumimoji="1" lang="ja-JP" altLang="en-US" sz="1050" strike="noStrike" kern="1200" baseline="0" dirty="0">
                          <a:solidFill>
                            <a:schemeClr val="tx1"/>
                          </a:solidFill>
                          <a:latin typeface="BIZ UDPゴシック" panose="020B0400000000000000" pitchFamily="50" charset="-128"/>
                          <a:ea typeface="BIZ UDPゴシック" panose="020B0400000000000000" pitchFamily="50" charset="-128"/>
                          <a:cs typeface="+mn-cs"/>
                        </a:rPr>
                        <a:t>総合職用の賃金テーブルを用いる。</a:t>
                      </a:r>
                      <a:endParaRPr kumimoji="1" lang="en-US" altLang="ja-JP" sz="1050" strike="noStrike" kern="1200" baseline="0" dirty="0">
                        <a:solidFill>
                          <a:schemeClr val="tx1"/>
                        </a:solidFill>
                        <a:latin typeface="BIZ UDPゴシック" panose="020B0400000000000000" pitchFamily="50" charset="-128"/>
                        <a:ea typeface="BIZ UDPゴシック" panose="020B0400000000000000" pitchFamily="50" charset="-128"/>
                        <a:cs typeface="+mn-cs"/>
                      </a:endParaRPr>
                    </a:p>
                    <a:p>
                      <a:pPr marL="0" marR="0" lvl="0" indent="0" algn="l" defTabSz="914325" rtl="0" eaLnBrk="1" fontAlgn="auto" latinLnBrk="0" hangingPunct="1">
                        <a:lnSpc>
                          <a:spcPct val="100000"/>
                        </a:lnSpc>
                        <a:spcBef>
                          <a:spcPts val="0"/>
                        </a:spcBef>
                        <a:spcAft>
                          <a:spcPts val="0"/>
                        </a:spcAft>
                        <a:buClrTx/>
                        <a:buSzTx/>
                        <a:buFontTx/>
                        <a:buNone/>
                        <a:tabLst/>
                        <a:defRPr/>
                      </a:pPr>
                      <a:endParaRPr kumimoji="1" lang="en-US" altLang="ja-JP" sz="1050" strike="noStrike" kern="1200" baseline="0" dirty="0">
                        <a:solidFill>
                          <a:schemeClr val="tx1"/>
                        </a:solidFill>
                        <a:latin typeface="BIZ UDPゴシック" panose="020B0400000000000000" pitchFamily="50" charset="-128"/>
                        <a:ea typeface="BIZ UDPゴシック" panose="020B0400000000000000" pitchFamily="50" charset="-128"/>
                        <a:cs typeface="+mn-cs"/>
                      </a:endParaRPr>
                    </a:p>
                    <a:p>
                      <a:pPr marL="0" marR="0" lvl="0" indent="0" algn="l" defTabSz="914325" rtl="0" eaLnBrk="1" fontAlgn="auto" latinLnBrk="0" hangingPunct="1">
                        <a:lnSpc>
                          <a:spcPct val="100000"/>
                        </a:lnSpc>
                        <a:spcBef>
                          <a:spcPts val="0"/>
                        </a:spcBef>
                        <a:spcAft>
                          <a:spcPts val="0"/>
                        </a:spcAft>
                        <a:buClrTx/>
                        <a:buSzTx/>
                        <a:buFontTx/>
                        <a:buNone/>
                        <a:tabLst/>
                        <a:defRPr/>
                      </a:pPr>
                      <a:r>
                        <a:rPr kumimoji="1" lang="ja-JP" altLang="en-US" sz="1050" strike="noStrike" kern="1200" baseline="0" dirty="0">
                          <a:solidFill>
                            <a:schemeClr val="tx1"/>
                          </a:solidFill>
                          <a:latin typeface="BIZ UDPゴシック" panose="020B0400000000000000" pitchFamily="50" charset="-128"/>
                          <a:ea typeface="BIZ UDPゴシック" panose="020B0400000000000000" pitchFamily="50" charset="-128"/>
                          <a:cs typeface="+mn-cs"/>
                        </a:rPr>
                        <a:t>手当は、</a:t>
                      </a: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①家族手当・②資格</a:t>
                      </a:r>
                      <a:r>
                        <a:rPr kumimoji="1" lang="ja-JP" altLang="en-US" sz="1050" b="0" kern="1200" dirty="0">
                          <a:solidFill>
                            <a:schemeClr val="tx1"/>
                          </a:solidFill>
                          <a:latin typeface="BIZ UDPゴシック" panose="020B0400000000000000" pitchFamily="50" charset="-128"/>
                          <a:ea typeface="BIZ UDPゴシック" panose="020B0400000000000000" pitchFamily="50" charset="-128"/>
                          <a:cs typeface="+mn-cs"/>
                        </a:rPr>
                        <a:t>手当・</a:t>
                      </a:r>
                      <a:r>
                        <a:rPr kumimoji="1" lang="ja-JP" altLang="en-US" sz="1050" b="0" u="none" kern="1200" dirty="0">
                          <a:solidFill>
                            <a:schemeClr val="tx1"/>
                          </a:solidFill>
                          <a:latin typeface="BIZ UDPゴシック" panose="020B0400000000000000" pitchFamily="50" charset="-128"/>
                          <a:ea typeface="BIZ UDPゴシック" panose="020B0400000000000000" pitchFamily="50" charset="-128"/>
                          <a:cs typeface="+mn-cs"/>
                        </a:rPr>
                        <a:t>③通勤手当・</a:t>
                      </a:r>
                      <a:r>
                        <a:rPr kumimoji="1" lang="ja-JP" altLang="en-US" sz="1050" strike="noStrike" kern="1200" baseline="0" dirty="0">
                          <a:solidFill>
                            <a:schemeClr val="tx1"/>
                          </a:solidFill>
                          <a:latin typeface="BIZ UDPゴシック" panose="020B0400000000000000" pitchFamily="50" charset="-128"/>
                          <a:ea typeface="BIZ UDPゴシック" panose="020B0400000000000000" pitchFamily="50" charset="-128"/>
                          <a:cs typeface="+mn-cs"/>
                        </a:rPr>
                        <a:t>④</a:t>
                      </a: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役職手当・</a:t>
                      </a:r>
                      <a:r>
                        <a:rPr kumimoji="1" lang="ja-JP" altLang="en-US" sz="1050" b="0" kern="1200" dirty="0">
                          <a:solidFill>
                            <a:schemeClr val="tx1"/>
                          </a:solidFill>
                          <a:latin typeface="BIZ UDPゴシック" panose="020B0400000000000000" pitchFamily="50" charset="-128"/>
                          <a:ea typeface="BIZ UDPゴシック" panose="020B0400000000000000" pitchFamily="50" charset="-128"/>
                          <a:cs typeface="+mn-cs"/>
                        </a:rPr>
                        <a:t>⑤</a:t>
                      </a:r>
                      <a:r>
                        <a:rPr kumimoji="1" lang="ja-JP" altLang="en-US" sz="1050" b="0" u="none" kern="1200" dirty="0">
                          <a:solidFill>
                            <a:schemeClr val="tx1"/>
                          </a:solidFill>
                          <a:latin typeface="BIZ UDPゴシック" panose="020B0400000000000000" pitchFamily="50" charset="-128"/>
                          <a:ea typeface="BIZ UDPゴシック" panose="020B0400000000000000" pitchFamily="50" charset="-128"/>
                          <a:cs typeface="+mn-cs"/>
                        </a:rPr>
                        <a:t>専門スキル手当⑥時間外みなし手当⑦単身赴任手当を支給する。</a:t>
                      </a:r>
                      <a:endPar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604248590"/>
                  </a:ext>
                </a:extLst>
              </a:tr>
              <a:tr h="293096">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⑥ジョブ評価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325" rtl="0" eaLnBrk="1" fontAlgn="auto" latinLnBrk="0" hangingPunct="1">
                        <a:lnSpc>
                          <a:spcPct val="100000"/>
                        </a:lnSpc>
                        <a:spcBef>
                          <a:spcPts val="0"/>
                        </a:spcBef>
                        <a:spcAft>
                          <a:spcPts val="0"/>
                        </a:spcAft>
                        <a:buClrTx/>
                        <a:buSzTx/>
                        <a:buFontTx/>
                        <a:buNone/>
                        <a:tabLst/>
                        <a:defRPr/>
                      </a:pP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半期に</a:t>
                      </a:r>
                      <a:r>
                        <a:rPr kumimoji="1" lang="en-US" altLang="ja-JP" sz="1050" kern="1200" dirty="0">
                          <a:solidFill>
                            <a:schemeClr val="tx1"/>
                          </a:solidFill>
                          <a:latin typeface="BIZ UDPゴシック" panose="020B0400000000000000" pitchFamily="50" charset="-128"/>
                          <a:ea typeface="BIZ UDPゴシック" panose="020B0400000000000000" pitchFamily="50" charset="-128"/>
                          <a:cs typeface="+mn-cs"/>
                        </a:rPr>
                        <a:t>1</a:t>
                      </a: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度の目標管理によるジョブ評価シートを用いる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325" rtl="0" eaLnBrk="1" fontAlgn="auto" latinLnBrk="0" hangingPunct="1">
                        <a:lnSpc>
                          <a:spcPct val="100000"/>
                        </a:lnSpc>
                        <a:spcBef>
                          <a:spcPts val="0"/>
                        </a:spcBef>
                        <a:spcAft>
                          <a:spcPts val="0"/>
                        </a:spcAft>
                        <a:buClrTx/>
                        <a:buSzTx/>
                        <a:buFontTx/>
                        <a:buNone/>
                        <a:tabLst/>
                        <a:defRPr/>
                      </a:pP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半期に</a:t>
                      </a:r>
                      <a:r>
                        <a:rPr kumimoji="1" lang="en-US" altLang="ja-JP" sz="1050" kern="1200" dirty="0">
                          <a:solidFill>
                            <a:schemeClr val="tx1"/>
                          </a:solidFill>
                          <a:latin typeface="BIZ UDPゴシック" panose="020B0400000000000000" pitchFamily="50" charset="-128"/>
                          <a:ea typeface="BIZ UDPゴシック" panose="020B0400000000000000" pitchFamily="50" charset="-128"/>
                          <a:cs typeface="+mn-cs"/>
                        </a:rPr>
                        <a:t>1</a:t>
                      </a: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度の目標管理によるジョブ評価シートを用いる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44763673"/>
                  </a:ext>
                </a:extLst>
              </a:tr>
            </a:tbl>
          </a:graphicData>
        </a:graphic>
      </p:graphicFrame>
    </p:spTree>
    <p:extLst>
      <p:ext uri="{BB962C8B-B14F-4D97-AF65-F5344CB8AC3E}">
        <p14:creationId xmlns:p14="http://schemas.microsoft.com/office/powerpoint/2010/main" val="3864057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997C9-38E3-5217-1104-2555BC83FFB7}"/>
            </a:ext>
          </a:extLst>
        </p:cNvPr>
        <p:cNvGrpSpPr/>
        <p:nvPr/>
      </p:nvGrpSpPr>
      <p:grpSpPr>
        <a:xfrm>
          <a:off x="0" y="0"/>
          <a:ext cx="0" cy="0"/>
          <a:chOff x="0" y="0"/>
          <a:chExt cx="0" cy="0"/>
        </a:xfrm>
      </p:grpSpPr>
      <p:sp>
        <p:nvSpPr>
          <p:cNvPr id="4" name="Text Box 31">
            <a:extLst>
              <a:ext uri="{FF2B5EF4-FFF2-40B4-BE49-F238E27FC236}">
                <a16:creationId xmlns:a16="http://schemas.microsoft.com/office/drawing/2014/main" id="{E0BFA1FE-13CA-CC19-8CD7-DFADD2B46985}"/>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11</a:t>
            </a:fld>
            <a:r>
              <a:rPr lang="ja-JP" altLang="en-US" sz="1050" dirty="0">
                <a:latin typeface="+mn-ea"/>
              </a:rPr>
              <a:t>－</a:t>
            </a:r>
          </a:p>
        </p:txBody>
      </p:sp>
      <p:sp>
        <p:nvSpPr>
          <p:cNvPr id="12" name="タイトル 2">
            <a:extLst>
              <a:ext uri="{FF2B5EF4-FFF2-40B4-BE49-F238E27FC236}">
                <a16:creationId xmlns:a16="http://schemas.microsoft.com/office/drawing/2014/main" id="{B65FA810-DE7C-83BF-C804-35A58160A703}"/>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総合職　賃金テーブルの一例（</a:t>
            </a:r>
            <a:r>
              <a:rPr lang="en-US" altLang="ja-JP" sz="1600" dirty="0">
                <a:latin typeface="BIZ UDPゴシック" panose="020B0400000000000000" pitchFamily="50" charset="-128"/>
                <a:ea typeface="BIZ UDPゴシック" panose="020B0400000000000000" pitchFamily="50" charset="-128"/>
              </a:rPr>
              <a:t>2025</a:t>
            </a:r>
            <a:r>
              <a:rPr lang="ja-JP" altLang="en-US" sz="1600" dirty="0">
                <a:latin typeface="BIZ UDPゴシック" panose="020B0400000000000000" pitchFamily="50" charset="-128"/>
                <a:ea typeface="BIZ UDPゴシック" panose="020B0400000000000000" pitchFamily="50" charset="-128"/>
              </a:rPr>
              <a:t>年</a:t>
            </a:r>
            <a:r>
              <a:rPr lang="en-US" altLang="ja-JP" sz="1600" dirty="0">
                <a:latin typeface="BIZ UDPゴシック" panose="020B0400000000000000" pitchFamily="50" charset="-128"/>
                <a:ea typeface="BIZ UDPゴシック" panose="020B0400000000000000" pitchFamily="50" charset="-128"/>
              </a:rPr>
              <a:t>4</a:t>
            </a:r>
            <a:r>
              <a:rPr lang="ja-JP" altLang="en-US" sz="1600" dirty="0">
                <a:latin typeface="BIZ UDPゴシック" panose="020B0400000000000000" pitchFamily="50" charset="-128"/>
                <a:ea typeface="BIZ UDPゴシック" panose="020B0400000000000000" pitchFamily="50" charset="-128"/>
              </a:rPr>
              <a:t>月</a:t>
            </a:r>
            <a:r>
              <a:rPr lang="en-US" altLang="ja-JP" sz="1600" dirty="0">
                <a:latin typeface="BIZ UDPゴシック" panose="020B0400000000000000" pitchFamily="50" charset="-128"/>
                <a:ea typeface="BIZ UDPゴシック" panose="020B0400000000000000" pitchFamily="50" charset="-128"/>
              </a:rPr>
              <a:t>16</a:t>
            </a:r>
            <a:r>
              <a:rPr lang="ja-JP" altLang="en-US" sz="1600" dirty="0">
                <a:latin typeface="BIZ UDPゴシック" panose="020B0400000000000000" pitchFamily="50" charset="-128"/>
                <a:ea typeface="BIZ UDPゴシック" panose="020B0400000000000000" pitchFamily="50" charset="-128"/>
              </a:rPr>
              <a:t>日現在）</a:t>
            </a:r>
          </a:p>
        </p:txBody>
      </p:sp>
      <p:graphicFrame>
        <p:nvGraphicFramePr>
          <p:cNvPr id="3" name="表 2">
            <a:extLst>
              <a:ext uri="{FF2B5EF4-FFF2-40B4-BE49-F238E27FC236}">
                <a16:creationId xmlns:a16="http://schemas.microsoft.com/office/drawing/2014/main" id="{D287BF00-CB97-2961-6D03-D12ACF50AD3D}"/>
              </a:ext>
            </a:extLst>
          </p:cNvPr>
          <p:cNvGraphicFramePr>
            <a:graphicFrameLocks noGrp="1"/>
          </p:cNvGraphicFramePr>
          <p:nvPr/>
        </p:nvGraphicFramePr>
        <p:xfrm>
          <a:off x="258793" y="1052736"/>
          <a:ext cx="8559564" cy="4312222"/>
        </p:xfrm>
        <a:graphic>
          <a:graphicData uri="http://schemas.openxmlformats.org/drawingml/2006/table">
            <a:tbl>
              <a:tblPr/>
              <a:tblGrid>
                <a:gridCol w="566442">
                  <a:extLst>
                    <a:ext uri="{9D8B030D-6E8A-4147-A177-3AD203B41FA5}">
                      <a16:colId xmlns:a16="http://schemas.microsoft.com/office/drawing/2014/main" val="4084551037"/>
                    </a:ext>
                  </a:extLst>
                </a:gridCol>
                <a:gridCol w="566442">
                  <a:extLst>
                    <a:ext uri="{9D8B030D-6E8A-4147-A177-3AD203B41FA5}">
                      <a16:colId xmlns:a16="http://schemas.microsoft.com/office/drawing/2014/main" val="2199779936"/>
                    </a:ext>
                  </a:extLst>
                </a:gridCol>
                <a:gridCol w="566442">
                  <a:extLst>
                    <a:ext uri="{9D8B030D-6E8A-4147-A177-3AD203B41FA5}">
                      <a16:colId xmlns:a16="http://schemas.microsoft.com/office/drawing/2014/main" val="1082549082"/>
                    </a:ext>
                  </a:extLst>
                </a:gridCol>
                <a:gridCol w="566442">
                  <a:extLst>
                    <a:ext uri="{9D8B030D-6E8A-4147-A177-3AD203B41FA5}">
                      <a16:colId xmlns:a16="http://schemas.microsoft.com/office/drawing/2014/main" val="3556294304"/>
                    </a:ext>
                  </a:extLst>
                </a:gridCol>
                <a:gridCol w="566442">
                  <a:extLst>
                    <a:ext uri="{9D8B030D-6E8A-4147-A177-3AD203B41FA5}">
                      <a16:colId xmlns:a16="http://schemas.microsoft.com/office/drawing/2014/main" val="1847147993"/>
                    </a:ext>
                  </a:extLst>
                </a:gridCol>
                <a:gridCol w="566442">
                  <a:extLst>
                    <a:ext uri="{9D8B030D-6E8A-4147-A177-3AD203B41FA5}">
                      <a16:colId xmlns:a16="http://schemas.microsoft.com/office/drawing/2014/main" val="3773705612"/>
                    </a:ext>
                  </a:extLst>
                </a:gridCol>
                <a:gridCol w="860152">
                  <a:extLst>
                    <a:ext uri="{9D8B030D-6E8A-4147-A177-3AD203B41FA5}">
                      <a16:colId xmlns:a16="http://schemas.microsoft.com/office/drawing/2014/main" val="3087962768"/>
                    </a:ext>
                  </a:extLst>
                </a:gridCol>
                <a:gridCol w="820214">
                  <a:extLst>
                    <a:ext uri="{9D8B030D-6E8A-4147-A177-3AD203B41FA5}">
                      <a16:colId xmlns:a16="http://schemas.microsoft.com/office/drawing/2014/main" val="1523454956"/>
                    </a:ext>
                  </a:extLst>
                </a:gridCol>
                <a:gridCol w="900090">
                  <a:extLst>
                    <a:ext uri="{9D8B030D-6E8A-4147-A177-3AD203B41FA5}">
                      <a16:colId xmlns:a16="http://schemas.microsoft.com/office/drawing/2014/main" val="2420308034"/>
                    </a:ext>
                  </a:extLst>
                </a:gridCol>
                <a:gridCol w="860152">
                  <a:extLst>
                    <a:ext uri="{9D8B030D-6E8A-4147-A177-3AD203B41FA5}">
                      <a16:colId xmlns:a16="http://schemas.microsoft.com/office/drawing/2014/main" val="807331127"/>
                    </a:ext>
                  </a:extLst>
                </a:gridCol>
                <a:gridCol w="860152">
                  <a:extLst>
                    <a:ext uri="{9D8B030D-6E8A-4147-A177-3AD203B41FA5}">
                      <a16:colId xmlns:a16="http://schemas.microsoft.com/office/drawing/2014/main" val="2952585341"/>
                    </a:ext>
                  </a:extLst>
                </a:gridCol>
                <a:gridCol w="860152">
                  <a:extLst>
                    <a:ext uri="{9D8B030D-6E8A-4147-A177-3AD203B41FA5}">
                      <a16:colId xmlns:a16="http://schemas.microsoft.com/office/drawing/2014/main" val="2837836939"/>
                    </a:ext>
                  </a:extLst>
                </a:gridCol>
              </a:tblGrid>
              <a:tr h="435402">
                <a:tc>
                  <a:txBody>
                    <a:bodyPr/>
                    <a:lstStyle/>
                    <a:p>
                      <a:pPr algn="ctr" fontAlgn="ctr"/>
                      <a:endParaRPr lang="ja-JP" altLang="en-US" sz="5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751" marR="4751" marT="4751" marB="0" anchor="ctr">
                    <a:lnL>
                      <a:noFill/>
                    </a:lnL>
                    <a:lnR>
                      <a:noFill/>
                    </a:lnR>
                    <a:lnT>
                      <a:noFill/>
                    </a:lnT>
                    <a:lnB>
                      <a:noFill/>
                    </a:lnB>
                  </a:tcPr>
                </a:tc>
                <a:tc>
                  <a:txBody>
                    <a:bodyPr/>
                    <a:lstStyle/>
                    <a:p>
                      <a:pPr algn="ctr" fontAlgn="ctr"/>
                      <a:r>
                        <a:rPr lang="ja-JP" altLang="en-US" sz="1400" b="0" i="0" u="none" strike="noStrike" dirty="0">
                          <a:solidFill>
                            <a:srgbClr val="000000"/>
                          </a:solidFill>
                          <a:effectLst/>
                          <a:latin typeface="BIZ UDPゴシック" panose="020B0400000000000000" pitchFamily="50" charset="-128"/>
                          <a:ea typeface="BIZ UDPゴシック" panose="020B0400000000000000" pitchFamily="50" charset="-128"/>
                        </a:rPr>
                        <a:t>①</a:t>
                      </a:r>
                    </a:p>
                  </a:txBody>
                  <a:tcPr marL="4751" marR="4751" marT="4751" marB="0" anchor="ctr">
                    <a:lnL>
                      <a:noFill/>
                    </a:lnL>
                    <a:lnR>
                      <a:noFill/>
                    </a:lnR>
                    <a:lnT>
                      <a:noFill/>
                    </a:lnT>
                    <a:lnB>
                      <a:noFill/>
                    </a:lnB>
                  </a:tcPr>
                </a:tc>
                <a:tc>
                  <a:txBody>
                    <a:bodyPr/>
                    <a:lstStyle/>
                    <a:p>
                      <a:pPr algn="ctr" fontAlgn="ctr"/>
                      <a:r>
                        <a:rPr lang="ja-JP" altLang="en-US" sz="1400" b="0" i="0" u="none" strike="noStrike">
                          <a:solidFill>
                            <a:srgbClr val="000000"/>
                          </a:solidFill>
                          <a:effectLst/>
                          <a:latin typeface="BIZ UDPゴシック" panose="020B0400000000000000" pitchFamily="50" charset="-128"/>
                          <a:ea typeface="BIZ UDPゴシック" panose="020B0400000000000000" pitchFamily="50" charset="-128"/>
                        </a:rPr>
                        <a:t>②</a:t>
                      </a:r>
                    </a:p>
                  </a:txBody>
                  <a:tcPr marL="4751" marR="4751" marT="4751" marB="0" anchor="ctr">
                    <a:lnL>
                      <a:noFill/>
                    </a:lnL>
                    <a:lnR>
                      <a:noFill/>
                    </a:lnR>
                    <a:lnT>
                      <a:noFill/>
                    </a:lnT>
                    <a:lnB>
                      <a:noFill/>
                    </a:lnB>
                  </a:tcPr>
                </a:tc>
                <a:tc>
                  <a:txBody>
                    <a:bodyPr/>
                    <a:lstStyle/>
                    <a:p>
                      <a:pPr algn="ctr" fontAlgn="ctr"/>
                      <a:r>
                        <a:rPr lang="ja-JP" altLang="en-US" sz="1400" b="0" i="0" u="none" strike="noStrike" dirty="0">
                          <a:solidFill>
                            <a:srgbClr val="000000"/>
                          </a:solidFill>
                          <a:effectLst/>
                          <a:latin typeface="BIZ UDPゴシック" panose="020B0400000000000000" pitchFamily="50" charset="-128"/>
                          <a:ea typeface="BIZ UDPゴシック" panose="020B0400000000000000" pitchFamily="50" charset="-128"/>
                        </a:rPr>
                        <a:t>③</a:t>
                      </a:r>
                    </a:p>
                  </a:txBody>
                  <a:tcPr marL="4751" marR="4751" marT="4751" marB="0" anchor="ctr">
                    <a:lnL>
                      <a:noFill/>
                    </a:lnL>
                    <a:lnR>
                      <a:noFill/>
                    </a:lnR>
                    <a:lnT>
                      <a:noFill/>
                    </a:lnT>
                    <a:lnB>
                      <a:noFill/>
                    </a:lnB>
                  </a:tcPr>
                </a:tc>
                <a:tc>
                  <a:txBody>
                    <a:bodyPr/>
                    <a:lstStyle/>
                    <a:p>
                      <a:pPr algn="ctr" fontAlgn="ctr"/>
                      <a:r>
                        <a:rPr lang="ja-JP" altLang="en-US" sz="1400" b="0" i="0" u="none" strike="noStrike" dirty="0">
                          <a:solidFill>
                            <a:srgbClr val="000000"/>
                          </a:solidFill>
                          <a:effectLst/>
                          <a:latin typeface="BIZ UDPゴシック" panose="020B0400000000000000" pitchFamily="50" charset="-128"/>
                          <a:ea typeface="BIZ UDPゴシック" panose="020B0400000000000000" pitchFamily="50" charset="-128"/>
                        </a:rPr>
                        <a:t>④</a:t>
                      </a:r>
                    </a:p>
                  </a:txBody>
                  <a:tcPr marL="4751" marR="4751" marT="4751" marB="0" anchor="ctr">
                    <a:lnL>
                      <a:noFill/>
                    </a:lnL>
                    <a:lnR>
                      <a:noFill/>
                    </a:lnR>
                    <a:lnT>
                      <a:noFill/>
                    </a:lnT>
                    <a:lnB>
                      <a:noFill/>
                    </a:lnB>
                  </a:tcPr>
                </a:tc>
                <a:tc>
                  <a:txBody>
                    <a:bodyPr/>
                    <a:lstStyle/>
                    <a:p>
                      <a:pPr algn="ctr" fontAlgn="ctr"/>
                      <a:r>
                        <a:rPr lang="ja-JP" altLang="en-US" sz="1400" b="0" i="0" u="none" strike="noStrike" dirty="0">
                          <a:solidFill>
                            <a:srgbClr val="000000"/>
                          </a:solidFill>
                          <a:effectLst/>
                          <a:latin typeface="BIZ UDPゴシック" panose="020B0400000000000000" pitchFamily="50" charset="-128"/>
                          <a:ea typeface="BIZ UDPゴシック" panose="020B0400000000000000" pitchFamily="50" charset="-128"/>
                        </a:rPr>
                        <a:t>⑤</a:t>
                      </a:r>
                    </a:p>
                  </a:txBody>
                  <a:tcPr marL="4751" marR="4751" marT="4751" marB="0" anchor="ctr">
                    <a:lnL>
                      <a:noFill/>
                    </a:lnL>
                    <a:lnR>
                      <a:noFill/>
                    </a:lnR>
                    <a:lnT>
                      <a:noFill/>
                    </a:lnT>
                    <a:lnB>
                      <a:noFill/>
                    </a:lnB>
                  </a:tcPr>
                </a:tc>
                <a:tc>
                  <a:txBody>
                    <a:bodyPr/>
                    <a:lstStyle/>
                    <a:p>
                      <a:pPr algn="ctr" fontAlgn="ctr"/>
                      <a:r>
                        <a:rPr lang="ja-JP" altLang="en-US" sz="1400" b="0" i="0" u="none" strike="noStrike" dirty="0">
                          <a:solidFill>
                            <a:srgbClr val="000000"/>
                          </a:solidFill>
                          <a:effectLst/>
                          <a:latin typeface="BIZ UDPゴシック" panose="020B0400000000000000" pitchFamily="50" charset="-128"/>
                          <a:ea typeface="BIZ UDPゴシック" panose="020B0400000000000000" pitchFamily="50" charset="-128"/>
                        </a:rPr>
                        <a:t>⑥</a:t>
                      </a:r>
                      <a:br>
                        <a:rPr lang="ja-JP" altLang="en-US" sz="7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（①</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+②</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endParaRPr lang="ja-JP" alt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751" marR="4751" marT="4751" marB="0" anchor="ctr">
                    <a:lnL>
                      <a:noFill/>
                    </a:lnL>
                    <a:lnR>
                      <a:noFill/>
                    </a:lnR>
                    <a:lnT>
                      <a:noFill/>
                    </a:lnT>
                    <a:lnB>
                      <a:noFill/>
                    </a:lnB>
                  </a:tcPr>
                </a:tc>
                <a:tc>
                  <a:txBody>
                    <a:bodyPr/>
                    <a:lstStyle/>
                    <a:p>
                      <a:pPr algn="ctr" fontAlgn="ctr"/>
                      <a:r>
                        <a:rPr lang="ja-JP" altLang="en-US" sz="1400" b="0" i="0" u="none" strike="noStrike" dirty="0">
                          <a:solidFill>
                            <a:srgbClr val="000000"/>
                          </a:solidFill>
                          <a:effectLst/>
                          <a:latin typeface="BIZ UDPゴシック" panose="020B0400000000000000" pitchFamily="50" charset="-128"/>
                          <a:ea typeface="BIZ UDPゴシック" panose="020B0400000000000000" pitchFamily="50" charset="-128"/>
                        </a:rPr>
                        <a:t>⑦</a:t>
                      </a:r>
                      <a:br>
                        <a:rPr lang="ja-JP" altLang="en-US" sz="14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（①</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+②+③</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endParaRPr lang="ja-JP" alt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751" marR="4751" marT="4751" marB="0" anchor="ctr">
                    <a:lnL>
                      <a:noFill/>
                    </a:lnL>
                    <a:lnR>
                      <a:noFill/>
                    </a:lnR>
                    <a:lnT>
                      <a:noFill/>
                    </a:lnT>
                    <a:lnB>
                      <a:noFill/>
                    </a:lnB>
                  </a:tcPr>
                </a:tc>
                <a:tc>
                  <a:txBody>
                    <a:bodyPr/>
                    <a:lstStyle/>
                    <a:p>
                      <a:pPr algn="ctr" fontAlgn="ctr"/>
                      <a:r>
                        <a:rPr lang="ja-JP" altLang="en-US" sz="1400" b="0" i="0" u="none" strike="noStrike" dirty="0">
                          <a:solidFill>
                            <a:srgbClr val="000000"/>
                          </a:solidFill>
                          <a:effectLst/>
                          <a:latin typeface="BIZ UDPゴシック" panose="020B0400000000000000" pitchFamily="50" charset="-128"/>
                          <a:ea typeface="BIZ UDPゴシック" panose="020B0400000000000000" pitchFamily="50" charset="-128"/>
                        </a:rPr>
                        <a:t>⑧</a:t>
                      </a:r>
                      <a:br>
                        <a:rPr lang="ja-JP" altLang="en-US" sz="7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（①</a:t>
                      </a:r>
                      <a:r>
                        <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rPr>
                        <a:t>+②+④</a:t>
                      </a: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a:t>
                      </a:r>
                      <a:endParaRPr lang="ja-JP" alt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751" marR="4751" marT="4751" marB="0" anchor="ctr">
                    <a:lnL>
                      <a:noFill/>
                    </a:lnL>
                    <a:lnR>
                      <a:noFill/>
                    </a:lnR>
                    <a:lnT>
                      <a:noFill/>
                    </a:lnT>
                    <a:lnB>
                      <a:noFill/>
                    </a:lnB>
                  </a:tcPr>
                </a:tc>
                <a:tc>
                  <a:txBody>
                    <a:bodyPr/>
                    <a:lstStyle/>
                    <a:p>
                      <a:pPr algn="ctr" fontAlgn="ctr"/>
                      <a:r>
                        <a:rPr lang="ja-JP" altLang="en-US" sz="1400" b="0" i="0" u="none" strike="noStrike" dirty="0">
                          <a:solidFill>
                            <a:srgbClr val="000000"/>
                          </a:solidFill>
                          <a:effectLst/>
                          <a:latin typeface="BIZ UDPゴシック" panose="020B0400000000000000" pitchFamily="50" charset="-128"/>
                          <a:ea typeface="BIZ UDPゴシック" panose="020B0400000000000000" pitchFamily="50" charset="-128"/>
                        </a:rPr>
                        <a:t>⑨</a:t>
                      </a:r>
                      <a:br>
                        <a:rPr lang="ja-JP" altLang="en-US" sz="7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（①</a:t>
                      </a: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+②+③+④</a:t>
                      </a: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a:t>
                      </a:r>
                      <a:endParaRPr lang="ja-JP" alt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751" marR="4751" marT="4751" marB="0" anchor="ctr">
                    <a:lnL>
                      <a:noFill/>
                    </a:lnL>
                    <a:lnR>
                      <a:noFill/>
                    </a:lnR>
                    <a:lnT>
                      <a:noFill/>
                    </a:lnT>
                    <a:lnB>
                      <a:noFill/>
                    </a:lnB>
                  </a:tcPr>
                </a:tc>
                <a:tc>
                  <a:txBody>
                    <a:bodyPr/>
                    <a:lstStyle/>
                    <a:p>
                      <a:pPr algn="ctr" fontAlgn="ctr"/>
                      <a:r>
                        <a:rPr lang="ja-JP" altLang="en-US" sz="1400" b="0" i="0" u="none" strike="noStrike" dirty="0">
                          <a:solidFill>
                            <a:srgbClr val="000000"/>
                          </a:solidFill>
                          <a:effectLst/>
                          <a:latin typeface="BIZ UDPゴシック" panose="020B0400000000000000" pitchFamily="50" charset="-128"/>
                          <a:ea typeface="BIZ UDPゴシック" panose="020B0400000000000000" pitchFamily="50" charset="-128"/>
                        </a:rPr>
                        <a:t>⑩</a:t>
                      </a:r>
                      <a:br>
                        <a:rPr lang="ja-JP" altLang="en-US" sz="7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（①</a:t>
                      </a: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+②+④+⑤</a:t>
                      </a: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a:t>
                      </a:r>
                      <a:endParaRPr lang="ja-JP" altLang="en-US" sz="7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751" marR="4751" marT="4751" marB="0" anchor="ctr">
                    <a:lnL>
                      <a:noFill/>
                    </a:lnL>
                    <a:lnR>
                      <a:noFill/>
                    </a:lnR>
                    <a:lnT>
                      <a:noFill/>
                    </a:lnT>
                    <a:lnB>
                      <a:noFill/>
                    </a:lnB>
                  </a:tcPr>
                </a:tc>
                <a:tc>
                  <a:txBody>
                    <a:bodyPr/>
                    <a:lstStyle/>
                    <a:p>
                      <a:pPr algn="ctr" fontAlgn="ctr"/>
                      <a:r>
                        <a:rPr lang="ja-JP" altLang="en-US" sz="1400" b="0" i="0" u="none" strike="noStrike" dirty="0">
                          <a:solidFill>
                            <a:srgbClr val="000000"/>
                          </a:solidFill>
                          <a:effectLst/>
                          <a:latin typeface="BIZ UDPゴシック" panose="020B0400000000000000" pitchFamily="50" charset="-128"/>
                          <a:ea typeface="BIZ UDPゴシック" panose="020B0400000000000000" pitchFamily="50" charset="-128"/>
                        </a:rPr>
                        <a:t>⑪</a:t>
                      </a:r>
                      <a:br>
                        <a:rPr lang="ja-JP" altLang="en-US" sz="7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700" b="0" i="0" u="none" strike="noStrike" dirty="0">
                          <a:solidFill>
                            <a:srgbClr val="000000"/>
                          </a:solidFill>
                          <a:effectLst/>
                          <a:latin typeface="BIZ UDPゴシック" panose="020B0400000000000000" pitchFamily="50" charset="-128"/>
                          <a:ea typeface="BIZ UDPゴシック" panose="020B0400000000000000" pitchFamily="50" charset="-128"/>
                        </a:rPr>
                        <a:t>（①</a:t>
                      </a:r>
                      <a:r>
                        <a:rPr lang="en-US" altLang="ja-JP" sz="700" b="0" i="0" u="none" strike="noStrike" dirty="0">
                          <a:solidFill>
                            <a:srgbClr val="000000"/>
                          </a:solidFill>
                          <a:effectLst/>
                          <a:latin typeface="BIZ UDPゴシック" panose="020B0400000000000000" pitchFamily="50" charset="-128"/>
                          <a:ea typeface="BIZ UDPゴシック" panose="020B0400000000000000" pitchFamily="50" charset="-128"/>
                        </a:rPr>
                        <a:t>+②+③+④+⑤</a:t>
                      </a:r>
                      <a:r>
                        <a:rPr lang="ja-JP" altLang="en-US" sz="7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4751" marR="4751" marT="4751" marB="0" anchor="ctr">
                    <a:lnL>
                      <a:noFill/>
                    </a:lnL>
                    <a:lnR>
                      <a:noFill/>
                    </a:lnR>
                    <a:lnT>
                      <a:noFill/>
                    </a:lnT>
                    <a:lnB>
                      <a:noFill/>
                    </a:lnB>
                  </a:tcPr>
                </a:tc>
                <a:extLst>
                  <a:ext uri="{0D108BD9-81ED-4DB2-BD59-A6C34878D82A}">
                    <a16:rowId xmlns:a16="http://schemas.microsoft.com/office/drawing/2014/main" val="817639319"/>
                  </a:ext>
                </a:extLst>
              </a:tr>
              <a:tr h="435402">
                <a:tc>
                  <a:txBody>
                    <a:bodyPr/>
                    <a:lstStyle/>
                    <a:p>
                      <a:pPr algn="ctr" fontAlgn="ctr"/>
                      <a:endParaRPr lang="ja-JP" altLang="en-US" sz="5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751" marR="4751" marT="4751"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ja-JP" altLang="en-US" sz="6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751" marR="4751" marT="4751"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ja-JP" altLang="en-US" sz="6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751" marR="4751" marT="4751"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ja-JP" altLang="en-US" sz="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4751" marR="4751" marT="4751"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ja-JP" altLang="en-US" sz="6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751" marR="4751" marT="4751"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ja-JP" altLang="en-US" sz="6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4751" marR="4751" marT="4751"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管理部　一般</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（扶養なし）</a:t>
                      </a:r>
                    </a:p>
                  </a:txBody>
                  <a:tcPr marL="4751" marR="4751" marT="4751"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管理部　ﾘｰﾀﾞｰ（扶養なし）</a:t>
                      </a:r>
                    </a:p>
                  </a:txBody>
                  <a:tcPr marL="4751" marR="4751" marT="4751"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営業部　一般</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（扶養なし）</a:t>
                      </a:r>
                    </a:p>
                  </a:txBody>
                  <a:tcPr marL="4751" marR="4751" marT="4751"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営業部　リーダー</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（扶養なし）</a:t>
                      </a:r>
                    </a:p>
                  </a:txBody>
                  <a:tcPr marL="4751" marR="4751" marT="4751"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営業部　一般　</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（扶養 配偶者・</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第一子）</a:t>
                      </a:r>
                    </a:p>
                  </a:txBody>
                  <a:tcPr marL="4751" marR="4751" marT="4751"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営業部　リーダー　</a:t>
                      </a:r>
                      <a:b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（扶養 配偶者・</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第一子）</a:t>
                      </a:r>
                    </a:p>
                  </a:txBody>
                  <a:tcPr marL="4751" marR="4751" marT="4751"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9104888"/>
                  </a:ext>
                </a:extLst>
              </a:tr>
              <a:tr h="448032">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グレード</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月例基本給</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賞与</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役職</a:t>
                      </a:r>
                      <a:b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手当</a:t>
                      </a:r>
                      <a:endPar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（ﾘｰﾀﾞｰ例）</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0"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時間外</a:t>
                      </a:r>
                      <a:endPar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rtl="0"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みなし手当</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家族</a:t>
                      </a:r>
                      <a:b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手当</a:t>
                      </a:r>
                      <a:endPar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（一例）</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ja-JP" altLang="en-US" sz="8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理論年収</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marL="0" marR="0" lvl="0" indent="0" algn="ctr" defTabSz="914325" rtl="0" eaLnBrk="1" fontAlgn="ctr"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white">
                              <a:lumMod val="95000"/>
                            </a:prstClr>
                          </a:solidFill>
                          <a:effectLst/>
                          <a:uLnTx/>
                          <a:uFillTx/>
                          <a:latin typeface="BIZ UDPゴシック" panose="020B0400000000000000" pitchFamily="50" charset="-128"/>
                          <a:ea typeface="BIZ UDPゴシック" panose="020B0400000000000000" pitchFamily="50" charset="-128"/>
                          <a:cs typeface="+mn-cs"/>
                        </a:rPr>
                        <a:t>理論年収</a:t>
                      </a:r>
                      <a:endParaRPr kumimoji="1" lang="ja-JP" altLang="en-US" sz="800" b="0" i="0" u="none" strike="noStrike" kern="1200" cap="none" spc="0" normalizeH="0" baseline="0" noProof="0" dirty="0">
                        <a:ln>
                          <a:noFill/>
                        </a:ln>
                        <a:solidFill>
                          <a:prstClr val="white">
                            <a:lumMod val="95000"/>
                          </a:prstClr>
                        </a:solidFill>
                        <a:effectLst/>
                        <a:uLnTx/>
                        <a:uFillTx/>
                        <a:latin typeface="BIZ UDPゴシック" panose="020B0400000000000000" pitchFamily="50" charset="-128"/>
                        <a:ea typeface="BIZ UDPゴシック" panose="020B0400000000000000" pitchFamily="50" charset="-128"/>
                        <a:cs typeface="+mn-cs"/>
                      </a:endParaRP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marL="0" marR="0" lvl="0" indent="0" algn="ctr" defTabSz="914325" rtl="0" eaLnBrk="1" fontAlgn="ctr"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white">
                              <a:lumMod val="95000"/>
                            </a:prstClr>
                          </a:solidFill>
                          <a:effectLst/>
                          <a:uLnTx/>
                          <a:uFillTx/>
                          <a:latin typeface="BIZ UDPゴシック" panose="020B0400000000000000" pitchFamily="50" charset="-128"/>
                          <a:ea typeface="BIZ UDPゴシック" panose="020B0400000000000000" pitchFamily="50" charset="-128"/>
                          <a:cs typeface="+mn-cs"/>
                        </a:rPr>
                        <a:t>理論年収</a:t>
                      </a:r>
                      <a:endParaRPr kumimoji="1" lang="ja-JP" altLang="en-US" sz="800" b="0" i="0" u="none" strike="noStrike" kern="1200" cap="none" spc="0" normalizeH="0" baseline="0" noProof="0" dirty="0">
                        <a:ln>
                          <a:noFill/>
                        </a:ln>
                        <a:solidFill>
                          <a:prstClr val="white">
                            <a:lumMod val="95000"/>
                          </a:prstClr>
                        </a:solidFill>
                        <a:effectLst/>
                        <a:uLnTx/>
                        <a:uFillTx/>
                        <a:latin typeface="BIZ UDPゴシック" panose="020B0400000000000000" pitchFamily="50" charset="-128"/>
                        <a:ea typeface="BIZ UDPゴシック" panose="020B0400000000000000" pitchFamily="50" charset="-128"/>
                        <a:cs typeface="+mn-cs"/>
                      </a:endParaRP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marL="0" marR="0" lvl="0" indent="0" algn="ctr" defTabSz="914325" rtl="0" eaLnBrk="1" fontAlgn="ctr"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prstClr val="white">
                              <a:lumMod val="95000"/>
                            </a:prstClr>
                          </a:solidFill>
                          <a:effectLst/>
                          <a:uLnTx/>
                          <a:uFillTx/>
                          <a:latin typeface="BIZ UDPゴシック" panose="020B0400000000000000" pitchFamily="50" charset="-128"/>
                          <a:ea typeface="BIZ UDPゴシック" panose="020B0400000000000000" pitchFamily="50" charset="-128"/>
                          <a:cs typeface="+mn-cs"/>
                        </a:rPr>
                        <a:t>理論年収</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marL="0" marR="0" lvl="0" indent="0" algn="ctr" defTabSz="914325" rtl="0" eaLnBrk="1" fontAlgn="ctr"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prstClr val="white">
                              <a:lumMod val="95000"/>
                            </a:prstClr>
                          </a:solidFill>
                          <a:effectLst/>
                          <a:uLnTx/>
                          <a:uFillTx/>
                          <a:latin typeface="BIZ UDPゴシック" panose="020B0400000000000000" pitchFamily="50" charset="-128"/>
                          <a:ea typeface="BIZ UDPゴシック" panose="020B0400000000000000" pitchFamily="50" charset="-128"/>
                          <a:cs typeface="+mn-cs"/>
                        </a:rPr>
                        <a:t>理論年収</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marL="0" marR="0" lvl="0" indent="0" algn="ctr" defTabSz="914325" rtl="0" eaLnBrk="1" fontAlgn="ctr"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prstClr val="white">
                              <a:lumMod val="95000"/>
                            </a:prstClr>
                          </a:solidFill>
                          <a:effectLst/>
                          <a:uLnTx/>
                          <a:uFillTx/>
                          <a:latin typeface="BIZ UDPゴシック" panose="020B0400000000000000" pitchFamily="50" charset="-128"/>
                          <a:ea typeface="BIZ UDPゴシック" panose="020B0400000000000000" pitchFamily="50" charset="-128"/>
                          <a:cs typeface="+mn-cs"/>
                        </a:rPr>
                        <a:t>理論年収</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85868250"/>
                  </a:ext>
                </a:extLst>
              </a:tr>
              <a:tr h="272126">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11</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428,645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728,697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31,500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6,601,133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7,081,133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6,979,133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7,459,133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7,267,133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7,747,133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65807387"/>
                  </a:ext>
                </a:extLst>
              </a:tr>
              <a:tr h="272126">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10</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407,221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692,276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6,271,203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6,751,203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6,631,203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7,111,203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6,919,203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7,399,203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71146204"/>
                  </a:ext>
                </a:extLst>
              </a:tr>
              <a:tr h="272126">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9</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385,787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655,838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28,500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5,941,120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6,421,120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6,283,120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6,763,120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6,571,120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7,051,120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59282407"/>
                  </a:ext>
                </a:extLst>
              </a:tr>
              <a:tr h="272126">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8</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364,353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619,400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27,000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5,611,036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6,091,036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5,935,036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6,415,036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6,223,036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6,703,036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10405839"/>
                  </a:ext>
                </a:extLst>
              </a:tr>
              <a:tr h="272126">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7</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342,918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582,961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25,000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5,280,937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5,760,937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5,580,937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6,060,937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5,868,937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6,348,937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83724877"/>
                  </a:ext>
                </a:extLst>
              </a:tr>
              <a:tr h="272126">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6</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321,484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546,523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23,500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4,950,854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5,430,854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5,232,854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5,712,854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5,520,854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6,000,854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54648559"/>
                  </a:ext>
                </a:extLst>
              </a:tr>
              <a:tr h="272126">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5</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300,060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510,102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22,000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4,620,924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5,100,924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4,884,924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5,364,924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5,172,924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5,652,924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112646197"/>
                  </a:ext>
                </a:extLst>
              </a:tr>
              <a:tr h="272126">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4</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278,626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473,664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21,000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4,290,840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4,770,840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4,542,840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5,022,840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4,830,840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5,310,840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29654715"/>
                  </a:ext>
                </a:extLst>
              </a:tr>
              <a:tr h="272126">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3</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257,191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437,225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19,000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3,960,741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4,440,741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4,188,741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4,668,741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4,476,741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4,956,741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846713004"/>
                  </a:ext>
                </a:extLst>
              </a:tr>
              <a:tr h="272126">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2</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235,757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400,787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18,000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3,630,658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4,110,658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3,846,658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4,326,658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4,134,658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4,614,658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55640147"/>
                  </a:ext>
                </a:extLst>
              </a:tr>
              <a:tr h="272126">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1</a:t>
                      </a:r>
                    </a:p>
                  </a:txBody>
                  <a:tcPr marL="4751" marR="4751" marT="47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214,323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364,349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16,000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3,300,574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3,780,574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3,492,574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3,972,574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3,780,574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4,260,574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880786690"/>
                  </a:ext>
                </a:extLst>
              </a:tr>
            </a:tbl>
          </a:graphicData>
        </a:graphic>
      </p:graphicFrame>
      <p:sp>
        <p:nvSpPr>
          <p:cNvPr id="5" name="正方形/長方形 4">
            <a:extLst>
              <a:ext uri="{FF2B5EF4-FFF2-40B4-BE49-F238E27FC236}">
                <a16:creationId xmlns:a16="http://schemas.microsoft.com/office/drawing/2014/main" id="{EA34D8D9-74F2-DAEF-9A7D-899E411EDEFF}"/>
              </a:ext>
            </a:extLst>
          </p:cNvPr>
          <p:cNvSpPr/>
          <p:nvPr/>
        </p:nvSpPr>
        <p:spPr>
          <a:xfrm>
            <a:off x="2699792" y="5497276"/>
            <a:ext cx="6118565" cy="1008108"/>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総合職は</a:t>
            </a:r>
            <a:r>
              <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G1</a:t>
            </a: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11</a:t>
            </a: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の「</a:t>
            </a:r>
            <a:r>
              <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11</a:t>
            </a: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段階」とする。</a:t>
            </a:r>
            <a:endPar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171450" indent="-171450">
              <a:buFont typeface="Arial" panose="020B0604020202020204" pitchFamily="34" charset="0"/>
              <a:buChar char="•"/>
            </a:pP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「②賞与」の支給額は毎回異なり、支給のたびに変動する。上の図では、仮に支給額は「基本給の</a:t>
            </a:r>
            <a:r>
              <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1.7</a:t>
            </a: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倍」としている。</a:t>
            </a:r>
            <a:endPar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graphicFrame>
        <p:nvGraphicFramePr>
          <p:cNvPr id="6" name="表 5">
            <a:extLst>
              <a:ext uri="{FF2B5EF4-FFF2-40B4-BE49-F238E27FC236}">
                <a16:creationId xmlns:a16="http://schemas.microsoft.com/office/drawing/2014/main" id="{8C629A28-A132-139F-0A40-A72EE6A589EA}"/>
              </a:ext>
            </a:extLst>
          </p:cNvPr>
          <p:cNvGraphicFramePr>
            <a:graphicFrameLocks noGrp="1"/>
          </p:cNvGraphicFramePr>
          <p:nvPr>
            <p:extLst>
              <p:ext uri="{D42A27DB-BD31-4B8C-83A1-F6EECF244321}">
                <p14:modId xmlns:p14="http://schemas.microsoft.com/office/powerpoint/2010/main" val="2477548268"/>
              </p:ext>
            </p:extLst>
          </p:nvPr>
        </p:nvGraphicFramePr>
        <p:xfrm>
          <a:off x="265295" y="5506185"/>
          <a:ext cx="2353568" cy="1159862"/>
        </p:xfrm>
        <a:graphic>
          <a:graphicData uri="http://schemas.openxmlformats.org/drawingml/2006/table">
            <a:tbl>
              <a:tblPr/>
              <a:tblGrid>
                <a:gridCol w="588392">
                  <a:extLst>
                    <a:ext uri="{9D8B030D-6E8A-4147-A177-3AD203B41FA5}">
                      <a16:colId xmlns:a16="http://schemas.microsoft.com/office/drawing/2014/main" val="2535656229"/>
                    </a:ext>
                  </a:extLst>
                </a:gridCol>
                <a:gridCol w="588392">
                  <a:extLst>
                    <a:ext uri="{9D8B030D-6E8A-4147-A177-3AD203B41FA5}">
                      <a16:colId xmlns:a16="http://schemas.microsoft.com/office/drawing/2014/main" val="3353060507"/>
                    </a:ext>
                  </a:extLst>
                </a:gridCol>
                <a:gridCol w="588392">
                  <a:extLst>
                    <a:ext uri="{9D8B030D-6E8A-4147-A177-3AD203B41FA5}">
                      <a16:colId xmlns:a16="http://schemas.microsoft.com/office/drawing/2014/main" val="1354278994"/>
                    </a:ext>
                  </a:extLst>
                </a:gridCol>
                <a:gridCol w="588392">
                  <a:extLst>
                    <a:ext uri="{9D8B030D-6E8A-4147-A177-3AD203B41FA5}">
                      <a16:colId xmlns:a16="http://schemas.microsoft.com/office/drawing/2014/main" val="2362238898"/>
                    </a:ext>
                  </a:extLst>
                </a:gridCol>
              </a:tblGrid>
              <a:tr h="181701">
                <a:tc gridSpan="2">
                  <a:txBody>
                    <a:bodyPr/>
                    <a:lstStyle/>
                    <a:p>
                      <a:pPr algn="ctr" rtl="0" fontAlgn="ctr"/>
                      <a:r>
                        <a:rPr lang="zh-TW"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役職手当　月額　</a:t>
                      </a:r>
                      <a:endParaRPr lang="en-US" altLang="zh-TW"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rtl="0" fontAlgn="ctr"/>
                      <a:r>
                        <a:rPr lang="zh-TW"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（単位：円）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gridSpan="2">
                  <a:txBody>
                    <a:bodyPr/>
                    <a:lstStyle/>
                    <a:p>
                      <a:pPr algn="ctr" rtl="0"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家族手当　月額　</a:t>
                      </a:r>
                      <a:endParaRPr lang="en-US" altLang="ja-JP"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rtl="0"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（単位：円）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extLst>
                  <a:ext uri="{0D108BD9-81ED-4DB2-BD59-A6C34878D82A}">
                    <a16:rowId xmlns:a16="http://schemas.microsoft.com/office/drawing/2014/main" val="426848317"/>
                  </a:ext>
                </a:extLst>
              </a:tr>
              <a:tr h="176654">
                <a:tc>
                  <a:txBody>
                    <a:bodyPr/>
                    <a:lstStyle/>
                    <a:p>
                      <a:pPr algn="ctr" rtl="0"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本部長</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200,000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配偶者</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16,000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9422531"/>
                  </a:ext>
                </a:extLst>
              </a:tr>
              <a:tr h="176654">
                <a:tc>
                  <a:txBody>
                    <a:bodyPr/>
                    <a:lstStyle/>
                    <a:p>
                      <a:pPr algn="ctr" rtl="0" fontAlgn="ctr"/>
                      <a:r>
                        <a:rPr lang="ja-JP" altLang="en-US" sz="800" b="0" i="0" u="none" strike="noStrike">
                          <a:solidFill>
                            <a:srgbClr val="000000"/>
                          </a:solidFill>
                          <a:effectLst/>
                          <a:latin typeface="BIZ UDPゴシック" panose="020B0400000000000000" pitchFamily="50" charset="-128"/>
                          <a:ea typeface="BIZ UDPゴシック" panose="020B0400000000000000" pitchFamily="50" charset="-128"/>
                        </a:rPr>
                        <a:t>部長</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130,000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第一子</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8,000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7984374"/>
                  </a:ext>
                </a:extLst>
              </a:tr>
              <a:tr h="176654">
                <a:tc>
                  <a:txBody>
                    <a:bodyPr/>
                    <a:lstStyle/>
                    <a:p>
                      <a:pPr algn="ctr" rtl="0"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統括ﾘｰﾀﾞｰ</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80,000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第二子</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807387"/>
                  </a:ext>
                </a:extLst>
              </a:tr>
              <a:tr h="176654">
                <a:tc>
                  <a:txBody>
                    <a:bodyPr/>
                    <a:lstStyle/>
                    <a:p>
                      <a:pPr algn="ctr" rtl="0" fontAlgn="ctr"/>
                      <a:r>
                        <a:rPr lang="ja-JP" altLang="en-US" sz="800" b="0" i="0" u="none" strike="noStrike">
                          <a:solidFill>
                            <a:srgbClr val="000000"/>
                          </a:solidFill>
                          <a:effectLst/>
                          <a:latin typeface="BIZ UDPゴシック" panose="020B0400000000000000" pitchFamily="50" charset="-128"/>
                          <a:ea typeface="BIZ UDPゴシック" panose="020B0400000000000000" pitchFamily="50" charset="-128"/>
                        </a:rPr>
                        <a:t>リーダー</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40,000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289185314"/>
                  </a:ext>
                </a:extLst>
              </a:tr>
              <a:tr h="203056">
                <a:tc>
                  <a:txBody>
                    <a:bodyPr/>
                    <a:lstStyle/>
                    <a:p>
                      <a:pPr algn="ctr" rtl="0"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サブリーダー</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20,000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800" b="0" i="0" u="none" strike="noStrike" dirty="0">
                          <a:solidFill>
                            <a:srgbClr val="000000"/>
                          </a:solidFill>
                          <a:effectLst/>
                          <a:latin typeface="Arial" panose="020B0604020202020204" pitchFamily="34" charset="0"/>
                          <a:ea typeface="游ゴシック" panose="020B0400000000000000" pitchFamily="50" charset="-128"/>
                        </a:rPr>
                        <a:t>　</a:t>
                      </a:r>
                    </a:p>
                  </a:txBody>
                  <a:tcPr marL="6350" marR="6350" marT="635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endParaRPr lang="ja-JP" altLang="en-US" sz="800" b="0" i="0" u="none" strike="noStrike" dirty="0">
                        <a:solidFill>
                          <a:srgbClr val="000000"/>
                        </a:solidFill>
                        <a:effectLst/>
                        <a:latin typeface="Arial" panose="020B0604020202020204" pitchFamily="34" charset="0"/>
                        <a:ea typeface="游ゴシック" panose="020B0400000000000000" pitchFamily="50" charset="-128"/>
                      </a:endParaRPr>
                    </a:p>
                  </a:txBody>
                  <a:tcPr marL="6350" marR="6350" marT="6350" marB="0" anchor="ctr">
                    <a:lnL>
                      <a:noFill/>
                    </a:lnL>
                    <a:lnR>
                      <a:noFill/>
                    </a:lnR>
                    <a:lnT>
                      <a:noFill/>
                    </a:lnT>
                    <a:lnB>
                      <a:noFill/>
                    </a:lnB>
                    <a:noFill/>
                  </a:tcPr>
                </a:tc>
                <a:extLst>
                  <a:ext uri="{0D108BD9-81ED-4DB2-BD59-A6C34878D82A}">
                    <a16:rowId xmlns:a16="http://schemas.microsoft.com/office/drawing/2014/main" val="2369311015"/>
                  </a:ext>
                </a:extLst>
              </a:tr>
            </a:tbl>
          </a:graphicData>
        </a:graphic>
      </p:graphicFrame>
    </p:spTree>
    <p:extLst>
      <p:ext uri="{BB962C8B-B14F-4D97-AF65-F5344CB8AC3E}">
        <p14:creationId xmlns:p14="http://schemas.microsoft.com/office/powerpoint/2010/main" val="3637371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descr="グラフィカル ユーザー インターフェイス, アプリケーション&#10;&#10;自動的に生成された説明">
            <a:extLst>
              <a:ext uri="{FF2B5EF4-FFF2-40B4-BE49-F238E27FC236}">
                <a16:creationId xmlns:a16="http://schemas.microsoft.com/office/drawing/2014/main" id="{9B885C0B-1E8F-266A-1B02-2C52302F07C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200"/>
          <a:stretch/>
        </p:blipFill>
        <p:spPr>
          <a:xfrm>
            <a:off x="0" y="196203"/>
            <a:ext cx="9144000" cy="6465594"/>
          </a:xfrm>
          <a:prstGeom prst="rect">
            <a:avLst/>
          </a:prstGeom>
        </p:spPr>
      </p:pic>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12</a:t>
            </a:fld>
            <a:r>
              <a:rPr lang="ja-JP" altLang="en-US" sz="1050" dirty="0">
                <a:latin typeface="+mn-ea"/>
              </a:rPr>
              <a:t>－</a:t>
            </a:r>
          </a:p>
        </p:txBody>
      </p:sp>
      <p:sp>
        <p:nvSpPr>
          <p:cNvPr id="2" name="正方形/長方形 1">
            <a:extLst>
              <a:ext uri="{FF2B5EF4-FFF2-40B4-BE49-F238E27FC236}">
                <a16:creationId xmlns:a16="http://schemas.microsoft.com/office/drawing/2014/main" id="{0E2BE262-9A4D-1E20-1E82-67788BB5086B}"/>
              </a:ext>
            </a:extLst>
          </p:cNvPr>
          <p:cNvSpPr/>
          <p:nvPr/>
        </p:nvSpPr>
        <p:spPr>
          <a:xfrm>
            <a:off x="683568" y="130349"/>
            <a:ext cx="7881466" cy="576064"/>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dirty="0">
                <a:latin typeface="BIZ UDPゴシック" panose="020B0400000000000000" pitchFamily="50" charset="-128"/>
                <a:ea typeface="BIZ UDPゴシック" panose="020B0400000000000000" pitchFamily="50" charset="-128"/>
              </a:rPr>
              <a:t>総合職　ジョブ評価シート</a:t>
            </a:r>
            <a:endParaRPr lang="en-US" altLang="ja-JP" sz="2800" dirty="0">
              <a:latin typeface="BIZ UDPゴシック" panose="020B0400000000000000" pitchFamily="50" charset="-128"/>
              <a:ea typeface="BIZ UDPゴシック" panose="020B0400000000000000" pitchFamily="50" charset="-128"/>
            </a:endParaRPr>
          </a:p>
        </p:txBody>
      </p:sp>
      <p:sp>
        <p:nvSpPr>
          <p:cNvPr id="3" name="正方形/長方形 2">
            <a:extLst>
              <a:ext uri="{FF2B5EF4-FFF2-40B4-BE49-F238E27FC236}">
                <a16:creationId xmlns:a16="http://schemas.microsoft.com/office/drawing/2014/main" id="{82A8FDBE-52A3-43D7-D800-C2D5A1E8F316}"/>
              </a:ext>
            </a:extLst>
          </p:cNvPr>
          <p:cNvSpPr/>
          <p:nvPr/>
        </p:nvSpPr>
        <p:spPr>
          <a:xfrm>
            <a:off x="467544" y="1340509"/>
            <a:ext cx="2592288" cy="56973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latin typeface="BIZ UDPゴシック" panose="020B0400000000000000" pitchFamily="50" charset="-128"/>
                <a:ea typeface="BIZ UDPゴシック" panose="020B0400000000000000" pitchFamily="50" charset="-128"/>
              </a:rPr>
              <a:t>①成果評価</a:t>
            </a:r>
            <a:endParaRPr lang="en-US" altLang="ja-JP" dirty="0">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B509FAA8-D937-22C7-5B28-770B30B14EB2}"/>
              </a:ext>
            </a:extLst>
          </p:cNvPr>
          <p:cNvSpPr/>
          <p:nvPr/>
        </p:nvSpPr>
        <p:spPr>
          <a:xfrm>
            <a:off x="107504" y="856964"/>
            <a:ext cx="8928992" cy="19442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864B2DA5-95E0-BED2-900D-3E8623F401DF}"/>
              </a:ext>
            </a:extLst>
          </p:cNvPr>
          <p:cNvSpPr/>
          <p:nvPr/>
        </p:nvSpPr>
        <p:spPr>
          <a:xfrm>
            <a:off x="107504" y="2833886"/>
            <a:ext cx="6408712" cy="37634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正方形/長方形 7">
            <a:extLst>
              <a:ext uri="{FF2B5EF4-FFF2-40B4-BE49-F238E27FC236}">
                <a16:creationId xmlns:a16="http://schemas.microsoft.com/office/drawing/2014/main" id="{6661D7DC-3683-388D-798A-D5FF96D1069D}"/>
              </a:ext>
            </a:extLst>
          </p:cNvPr>
          <p:cNvSpPr/>
          <p:nvPr/>
        </p:nvSpPr>
        <p:spPr>
          <a:xfrm>
            <a:off x="467544" y="3363323"/>
            <a:ext cx="2592288" cy="56973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latin typeface="BIZ UDPゴシック" panose="020B0400000000000000" pitchFamily="50" charset="-128"/>
                <a:ea typeface="BIZ UDPゴシック" panose="020B0400000000000000" pitchFamily="50" charset="-128"/>
              </a:rPr>
              <a:t>②行動評価</a:t>
            </a: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840628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13</a:t>
            </a:fld>
            <a:r>
              <a:rPr lang="ja-JP" altLang="en-US" sz="1050" dirty="0">
                <a:latin typeface="+mn-ea"/>
              </a:rPr>
              <a:t>－</a:t>
            </a:r>
          </a:p>
        </p:txBody>
      </p:sp>
      <p:sp>
        <p:nvSpPr>
          <p:cNvPr id="9" name="タイトル 2">
            <a:extLst>
              <a:ext uri="{FF2B5EF4-FFF2-40B4-BE49-F238E27FC236}">
                <a16:creationId xmlns:a16="http://schemas.microsoft.com/office/drawing/2014/main" id="{89BAE1CA-24A7-45B0-A7E7-5D2F54791A49}"/>
              </a:ext>
            </a:extLst>
          </p:cNvPr>
          <p:cNvSpPr txBox="1">
            <a:spLocks/>
          </p:cNvSpPr>
          <p:nvPr/>
        </p:nvSpPr>
        <p:spPr>
          <a:xfrm>
            <a:off x="115286" y="974584"/>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グレード・評価項目ごとの重み</a:t>
            </a:r>
          </a:p>
        </p:txBody>
      </p:sp>
      <p:sp>
        <p:nvSpPr>
          <p:cNvPr id="2" name="タイトル 2">
            <a:extLst>
              <a:ext uri="{FF2B5EF4-FFF2-40B4-BE49-F238E27FC236}">
                <a16:creationId xmlns:a16="http://schemas.microsoft.com/office/drawing/2014/main" id="{C984C94F-88AA-A6BE-CD6C-891599681AF8}"/>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新制度　総合職　①成果評価について</a:t>
            </a:r>
          </a:p>
        </p:txBody>
      </p:sp>
      <p:graphicFrame>
        <p:nvGraphicFramePr>
          <p:cNvPr id="14" name="表 13">
            <a:extLst>
              <a:ext uri="{FF2B5EF4-FFF2-40B4-BE49-F238E27FC236}">
                <a16:creationId xmlns:a16="http://schemas.microsoft.com/office/drawing/2014/main" id="{04805B09-FBE9-A5DF-95A0-7F73A1372E45}"/>
              </a:ext>
            </a:extLst>
          </p:cNvPr>
          <p:cNvGraphicFramePr>
            <a:graphicFrameLocks noGrp="1"/>
          </p:cNvGraphicFramePr>
          <p:nvPr>
            <p:extLst>
              <p:ext uri="{D42A27DB-BD31-4B8C-83A1-F6EECF244321}">
                <p14:modId xmlns:p14="http://schemas.microsoft.com/office/powerpoint/2010/main" val="2497534521"/>
              </p:ext>
            </p:extLst>
          </p:nvPr>
        </p:nvGraphicFramePr>
        <p:xfrm>
          <a:off x="115286" y="3216584"/>
          <a:ext cx="8881549" cy="1436552"/>
        </p:xfrm>
        <a:graphic>
          <a:graphicData uri="http://schemas.openxmlformats.org/drawingml/2006/table">
            <a:tbl>
              <a:tblPr/>
              <a:tblGrid>
                <a:gridCol w="1976665">
                  <a:extLst>
                    <a:ext uri="{9D8B030D-6E8A-4147-A177-3AD203B41FA5}">
                      <a16:colId xmlns:a16="http://schemas.microsoft.com/office/drawing/2014/main" val="876742290"/>
                    </a:ext>
                  </a:extLst>
                </a:gridCol>
                <a:gridCol w="3343275">
                  <a:extLst>
                    <a:ext uri="{9D8B030D-6E8A-4147-A177-3AD203B41FA5}">
                      <a16:colId xmlns:a16="http://schemas.microsoft.com/office/drawing/2014/main" val="82513063"/>
                    </a:ext>
                  </a:extLst>
                </a:gridCol>
                <a:gridCol w="3561609">
                  <a:extLst>
                    <a:ext uri="{9D8B030D-6E8A-4147-A177-3AD203B41FA5}">
                      <a16:colId xmlns:a16="http://schemas.microsoft.com/office/drawing/2014/main" val="2967521946"/>
                    </a:ext>
                  </a:extLst>
                </a:gridCol>
              </a:tblGrid>
              <a:tr h="240695">
                <a:tc>
                  <a:txBody>
                    <a:bodyPr/>
                    <a:lstStyle/>
                    <a:p>
                      <a:pPr algn="ctr" fontAlgn="ctr"/>
                      <a:r>
                        <a:rPr lang="ja-JP" alt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評価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評価の目安（定量：目標達成度）</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評価の目安（定性）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868145021"/>
                  </a:ext>
                </a:extLst>
              </a:tr>
              <a:tr h="233077">
                <a:tc>
                  <a:txBody>
                    <a:bodyPr/>
                    <a:lstStyle/>
                    <a:p>
                      <a:pPr algn="ctr" fontAlgn="ctr"/>
                      <a:r>
                        <a:rPr 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rPr>
                        <a:t>120</a:t>
                      </a: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役職の期待役割をはるかに上回った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3400690"/>
                  </a:ext>
                </a:extLst>
              </a:tr>
              <a:tr h="240695">
                <a:tc>
                  <a:txBody>
                    <a:bodyPr/>
                    <a:lstStyle/>
                    <a:p>
                      <a:pPr algn="ctr" fontAlgn="ctr"/>
                      <a:r>
                        <a:rPr 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110</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120</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役職の期待役割を上回った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5934792"/>
                  </a:ext>
                </a:extLst>
              </a:tr>
              <a:tr h="240695">
                <a:tc>
                  <a:txBody>
                    <a:bodyPr/>
                    <a:lstStyle/>
                    <a:p>
                      <a:pPr algn="ctr" fontAlgn="ctr"/>
                      <a:r>
                        <a:rPr 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100</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110</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役職の期待役割をほぼ期待どおりだった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8273164"/>
                  </a:ext>
                </a:extLst>
              </a:tr>
              <a:tr h="240695">
                <a:tc>
                  <a:txBody>
                    <a:bodyPr/>
                    <a:lstStyle/>
                    <a:p>
                      <a:pPr algn="ctr" fontAlgn="ctr"/>
                      <a:r>
                        <a:rPr 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90</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100</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役職の期待役割を下回った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8680383"/>
                  </a:ext>
                </a:extLst>
              </a:tr>
              <a:tr h="240695">
                <a:tc>
                  <a:txBody>
                    <a:bodyPr/>
                    <a:lstStyle/>
                    <a:p>
                      <a:pPr algn="ctr" fontAlgn="ctr"/>
                      <a:r>
                        <a:rPr 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90</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役職の期待役割を大きく下回った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1113360"/>
                  </a:ext>
                </a:extLst>
              </a:tr>
            </a:tbl>
          </a:graphicData>
        </a:graphic>
      </p:graphicFrame>
      <p:sp>
        <p:nvSpPr>
          <p:cNvPr id="15" name="タイトル 2">
            <a:extLst>
              <a:ext uri="{FF2B5EF4-FFF2-40B4-BE49-F238E27FC236}">
                <a16:creationId xmlns:a16="http://schemas.microsoft.com/office/drawing/2014/main" id="{3E6F3E95-D43C-12F1-8A06-33B35C615C1B}"/>
              </a:ext>
            </a:extLst>
          </p:cNvPr>
          <p:cNvSpPr txBox="1">
            <a:spLocks/>
          </p:cNvSpPr>
          <p:nvPr/>
        </p:nvSpPr>
        <p:spPr>
          <a:xfrm>
            <a:off x="115286" y="2783654"/>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達成基準</a:t>
            </a:r>
          </a:p>
        </p:txBody>
      </p:sp>
      <p:graphicFrame>
        <p:nvGraphicFramePr>
          <p:cNvPr id="5" name="表 4">
            <a:extLst>
              <a:ext uri="{FF2B5EF4-FFF2-40B4-BE49-F238E27FC236}">
                <a16:creationId xmlns:a16="http://schemas.microsoft.com/office/drawing/2014/main" id="{226078D2-7502-0D3D-361C-EA39A3840DEF}"/>
              </a:ext>
            </a:extLst>
          </p:cNvPr>
          <p:cNvGraphicFramePr>
            <a:graphicFrameLocks noGrp="1"/>
          </p:cNvGraphicFramePr>
          <p:nvPr>
            <p:extLst>
              <p:ext uri="{D42A27DB-BD31-4B8C-83A1-F6EECF244321}">
                <p14:modId xmlns:p14="http://schemas.microsoft.com/office/powerpoint/2010/main" val="691828531"/>
              </p:ext>
            </p:extLst>
          </p:nvPr>
        </p:nvGraphicFramePr>
        <p:xfrm>
          <a:off x="147164" y="1400374"/>
          <a:ext cx="8881550" cy="1508558"/>
        </p:xfrm>
        <a:graphic>
          <a:graphicData uri="http://schemas.openxmlformats.org/drawingml/2006/table">
            <a:tbl>
              <a:tblPr/>
              <a:tblGrid>
                <a:gridCol w="1968756">
                  <a:extLst>
                    <a:ext uri="{9D8B030D-6E8A-4147-A177-3AD203B41FA5}">
                      <a16:colId xmlns:a16="http://schemas.microsoft.com/office/drawing/2014/main" val="3360609039"/>
                    </a:ext>
                  </a:extLst>
                </a:gridCol>
                <a:gridCol w="1583864">
                  <a:extLst>
                    <a:ext uri="{9D8B030D-6E8A-4147-A177-3AD203B41FA5}">
                      <a16:colId xmlns:a16="http://schemas.microsoft.com/office/drawing/2014/main" val="457094450"/>
                    </a:ext>
                  </a:extLst>
                </a:gridCol>
                <a:gridCol w="1776310">
                  <a:extLst>
                    <a:ext uri="{9D8B030D-6E8A-4147-A177-3AD203B41FA5}">
                      <a16:colId xmlns:a16="http://schemas.microsoft.com/office/drawing/2014/main" val="2886647615"/>
                    </a:ext>
                  </a:extLst>
                </a:gridCol>
                <a:gridCol w="1776310">
                  <a:extLst>
                    <a:ext uri="{9D8B030D-6E8A-4147-A177-3AD203B41FA5}">
                      <a16:colId xmlns:a16="http://schemas.microsoft.com/office/drawing/2014/main" val="2056824320"/>
                    </a:ext>
                  </a:extLst>
                </a:gridCol>
                <a:gridCol w="1776310">
                  <a:extLst>
                    <a:ext uri="{9D8B030D-6E8A-4147-A177-3AD203B41FA5}">
                      <a16:colId xmlns:a16="http://schemas.microsoft.com/office/drawing/2014/main" val="940794449"/>
                    </a:ext>
                  </a:extLst>
                </a:gridCol>
              </a:tblGrid>
              <a:tr h="311433">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項目</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グレード</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組織目標</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個人目標①</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a:solidFill>
                            <a:srgbClr val="F2F2F2"/>
                          </a:solidFill>
                          <a:effectLst/>
                          <a:latin typeface="BIZ UDPゴシック" panose="020B0400000000000000" pitchFamily="50" charset="-128"/>
                          <a:ea typeface="BIZ UDPゴシック" panose="020B0400000000000000" pitchFamily="50" charset="-128"/>
                        </a:rPr>
                        <a:t>個人目標②</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extLst>
                  <a:ext uri="{0D108BD9-81ED-4DB2-BD59-A6C34878D82A}">
                    <a16:rowId xmlns:a16="http://schemas.microsoft.com/office/drawing/2014/main" val="3409055731"/>
                  </a:ext>
                </a:extLst>
              </a:tr>
              <a:tr h="239425">
                <a:tc rowSpan="5">
                  <a:txBody>
                    <a:bodyPr/>
                    <a:lstStyle/>
                    <a:p>
                      <a:pPr algn="ctr" rtl="0" fontAlgn="ctr"/>
                      <a:r>
                        <a:rPr lang="ja-JP" altLang="en-US" sz="1200" b="0" i="0" u="none" strike="noStrike" dirty="0">
                          <a:solidFill>
                            <a:srgbClr val="F2F2F2"/>
                          </a:solidFill>
                          <a:effectLst/>
                          <a:latin typeface="BIZ UDPゴシック" panose="020B0400000000000000" pitchFamily="50" charset="-128"/>
                          <a:ea typeface="BIZ UDPゴシック" panose="020B0400000000000000" pitchFamily="50" charset="-128"/>
                        </a:rPr>
                        <a:t>①</a:t>
                      </a:r>
                      <a:endParaRPr lang="en-US" altLang="ja-JP" sz="1200" b="0" i="0" u="none" strike="noStrike" dirty="0">
                        <a:solidFill>
                          <a:srgbClr val="F2F2F2"/>
                        </a:solidFill>
                        <a:effectLst/>
                        <a:latin typeface="BIZ UDPゴシック" panose="020B0400000000000000" pitchFamily="50" charset="-128"/>
                        <a:ea typeface="BIZ UDPゴシック" panose="020B0400000000000000" pitchFamily="50" charset="-128"/>
                      </a:endParaRPr>
                    </a:p>
                    <a:p>
                      <a:pPr algn="ctr" rtl="0" fontAlgn="ctr"/>
                      <a:r>
                        <a:rPr lang="ja-JP" altLang="en-US" sz="1200" b="0" i="0" u="none" strike="noStrike" dirty="0">
                          <a:solidFill>
                            <a:srgbClr val="F2F2F2"/>
                          </a:solidFill>
                          <a:effectLst/>
                          <a:latin typeface="BIZ UDPゴシック" panose="020B0400000000000000" pitchFamily="50" charset="-128"/>
                          <a:ea typeface="BIZ UDPゴシック" panose="020B0400000000000000" pitchFamily="50" charset="-128"/>
                        </a:rPr>
                        <a:t>成果評価</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a:txBody>
                    <a:bodyPr/>
                    <a:lstStyle/>
                    <a:p>
                      <a:pPr algn="l" rtl="0" fontAlgn="ctr"/>
                      <a:r>
                        <a:rPr lang="en-US" sz="1050" b="0" i="0" u="none" strike="noStrike" dirty="0">
                          <a:solidFill>
                            <a:schemeClr val="tx1"/>
                          </a:solidFill>
                          <a:effectLst/>
                          <a:latin typeface="BIZ UDPゴシック" panose="020B0400000000000000" pitchFamily="50" charset="-128"/>
                          <a:ea typeface="BIZ UDPゴシック" panose="020B0400000000000000" pitchFamily="50" charset="-128"/>
                        </a:rPr>
                        <a:t>G</a:t>
                      </a:r>
                      <a:r>
                        <a:rPr lang="en-US" altLang="ja-JP" sz="1050" b="0" i="0" u="none" strike="noStrike" dirty="0">
                          <a:solidFill>
                            <a:schemeClr val="tx1"/>
                          </a:solidFill>
                          <a:effectLst/>
                          <a:latin typeface="BIZ UDPゴシック" panose="020B0400000000000000" pitchFamily="50" charset="-128"/>
                          <a:ea typeface="BIZ UDPゴシック" panose="020B0400000000000000" pitchFamily="50" charset="-128"/>
                        </a:rPr>
                        <a:t>10</a:t>
                      </a:r>
                      <a:r>
                        <a:rPr lang="ja-JP" altLang="en-US" sz="1050" b="0" i="0" u="none" strike="noStrike" dirty="0">
                          <a:solidFill>
                            <a:schemeClr val="tx1"/>
                          </a:solidFill>
                          <a:effectLst/>
                          <a:latin typeface="BIZ UDPゴシック" panose="020B0400000000000000" pitchFamily="50" charset="-128"/>
                          <a:ea typeface="BIZ UDPゴシック" panose="020B0400000000000000" pitchFamily="50" charset="-128"/>
                        </a:rPr>
                        <a:t>・</a:t>
                      </a:r>
                      <a:r>
                        <a:rPr lang="en-US" sz="1050" b="0" i="0" u="none" strike="noStrike" dirty="0">
                          <a:solidFill>
                            <a:schemeClr val="tx1"/>
                          </a:solidFill>
                          <a:effectLst/>
                          <a:latin typeface="BIZ UDPゴシック" panose="020B0400000000000000" pitchFamily="50" charset="-128"/>
                          <a:ea typeface="BIZ UDPゴシック" panose="020B0400000000000000" pitchFamily="50" charset="-128"/>
                        </a:rPr>
                        <a:t>1</a:t>
                      </a:r>
                      <a:r>
                        <a:rPr lang="en-US" altLang="ja-JP" sz="1050" b="0" i="0" u="none" strike="noStrike" dirty="0">
                          <a:solidFill>
                            <a:schemeClr val="tx1"/>
                          </a:solidFill>
                          <a:effectLst/>
                          <a:latin typeface="BIZ UDPゴシック" panose="020B0400000000000000" pitchFamily="50" charset="-128"/>
                          <a:ea typeface="BIZ UDPゴシック" panose="020B0400000000000000" pitchFamily="50" charset="-128"/>
                        </a:rPr>
                        <a:t>1</a:t>
                      </a:r>
                      <a:endParaRPr lang="en-US" sz="1050" b="0" i="0" u="none" strike="noStrike" dirty="0">
                        <a:solidFill>
                          <a:schemeClr val="tx1"/>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9CDE5"/>
                    </a:solidFill>
                  </a:tcPr>
                </a:tc>
                <a:tc rowSpan="5">
                  <a:txBody>
                    <a:bodyPr/>
                    <a:lstStyle/>
                    <a:p>
                      <a:pPr algn="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30%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5">
                  <a:txBody>
                    <a:bodyPr/>
                    <a:lstStyle/>
                    <a:p>
                      <a:pPr algn="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40%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5">
                  <a:txBody>
                    <a:bodyPr/>
                    <a:lstStyle/>
                    <a:p>
                      <a:pPr algn="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30%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3723513"/>
                  </a:ext>
                </a:extLst>
              </a:tr>
              <a:tr h="239425">
                <a:tc vMerge="1">
                  <a:txBody>
                    <a:bodyPr/>
                    <a:lstStyle/>
                    <a:p>
                      <a:endParaRPr kumimoji="1" lang="ja-JP" altLang="en-US"/>
                    </a:p>
                  </a:txBody>
                  <a:tcPr/>
                </a:tc>
                <a:tc>
                  <a:txBody>
                    <a:bodyPr/>
                    <a:lstStyle/>
                    <a:p>
                      <a:pPr algn="l" rtl="0" fontAlgn="ctr"/>
                      <a:r>
                        <a:rPr lang="en-US" altLang="ja-JP" sz="1050" b="0" i="0" u="none" strike="noStrike" dirty="0">
                          <a:solidFill>
                            <a:schemeClr val="tx1"/>
                          </a:solidFill>
                          <a:effectLst/>
                          <a:latin typeface="BIZ UDPゴシック" panose="020B0400000000000000" pitchFamily="50" charset="-128"/>
                          <a:ea typeface="BIZ UDPゴシック" panose="020B0400000000000000" pitchFamily="50" charset="-128"/>
                        </a:rPr>
                        <a:t>G</a:t>
                      </a:r>
                      <a:r>
                        <a:rPr lang="en-US" altLang="ja-JP" sz="1200" b="0" i="0" u="none" strike="noStrike" dirty="0">
                          <a:solidFill>
                            <a:schemeClr val="tx1"/>
                          </a:solidFill>
                          <a:effectLst/>
                          <a:latin typeface="BIZ UDPゴシック" panose="020B0400000000000000" pitchFamily="50" charset="-128"/>
                          <a:ea typeface="BIZ UDPゴシック" panose="020B0400000000000000" pitchFamily="50" charset="-128"/>
                        </a:rPr>
                        <a:t>7</a:t>
                      </a:r>
                      <a:r>
                        <a:rPr lang="ja-JP" altLang="en-US" sz="1050" b="0" i="0" u="none" strike="noStrike" dirty="0">
                          <a:solidFill>
                            <a:schemeClr val="tx1"/>
                          </a:solidFill>
                          <a:effectLst/>
                          <a:latin typeface="BIZ UDPゴシック" panose="020B0400000000000000" pitchFamily="50" charset="-128"/>
                          <a:ea typeface="BIZ UDPゴシック" panose="020B0400000000000000" pitchFamily="50" charset="-128"/>
                        </a:rPr>
                        <a:t>・</a:t>
                      </a:r>
                      <a:r>
                        <a:rPr lang="en-US" altLang="ja-JP" sz="1050" b="0" i="0" u="none" strike="noStrike" dirty="0">
                          <a:solidFill>
                            <a:schemeClr val="tx1"/>
                          </a:solidFill>
                          <a:effectLst/>
                          <a:latin typeface="BIZ UDPゴシック" panose="020B0400000000000000" pitchFamily="50" charset="-128"/>
                          <a:ea typeface="BIZ UDPゴシック" panose="020B0400000000000000" pitchFamily="50" charset="-128"/>
                        </a:rPr>
                        <a:t>8・9</a:t>
                      </a:r>
                      <a:endParaRPr lang="en-US" sz="1050" b="0" i="0" u="none" strike="noStrike" dirty="0">
                        <a:solidFill>
                          <a:schemeClr val="tx1"/>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9CDE5"/>
                    </a:solidFill>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4709981"/>
                  </a:ext>
                </a:extLst>
              </a:tr>
              <a:tr h="239425">
                <a:tc vMerge="1">
                  <a:txBody>
                    <a:bodyPr/>
                    <a:lstStyle/>
                    <a:p>
                      <a:endParaRPr kumimoji="1" lang="ja-JP" altLang="en-US"/>
                    </a:p>
                  </a:txBody>
                  <a:tcPr/>
                </a:tc>
                <a:tc>
                  <a:txBody>
                    <a:bodyPr/>
                    <a:lstStyle/>
                    <a:p>
                      <a:pPr algn="l" rtl="0" fontAlgn="ctr"/>
                      <a:r>
                        <a:rPr lang="en-US" sz="1050" b="0" i="0" u="none" strike="noStrike" dirty="0">
                          <a:solidFill>
                            <a:schemeClr val="tx1"/>
                          </a:solidFill>
                          <a:effectLst/>
                          <a:latin typeface="BIZ UDPゴシック" panose="020B0400000000000000" pitchFamily="50" charset="-128"/>
                          <a:ea typeface="BIZ UDPゴシック" panose="020B0400000000000000" pitchFamily="50" charset="-128"/>
                        </a:rPr>
                        <a:t>G</a:t>
                      </a:r>
                      <a:r>
                        <a:rPr lang="en-US" altLang="ja-JP" sz="1200" b="0" i="0" u="none" strike="noStrike" dirty="0">
                          <a:solidFill>
                            <a:schemeClr val="tx1"/>
                          </a:solidFill>
                          <a:effectLst/>
                          <a:latin typeface="BIZ UDPゴシック" panose="020B0400000000000000" pitchFamily="50" charset="-128"/>
                          <a:ea typeface="BIZ UDPゴシック" panose="020B0400000000000000" pitchFamily="50" charset="-128"/>
                        </a:rPr>
                        <a:t>4</a:t>
                      </a:r>
                      <a:r>
                        <a:rPr lang="en-US" altLang="ja-JP" sz="1050" b="0" i="0" u="none" strike="noStrike" dirty="0">
                          <a:solidFill>
                            <a:schemeClr val="tx1"/>
                          </a:solidFill>
                          <a:effectLst/>
                          <a:latin typeface="BIZ UDPゴシック" panose="020B0400000000000000" pitchFamily="50" charset="-128"/>
                          <a:ea typeface="BIZ UDPゴシック" panose="020B0400000000000000" pitchFamily="50" charset="-128"/>
                        </a:rPr>
                        <a:t>.</a:t>
                      </a:r>
                      <a:r>
                        <a:rPr lang="en-US" sz="1050" b="0" i="0" u="none" strike="noStrike" dirty="0">
                          <a:solidFill>
                            <a:schemeClr val="tx1"/>
                          </a:solidFill>
                          <a:effectLst/>
                          <a:latin typeface="BIZ UDPゴシック" panose="020B0400000000000000" pitchFamily="50" charset="-128"/>
                          <a:ea typeface="BIZ UDPゴシック" panose="020B0400000000000000" pitchFamily="50" charset="-128"/>
                        </a:rPr>
                        <a:t>5・6</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9CDE5"/>
                    </a:solidFill>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8415359"/>
                  </a:ext>
                </a:extLst>
              </a:tr>
              <a:tr h="239425">
                <a:tc vMerge="1">
                  <a:txBody>
                    <a:bodyPr/>
                    <a:lstStyle/>
                    <a:p>
                      <a:endParaRPr kumimoji="1" lang="ja-JP" altLang="en-US"/>
                    </a:p>
                  </a:txBody>
                  <a:tcPr/>
                </a:tc>
                <a:tc>
                  <a:txBody>
                    <a:bodyPr/>
                    <a:lstStyle/>
                    <a:p>
                      <a:pPr algn="l" rtl="0" fontAlgn="ctr"/>
                      <a:r>
                        <a:rPr lang="en-US" altLang="ja-JP" sz="1050" b="0" i="0" u="none" strike="noStrike" dirty="0">
                          <a:solidFill>
                            <a:schemeClr val="tx1"/>
                          </a:solidFill>
                          <a:effectLst/>
                          <a:latin typeface="BIZ UDPゴシック" panose="020B0400000000000000" pitchFamily="50" charset="-128"/>
                          <a:ea typeface="BIZ UDPゴシック" panose="020B0400000000000000" pitchFamily="50" charset="-128"/>
                        </a:rPr>
                        <a:t>G2・3</a:t>
                      </a:r>
                      <a:endParaRPr lang="en-US" sz="1050" b="0" i="0" u="none" strike="noStrike" dirty="0">
                        <a:solidFill>
                          <a:schemeClr val="tx1"/>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9CDE5"/>
                    </a:solidFill>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8241732"/>
                  </a:ext>
                </a:extLst>
              </a:tr>
              <a:tr h="239425">
                <a:tc vMerge="1">
                  <a:txBody>
                    <a:bodyPr/>
                    <a:lstStyle/>
                    <a:p>
                      <a:endParaRPr kumimoji="1" lang="ja-JP" altLang="en-US"/>
                    </a:p>
                  </a:txBody>
                  <a:tcPr/>
                </a:tc>
                <a:tc>
                  <a:txBody>
                    <a:bodyPr/>
                    <a:lstStyle/>
                    <a:p>
                      <a:pPr algn="l" rtl="0" fontAlgn="ctr"/>
                      <a:r>
                        <a:rPr lang="en-US" sz="1050" b="0" i="0" u="none" strike="noStrike" dirty="0">
                          <a:solidFill>
                            <a:schemeClr val="tx1"/>
                          </a:solidFill>
                          <a:effectLst/>
                          <a:latin typeface="BIZ UDPゴシック" panose="020B0400000000000000" pitchFamily="50" charset="-128"/>
                          <a:ea typeface="BIZ UDPゴシック" panose="020B0400000000000000" pitchFamily="50" charset="-128"/>
                        </a:rPr>
                        <a:t>G1</a:t>
                      </a:r>
                      <a:r>
                        <a:rPr lang="ja-JP" altLang="en-US" sz="1050" b="0" i="0" u="none" strike="noStrike" dirty="0">
                          <a:solidFill>
                            <a:schemeClr val="tx1"/>
                          </a:solidFill>
                          <a:effectLst/>
                          <a:latin typeface="BIZ UDPゴシック" panose="020B0400000000000000" pitchFamily="50" charset="-128"/>
                          <a:ea typeface="BIZ UDPゴシック" panose="020B0400000000000000" pitchFamily="50" charset="-128"/>
                        </a:rPr>
                        <a:t>・契約社員</a:t>
                      </a:r>
                      <a:endParaRPr lang="en-US" sz="1050" b="0" i="0" u="none" strike="noStrike" dirty="0">
                        <a:solidFill>
                          <a:schemeClr val="tx1"/>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9CDE5"/>
                    </a:solidFill>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8699495"/>
                  </a:ext>
                </a:extLst>
              </a:tr>
            </a:tbl>
          </a:graphicData>
        </a:graphic>
      </p:graphicFrame>
      <p:sp>
        <p:nvSpPr>
          <p:cNvPr id="7" name="正方形/長方形 6">
            <a:extLst>
              <a:ext uri="{FF2B5EF4-FFF2-40B4-BE49-F238E27FC236}">
                <a16:creationId xmlns:a16="http://schemas.microsoft.com/office/drawing/2014/main" id="{22B67261-1CC4-E5F6-B77D-9CBC5D8CC81E}"/>
              </a:ext>
            </a:extLst>
          </p:cNvPr>
          <p:cNvSpPr/>
          <p:nvPr/>
        </p:nvSpPr>
        <p:spPr>
          <a:xfrm>
            <a:off x="115286" y="5073862"/>
            <a:ext cx="8881549" cy="1166619"/>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rPr>
              <a:t>グレード・評価項目ごとの重みは、</a:t>
            </a:r>
            <a:r>
              <a:rPr lang="ja-JP" altLang="en-US" sz="14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年度に応じて変更させることがあり得る。</a:t>
            </a:r>
            <a:endParaRPr lang="en-US" altLang="ja-JP" sz="1400" dirty="0">
              <a:solidFill>
                <a:schemeClr val="tx1"/>
              </a:solidFill>
              <a:latin typeface="BIZ UDPゴシック" panose="020B0400000000000000" pitchFamily="50" charset="-128"/>
              <a:ea typeface="BIZ UDPゴシック" panose="020B0400000000000000" pitchFamily="50" charset="-128"/>
            </a:endParaRPr>
          </a:p>
        </p:txBody>
      </p:sp>
      <p:sp>
        <p:nvSpPr>
          <p:cNvPr id="10" name="タイトル 2">
            <a:extLst>
              <a:ext uri="{FF2B5EF4-FFF2-40B4-BE49-F238E27FC236}">
                <a16:creationId xmlns:a16="http://schemas.microsoft.com/office/drawing/2014/main" id="{2A9664D0-F063-E898-7B05-E607F6EA91F8}"/>
              </a:ext>
            </a:extLst>
          </p:cNvPr>
          <p:cNvSpPr txBox="1">
            <a:spLocks/>
          </p:cNvSpPr>
          <p:nvPr/>
        </p:nvSpPr>
        <p:spPr>
          <a:xfrm>
            <a:off x="126069" y="4614574"/>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備考</a:t>
            </a:r>
          </a:p>
        </p:txBody>
      </p:sp>
    </p:spTree>
    <p:extLst>
      <p:ext uri="{BB962C8B-B14F-4D97-AF65-F5344CB8AC3E}">
        <p14:creationId xmlns:p14="http://schemas.microsoft.com/office/powerpoint/2010/main" val="1321115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descr="グラフィカル ユーザー インターフェイス, アプリケーション&#10;&#10;自動的に生成された説明">
            <a:extLst>
              <a:ext uri="{FF2B5EF4-FFF2-40B4-BE49-F238E27FC236}">
                <a16:creationId xmlns:a16="http://schemas.microsoft.com/office/drawing/2014/main" id="{9B885C0B-1E8F-266A-1B02-2C52302F07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6203"/>
            <a:ext cx="9144000" cy="6465594"/>
          </a:xfrm>
          <a:prstGeom prst="rect">
            <a:avLst/>
          </a:prstGeom>
        </p:spPr>
      </p:pic>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14</a:t>
            </a:fld>
            <a:r>
              <a:rPr lang="ja-JP" altLang="en-US" sz="1050" dirty="0">
                <a:latin typeface="+mn-ea"/>
              </a:rPr>
              <a:t>－</a:t>
            </a:r>
          </a:p>
        </p:txBody>
      </p:sp>
      <p:sp>
        <p:nvSpPr>
          <p:cNvPr id="2" name="正方形/長方形 1">
            <a:extLst>
              <a:ext uri="{FF2B5EF4-FFF2-40B4-BE49-F238E27FC236}">
                <a16:creationId xmlns:a16="http://schemas.microsoft.com/office/drawing/2014/main" id="{0E2BE262-9A4D-1E20-1E82-67788BB5086B}"/>
              </a:ext>
            </a:extLst>
          </p:cNvPr>
          <p:cNvSpPr/>
          <p:nvPr/>
        </p:nvSpPr>
        <p:spPr>
          <a:xfrm>
            <a:off x="683568" y="130349"/>
            <a:ext cx="7881466" cy="576064"/>
          </a:xfrm>
          <a:prstGeom prst="rect">
            <a:avLst/>
          </a:prstGeom>
          <a:solidFill>
            <a:schemeClr val="accent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dirty="0">
                <a:latin typeface="BIZ UDPゴシック" panose="020B0400000000000000" pitchFamily="50" charset="-128"/>
                <a:ea typeface="BIZ UDPゴシック" panose="020B0400000000000000" pitchFamily="50" charset="-128"/>
              </a:rPr>
              <a:t>総合職　ジョブ評価シート</a:t>
            </a:r>
            <a:endParaRPr lang="en-US" altLang="ja-JP" sz="2800" dirty="0">
              <a:latin typeface="BIZ UDPゴシック" panose="020B0400000000000000" pitchFamily="50" charset="-128"/>
              <a:ea typeface="BIZ UDPゴシック" panose="020B0400000000000000" pitchFamily="50" charset="-128"/>
            </a:endParaRPr>
          </a:p>
        </p:txBody>
      </p:sp>
      <p:sp>
        <p:nvSpPr>
          <p:cNvPr id="3" name="正方形/長方形 2">
            <a:extLst>
              <a:ext uri="{FF2B5EF4-FFF2-40B4-BE49-F238E27FC236}">
                <a16:creationId xmlns:a16="http://schemas.microsoft.com/office/drawing/2014/main" id="{82A8FDBE-52A3-43D7-D800-C2D5A1E8F316}"/>
              </a:ext>
            </a:extLst>
          </p:cNvPr>
          <p:cNvSpPr/>
          <p:nvPr/>
        </p:nvSpPr>
        <p:spPr>
          <a:xfrm>
            <a:off x="467544" y="1340509"/>
            <a:ext cx="2592288" cy="56973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latin typeface="BIZ UDPゴシック" panose="020B0400000000000000" pitchFamily="50" charset="-128"/>
                <a:ea typeface="BIZ UDPゴシック" panose="020B0400000000000000" pitchFamily="50" charset="-128"/>
              </a:rPr>
              <a:t>①成果評価</a:t>
            </a:r>
            <a:endParaRPr lang="en-US" altLang="ja-JP" dirty="0">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B509FAA8-D937-22C7-5B28-770B30B14EB2}"/>
              </a:ext>
            </a:extLst>
          </p:cNvPr>
          <p:cNvSpPr/>
          <p:nvPr/>
        </p:nvSpPr>
        <p:spPr>
          <a:xfrm>
            <a:off x="107504" y="856964"/>
            <a:ext cx="8928992" cy="19442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864B2DA5-95E0-BED2-900D-3E8623F401DF}"/>
              </a:ext>
            </a:extLst>
          </p:cNvPr>
          <p:cNvSpPr/>
          <p:nvPr/>
        </p:nvSpPr>
        <p:spPr>
          <a:xfrm>
            <a:off x="107504" y="2833886"/>
            <a:ext cx="6408712" cy="37634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正方形/長方形 7">
            <a:extLst>
              <a:ext uri="{FF2B5EF4-FFF2-40B4-BE49-F238E27FC236}">
                <a16:creationId xmlns:a16="http://schemas.microsoft.com/office/drawing/2014/main" id="{6661D7DC-3683-388D-798A-D5FF96D1069D}"/>
              </a:ext>
            </a:extLst>
          </p:cNvPr>
          <p:cNvSpPr/>
          <p:nvPr/>
        </p:nvSpPr>
        <p:spPr>
          <a:xfrm>
            <a:off x="467544" y="3363323"/>
            <a:ext cx="2592288" cy="56973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latin typeface="BIZ UDPゴシック" panose="020B0400000000000000" pitchFamily="50" charset="-128"/>
                <a:ea typeface="BIZ UDPゴシック" panose="020B0400000000000000" pitchFamily="50" charset="-128"/>
              </a:rPr>
              <a:t>②行動評価</a:t>
            </a: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650004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0B8A88F2-A3FF-555C-A5AE-36E342C56415}"/>
              </a:ext>
            </a:extLst>
          </p:cNvPr>
          <p:cNvGraphicFramePr>
            <a:graphicFrameLocks noGrp="1"/>
          </p:cNvGraphicFramePr>
          <p:nvPr>
            <p:extLst>
              <p:ext uri="{D42A27DB-BD31-4B8C-83A1-F6EECF244321}">
                <p14:modId xmlns:p14="http://schemas.microsoft.com/office/powerpoint/2010/main" val="3586005741"/>
              </p:ext>
            </p:extLst>
          </p:nvPr>
        </p:nvGraphicFramePr>
        <p:xfrm>
          <a:off x="115285" y="1141165"/>
          <a:ext cx="8880575" cy="1535949"/>
        </p:xfrm>
        <a:graphic>
          <a:graphicData uri="http://schemas.openxmlformats.org/drawingml/2006/table">
            <a:tbl>
              <a:tblPr/>
              <a:tblGrid>
                <a:gridCol w="531506">
                  <a:extLst>
                    <a:ext uri="{9D8B030D-6E8A-4147-A177-3AD203B41FA5}">
                      <a16:colId xmlns:a16="http://schemas.microsoft.com/office/drawing/2014/main" val="1929790110"/>
                    </a:ext>
                  </a:extLst>
                </a:gridCol>
                <a:gridCol w="509360">
                  <a:extLst>
                    <a:ext uri="{9D8B030D-6E8A-4147-A177-3AD203B41FA5}">
                      <a16:colId xmlns:a16="http://schemas.microsoft.com/office/drawing/2014/main" val="1445327876"/>
                    </a:ext>
                  </a:extLst>
                </a:gridCol>
                <a:gridCol w="1151595">
                  <a:extLst>
                    <a:ext uri="{9D8B030D-6E8A-4147-A177-3AD203B41FA5}">
                      <a16:colId xmlns:a16="http://schemas.microsoft.com/office/drawing/2014/main" val="1090894469"/>
                    </a:ext>
                  </a:extLst>
                </a:gridCol>
                <a:gridCol w="1114685">
                  <a:extLst>
                    <a:ext uri="{9D8B030D-6E8A-4147-A177-3AD203B41FA5}">
                      <a16:colId xmlns:a16="http://schemas.microsoft.com/office/drawing/2014/main" val="1283833770"/>
                    </a:ext>
                  </a:extLst>
                </a:gridCol>
                <a:gridCol w="1114685">
                  <a:extLst>
                    <a:ext uri="{9D8B030D-6E8A-4147-A177-3AD203B41FA5}">
                      <a16:colId xmlns:a16="http://schemas.microsoft.com/office/drawing/2014/main" val="3059238420"/>
                    </a:ext>
                  </a:extLst>
                </a:gridCol>
                <a:gridCol w="1114685">
                  <a:extLst>
                    <a:ext uri="{9D8B030D-6E8A-4147-A177-3AD203B41FA5}">
                      <a16:colId xmlns:a16="http://schemas.microsoft.com/office/drawing/2014/main" val="1930360063"/>
                    </a:ext>
                  </a:extLst>
                </a:gridCol>
                <a:gridCol w="1146021">
                  <a:extLst>
                    <a:ext uri="{9D8B030D-6E8A-4147-A177-3AD203B41FA5}">
                      <a16:colId xmlns:a16="http://schemas.microsoft.com/office/drawing/2014/main" val="560093819"/>
                    </a:ext>
                  </a:extLst>
                </a:gridCol>
                <a:gridCol w="1083353">
                  <a:extLst>
                    <a:ext uri="{9D8B030D-6E8A-4147-A177-3AD203B41FA5}">
                      <a16:colId xmlns:a16="http://schemas.microsoft.com/office/drawing/2014/main" val="3434817349"/>
                    </a:ext>
                  </a:extLst>
                </a:gridCol>
                <a:gridCol w="1114685">
                  <a:extLst>
                    <a:ext uri="{9D8B030D-6E8A-4147-A177-3AD203B41FA5}">
                      <a16:colId xmlns:a16="http://schemas.microsoft.com/office/drawing/2014/main" val="1545057269"/>
                    </a:ext>
                  </a:extLst>
                </a:gridCol>
              </a:tblGrid>
              <a:tr h="350343">
                <a:tc gridSpan="3">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項目</a:t>
                      </a:r>
                    </a:p>
                  </a:txBody>
                  <a:tcPr marL="6850" marR="6850" marT="6850" marB="0" anchor="ctr">
                    <a:lnL w="6350" cap="flat" cmpd="sng" algn="ctr">
                      <a:solidFill>
                        <a:srgbClr val="000000"/>
                      </a:solidFill>
                      <a:prstDash val="solid"/>
                      <a:round/>
                      <a:headEnd type="none" w="med" len="med"/>
                      <a:tailEnd type="none" w="med" len="med"/>
                    </a:lnL>
                    <a:lnR w="12700" cap="flat" cmpd="sng" algn="ctr">
                      <a:solidFill>
                        <a:srgbClr val="F2F2F2"/>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kumimoji="1" lang="ja-JP" altLang="en-US"/>
                    </a:p>
                  </a:txBody>
                  <a:tcPr/>
                </a:tc>
                <a:tc hMerge="1">
                  <a:txBody>
                    <a:bodyPr/>
                    <a:lstStyle/>
                    <a:p>
                      <a:endParaRPr kumimoji="1" lang="ja-JP" altLang="en-US"/>
                    </a:p>
                  </a:txBody>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①</a:t>
                      </a:r>
                      <a:endParaRPr lang="en-US" altLang="zh-TW"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zh-TW"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職務達成責任</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②</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ﾁｬﾚﾝｼﾞ精神</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③</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チームワーク</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④</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ｺﾐｭﾆｹｰｼｮﾝ</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⑤</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業務改善</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⑥</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人材育成</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extLst>
                  <a:ext uri="{0D108BD9-81ED-4DB2-BD59-A6C34878D82A}">
                    <a16:rowId xmlns:a16="http://schemas.microsoft.com/office/drawing/2014/main" val="219164197"/>
                  </a:ext>
                </a:extLst>
              </a:tr>
              <a:tr h="214679">
                <a:tc rowSpan="5">
                  <a:txBody>
                    <a:bodyPr/>
                    <a:lstStyle/>
                    <a:p>
                      <a:pPr algn="ctr" fontAlgn="ctr"/>
                      <a:r>
                        <a:rPr lang="ja-JP" altLang="en-US" sz="1200" b="1" i="0" u="none" strike="noStrike" dirty="0">
                          <a:solidFill>
                            <a:srgbClr val="FFFFFF"/>
                          </a:solidFill>
                          <a:effectLst/>
                          <a:latin typeface="BIZ UDPゴシック" panose="020B0400000000000000" pitchFamily="50" charset="-128"/>
                          <a:ea typeface="BIZ UDPゴシック" panose="020B0400000000000000" pitchFamily="50" charset="-128"/>
                        </a:rPr>
                        <a:t>②</a:t>
                      </a:r>
                      <a:endParaRPr lang="en-US" altLang="ja-JP" sz="1200" b="1"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fontAlgn="ctr"/>
                      <a:r>
                        <a:rPr lang="ja-JP" altLang="en-US" sz="1200" b="1" i="0" u="none" strike="noStrike" dirty="0">
                          <a:solidFill>
                            <a:srgbClr val="FFFFFF"/>
                          </a:solidFill>
                          <a:effectLst/>
                          <a:latin typeface="BIZ UDPゴシック" panose="020B0400000000000000" pitchFamily="50" charset="-128"/>
                          <a:ea typeface="BIZ UDPゴシック" panose="020B0400000000000000" pitchFamily="50" charset="-128"/>
                        </a:rPr>
                        <a:t>行動</a:t>
                      </a:r>
                      <a:endParaRPr lang="en-US" altLang="ja-JP" sz="1200" b="1"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fontAlgn="ctr"/>
                      <a:r>
                        <a:rPr lang="ja-JP" altLang="en-US" sz="1200" b="1" i="0" u="none" strike="noStrike" dirty="0">
                          <a:solidFill>
                            <a:srgbClr val="FFFFFF"/>
                          </a:solidFill>
                          <a:effectLst/>
                          <a:latin typeface="BIZ UDPゴシック" panose="020B0400000000000000" pitchFamily="50" charset="-128"/>
                          <a:ea typeface="BIZ UDPゴシック" panose="020B0400000000000000" pitchFamily="50" charset="-128"/>
                        </a:rPr>
                        <a:t>評価</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rowSpan="4">
                  <a:txBody>
                    <a:bodyPr/>
                    <a:lstStyle/>
                    <a:p>
                      <a:pPr algn="ctr"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総合職</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ctr"/>
                      <a:r>
                        <a:rPr lang="ja-JP" altLang="en-US" sz="1050" b="1" i="0" u="none" strike="noStrike" dirty="0">
                          <a:solidFill>
                            <a:srgbClr val="FF0000"/>
                          </a:solidFill>
                          <a:effectLst/>
                          <a:latin typeface="BIZ UDPゴシック" panose="020B0400000000000000" pitchFamily="50" charset="-128"/>
                          <a:ea typeface="BIZ UDPゴシック" panose="020B0400000000000000" pitchFamily="50" charset="-128"/>
                        </a:rPr>
                        <a:t>本部長・</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部長・統括ﾘｰﾀﾞｰ</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50%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30%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104274789"/>
                  </a:ext>
                </a:extLst>
              </a:tr>
              <a:tr h="214679">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リーダー</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09210230"/>
                  </a:ext>
                </a:extLst>
              </a:tr>
              <a:tr h="214679">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サブﾘｰﾀﾞｰ（館長）</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40316221"/>
                  </a:ext>
                </a:extLst>
              </a:tr>
              <a:tr h="214679">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一般・契約社員</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30%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73622632"/>
                  </a:ext>
                </a:extLst>
              </a:tr>
              <a:tr h="214679">
                <a:tc vMerge="1">
                  <a:txBody>
                    <a:bodyPr/>
                    <a:lstStyle/>
                    <a:p>
                      <a:endParaRPr kumimoji="1" lang="ja-JP" altLang="en-US"/>
                    </a:p>
                  </a:txBody>
                  <a:tcPr/>
                </a:tc>
                <a:tc gridSpan="2">
                  <a:txBody>
                    <a:bodyPr/>
                    <a:lstStyle/>
                    <a:p>
                      <a:pPr algn="ctr"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専門職</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kumimoji="1" lang="ja-JP" altLang="en-US"/>
                    </a:p>
                  </a:txBody>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07723510"/>
                  </a:ext>
                </a:extLst>
              </a:tr>
            </a:tbl>
          </a:graphicData>
        </a:graphic>
      </p:graphicFrame>
      <p:graphicFrame>
        <p:nvGraphicFramePr>
          <p:cNvPr id="3" name="表 2">
            <a:extLst>
              <a:ext uri="{FF2B5EF4-FFF2-40B4-BE49-F238E27FC236}">
                <a16:creationId xmlns:a16="http://schemas.microsoft.com/office/drawing/2014/main" id="{368A12F3-4561-A492-9339-804ECDA00FAE}"/>
              </a:ext>
            </a:extLst>
          </p:cNvPr>
          <p:cNvGraphicFramePr>
            <a:graphicFrameLocks noGrp="1"/>
          </p:cNvGraphicFramePr>
          <p:nvPr>
            <p:extLst>
              <p:ext uri="{D42A27DB-BD31-4B8C-83A1-F6EECF244321}">
                <p14:modId xmlns:p14="http://schemas.microsoft.com/office/powerpoint/2010/main" val="458907526"/>
              </p:ext>
            </p:extLst>
          </p:nvPr>
        </p:nvGraphicFramePr>
        <p:xfrm>
          <a:off x="114319" y="2966809"/>
          <a:ext cx="8881542" cy="1757355"/>
        </p:xfrm>
        <a:graphic>
          <a:graphicData uri="http://schemas.openxmlformats.org/drawingml/2006/table">
            <a:tbl>
              <a:tblPr/>
              <a:tblGrid>
                <a:gridCol w="1601674">
                  <a:extLst>
                    <a:ext uri="{9D8B030D-6E8A-4147-A177-3AD203B41FA5}">
                      <a16:colId xmlns:a16="http://schemas.microsoft.com/office/drawing/2014/main" val="1143918663"/>
                    </a:ext>
                  </a:extLst>
                </a:gridCol>
                <a:gridCol w="485669">
                  <a:extLst>
                    <a:ext uri="{9D8B030D-6E8A-4147-A177-3AD203B41FA5}">
                      <a16:colId xmlns:a16="http://schemas.microsoft.com/office/drawing/2014/main" val="1493460869"/>
                    </a:ext>
                  </a:extLst>
                </a:gridCol>
                <a:gridCol w="485669">
                  <a:extLst>
                    <a:ext uri="{9D8B030D-6E8A-4147-A177-3AD203B41FA5}">
                      <a16:colId xmlns:a16="http://schemas.microsoft.com/office/drawing/2014/main" val="3072068793"/>
                    </a:ext>
                  </a:extLst>
                </a:gridCol>
                <a:gridCol w="485669">
                  <a:extLst>
                    <a:ext uri="{9D8B030D-6E8A-4147-A177-3AD203B41FA5}">
                      <a16:colId xmlns:a16="http://schemas.microsoft.com/office/drawing/2014/main" val="3546210422"/>
                    </a:ext>
                  </a:extLst>
                </a:gridCol>
                <a:gridCol w="485669">
                  <a:extLst>
                    <a:ext uri="{9D8B030D-6E8A-4147-A177-3AD203B41FA5}">
                      <a16:colId xmlns:a16="http://schemas.microsoft.com/office/drawing/2014/main" val="636571829"/>
                    </a:ext>
                  </a:extLst>
                </a:gridCol>
                <a:gridCol w="480502">
                  <a:extLst>
                    <a:ext uri="{9D8B030D-6E8A-4147-A177-3AD203B41FA5}">
                      <a16:colId xmlns:a16="http://schemas.microsoft.com/office/drawing/2014/main" val="3153578282"/>
                    </a:ext>
                  </a:extLst>
                </a:gridCol>
                <a:gridCol w="485669">
                  <a:extLst>
                    <a:ext uri="{9D8B030D-6E8A-4147-A177-3AD203B41FA5}">
                      <a16:colId xmlns:a16="http://schemas.microsoft.com/office/drawing/2014/main" val="2434052610"/>
                    </a:ext>
                  </a:extLst>
                </a:gridCol>
                <a:gridCol w="485669">
                  <a:extLst>
                    <a:ext uri="{9D8B030D-6E8A-4147-A177-3AD203B41FA5}">
                      <a16:colId xmlns:a16="http://schemas.microsoft.com/office/drawing/2014/main" val="3591620833"/>
                    </a:ext>
                  </a:extLst>
                </a:gridCol>
                <a:gridCol w="485669">
                  <a:extLst>
                    <a:ext uri="{9D8B030D-6E8A-4147-A177-3AD203B41FA5}">
                      <a16:colId xmlns:a16="http://schemas.microsoft.com/office/drawing/2014/main" val="306685310"/>
                    </a:ext>
                  </a:extLst>
                </a:gridCol>
                <a:gridCol w="485669">
                  <a:extLst>
                    <a:ext uri="{9D8B030D-6E8A-4147-A177-3AD203B41FA5}">
                      <a16:colId xmlns:a16="http://schemas.microsoft.com/office/drawing/2014/main" val="1693228559"/>
                    </a:ext>
                  </a:extLst>
                </a:gridCol>
                <a:gridCol w="485669">
                  <a:extLst>
                    <a:ext uri="{9D8B030D-6E8A-4147-A177-3AD203B41FA5}">
                      <a16:colId xmlns:a16="http://schemas.microsoft.com/office/drawing/2014/main" val="629780812"/>
                    </a:ext>
                  </a:extLst>
                </a:gridCol>
                <a:gridCol w="485669">
                  <a:extLst>
                    <a:ext uri="{9D8B030D-6E8A-4147-A177-3AD203B41FA5}">
                      <a16:colId xmlns:a16="http://schemas.microsoft.com/office/drawing/2014/main" val="3030220376"/>
                    </a:ext>
                  </a:extLst>
                </a:gridCol>
                <a:gridCol w="485669">
                  <a:extLst>
                    <a:ext uri="{9D8B030D-6E8A-4147-A177-3AD203B41FA5}">
                      <a16:colId xmlns:a16="http://schemas.microsoft.com/office/drawing/2014/main" val="4142679519"/>
                    </a:ext>
                  </a:extLst>
                </a:gridCol>
                <a:gridCol w="485669">
                  <a:extLst>
                    <a:ext uri="{9D8B030D-6E8A-4147-A177-3AD203B41FA5}">
                      <a16:colId xmlns:a16="http://schemas.microsoft.com/office/drawing/2014/main" val="636100432"/>
                    </a:ext>
                  </a:extLst>
                </a:gridCol>
                <a:gridCol w="485669">
                  <a:extLst>
                    <a:ext uri="{9D8B030D-6E8A-4147-A177-3AD203B41FA5}">
                      <a16:colId xmlns:a16="http://schemas.microsoft.com/office/drawing/2014/main" val="18698577"/>
                    </a:ext>
                  </a:extLst>
                </a:gridCol>
                <a:gridCol w="485669">
                  <a:extLst>
                    <a:ext uri="{9D8B030D-6E8A-4147-A177-3AD203B41FA5}">
                      <a16:colId xmlns:a16="http://schemas.microsoft.com/office/drawing/2014/main" val="1728375627"/>
                    </a:ext>
                  </a:extLst>
                </a:gridCol>
              </a:tblGrid>
              <a:tr h="224594">
                <a:tc rowSpan="2">
                  <a:txBody>
                    <a:bodyPr/>
                    <a:lstStyle/>
                    <a:p>
                      <a:pPr algn="ctr" fontAlgn="ctr"/>
                      <a:r>
                        <a:rPr lang="ja-JP" alt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②行動評価</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900" b="0" i="0" u="none" strike="noStrike" dirty="0">
                          <a:solidFill>
                            <a:srgbClr val="FFFFFF"/>
                          </a:solidFill>
                          <a:effectLst/>
                          <a:latin typeface="BIZ UDPゴシック" panose="020B0400000000000000" pitchFamily="50" charset="-128"/>
                          <a:ea typeface="BIZ UDPゴシック" panose="020B0400000000000000" pitchFamily="50" charset="-128"/>
                        </a:rPr>
                        <a:t>G1</a:t>
                      </a: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900" b="0" i="0" u="none" strike="noStrike" dirty="0">
                          <a:solidFill>
                            <a:srgbClr val="FFFFFF"/>
                          </a:solidFill>
                          <a:effectLst/>
                          <a:latin typeface="BIZ UDPゴシック" panose="020B0400000000000000" pitchFamily="50" charset="-128"/>
                          <a:ea typeface="BIZ UDPゴシック" panose="020B0400000000000000" pitchFamily="50" charset="-128"/>
                        </a:rPr>
                        <a:t>G2・3</a:t>
                      </a: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gridSpan="3">
                  <a:txBody>
                    <a:bodyPr/>
                    <a:lstStyle/>
                    <a:p>
                      <a:pPr algn="ctr" fontAlgn="ctr"/>
                      <a:r>
                        <a:rPr lang="en-US" sz="900" b="0" i="0" u="none" strike="noStrike" dirty="0">
                          <a:solidFill>
                            <a:srgbClr val="FFFFFF"/>
                          </a:solidFill>
                          <a:effectLst/>
                          <a:latin typeface="BIZ UDPゴシック" panose="020B0400000000000000" pitchFamily="50" charset="-128"/>
                          <a:ea typeface="BIZ UDPゴシック" panose="020B0400000000000000" pitchFamily="50" charset="-128"/>
                        </a:rPr>
                        <a:t>G4・5・6</a:t>
                      </a: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hMerge="1">
                  <a:txBody>
                    <a:bodyPr/>
                    <a:lstStyle/>
                    <a:p>
                      <a:endParaRPr kumimoji="1" lang="ja-JP" altLang="en-US"/>
                    </a:p>
                  </a:txBody>
                  <a:tcPr/>
                </a:tc>
                <a:tc hMerge="1">
                  <a:txBody>
                    <a:bodyPr/>
                    <a:lstStyle/>
                    <a:p>
                      <a:endParaRPr kumimoji="1" lang="ja-JP" altLang="en-US"/>
                    </a:p>
                  </a:txBody>
                  <a:tcPr/>
                </a:tc>
                <a:tc gridSpan="5">
                  <a:txBody>
                    <a:bodyPr/>
                    <a:lstStyle/>
                    <a:p>
                      <a:pPr algn="ctr" fontAlgn="ctr"/>
                      <a:r>
                        <a:rPr lang="en-US" sz="900" b="0" i="0" u="none" strike="noStrike" dirty="0">
                          <a:solidFill>
                            <a:srgbClr val="FFFFFF"/>
                          </a:solidFill>
                          <a:effectLst/>
                          <a:latin typeface="BIZ UDPゴシック" panose="020B0400000000000000" pitchFamily="50" charset="-128"/>
                          <a:ea typeface="BIZ UDPゴシック" panose="020B0400000000000000" pitchFamily="50" charset="-128"/>
                        </a:rPr>
                        <a:t>G7・8・9</a:t>
                      </a: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p>
                      <a:pPr algn="ctr" fontAlgn="ctr"/>
                      <a:r>
                        <a:rPr lang="en-US" sz="900" b="0" i="0" u="none" strike="noStrike" dirty="0">
                          <a:solidFill>
                            <a:srgbClr val="FFFFFF"/>
                          </a:solidFill>
                          <a:effectLst/>
                          <a:latin typeface="BIZ UDPゴシック" panose="020B0400000000000000" pitchFamily="50" charset="-128"/>
                          <a:ea typeface="BIZ UDPゴシック" panose="020B0400000000000000" pitchFamily="50" charset="-128"/>
                        </a:rPr>
                        <a:t>G10・11</a:t>
                      </a:r>
                    </a:p>
                  </a:txBody>
                  <a:tcPr marL="0" marR="0" marT="0" marB="0" anchor="ctr">
                    <a:lnL w="12700" cap="flat" cmpd="sng" algn="ctr">
                      <a:solidFill>
                        <a:schemeClr val="bg1">
                          <a:lumMod val="95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116782785"/>
                  </a:ext>
                </a:extLst>
              </a:tr>
              <a:tr h="260822">
                <a:tc vMerge="1">
                  <a:txBody>
                    <a:bodyPr/>
                    <a:lstStyle/>
                    <a:p>
                      <a:endParaRPr kumimoji="1" lang="ja-JP" altLang="en-US"/>
                    </a:p>
                  </a:txBody>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一般</a:t>
                      </a:r>
                      <a:endParaRPr lang="en-US" altLang="ja-JP"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fontAlgn="ctr"/>
                      <a:r>
                        <a:rPr lang="ja-JP" altLang="en-US" sz="800" b="1" i="0" u="none" strike="noStrike" dirty="0">
                          <a:solidFill>
                            <a:srgbClr val="FF0000"/>
                          </a:solidFill>
                          <a:effectLst/>
                          <a:latin typeface="BIZ UDPゴシック" panose="020B0400000000000000" pitchFamily="50" charset="-128"/>
                          <a:ea typeface="BIZ UDPゴシック" panose="020B0400000000000000" pitchFamily="50" charset="-128"/>
                        </a:rPr>
                        <a:t>契約社員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一般</a:t>
                      </a:r>
                      <a:endParaRPr lang="en-US" altLang="ja-JP"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p>
                      <a:pPr marL="0" marR="0" lvl="0" indent="0" algn="ctr" defTabSz="914325" rtl="0" eaLnBrk="1" fontAlgn="ctr" latinLnBrk="0" hangingPunct="1">
                        <a:lnSpc>
                          <a:spcPct val="100000"/>
                        </a:lnSpc>
                        <a:spcBef>
                          <a:spcPts val="0"/>
                        </a:spcBef>
                        <a:spcAft>
                          <a:spcPts val="0"/>
                        </a:spcAft>
                        <a:buClrTx/>
                        <a:buSzTx/>
                        <a:buFontTx/>
                        <a:buNone/>
                        <a:tabLst/>
                        <a:defRPr/>
                      </a:pPr>
                      <a:r>
                        <a:rPr lang="ja-JP" altLang="en-US" sz="800" b="1" i="0" u="none" strike="noStrike" dirty="0">
                          <a:solidFill>
                            <a:srgbClr val="FF0000"/>
                          </a:solidFill>
                          <a:effectLst/>
                          <a:latin typeface="BIZ UDPゴシック" panose="020B0400000000000000" pitchFamily="50" charset="-128"/>
                          <a:ea typeface="BIZ UDPゴシック" panose="020B0400000000000000" pitchFamily="50" charset="-128"/>
                        </a:rPr>
                        <a:t>契約社員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一般</a:t>
                      </a:r>
                      <a:endParaRPr lang="en-US" altLang="ja-JP"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p>
                      <a:pPr marL="0" marR="0" lvl="0" indent="0" algn="ctr" defTabSz="914325" rtl="0" eaLnBrk="1" fontAlgn="ctr" latinLnBrk="0" hangingPunct="1">
                        <a:lnSpc>
                          <a:spcPct val="100000"/>
                        </a:lnSpc>
                        <a:spcBef>
                          <a:spcPts val="0"/>
                        </a:spcBef>
                        <a:spcAft>
                          <a:spcPts val="0"/>
                        </a:spcAft>
                        <a:buClrTx/>
                        <a:buSzTx/>
                        <a:buFontTx/>
                        <a:buNone/>
                        <a:tabLst/>
                        <a:defRPr/>
                      </a:pPr>
                      <a:r>
                        <a:rPr lang="ja-JP" altLang="en-US" sz="800" b="1" i="0" u="none" strike="noStrike" dirty="0">
                          <a:solidFill>
                            <a:srgbClr val="FF0000"/>
                          </a:solidFill>
                          <a:effectLst/>
                          <a:latin typeface="BIZ UDPゴシック" panose="020B0400000000000000" pitchFamily="50" charset="-128"/>
                          <a:ea typeface="BIZ UDPゴシック" panose="020B0400000000000000" pitchFamily="50" charset="-128"/>
                        </a:rPr>
                        <a:t>契約社員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ｻﾌﾞﾘｰﾀﾞｰ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一般</a:t>
                      </a:r>
                      <a:endParaRPr lang="en-US" altLang="ja-JP"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p>
                      <a:pPr marL="0" marR="0" lvl="0" indent="0" algn="ctr" defTabSz="914325" rtl="0" eaLnBrk="1" fontAlgn="ctr" latinLnBrk="0" hangingPunct="1">
                        <a:lnSpc>
                          <a:spcPct val="100000"/>
                        </a:lnSpc>
                        <a:spcBef>
                          <a:spcPts val="0"/>
                        </a:spcBef>
                        <a:spcAft>
                          <a:spcPts val="0"/>
                        </a:spcAft>
                        <a:buClrTx/>
                        <a:buSzTx/>
                        <a:buFontTx/>
                        <a:buNone/>
                        <a:tabLst/>
                        <a:defRPr/>
                      </a:pPr>
                      <a:r>
                        <a:rPr lang="ja-JP" altLang="en-US" sz="800" b="1" i="0" u="none" strike="noStrike" dirty="0">
                          <a:solidFill>
                            <a:srgbClr val="FF0000"/>
                          </a:solidFill>
                          <a:effectLst/>
                          <a:latin typeface="BIZ UDPゴシック" panose="020B0400000000000000" pitchFamily="50" charset="-128"/>
                          <a:ea typeface="BIZ UDPゴシック" panose="020B0400000000000000" pitchFamily="50" charset="-128"/>
                        </a:rPr>
                        <a:t>契約社員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ｻﾌﾞﾘｰﾀﾞｰ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FF0000"/>
                          </a:solidFill>
                          <a:effectLst/>
                          <a:latin typeface="BIZ UDPゴシック" panose="020B0400000000000000" pitchFamily="50" charset="-128"/>
                          <a:ea typeface="BIZ UDPゴシック" panose="020B0400000000000000" pitchFamily="50" charset="-128"/>
                        </a:rPr>
                        <a:t>本部長</a:t>
                      </a: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・部長・統括ﾘｰﾀﾞｰ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専門職</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一般</a:t>
                      </a:r>
                      <a:endParaRPr lang="en-US" altLang="ja-JP"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p>
                      <a:pPr marL="0" marR="0" lvl="0" indent="0" algn="ctr" defTabSz="914325" rtl="0" eaLnBrk="1" fontAlgn="ctr" latinLnBrk="0" hangingPunct="1">
                        <a:lnSpc>
                          <a:spcPct val="100000"/>
                        </a:lnSpc>
                        <a:spcBef>
                          <a:spcPts val="0"/>
                        </a:spcBef>
                        <a:spcAft>
                          <a:spcPts val="0"/>
                        </a:spcAft>
                        <a:buClrTx/>
                        <a:buSzTx/>
                        <a:buFontTx/>
                        <a:buNone/>
                        <a:tabLst/>
                        <a:defRPr/>
                      </a:pPr>
                      <a:r>
                        <a:rPr lang="ja-JP" altLang="en-US" sz="800" b="1" i="0" u="none" strike="noStrike" dirty="0">
                          <a:solidFill>
                            <a:srgbClr val="FF0000"/>
                          </a:solidFill>
                          <a:effectLst/>
                          <a:latin typeface="BIZ UDPゴシック" panose="020B0400000000000000" pitchFamily="50" charset="-128"/>
                          <a:ea typeface="BIZ UDPゴシック" panose="020B0400000000000000" pitchFamily="50" charset="-128"/>
                        </a:rPr>
                        <a:t>契約社員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rPr>
                        <a:t>ｻﾌﾞﾘｰﾀﾞｰ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rPr>
                        <a:t>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rgbClr val="FF0000"/>
                          </a:solidFill>
                          <a:effectLst/>
                          <a:latin typeface="BIZ UDPゴシック" panose="020B0400000000000000" pitchFamily="50" charset="-128"/>
                          <a:ea typeface="BIZ UDPゴシック" panose="020B0400000000000000" pitchFamily="50" charset="-128"/>
                        </a:rPr>
                        <a:t>本部長</a:t>
                      </a: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・部長・統括ﾘｰﾀﾞｰ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専門職</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6567838"/>
                  </a:ext>
                </a:extLst>
              </a:tr>
              <a:tr h="130411">
                <a:tc>
                  <a:txBody>
                    <a:bodyPr/>
                    <a:lstStyle/>
                    <a:p>
                      <a:pPr algn="l" fontAlgn="ctr"/>
                      <a:endParaRPr lang="ja-JP" altLang="en-US" sz="8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2730862"/>
                  </a:ext>
                </a:extLst>
              </a:tr>
              <a:tr h="207318">
                <a:tc>
                  <a:txBody>
                    <a:bodyPr/>
                    <a:lstStyle/>
                    <a:p>
                      <a:pPr algn="l" fontAlgn="ct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G10</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11</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7P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6P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5P</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5P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5P</a:t>
                      </a: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extLst>
                  <a:ext uri="{0D108BD9-81ED-4DB2-BD59-A6C34878D82A}">
                    <a16:rowId xmlns:a16="http://schemas.microsoft.com/office/drawing/2014/main" val="3456481568"/>
                  </a:ext>
                </a:extLst>
              </a:tr>
              <a:tr h="207318">
                <a:tc>
                  <a:txBody>
                    <a:bodyPr/>
                    <a:lstStyle/>
                    <a:p>
                      <a:pPr algn="l" fontAlgn="ct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G7</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8</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9</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6P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5P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2557215"/>
                  </a:ext>
                </a:extLst>
              </a:tr>
              <a:tr h="207318">
                <a:tc>
                  <a:txBody>
                    <a:bodyPr/>
                    <a:lstStyle/>
                    <a:p>
                      <a:pPr algn="l" fontAlgn="ct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G4</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5</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6</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5P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3284802"/>
                  </a:ext>
                </a:extLst>
              </a:tr>
              <a:tr h="207318">
                <a:tc>
                  <a:txBody>
                    <a:bodyPr/>
                    <a:lstStyle/>
                    <a:p>
                      <a:pPr algn="l" fontAlgn="ct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G2</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3</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0859390"/>
                  </a:ext>
                </a:extLst>
              </a:tr>
              <a:tr h="207318">
                <a:tc>
                  <a:txBody>
                    <a:bodyPr/>
                    <a:lstStyle/>
                    <a:p>
                      <a:pPr algn="l" fontAlgn="ctr"/>
                      <a:r>
                        <a:rPr lang="en-US" altLang="ja-JP" sz="1100" b="1" i="0" u="none" strike="noStrike" dirty="0">
                          <a:solidFill>
                            <a:srgbClr val="FFFFFF"/>
                          </a:solidFill>
                          <a:effectLst/>
                          <a:latin typeface="BIZ UDPゴシック" panose="020B0400000000000000" pitchFamily="50" charset="-128"/>
                          <a:ea typeface="BIZ UDPゴシック" panose="020B0400000000000000" pitchFamily="50" charset="-128"/>
                        </a:rPr>
                        <a:t>G1</a:t>
                      </a:r>
                      <a:r>
                        <a:rPr lang="ja-JP" altLang="en-US" sz="11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6719878"/>
                  </a:ext>
                </a:extLst>
              </a:tr>
            </a:tbl>
          </a:graphicData>
        </a:graphic>
      </p:graphicFrame>
      <p:sp>
        <p:nvSpPr>
          <p:cNvPr id="11"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15</a:t>
            </a:fld>
            <a:r>
              <a:rPr lang="ja-JP" altLang="en-US" sz="1050" dirty="0">
                <a:latin typeface="+mn-ea"/>
              </a:rPr>
              <a:t>－</a:t>
            </a:r>
          </a:p>
        </p:txBody>
      </p:sp>
      <p:sp>
        <p:nvSpPr>
          <p:cNvPr id="9" name="タイトル 2">
            <a:extLst>
              <a:ext uri="{FF2B5EF4-FFF2-40B4-BE49-F238E27FC236}">
                <a16:creationId xmlns:a16="http://schemas.microsoft.com/office/drawing/2014/main" id="{89BAE1CA-24A7-45B0-A7E7-5D2F54791A49}"/>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新制度　総合職　②行動評価について（</a:t>
            </a:r>
            <a:r>
              <a:rPr lang="en-US" altLang="ja-JP" sz="1600" dirty="0">
                <a:latin typeface="BIZ UDPゴシック" panose="020B0400000000000000" pitchFamily="50" charset="-128"/>
                <a:ea typeface="BIZ UDPゴシック" panose="020B0400000000000000" pitchFamily="50" charset="-128"/>
              </a:rPr>
              <a:t>2025</a:t>
            </a:r>
            <a:r>
              <a:rPr lang="ja-JP" altLang="en-US" sz="1600" dirty="0">
                <a:latin typeface="BIZ UDPゴシック" panose="020B0400000000000000" pitchFamily="50" charset="-128"/>
                <a:ea typeface="BIZ UDPゴシック" panose="020B0400000000000000" pitchFamily="50" charset="-128"/>
              </a:rPr>
              <a:t>年</a:t>
            </a:r>
            <a:r>
              <a:rPr lang="en-US" altLang="ja-JP" sz="1600" dirty="0">
                <a:latin typeface="BIZ UDPゴシック" panose="020B0400000000000000" pitchFamily="50" charset="-128"/>
                <a:ea typeface="BIZ UDPゴシック" panose="020B0400000000000000" pitchFamily="50" charset="-128"/>
              </a:rPr>
              <a:t>4</a:t>
            </a:r>
            <a:r>
              <a:rPr lang="ja-JP" altLang="en-US" sz="1600" dirty="0">
                <a:latin typeface="BIZ UDPゴシック" panose="020B0400000000000000" pitchFamily="50" charset="-128"/>
                <a:ea typeface="BIZ UDPゴシック" panose="020B0400000000000000" pitchFamily="50" charset="-128"/>
              </a:rPr>
              <a:t>月</a:t>
            </a:r>
            <a:r>
              <a:rPr lang="en-US" altLang="ja-JP" sz="1600" dirty="0">
                <a:latin typeface="BIZ UDPゴシック" panose="020B0400000000000000" pitchFamily="50" charset="-128"/>
                <a:ea typeface="BIZ UDPゴシック" panose="020B0400000000000000" pitchFamily="50" charset="-128"/>
              </a:rPr>
              <a:t>1</a:t>
            </a:r>
            <a:r>
              <a:rPr lang="ja-JP" altLang="en-US" sz="1600" dirty="0">
                <a:latin typeface="BIZ UDPゴシック" panose="020B0400000000000000" pitchFamily="50" charset="-128"/>
                <a:ea typeface="BIZ UDPゴシック" panose="020B0400000000000000" pitchFamily="50" charset="-128"/>
              </a:rPr>
              <a:t>日現在）</a:t>
            </a:r>
          </a:p>
        </p:txBody>
      </p:sp>
      <p:sp>
        <p:nvSpPr>
          <p:cNvPr id="19" name="タイトル 2">
            <a:extLst>
              <a:ext uri="{FF2B5EF4-FFF2-40B4-BE49-F238E27FC236}">
                <a16:creationId xmlns:a16="http://schemas.microsoft.com/office/drawing/2014/main" id="{1F19699B-BCDA-C944-E8EB-FF79BF18AB2B}"/>
              </a:ext>
            </a:extLst>
          </p:cNvPr>
          <p:cNvSpPr txBox="1">
            <a:spLocks/>
          </p:cNvSpPr>
          <p:nvPr/>
        </p:nvSpPr>
        <p:spPr>
          <a:xfrm>
            <a:off x="115286" y="721309"/>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役職・評価項目ごとの重み</a:t>
            </a:r>
          </a:p>
        </p:txBody>
      </p:sp>
      <p:sp>
        <p:nvSpPr>
          <p:cNvPr id="20" name="タイトル 2">
            <a:extLst>
              <a:ext uri="{FF2B5EF4-FFF2-40B4-BE49-F238E27FC236}">
                <a16:creationId xmlns:a16="http://schemas.microsoft.com/office/drawing/2014/main" id="{5448DE31-D089-D8D1-3B66-EFCD746D1F1C}"/>
              </a:ext>
            </a:extLst>
          </p:cNvPr>
          <p:cNvSpPr txBox="1">
            <a:spLocks/>
          </p:cNvSpPr>
          <p:nvPr/>
        </p:nvSpPr>
        <p:spPr>
          <a:xfrm>
            <a:off x="115286" y="2541747"/>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達成基準</a:t>
            </a:r>
          </a:p>
        </p:txBody>
      </p:sp>
      <p:sp>
        <p:nvSpPr>
          <p:cNvPr id="2" name="正方形/長方形 1">
            <a:extLst>
              <a:ext uri="{FF2B5EF4-FFF2-40B4-BE49-F238E27FC236}">
                <a16:creationId xmlns:a16="http://schemas.microsoft.com/office/drawing/2014/main" id="{98FC28D1-E138-1144-0783-B7555DDAFE1F}"/>
              </a:ext>
            </a:extLst>
          </p:cNvPr>
          <p:cNvSpPr/>
          <p:nvPr/>
        </p:nvSpPr>
        <p:spPr>
          <a:xfrm flipV="1">
            <a:off x="640080" y="1493519"/>
            <a:ext cx="8350286" cy="9561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A3ED255-AA19-9F45-D0E3-CFF00E398199}"/>
              </a:ext>
            </a:extLst>
          </p:cNvPr>
          <p:cNvSpPr/>
          <p:nvPr/>
        </p:nvSpPr>
        <p:spPr>
          <a:xfrm>
            <a:off x="108817" y="4944935"/>
            <a:ext cx="8881549" cy="1652417"/>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rPr>
              <a:t>役職や評価項目ごとの重みは、「役職」に応じ、行動面の評価基準が定まり、求められる行動基準を明確にする。また、「重さ」は、</a:t>
            </a:r>
            <a:r>
              <a:rPr lang="ja-JP" altLang="en-US" sz="14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年度に応じて変更させることがあり得る。</a:t>
            </a:r>
            <a:endParaRPr lang="en-US" altLang="ja-JP" sz="14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171450" indent="-171450">
              <a:buFont typeface="Arial" panose="020B0604020202020204" pitchFamily="34" charset="0"/>
              <a:buChar char="•"/>
            </a:pP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契約社員の「②行動評価」の達成基準は、理論年収に応じて「</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G1</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G2</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3</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G7</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8</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9</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G10</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11</a:t>
            </a:r>
            <a:r>
              <a:rPr lang="ja-JP" altLang="en-US"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」のいずれかに分類され、各半期の初めに決定される。</a:t>
            </a:r>
            <a:endPar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171450" indent="-17145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rPr>
              <a:t>評価の定義は、</a:t>
            </a:r>
            <a:r>
              <a:rPr lang="en-US" altLang="ja-JP" sz="1400" dirty="0">
                <a:solidFill>
                  <a:schemeClr val="tx1"/>
                </a:solidFill>
                <a:latin typeface="BIZ UDPゴシック" panose="020B0400000000000000" pitchFamily="50" charset="-128"/>
                <a:ea typeface="BIZ UDPゴシック" panose="020B0400000000000000" pitchFamily="50" charset="-128"/>
              </a:rPr>
              <a:t>30</a:t>
            </a:r>
            <a:r>
              <a:rPr lang="ja-JP" altLang="en-US" sz="1400" dirty="0">
                <a:solidFill>
                  <a:schemeClr val="tx1"/>
                </a:solidFill>
                <a:latin typeface="BIZ UDPゴシック" panose="020B0400000000000000" pitchFamily="50" charset="-128"/>
                <a:ea typeface="BIZ UDPゴシック" panose="020B0400000000000000" pitchFamily="50" charset="-128"/>
              </a:rPr>
              <a:t>通り（</a:t>
            </a:r>
            <a:r>
              <a:rPr lang="en-US" altLang="ja-JP" sz="1400" dirty="0">
                <a:solidFill>
                  <a:schemeClr val="tx1"/>
                </a:solidFill>
                <a:latin typeface="BIZ UDPゴシック" panose="020B0400000000000000" pitchFamily="50" charset="-128"/>
                <a:ea typeface="BIZ UDPゴシック" panose="020B0400000000000000" pitchFamily="50" charset="-128"/>
              </a:rPr>
              <a:t>6</a:t>
            </a:r>
            <a:r>
              <a:rPr lang="ja-JP" altLang="en-US" sz="1400" dirty="0">
                <a:solidFill>
                  <a:schemeClr val="tx1"/>
                </a:solidFill>
                <a:latin typeface="BIZ UDPゴシック" panose="020B0400000000000000" pitchFamily="50" charset="-128"/>
                <a:ea typeface="BIZ UDPゴシック" panose="020B0400000000000000" pitchFamily="50" charset="-128"/>
              </a:rPr>
              <a:t>項目</a:t>
            </a:r>
            <a:r>
              <a:rPr lang="en-US" altLang="ja-JP" sz="1400" dirty="0">
                <a:solidFill>
                  <a:schemeClr val="tx1"/>
                </a:solidFill>
                <a:latin typeface="BIZ UDPゴシック" panose="020B0400000000000000" pitchFamily="50" charset="-128"/>
                <a:ea typeface="BIZ UDPゴシック" panose="020B0400000000000000" pitchFamily="50" charset="-128"/>
              </a:rPr>
              <a:t>×5</a:t>
            </a:r>
            <a:r>
              <a:rPr lang="ja-JP" altLang="en-US" sz="1400" dirty="0">
                <a:solidFill>
                  <a:schemeClr val="tx1"/>
                </a:solidFill>
                <a:latin typeface="BIZ UDPゴシック" panose="020B0400000000000000" pitchFamily="50" charset="-128"/>
                <a:ea typeface="BIZ UDPゴシック" panose="020B0400000000000000" pitchFamily="50" charset="-128"/>
              </a:rPr>
              <a:t>段階）（次頁参照） 。期待通りの行動であれば評価「</a:t>
            </a:r>
            <a:r>
              <a:rPr lang="en-US" altLang="ja-JP" sz="1400" dirty="0">
                <a:solidFill>
                  <a:schemeClr val="tx1"/>
                </a:solidFill>
                <a:latin typeface="BIZ UDPゴシック" panose="020B0400000000000000" pitchFamily="50" charset="-128"/>
                <a:ea typeface="BIZ UDPゴシック" panose="020B0400000000000000" pitchFamily="50" charset="-128"/>
              </a:rPr>
              <a:t>3</a:t>
            </a:r>
            <a:r>
              <a:rPr lang="ja-JP" altLang="en-US" sz="1400" dirty="0">
                <a:solidFill>
                  <a:schemeClr val="tx1"/>
                </a:solidFill>
                <a:latin typeface="BIZ UDPゴシック" panose="020B0400000000000000" pitchFamily="50" charset="-128"/>
                <a:ea typeface="BIZ UDPゴシック" panose="020B0400000000000000" pitchFamily="50" charset="-128"/>
              </a:rPr>
              <a:t>Ｐ」とする。</a:t>
            </a:r>
            <a:endParaRPr lang="en-US" altLang="ja-JP" sz="14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12" name="タイトル 2">
            <a:extLst>
              <a:ext uri="{FF2B5EF4-FFF2-40B4-BE49-F238E27FC236}">
                <a16:creationId xmlns:a16="http://schemas.microsoft.com/office/drawing/2014/main" id="{48B48382-3158-E55F-028A-CBC33E082FEC}"/>
              </a:ext>
            </a:extLst>
          </p:cNvPr>
          <p:cNvSpPr txBox="1">
            <a:spLocks/>
          </p:cNvSpPr>
          <p:nvPr/>
        </p:nvSpPr>
        <p:spPr>
          <a:xfrm>
            <a:off x="122548" y="4512887"/>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備考</a:t>
            </a:r>
          </a:p>
        </p:txBody>
      </p:sp>
    </p:spTree>
    <p:extLst>
      <p:ext uri="{BB962C8B-B14F-4D97-AF65-F5344CB8AC3E}">
        <p14:creationId xmlns:p14="http://schemas.microsoft.com/office/powerpoint/2010/main" val="2762195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16</a:t>
            </a:fld>
            <a:r>
              <a:rPr lang="ja-JP" altLang="en-US" sz="1050" dirty="0">
                <a:latin typeface="+mn-ea"/>
              </a:rPr>
              <a:t>－</a:t>
            </a:r>
          </a:p>
        </p:txBody>
      </p:sp>
      <p:graphicFrame>
        <p:nvGraphicFramePr>
          <p:cNvPr id="2" name="表 1">
            <a:extLst>
              <a:ext uri="{FF2B5EF4-FFF2-40B4-BE49-F238E27FC236}">
                <a16:creationId xmlns:a16="http://schemas.microsoft.com/office/drawing/2014/main" id="{526DFA84-3957-41C1-627C-C865424D2C05}"/>
              </a:ext>
            </a:extLst>
          </p:cNvPr>
          <p:cNvGraphicFramePr>
            <a:graphicFrameLocks noGrp="1"/>
          </p:cNvGraphicFramePr>
          <p:nvPr/>
        </p:nvGraphicFramePr>
        <p:xfrm>
          <a:off x="128277" y="872528"/>
          <a:ext cx="8881549" cy="1110943"/>
        </p:xfrm>
        <a:graphic>
          <a:graphicData uri="http://schemas.openxmlformats.org/drawingml/2006/table">
            <a:tbl>
              <a:tblPr/>
              <a:tblGrid>
                <a:gridCol w="495715">
                  <a:extLst>
                    <a:ext uri="{9D8B030D-6E8A-4147-A177-3AD203B41FA5}">
                      <a16:colId xmlns:a16="http://schemas.microsoft.com/office/drawing/2014/main" val="1480483385"/>
                    </a:ext>
                  </a:extLst>
                </a:gridCol>
                <a:gridCol w="1397639">
                  <a:extLst>
                    <a:ext uri="{9D8B030D-6E8A-4147-A177-3AD203B41FA5}">
                      <a16:colId xmlns:a16="http://schemas.microsoft.com/office/drawing/2014/main" val="3175105297"/>
                    </a:ext>
                  </a:extLst>
                </a:gridCol>
                <a:gridCol w="1397639">
                  <a:extLst>
                    <a:ext uri="{9D8B030D-6E8A-4147-A177-3AD203B41FA5}">
                      <a16:colId xmlns:a16="http://schemas.microsoft.com/office/drawing/2014/main" val="4222984432"/>
                    </a:ext>
                  </a:extLst>
                </a:gridCol>
                <a:gridCol w="1397639">
                  <a:extLst>
                    <a:ext uri="{9D8B030D-6E8A-4147-A177-3AD203B41FA5}">
                      <a16:colId xmlns:a16="http://schemas.microsoft.com/office/drawing/2014/main" val="3756988707"/>
                    </a:ext>
                  </a:extLst>
                </a:gridCol>
                <a:gridCol w="1397639">
                  <a:extLst>
                    <a:ext uri="{9D8B030D-6E8A-4147-A177-3AD203B41FA5}">
                      <a16:colId xmlns:a16="http://schemas.microsoft.com/office/drawing/2014/main" val="2905299213"/>
                    </a:ext>
                  </a:extLst>
                </a:gridCol>
                <a:gridCol w="1397639">
                  <a:extLst>
                    <a:ext uri="{9D8B030D-6E8A-4147-A177-3AD203B41FA5}">
                      <a16:colId xmlns:a16="http://schemas.microsoft.com/office/drawing/2014/main" val="1468593211"/>
                    </a:ext>
                  </a:extLst>
                </a:gridCol>
                <a:gridCol w="1397639">
                  <a:extLst>
                    <a:ext uri="{9D8B030D-6E8A-4147-A177-3AD203B41FA5}">
                      <a16:colId xmlns:a16="http://schemas.microsoft.com/office/drawing/2014/main" val="2823172554"/>
                    </a:ext>
                  </a:extLst>
                </a:gridCol>
              </a:tblGrid>
              <a:tr h="144016">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①</a:t>
                      </a:r>
                      <a:r>
                        <a:rPr lang="zh-TW"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職務達成責任</a:t>
                      </a:r>
                      <a:endParaRPr lang="en-US" altLang="zh-TW" sz="1000" b="1"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②チャレンジ精神</a:t>
                      </a:r>
                      <a:endParaRPr lang="en-US" altLang="ja-JP" sz="1000" b="1"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③チームワーク</a:t>
                      </a:r>
                      <a:endParaRPr lang="en-US" altLang="ja-JP" sz="1000" b="1"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④コミュニケーション</a:t>
                      </a:r>
                      <a:endParaRPr lang="en-US" altLang="ja-JP" sz="1000" b="1"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⑤業務改善</a:t>
                      </a:r>
                      <a:endParaRPr lang="en-US" altLang="ja-JP" sz="1000" b="1"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⑥人材育成</a:t>
                      </a:r>
                      <a:endParaRPr lang="en-US" altLang="ja-JP" sz="1000" b="1"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543094577"/>
                  </a:ext>
                </a:extLst>
              </a:tr>
              <a:tr h="958543">
                <a:tc>
                  <a:txBody>
                    <a:bodyPr/>
                    <a:lstStyle/>
                    <a:p>
                      <a:pPr algn="ctr" fontAlgn="ctr"/>
                      <a:r>
                        <a:rPr lang="ja-JP"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定義</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確かな成果を生み出す為に、取り得るあらゆる手段を試み、責任をもって結果を追求する姿勢</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専門知識や経験を活かし、従来のやり方や風土にとらわれず、斬新なアイデアや新たな取り組みを追求し、困難な問題・課題に立ち向かっている。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チーム全体の最適や目標達成を意識し、専門知識や経験に基づき、自発的に行動し周囲へ影響をもたらしている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職務遂行を円滑化するために、専門知識や経験に基づき、社内外の関係者に働きかけ、協力関係を構築していく。</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専門知識や経験を活かし、自らの担当業務における改善に向け粘り強く取り組み、生産性の向上へ導いている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自らの専門的な知識・経験に基づき、部下・同僚・後輩に的確に助言や指導を与え、成長を促している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58401812"/>
                  </a:ext>
                </a:extLst>
              </a:tr>
            </a:tbl>
          </a:graphicData>
        </a:graphic>
      </p:graphicFrame>
      <p:graphicFrame>
        <p:nvGraphicFramePr>
          <p:cNvPr id="3" name="表 2">
            <a:extLst>
              <a:ext uri="{FF2B5EF4-FFF2-40B4-BE49-F238E27FC236}">
                <a16:creationId xmlns:a16="http://schemas.microsoft.com/office/drawing/2014/main" id="{E7764080-FA49-E9DC-E618-CB65958A7724}"/>
              </a:ext>
            </a:extLst>
          </p:cNvPr>
          <p:cNvGraphicFramePr>
            <a:graphicFrameLocks noGrp="1"/>
          </p:cNvGraphicFramePr>
          <p:nvPr/>
        </p:nvGraphicFramePr>
        <p:xfrm>
          <a:off x="128277" y="2038351"/>
          <a:ext cx="8881549" cy="4191000"/>
        </p:xfrm>
        <a:graphic>
          <a:graphicData uri="http://schemas.openxmlformats.org/drawingml/2006/table">
            <a:tbl>
              <a:tblPr/>
              <a:tblGrid>
                <a:gridCol w="495715">
                  <a:extLst>
                    <a:ext uri="{9D8B030D-6E8A-4147-A177-3AD203B41FA5}">
                      <a16:colId xmlns:a16="http://schemas.microsoft.com/office/drawing/2014/main" val="1480483385"/>
                    </a:ext>
                  </a:extLst>
                </a:gridCol>
                <a:gridCol w="1397639">
                  <a:extLst>
                    <a:ext uri="{9D8B030D-6E8A-4147-A177-3AD203B41FA5}">
                      <a16:colId xmlns:a16="http://schemas.microsoft.com/office/drawing/2014/main" val="3175105297"/>
                    </a:ext>
                  </a:extLst>
                </a:gridCol>
                <a:gridCol w="1397639">
                  <a:extLst>
                    <a:ext uri="{9D8B030D-6E8A-4147-A177-3AD203B41FA5}">
                      <a16:colId xmlns:a16="http://schemas.microsoft.com/office/drawing/2014/main" val="4222984432"/>
                    </a:ext>
                  </a:extLst>
                </a:gridCol>
                <a:gridCol w="1397639">
                  <a:extLst>
                    <a:ext uri="{9D8B030D-6E8A-4147-A177-3AD203B41FA5}">
                      <a16:colId xmlns:a16="http://schemas.microsoft.com/office/drawing/2014/main" val="3756988707"/>
                    </a:ext>
                  </a:extLst>
                </a:gridCol>
                <a:gridCol w="1397639">
                  <a:extLst>
                    <a:ext uri="{9D8B030D-6E8A-4147-A177-3AD203B41FA5}">
                      <a16:colId xmlns:a16="http://schemas.microsoft.com/office/drawing/2014/main" val="2905299213"/>
                    </a:ext>
                  </a:extLst>
                </a:gridCol>
                <a:gridCol w="1397639">
                  <a:extLst>
                    <a:ext uri="{9D8B030D-6E8A-4147-A177-3AD203B41FA5}">
                      <a16:colId xmlns:a16="http://schemas.microsoft.com/office/drawing/2014/main" val="1468593211"/>
                    </a:ext>
                  </a:extLst>
                </a:gridCol>
                <a:gridCol w="1397639">
                  <a:extLst>
                    <a:ext uri="{9D8B030D-6E8A-4147-A177-3AD203B41FA5}">
                      <a16:colId xmlns:a16="http://schemas.microsoft.com/office/drawing/2014/main" val="2823172554"/>
                    </a:ext>
                  </a:extLst>
                </a:gridCol>
              </a:tblGrid>
              <a:tr h="251162">
                <a:tc>
                  <a:txBody>
                    <a:bodyPr/>
                    <a:lstStyle/>
                    <a:p>
                      <a:pPr algn="ctr" fontAlgn="ct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endPar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endParaRPr>
                    </a:p>
                    <a:p>
                      <a:pPr algn="ctr" fontAlgn="ct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10</a:t>
                      </a: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t"/>
                      <a:r>
                        <a:rPr lang="ja-JP" altLang="en-US" sz="900" b="1" i="0" u="none" strike="noStrike" dirty="0">
                          <a:effectLst/>
                          <a:latin typeface="BIZ UDPゴシック" panose="020B0400000000000000" pitchFamily="50" charset="-128"/>
                          <a:ea typeface="BIZ UDPゴシック" panose="020B0400000000000000" pitchFamily="50" charset="-128"/>
                        </a:rPr>
                        <a:t>経営目線で</a:t>
                      </a:r>
                      <a:r>
                        <a:rPr lang="en-US" altLang="ja-JP" sz="900" b="1" i="0" u="none" strike="noStrike" dirty="0">
                          <a:effectLst/>
                          <a:latin typeface="BIZ UDPゴシック" panose="020B0400000000000000" pitchFamily="50" charset="-128"/>
                          <a:ea typeface="BIZ UDPゴシック" panose="020B0400000000000000" pitchFamily="50" charset="-128"/>
                        </a:rPr>
                        <a:t>7</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8</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9</a:t>
                      </a:r>
                      <a:r>
                        <a:rPr lang="ja-JP" altLang="en-US" sz="900" b="1" i="0" u="none" strike="noStrike" dirty="0">
                          <a:effectLst/>
                          <a:latin typeface="BIZ UDPゴシック" panose="020B0400000000000000" pitchFamily="50" charset="-128"/>
                          <a:ea typeface="BIZ UDPゴシック" panose="020B0400000000000000" pitchFamily="50" charset="-128"/>
                        </a:rPr>
                        <a:t>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325" rtl="0" eaLnBrk="1" fontAlgn="t" latinLnBrk="0" hangingPunct="1">
                        <a:lnSpc>
                          <a:spcPct val="100000"/>
                        </a:lnSpc>
                        <a:spcBef>
                          <a:spcPts val="0"/>
                        </a:spcBef>
                        <a:spcAft>
                          <a:spcPts val="0"/>
                        </a:spcAft>
                        <a:buClrTx/>
                        <a:buSzTx/>
                        <a:buFontTx/>
                        <a:buNone/>
                        <a:tabLst/>
                        <a:defRPr/>
                      </a:pPr>
                      <a:r>
                        <a:rPr lang="ja-JP" altLang="en-US" sz="900" b="1" i="0" u="none" strike="noStrike" dirty="0">
                          <a:effectLst/>
                          <a:latin typeface="BIZ UDPゴシック" panose="020B0400000000000000" pitchFamily="50" charset="-128"/>
                          <a:ea typeface="BIZ UDPゴシック" panose="020B0400000000000000" pitchFamily="50" charset="-128"/>
                        </a:rPr>
                        <a:t>経営目線で</a:t>
                      </a:r>
                      <a:r>
                        <a:rPr lang="en-US" altLang="ja-JP" sz="900" b="1" i="0" u="none" strike="noStrike" dirty="0">
                          <a:effectLst/>
                          <a:latin typeface="BIZ UDPゴシック" panose="020B0400000000000000" pitchFamily="50" charset="-128"/>
                          <a:ea typeface="BIZ UDPゴシック" panose="020B0400000000000000" pitchFamily="50" charset="-128"/>
                        </a:rPr>
                        <a:t>7</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8</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9</a:t>
                      </a:r>
                      <a:r>
                        <a:rPr lang="ja-JP" altLang="en-US" sz="900" b="1" i="0" u="none" strike="noStrike" dirty="0">
                          <a:effectLst/>
                          <a:latin typeface="BIZ UDPゴシック" panose="020B0400000000000000" pitchFamily="50" charset="-128"/>
                          <a:ea typeface="BIZ UDPゴシック" panose="020B0400000000000000" pitchFamily="50" charset="-128"/>
                        </a:rPr>
                        <a:t>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325" rtl="0" eaLnBrk="1" fontAlgn="t" latinLnBrk="0" hangingPunct="1">
                        <a:lnSpc>
                          <a:spcPct val="100000"/>
                        </a:lnSpc>
                        <a:spcBef>
                          <a:spcPts val="0"/>
                        </a:spcBef>
                        <a:spcAft>
                          <a:spcPts val="0"/>
                        </a:spcAft>
                        <a:buClrTx/>
                        <a:buSzTx/>
                        <a:buFontTx/>
                        <a:buNone/>
                        <a:tabLst/>
                        <a:defRPr/>
                      </a:pPr>
                      <a:r>
                        <a:rPr lang="ja-JP" altLang="en-US" sz="900" b="1" i="0" u="none" strike="noStrike" dirty="0">
                          <a:effectLst/>
                          <a:latin typeface="BIZ UDPゴシック" panose="020B0400000000000000" pitchFamily="50" charset="-128"/>
                          <a:ea typeface="BIZ UDPゴシック" panose="020B0400000000000000" pitchFamily="50" charset="-128"/>
                        </a:rPr>
                        <a:t>経営目線で</a:t>
                      </a:r>
                      <a:r>
                        <a:rPr lang="en-US" altLang="ja-JP" sz="900" b="1" i="0" u="none" strike="noStrike" dirty="0">
                          <a:effectLst/>
                          <a:latin typeface="BIZ UDPゴシック" panose="020B0400000000000000" pitchFamily="50" charset="-128"/>
                          <a:ea typeface="BIZ UDPゴシック" panose="020B0400000000000000" pitchFamily="50" charset="-128"/>
                        </a:rPr>
                        <a:t>7</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8</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9</a:t>
                      </a:r>
                      <a:r>
                        <a:rPr lang="ja-JP" altLang="en-US" sz="900" b="1" i="0" u="none" strike="noStrike" dirty="0">
                          <a:effectLst/>
                          <a:latin typeface="BIZ UDPゴシック" panose="020B0400000000000000" pitchFamily="50" charset="-128"/>
                          <a:ea typeface="BIZ UDPゴシック" panose="020B0400000000000000" pitchFamily="50" charset="-128"/>
                        </a:rPr>
                        <a:t>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325" rtl="0" eaLnBrk="1" fontAlgn="t" latinLnBrk="0" hangingPunct="1">
                        <a:lnSpc>
                          <a:spcPct val="100000"/>
                        </a:lnSpc>
                        <a:spcBef>
                          <a:spcPts val="0"/>
                        </a:spcBef>
                        <a:spcAft>
                          <a:spcPts val="0"/>
                        </a:spcAft>
                        <a:buClrTx/>
                        <a:buSzTx/>
                        <a:buFontTx/>
                        <a:buNone/>
                        <a:tabLst/>
                        <a:defRPr/>
                      </a:pPr>
                      <a:r>
                        <a:rPr lang="ja-JP" altLang="en-US" sz="900" b="1" i="0" u="none" strike="noStrike" dirty="0">
                          <a:effectLst/>
                          <a:latin typeface="BIZ UDPゴシック" panose="020B0400000000000000" pitchFamily="50" charset="-128"/>
                          <a:ea typeface="BIZ UDPゴシック" panose="020B0400000000000000" pitchFamily="50" charset="-128"/>
                        </a:rPr>
                        <a:t>経営目線で</a:t>
                      </a:r>
                      <a:r>
                        <a:rPr lang="en-US" altLang="ja-JP" sz="900" b="1" i="0" u="none" strike="noStrike" dirty="0">
                          <a:effectLst/>
                          <a:latin typeface="BIZ UDPゴシック" panose="020B0400000000000000" pitchFamily="50" charset="-128"/>
                          <a:ea typeface="BIZ UDPゴシック" panose="020B0400000000000000" pitchFamily="50" charset="-128"/>
                        </a:rPr>
                        <a:t>7</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8</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9</a:t>
                      </a:r>
                      <a:r>
                        <a:rPr lang="ja-JP" altLang="en-US" sz="900" b="1" i="0" u="none" strike="noStrike" dirty="0">
                          <a:effectLst/>
                          <a:latin typeface="BIZ UDPゴシック" panose="020B0400000000000000" pitchFamily="50" charset="-128"/>
                          <a:ea typeface="BIZ UDPゴシック" panose="020B0400000000000000" pitchFamily="50" charset="-128"/>
                        </a:rPr>
                        <a:t>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325" rtl="0" eaLnBrk="1" fontAlgn="t" latinLnBrk="0" hangingPunct="1">
                        <a:lnSpc>
                          <a:spcPct val="100000"/>
                        </a:lnSpc>
                        <a:spcBef>
                          <a:spcPts val="0"/>
                        </a:spcBef>
                        <a:spcAft>
                          <a:spcPts val="0"/>
                        </a:spcAft>
                        <a:buClrTx/>
                        <a:buSzTx/>
                        <a:buFontTx/>
                        <a:buNone/>
                        <a:tabLst/>
                        <a:defRPr/>
                      </a:pPr>
                      <a:r>
                        <a:rPr lang="ja-JP" altLang="en-US" sz="900" b="1" i="0" u="none" strike="noStrike" dirty="0">
                          <a:effectLst/>
                          <a:latin typeface="BIZ UDPゴシック" panose="020B0400000000000000" pitchFamily="50" charset="-128"/>
                          <a:ea typeface="BIZ UDPゴシック" panose="020B0400000000000000" pitchFamily="50" charset="-128"/>
                        </a:rPr>
                        <a:t>経営目線で</a:t>
                      </a:r>
                      <a:r>
                        <a:rPr lang="en-US" altLang="ja-JP" sz="900" b="1" i="0" u="none" strike="noStrike" dirty="0">
                          <a:effectLst/>
                          <a:latin typeface="BIZ UDPゴシック" panose="020B0400000000000000" pitchFamily="50" charset="-128"/>
                          <a:ea typeface="BIZ UDPゴシック" panose="020B0400000000000000" pitchFamily="50" charset="-128"/>
                        </a:rPr>
                        <a:t>7</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8</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9</a:t>
                      </a:r>
                      <a:r>
                        <a:rPr lang="ja-JP" altLang="en-US" sz="900" b="1" i="0" u="none" strike="noStrike" dirty="0">
                          <a:effectLst/>
                          <a:latin typeface="BIZ UDPゴシック" panose="020B0400000000000000" pitchFamily="50" charset="-128"/>
                          <a:ea typeface="BIZ UDPゴシック" panose="020B0400000000000000" pitchFamily="50" charset="-128"/>
                        </a:rPr>
                        <a:t>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325" rtl="0" eaLnBrk="1" fontAlgn="t" latinLnBrk="0" hangingPunct="1">
                        <a:lnSpc>
                          <a:spcPct val="100000"/>
                        </a:lnSpc>
                        <a:spcBef>
                          <a:spcPts val="0"/>
                        </a:spcBef>
                        <a:spcAft>
                          <a:spcPts val="0"/>
                        </a:spcAft>
                        <a:buClrTx/>
                        <a:buSzTx/>
                        <a:buFontTx/>
                        <a:buNone/>
                        <a:tabLst/>
                        <a:defRPr/>
                      </a:pPr>
                      <a:r>
                        <a:rPr lang="ja-JP" altLang="en-US" sz="900" b="1" i="0" u="none" strike="noStrike" dirty="0">
                          <a:effectLst/>
                          <a:latin typeface="BIZ UDPゴシック" panose="020B0400000000000000" pitchFamily="50" charset="-128"/>
                          <a:ea typeface="BIZ UDPゴシック" panose="020B0400000000000000" pitchFamily="50" charset="-128"/>
                        </a:rPr>
                        <a:t>経営目線で</a:t>
                      </a:r>
                      <a:r>
                        <a:rPr lang="en-US" altLang="ja-JP" sz="900" b="1" i="0" u="none" strike="noStrike" dirty="0">
                          <a:effectLst/>
                          <a:latin typeface="BIZ UDPゴシック" panose="020B0400000000000000" pitchFamily="50" charset="-128"/>
                          <a:ea typeface="BIZ UDPゴシック" panose="020B0400000000000000" pitchFamily="50" charset="-128"/>
                        </a:rPr>
                        <a:t>7</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8</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9</a:t>
                      </a:r>
                      <a:r>
                        <a:rPr lang="ja-JP" altLang="en-US" sz="900" b="1" i="0" u="none" strike="noStrike" dirty="0">
                          <a:effectLst/>
                          <a:latin typeface="BIZ UDPゴシック" panose="020B0400000000000000" pitchFamily="50" charset="-128"/>
                          <a:ea typeface="BIZ UDPゴシック" panose="020B0400000000000000" pitchFamily="50" charset="-128"/>
                        </a:rPr>
                        <a:t>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62125998"/>
                  </a:ext>
                </a:extLst>
              </a:tr>
              <a:tr h="1255811">
                <a:tc>
                  <a:txBody>
                    <a:bodyPr/>
                    <a:lstStyle/>
                    <a:p>
                      <a:pPr algn="ctr" fontAlgn="ct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endPar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endParaRPr>
                    </a:p>
                    <a:p>
                      <a:pPr algn="ctr" fontAlgn="ct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7</a:t>
                      </a: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8</a:t>
                      </a: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・経営方針・部内方針に基づき、与えられた達成すべき成果や役割、責任を理解し、その達成に向けて的確なマネジメントを行っている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・自らリーダーシップを発揮し、組織業績の達成に向け、部下や周囲へ積極的に働き掛けている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・斬新なアイデアや常にチャレンジングな取組を実践し、目標達成に向けて実行している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・目標に対して執着し、結果が出るまで粘り強くとことんやり通している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・所属部署の目標や自らの役割を理解し、チーム全体の目標達成のために、自ら進んで社内の関係者と協力して行動している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・部内や社内に留まらず、社外の関係者とも積極的に協力し、チーム成果に貢献している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・率先して職場内の上下左右の意志疎通を図っている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・社外の方とも積極的にｺﾐｭﾆｹｰｼｮﾝを図ることで信頼を得て、良好な協力関係を構築している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・より高い知識やスキルの習得に励むとともに、担当業務の改善の課題を明確にし、改善を実施している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・業務改善だけに留まらずに職場における人材育成・組織作りへも影響を発揮し、周囲への模範となっている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・部内のスタッフへはもちろん、部外へのスタッフに対しても的確に助言をし、指導ができている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endParaRPr lang="ja-JP" altLang="en-US" sz="900" b="1" i="0" u="none" strike="noStrike" dirty="0">
                        <a:effectLst/>
                        <a:latin typeface="BIZ UDPゴシック" panose="020B0400000000000000" pitchFamily="50" charset="-128"/>
                        <a:ea typeface="BIZ UDPゴシック" panose="020B0400000000000000" pitchFamily="50" charset="-128"/>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30727267"/>
                  </a:ext>
                </a:extLst>
              </a:tr>
              <a:tr h="1130230">
                <a:tc>
                  <a:txBody>
                    <a:bodyPr/>
                    <a:lstStyle/>
                    <a:p>
                      <a:pPr algn="ctr" fontAlgn="ct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endPar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endParaRPr>
                    </a:p>
                    <a:p>
                      <a:pPr algn="ctr" fontAlgn="ct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4</a:t>
                      </a: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5</a:t>
                      </a: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・与えられた成果や役割・責任を認識し、その達成に向け日々業務に取り組んでいる。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・組織業績の達成に向け、周囲と連携を図り、前向きに行動をしている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・目標達成に向け、既存の枠組みにとらわれることなく行動に移している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・取り組んだ全ての目標に対して成果をあげているわけではないが、障害や困難に対しても諦めず取り組む姿勢を持っている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・所属部署の目標や自らの役割を理解し、所属部署のメンバーと協力して行動し、チーム内に相乗効果をもたらしている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・職務遂行を円滑にするためには、周りとの協力関係が重要であるということを理解している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・協力関係の構築が図れるよう、関係者とのコミュニケーションを心がけている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・担当業務における課題を理解し、適宜必要な業務改善を行っている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・職場の課題に対しても、前向きに改善行動を行っている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・部内のスタッフへ的確な助言や指導を行い、成長を促している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endParaRPr lang="ja-JP" altLang="en-US" sz="900" b="1" i="0" u="none" strike="noStrike" dirty="0">
                        <a:effectLst/>
                        <a:latin typeface="BIZ UDPゴシック" panose="020B0400000000000000" pitchFamily="50" charset="-128"/>
                        <a:ea typeface="BIZ UDPゴシック" panose="020B0400000000000000" pitchFamily="50" charset="-128"/>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61849973"/>
                  </a:ext>
                </a:extLst>
              </a:tr>
              <a:tr h="1004649">
                <a:tc>
                  <a:txBody>
                    <a:bodyPr/>
                    <a:lstStyle/>
                    <a:p>
                      <a:pPr algn="ctr" fontAlgn="ct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endPar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endParaRPr>
                    </a:p>
                    <a:p>
                      <a:pPr algn="ctr" fontAlgn="ct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2</a:t>
                      </a: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・与えられた役割・責任の一部は果たしている</a:t>
                      </a: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・組織業績達成に向けて周囲と連携して業務に取り組む姿勢がやや欠けている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・業務に対する取り組み姿勢は問題ないが、既存のスタイルや思考から脱却するまでには至っていない。</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・所属部署のメンバーと協力して行動する姿勢が一部では見られるが、チームワークの発揮までには至っていない</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・一部の限定的な対象や範囲ではコミュニケーションをとっている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・担当業務における課題は認識しているものの改善には至っていない。</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・職場における人材育成や組織風土の醸成において、影響を与えるまでには至っていない</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・自らの後任の育成を行う中で、部内のスタッフに対して的確な助言や指導を行えていない</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endParaRPr lang="ja-JP" altLang="en-US" sz="900" b="1" i="0" u="none" strike="noStrike" dirty="0">
                        <a:effectLst/>
                        <a:latin typeface="BIZ UDPゴシック" panose="020B0400000000000000" pitchFamily="50" charset="-128"/>
                        <a:ea typeface="BIZ UDPゴシック" panose="020B0400000000000000" pitchFamily="50" charset="-128"/>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73799089"/>
                  </a:ext>
                </a:extLst>
              </a:tr>
              <a:tr h="197068">
                <a:tc>
                  <a:txBody>
                    <a:bodyPr/>
                    <a:lstStyle/>
                    <a:p>
                      <a:pPr algn="ctr" fontAlgn="ctr"/>
                      <a:r>
                        <a:rPr lang="ja-JP" altLang="en-US" sz="7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endParaRPr lang="en-US" altLang="ja-JP" sz="7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endParaRPr>
                    </a:p>
                    <a:p>
                      <a:pPr algn="ctr" fontAlgn="ctr"/>
                      <a:r>
                        <a:rPr lang="en-US" altLang="ja-JP" sz="7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900" b="1" i="0" u="none" strike="noStrike" dirty="0">
                          <a:effectLst/>
                          <a:latin typeface="BIZ UDPゴシック" panose="020B0400000000000000" pitchFamily="50" charset="-128"/>
                          <a:ea typeface="BIZ UDPゴシック" panose="020B0400000000000000" pitchFamily="50" charset="-128"/>
                        </a:rPr>
                        <a:t>　</a:t>
                      </a:r>
                      <a:r>
                        <a:rPr lang="en-US" altLang="ja-JP" sz="900" b="1" i="0" u="none" strike="noStrike" dirty="0">
                          <a:effectLst/>
                          <a:latin typeface="BIZ UDPゴシック" panose="020B0400000000000000" pitchFamily="50" charset="-128"/>
                          <a:ea typeface="BIZ UDPゴシック" panose="020B0400000000000000" pitchFamily="50" charset="-128"/>
                        </a:rPr>
                        <a:t>2</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3</a:t>
                      </a:r>
                      <a:r>
                        <a:rPr lang="ja-JP" altLang="en-US" sz="900" b="1" i="0" u="none" strike="noStrike" dirty="0">
                          <a:effectLst/>
                          <a:latin typeface="BIZ UDPゴシック" panose="020B0400000000000000" pitchFamily="50" charset="-128"/>
                          <a:ea typeface="BIZ UDPゴシック" panose="020B0400000000000000" pitchFamily="50" charset="-128"/>
                        </a:rPr>
                        <a:t>未満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ja-JP" altLang="en-US" sz="900" b="1" i="0" u="none" strike="noStrike" dirty="0">
                          <a:effectLst/>
                          <a:latin typeface="BIZ UDPゴシック" panose="020B0400000000000000" pitchFamily="50" charset="-128"/>
                          <a:ea typeface="BIZ UDPゴシック" panose="020B0400000000000000" pitchFamily="50" charset="-128"/>
                        </a:rPr>
                        <a:t>　</a:t>
                      </a:r>
                      <a:r>
                        <a:rPr lang="en-US" altLang="ja-JP" sz="900" b="1" i="0" u="none" strike="noStrike" dirty="0">
                          <a:effectLst/>
                          <a:latin typeface="BIZ UDPゴシック" panose="020B0400000000000000" pitchFamily="50" charset="-128"/>
                          <a:ea typeface="BIZ UDPゴシック" panose="020B0400000000000000" pitchFamily="50" charset="-128"/>
                        </a:rPr>
                        <a:t>2</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3</a:t>
                      </a:r>
                      <a:r>
                        <a:rPr lang="ja-JP" altLang="en-US" sz="900" b="1" i="0" u="none" strike="noStrike" dirty="0">
                          <a:effectLst/>
                          <a:latin typeface="BIZ UDPゴシック" panose="020B0400000000000000" pitchFamily="50" charset="-128"/>
                          <a:ea typeface="BIZ UDPゴシック" panose="020B0400000000000000" pitchFamily="50" charset="-128"/>
                        </a:rPr>
                        <a:t>未満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ja-JP" sz="900" b="1" i="0" u="none" strike="noStrike" dirty="0">
                          <a:effectLst/>
                          <a:latin typeface="BIZ UDPゴシック" panose="020B0400000000000000" pitchFamily="50" charset="-128"/>
                          <a:ea typeface="BIZ UDPゴシック" panose="020B0400000000000000" pitchFamily="50" charset="-128"/>
                        </a:rPr>
                        <a:t>2</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3</a:t>
                      </a:r>
                      <a:r>
                        <a:rPr lang="ja-JP" altLang="en-US" sz="900" b="1" i="0" u="none" strike="noStrike" dirty="0">
                          <a:effectLst/>
                          <a:latin typeface="BIZ UDPゴシック" panose="020B0400000000000000" pitchFamily="50" charset="-128"/>
                          <a:ea typeface="BIZ UDPゴシック" panose="020B0400000000000000" pitchFamily="50" charset="-128"/>
                        </a:rPr>
                        <a:t>未満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ja-JP" altLang="en-US" sz="900" b="1" i="0" u="none" strike="noStrike" dirty="0">
                          <a:effectLst/>
                          <a:latin typeface="BIZ UDPゴシック" panose="020B0400000000000000" pitchFamily="50" charset="-128"/>
                          <a:ea typeface="BIZ UDPゴシック" panose="020B0400000000000000" pitchFamily="50" charset="-128"/>
                        </a:rPr>
                        <a:t>　</a:t>
                      </a:r>
                      <a:r>
                        <a:rPr lang="en-US" altLang="ja-JP" sz="900" b="1" i="0" u="none" strike="noStrike" dirty="0">
                          <a:effectLst/>
                          <a:latin typeface="BIZ UDPゴシック" panose="020B0400000000000000" pitchFamily="50" charset="-128"/>
                          <a:ea typeface="BIZ UDPゴシック" panose="020B0400000000000000" pitchFamily="50" charset="-128"/>
                        </a:rPr>
                        <a:t>2</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3</a:t>
                      </a:r>
                      <a:r>
                        <a:rPr lang="ja-JP" altLang="en-US" sz="900" b="1" i="0" u="none" strike="noStrike" dirty="0">
                          <a:effectLst/>
                          <a:latin typeface="BIZ UDPゴシック" panose="020B0400000000000000" pitchFamily="50" charset="-128"/>
                          <a:ea typeface="BIZ UDPゴシック" panose="020B0400000000000000" pitchFamily="50" charset="-128"/>
                        </a:rPr>
                        <a:t>未満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ja-JP" altLang="en-US" sz="900" b="1" i="0" u="none" strike="noStrike" dirty="0">
                          <a:effectLst/>
                          <a:latin typeface="BIZ UDPゴシック" panose="020B0400000000000000" pitchFamily="50" charset="-128"/>
                          <a:ea typeface="BIZ UDPゴシック" panose="020B0400000000000000" pitchFamily="50" charset="-128"/>
                        </a:rPr>
                        <a:t>　</a:t>
                      </a:r>
                      <a:r>
                        <a:rPr lang="en-US" altLang="ja-JP" sz="900" b="1" i="0" u="none" strike="noStrike" dirty="0">
                          <a:effectLst/>
                          <a:latin typeface="BIZ UDPゴシック" panose="020B0400000000000000" pitchFamily="50" charset="-128"/>
                          <a:ea typeface="BIZ UDPゴシック" panose="020B0400000000000000" pitchFamily="50" charset="-128"/>
                        </a:rPr>
                        <a:t>2</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3</a:t>
                      </a:r>
                      <a:r>
                        <a:rPr lang="ja-JP" altLang="en-US" sz="900" b="1" i="0" u="none" strike="noStrike" dirty="0">
                          <a:effectLst/>
                          <a:latin typeface="BIZ UDPゴシック" panose="020B0400000000000000" pitchFamily="50" charset="-128"/>
                          <a:ea typeface="BIZ UDPゴシック" panose="020B0400000000000000" pitchFamily="50" charset="-128"/>
                        </a:rPr>
                        <a:t>未満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ja-JP" altLang="en-US" sz="900" b="1" i="0" u="none" strike="noStrike" dirty="0">
                          <a:effectLst/>
                          <a:latin typeface="BIZ UDPゴシック" panose="020B0400000000000000" pitchFamily="50" charset="-128"/>
                          <a:ea typeface="BIZ UDPゴシック" panose="020B0400000000000000" pitchFamily="50" charset="-128"/>
                        </a:rPr>
                        <a:t>　</a:t>
                      </a:r>
                      <a:r>
                        <a:rPr lang="en-US" altLang="ja-JP" sz="900" b="1" i="0" u="none" strike="noStrike" dirty="0">
                          <a:effectLst/>
                          <a:latin typeface="BIZ UDPゴシック" panose="020B0400000000000000" pitchFamily="50" charset="-128"/>
                          <a:ea typeface="BIZ UDPゴシック" panose="020B0400000000000000" pitchFamily="50" charset="-128"/>
                        </a:rPr>
                        <a:t>2</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3</a:t>
                      </a:r>
                      <a:r>
                        <a:rPr lang="ja-JP" altLang="en-US" sz="900" b="1" i="0" u="none" strike="noStrike" dirty="0">
                          <a:effectLst/>
                          <a:latin typeface="BIZ UDPゴシック" panose="020B0400000000000000" pitchFamily="50" charset="-128"/>
                          <a:ea typeface="BIZ UDPゴシック" panose="020B0400000000000000" pitchFamily="50" charset="-128"/>
                        </a:rPr>
                        <a:t>未満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54354350"/>
                  </a:ext>
                </a:extLst>
              </a:tr>
            </a:tbl>
          </a:graphicData>
        </a:graphic>
      </p:graphicFrame>
      <p:sp>
        <p:nvSpPr>
          <p:cNvPr id="10" name="正方形/長方形 9">
            <a:extLst>
              <a:ext uri="{FF2B5EF4-FFF2-40B4-BE49-F238E27FC236}">
                <a16:creationId xmlns:a16="http://schemas.microsoft.com/office/drawing/2014/main" id="{B5CF21CF-5A6A-7715-479D-91B21305E8BF}"/>
              </a:ext>
            </a:extLst>
          </p:cNvPr>
          <p:cNvSpPr/>
          <p:nvPr/>
        </p:nvSpPr>
        <p:spPr>
          <a:xfrm>
            <a:off x="128277" y="6290126"/>
            <a:ext cx="8881549" cy="434400"/>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latin typeface="BIZ UDPゴシック" panose="020B0400000000000000" pitchFamily="50" charset="-128"/>
                <a:ea typeface="BIZ UDPゴシック" panose="020B0400000000000000" pitchFamily="50" charset="-128"/>
              </a:rPr>
              <a:t>・行動評価は、</a:t>
            </a:r>
            <a:r>
              <a:rPr lang="en-US" altLang="ja-JP" sz="1400" dirty="0">
                <a:solidFill>
                  <a:schemeClr val="tx1"/>
                </a:solidFill>
                <a:latin typeface="BIZ UDPゴシック" panose="020B0400000000000000" pitchFamily="50" charset="-128"/>
                <a:ea typeface="BIZ UDPゴシック" panose="020B0400000000000000" pitchFamily="50" charset="-128"/>
              </a:rPr>
              <a:t>5</a:t>
            </a:r>
            <a:r>
              <a:rPr lang="ja-JP" altLang="en-US" sz="1400" dirty="0">
                <a:solidFill>
                  <a:schemeClr val="tx1"/>
                </a:solidFill>
                <a:latin typeface="BIZ UDPゴシック" panose="020B0400000000000000" pitchFamily="50" charset="-128"/>
                <a:ea typeface="BIZ UDPゴシック" panose="020B0400000000000000" pitchFamily="50" charset="-128"/>
              </a:rPr>
              <a:t>段階での評価とする。最上位で「</a:t>
            </a:r>
            <a:r>
              <a:rPr lang="en-US" altLang="ja-JP" sz="1400" dirty="0">
                <a:solidFill>
                  <a:schemeClr val="tx1"/>
                </a:solidFill>
                <a:latin typeface="BIZ UDPゴシック" panose="020B0400000000000000" pitchFamily="50" charset="-128"/>
                <a:ea typeface="BIZ UDPゴシック" panose="020B0400000000000000" pitchFamily="50" charset="-128"/>
              </a:rPr>
              <a:t>G10</a:t>
            </a:r>
            <a:r>
              <a:rPr lang="ja-JP" altLang="en-US" sz="1400" dirty="0">
                <a:solidFill>
                  <a:schemeClr val="tx1"/>
                </a:solidFill>
                <a:latin typeface="BIZ UDPゴシック" panose="020B0400000000000000" pitchFamily="50" charset="-128"/>
                <a:ea typeface="BIZ UDPゴシック" panose="020B0400000000000000" pitchFamily="50" charset="-128"/>
              </a:rPr>
              <a:t>・</a:t>
            </a:r>
            <a:r>
              <a:rPr lang="en-US" altLang="ja-JP" sz="1400" dirty="0">
                <a:solidFill>
                  <a:schemeClr val="tx1"/>
                </a:solidFill>
                <a:latin typeface="BIZ UDPゴシック" panose="020B0400000000000000" pitchFamily="50" charset="-128"/>
                <a:ea typeface="BIZ UDPゴシック" panose="020B0400000000000000" pitchFamily="50" charset="-128"/>
              </a:rPr>
              <a:t>11</a:t>
            </a:r>
            <a:r>
              <a:rPr lang="ja-JP" altLang="en-US" sz="1400" dirty="0">
                <a:solidFill>
                  <a:schemeClr val="tx1"/>
                </a:solidFill>
                <a:latin typeface="BIZ UDPゴシック" panose="020B0400000000000000" pitchFamily="50" charset="-128"/>
                <a:ea typeface="BIZ UDPゴシック" panose="020B0400000000000000" pitchFamily="50" charset="-128"/>
              </a:rPr>
              <a:t>相当」、最下位で「</a:t>
            </a:r>
            <a:r>
              <a:rPr lang="en-US" altLang="ja-JP" sz="1400" dirty="0">
                <a:solidFill>
                  <a:schemeClr val="tx1"/>
                </a:solidFill>
                <a:latin typeface="BIZ UDPゴシック" panose="020B0400000000000000" pitchFamily="50" charset="-128"/>
                <a:ea typeface="BIZ UDPゴシック" panose="020B0400000000000000" pitchFamily="50" charset="-128"/>
              </a:rPr>
              <a:t>G1</a:t>
            </a:r>
            <a:r>
              <a:rPr lang="ja-JP" altLang="en-US" sz="1400" dirty="0">
                <a:solidFill>
                  <a:schemeClr val="tx1"/>
                </a:solidFill>
                <a:latin typeface="BIZ UDPゴシック" panose="020B0400000000000000" pitchFamily="50" charset="-128"/>
                <a:ea typeface="BIZ UDPゴシック" panose="020B0400000000000000" pitchFamily="50" charset="-128"/>
              </a:rPr>
              <a:t>相当」、とする。</a:t>
            </a:r>
            <a:endParaRPr lang="en-US" altLang="ja-JP" sz="1400" dirty="0">
              <a:solidFill>
                <a:schemeClr val="tx1"/>
              </a:solidFill>
              <a:latin typeface="BIZ UDPゴシック" panose="020B0400000000000000" pitchFamily="50" charset="-128"/>
              <a:ea typeface="BIZ UDPゴシック" panose="020B0400000000000000" pitchFamily="50" charset="-128"/>
            </a:endParaRPr>
          </a:p>
        </p:txBody>
      </p:sp>
      <p:sp>
        <p:nvSpPr>
          <p:cNvPr id="4" name="タイトル 2">
            <a:extLst>
              <a:ext uri="{FF2B5EF4-FFF2-40B4-BE49-F238E27FC236}">
                <a16:creationId xmlns:a16="http://schemas.microsoft.com/office/drawing/2014/main" id="{FCB59DC3-017E-A4FC-8C06-4395937D6F20}"/>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新制度　総合職・専門職共通　②行動評価について　定義</a:t>
            </a:r>
          </a:p>
        </p:txBody>
      </p:sp>
    </p:spTree>
    <p:extLst>
      <p:ext uri="{BB962C8B-B14F-4D97-AF65-F5344CB8AC3E}">
        <p14:creationId xmlns:p14="http://schemas.microsoft.com/office/powerpoint/2010/main" val="268972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89373D74-1554-0914-0D84-BB1CF1AE0FD3}"/>
              </a:ext>
            </a:extLst>
          </p:cNvPr>
          <p:cNvSpPr/>
          <p:nvPr/>
        </p:nvSpPr>
        <p:spPr>
          <a:xfrm>
            <a:off x="7045506" y="4439954"/>
            <a:ext cx="1838348" cy="2016224"/>
          </a:xfrm>
          <a:prstGeom prst="rect">
            <a:avLst/>
          </a:prstGeom>
          <a:solidFill>
            <a:schemeClr val="accent1">
              <a:lumMod val="60000"/>
              <a:lumOff val="4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2P</a:t>
            </a:r>
          </a:p>
          <a:p>
            <a:pPr algn="ctr"/>
            <a:r>
              <a:rPr lang="ja-JP" altLang="en-US"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（不足）</a:t>
            </a:r>
            <a:endParaRPr kumimoji="1" lang="en-US" altLang="ja-JP"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18" name="正方形/長方形 17">
            <a:extLst>
              <a:ext uri="{FF2B5EF4-FFF2-40B4-BE49-F238E27FC236}">
                <a16:creationId xmlns:a16="http://schemas.microsoft.com/office/drawing/2014/main" id="{249EAD51-8A89-2C35-DA2D-AAE3DB50201E}"/>
              </a:ext>
            </a:extLst>
          </p:cNvPr>
          <p:cNvSpPr/>
          <p:nvPr/>
        </p:nvSpPr>
        <p:spPr>
          <a:xfrm>
            <a:off x="1971086" y="4439954"/>
            <a:ext cx="1838348" cy="2016224"/>
          </a:xfrm>
          <a:prstGeom prst="rect">
            <a:avLst/>
          </a:prstGeom>
          <a:solidFill>
            <a:schemeClr val="accent1">
              <a:lumMod val="20000"/>
              <a:lumOff val="8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G4</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5</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6</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レベル</a:t>
            </a:r>
          </a:p>
        </p:txBody>
      </p:sp>
      <p:sp>
        <p:nvSpPr>
          <p:cNvPr id="11"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17</a:t>
            </a:fld>
            <a:r>
              <a:rPr lang="ja-JP" altLang="en-US" sz="1050" dirty="0">
                <a:latin typeface="+mn-ea"/>
              </a:rPr>
              <a:t>－</a:t>
            </a:r>
          </a:p>
        </p:txBody>
      </p:sp>
      <p:sp>
        <p:nvSpPr>
          <p:cNvPr id="9" name="タイトル 2">
            <a:extLst>
              <a:ext uri="{FF2B5EF4-FFF2-40B4-BE49-F238E27FC236}">
                <a16:creationId xmlns:a16="http://schemas.microsoft.com/office/drawing/2014/main" id="{89BAE1CA-24A7-45B0-A7E7-5D2F54791A49}"/>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新制度　総合職　②行動評価について　例示</a:t>
            </a:r>
          </a:p>
        </p:txBody>
      </p:sp>
      <p:pic>
        <p:nvPicPr>
          <p:cNvPr id="5" name="図 4" descr="スーツを着た人の絵&#10;&#10;中程度の精度で自動的に生成された説明">
            <a:extLst>
              <a:ext uri="{FF2B5EF4-FFF2-40B4-BE49-F238E27FC236}">
                <a16:creationId xmlns:a16="http://schemas.microsoft.com/office/drawing/2014/main" id="{0FC7FA27-6B8B-0EA2-F770-1F10A3E327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76" y="1478524"/>
            <a:ext cx="1155297" cy="1658888"/>
          </a:xfrm>
          <a:prstGeom prst="rect">
            <a:avLst/>
          </a:prstGeom>
        </p:spPr>
      </p:pic>
      <p:pic>
        <p:nvPicPr>
          <p:cNvPr id="8" name="図 7" descr="スーツを着ている人形&#10;&#10;中程度の精度で自動的に生成された説明">
            <a:extLst>
              <a:ext uri="{FF2B5EF4-FFF2-40B4-BE49-F238E27FC236}">
                <a16:creationId xmlns:a16="http://schemas.microsoft.com/office/drawing/2014/main" id="{744A1995-D6E7-3E45-D0BA-EDF2379D72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755" y="4451102"/>
            <a:ext cx="1300433" cy="1664061"/>
          </a:xfrm>
          <a:prstGeom prst="rect">
            <a:avLst/>
          </a:prstGeom>
        </p:spPr>
      </p:pic>
      <p:sp>
        <p:nvSpPr>
          <p:cNvPr id="10" name="タイトル 2">
            <a:extLst>
              <a:ext uri="{FF2B5EF4-FFF2-40B4-BE49-F238E27FC236}">
                <a16:creationId xmlns:a16="http://schemas.microsoft.com/office/drawing/2014/main" id="{B1C92D7D-F99D-B949-3CD6-AB722767C3E1}"/>
              </a:ext>
            </a:extLst>
          </p:cNvPr>
          <p:cNvSpPr txBox="1">
            <a:spLocks/>
          </p:cNvSpPr>
          <p:nvPr/>
        </p:nvSpPr>
        <p:spPr>
          <a:xfrm>
            <a:off x="367086" y="5963270"/>
            <a:ext cx="7920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en-US" altLang="ja-JP" sz="2400" b="1" dirty="0">
                <a:latin typeface="BIZ UDPゴシック" panose="020B0400000000000000" pitchFamily="50" charset="-128"/>
                <a:ea typeface="BIZ UDPゴシック" panose="020B0400000000000000" pitchFamily="50" charset="-128"/>
              </a:rPr>
              <a:t>G7</a:t>
            </a:r>
            <a:endParaRPr lang="ja-JP" altLang="en-US" sz="2400" b="1" dirty="0">
              <a:latin typeface="BIZ UDPゴシック" panose="020B0400000000000000" pitchFamily="50" charset="-128"/>
              <a:ea typeface="BIZ UDPゴシック" panose="020B0400000000000000" pitchFamily="50" charset="-128"/>
            </a:endParaRPr>
          </a:p>
        </p:txBody>
      </p:sp>
      <p:sp>
        <p:nvSpPr>
          <p:cNvPr id="12" name="タイトル 2">
            <a:extLst>
              <a:ext uri="{FF2B5EF4-FFF2-40B4-BE49-F238E27FC236}">
                <a16:creationId xmlns:a16="http://schemas.microsoft.com/office/drawing/2014/main" id="{AE9A4140-DBE7-7C1F-1308-4E321E46CF1C}"/>
              </a:ext>
            </a:extLst>
          </p:cNvPr>
          <p:cNvSpPr txBox="1">
            <a:spLocks/>
          </p:cNvSpPr>
          <p:nvPr/>
        </p:nvSpPr>
        <p:spPr>
          <a:xfrm>
            <a:off x="367086" y="3010942"/>
            <a:ext cx="7920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en-US" altLang="ja-JP" sz="2400" b="1" dirty="0">
                <a:latin typeface="BIZ UDPゴシック" panose="020B0400000000000000" pitchFamily="50" charset="-128"/>
                <a:ea typeface="BIZ UDPゴシック" panose="020B0400000000000000" pitchFamily="50" charset="-128"/>
              </a:rPr>
              <a:t>G5</a:t>
            </a:r>
            <a:endParaRPr lang="ja-JP" altLang="en-US" sz="2400" b="1" dirty="0">
              <a:latin typeface="BIZ UDPゴシック" panose="020B0400000000000000" pitchFamily="50" charset="-128"/>
              <a:ea typeface="BIZ UDPゴシック" panose="020B0400000000000000" pitchFamily="50" charset="-128"/>
            </a:endParaRPr>
          </a:p>
        </p:txBody>
      </p:sp>
      <p:sp>
        <p:nvSpPr>
          <p:cNvPr id="16" name="矢印: 上 15">
            <a:extLst>
              <a:ext uri="{FF2B5EF4-FFF2-40B4-BE49-F238E27FC236}">
                <a16:creationId xmlns:a16="http://schemas.microsoft.com/office/drawing/2014/main" id="{9143020E-7AC8-D8B2-408F-BE489632FAFE}"/>
              </a:ext>
            </a:extLst>
          </p:cNvPr>
          <p:cNvSpPr/>
          <p:nvPr/>
        </p:nvSpPr>
        <p:spPr>
          <a:xfrm rot="5400000">
            <a:off x="1251006" y="5268046"/>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17" name="タイトル 2">
            <a:extLst>
              <a:ext uri="{FF2B5EF4-FFF2-40B4-BE49-F238E27FC236}">
                <a16:creationId xmlns:a16="http://schemas.microsoft.com/office/drawing/2014/main" id="{5A4B04FE-6457-E5AB-F61B-F9CB772E93CA}"/>
              </a:ext>
            </a:extLst>
          </p:cNvPr>
          <p:cNvSpPr txBox="1">
            <a:spLocks/>
          </p:cNvSpPr>
          <p:nvPr/>
        </p:nvSpPr>
        <p:spPr>
          <a:xfrm>
            <a:off x="1971086" y="3957184"/>
            <a:ext cx="183834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dirty="0">
                <a:latin typeface="BIZ UDPゴシック" panose="020B0400000000000000" pitchFamily="50" charset="-128"/>
                <a:ea typeface="BIZ UDPゴシック" panose="020B0400000000000000" pitchFamily="50" charset="-128"/>
              </a:rPr>
              <a:t>評価</a:t>
            </a:r>
          </a:p>
        </p:txBody>
      </p:sp>
      <p:pic>
        <p:nvPicPr>
          <p:cNvPr id="28" name="図 27" descr="ロゴ&#10;&#10;自動的に生成された説明">
            <a:extLst>
              <a:ext uri="{FF2B5EF4-FFF2-40B4-BE49-F238E27FC236}">
                <a16:creationId xmlns:a16="http://schemas.microsoft.com/office/drawing/2014/main" id="{984FB688-0E25-B52B-02EF-3091FEA64F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6122" y="4495566"/>
            <a:ext cx="1905000" cy="1905000"/>
          </a:xfrm>
          <a:prstGeom prst="rect">
            <a:avLst/>
          </a:prstGeom>
        </p:spPr>
      </p:pic>
      <p:sp>
        <p:nvSpPr>
          <p:cNvPr id="29" name="矢印: 上 28">
            <a:extLst>
              <a:ext uri="{FF2B5EF4-FFF2-40B4-BE49-F238E27FC236}">
                <a16:creationId xmlns:a16="http://schemas.microsoft.com/office/drawing/2014/main" id="{2D980C32-2E0E-90F6-D28C-B49845436513}"/>
              </a:ext>
            </a:extLst>
          </p:cNvPr>
          <p:cNvSpPr/>
          <p:nvPr/>
        </p:nvSpPr>
        <p:spPr>
          <a:xfrm rot="5400000">
            <a:off x="3915302" y="5268046"/>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1" name="矢印: 上 30">
            <a:extLst>
              <a:ext uri="{FF2B5EF4-FFF2-40B4-BE49-F238E27FC236}">
                <a16:creationId xmlns:a16="http://schemas.microsoft.com/office/drawing/2014/main" id="{29CE34BA-4DBA-44C4-F391-8F5813C204AE}"/>
              </a:ext>
            </a:extLst>
          </p:cNvPr>
          <p:cNvSpPr/>
          <p:nvPr/>
        </p:nvSpPr>
        <p:spPr>
          <a:xfrm rot="5400000">
            <a:off x="6363574" y="5268046"/>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3" name="タイトル 2">
            <a:extLst>
              <a:ext uri="{FF2B5EF4-FFF2-40B4-BE49-F238E27FC236}">
                <a16:creationId xmlns:a16="http://schemas.microsoft.com/office/drawing/2014/main" id="{DB55880D-9D8F-4A8A-F4A7-81E30CB65537}"/>
              </a:ext>
            </a:extLst>
          </p:cNvPr>
          <p:cNvSpPr txBox="1">
            <a:spLocks/>
          </p:cNvSpPr>
          <p:nvPr/>
        </p:nvSpPr>
        <p:spPr>
          <a:xfrm>
            <a:off x="7007557" y="3957184"/>
            <a:ext cx="1904999"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dirty="0">
                <a:latin typeface="BIZ UDPゴシック" panose="020B0400000000000000" pitchFamily="50" charset="-128"/>
                <a:ea typeface="BIZ UDPゴシック" panose="020B0400000000000000" pitchFamily="50" charset="-128"/>
              </a:rPr>
              <a:t>結果</a:t>
            </a:r>
          </a:p>
        </p:txBody>
      </p:sp>
      <p:sp>
        <p:nvSpPr>
          <p:cNvPr id="34" name="正方形/長方形 33">
            <a:extLst>
              <a:ext uri="{FF2B5EF4-FFF2-40B4-BE49-F238E27FC236}">
                <a16:creationId xmlns:a16="http://schemas.microsoft.com/office/drawing/2014/main" id="{3D0E030E-5C11-8659-ECF2-51F24687FBC8}"/>
              </a:ext>
            </a:extLst>
          </p:cNvPr>
          <p:cNvSpPr/>
          <p:nvPr/>
        </p:nvSpPr>
        <p:spPr>
          <a:xfrm>
            <a:off x="7045506" y="1475528"/>
            <a:ext cx="1838348" cy="2016224"/>
          </a:xfrm>
          <a:prstGeom prst="rect">
            <a:avLst/>
          </a:prstGeom>
          <a:solidFill>
            <a:schemeClr val="accent1">
              <a:lumMod val="60000"/>
              <a:lumOff val="4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3P</a:t>
            </a:r>
          </a:p>
          <a:p>
            <a:pPr algn="ctr"/>
            <a:r>
              <a:rPr lang="ja-JP" altLang="en-US"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（期待通り）</a:t>
            </a:r>
            <a:endParaRPr kumimoji="1" lang="ja-JP" altLang="en-US"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5" name="正方形/長方形 34">
            <a:extLst>
              <a:ext uri="{FF2B5EF4-FFF2-40B4-BE49-F238E27FC236}">
                <a16:creationId xmlns:a16="http://schemas.microsoft.com/office/drawing/2014/main" id="{B44D6C08-ADD9-1D1B-7EE4-FE599EC56E21}"/>
              </a:ext>
            </a:extLst>
          </p:cNvPr>
          <p:cNvSpPr/>
          <p:nvPr/>
        </p:nvSpPr>
        <p:spPr>
          <a:xfrm>
            <a:off x="1971086" y="1475528"/>
            <a:ext cx="1838348" cy="2016224"/>
          </a:xfrm>
          <a:prstGeom prst="rect">
            <a:avLst/>
          </a:prstGeom>
          <a:solidFill>
            <a:schemeClr val="accent1">
              <a:lumMod val="20000"/>
              <a:lumOff val="8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G4</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5</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6</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レベル</a:t>
            </a:r>
          </a:p>
        </p:txBody>
      </p:sp>
      <p:sp>
        <p:nvSpPr>
          <p:cNvPr id="36" name="矢印: 上 35">
            <a:extLst>
              <a:ext uri="{FF2B5EF4-FFF2-40B4-BE49-F238E27FC236}">
                <a16:creationId xmlns:a16="http://schemas.microsoft.com/office/drawing/2014/main" id="{45F4BB55-EF2D-335B-389B-87E9823674BA}"/>
              </a:ext>
            </a:extLst>
          </p:cNvPr>
          <p:cNvSpPr/>
          <p:nvPr/>
        </p:nvSpPr>
        <p:spPr>
          <a:xfrm rot="5400000">
            <a:off x="1251006" y="2303620"/>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7" name="タイトル 2">
            <a:extLst>
              <a:ext uri="{FF2B5EF4-FFF2-40B4-BE49-F238E27FC236}">
                <a16:creationId xmlns:a16="http://schemas.microsoft.com/office/drawing/2014/main" id="{79541CF8-54A5-82C4-934F-7F91C8B46D24}"/>
              </a:ext>
            </a:extLst>
          </p:cNvPr>
          <p:cNvSpPr txBox="1">
            <a:spLocks/>
          </p:cNvSpPr>
          <p:nvPr/>
        </p:nvSpPr>
        <p:spPr>
          <a:xfrm>
            <a:off x="1971086" y="992758"/>
            <a:ext cx="183834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dirty="0">
                <a:latin typeface="BIZ UDPゴシック" panose="020B0400000000000000" pitchFamily="50" charset="-128"/>
                <a:ea typeface="BIZ UDPゴシック" panose="020B0400000000000000" pitchFamily="50" charset="-128"/>
              </a:rPr>
              <a:t>評価</a:t>
            </a:r>
          </a:p>
        </p:txBody>
      </p:sp>
      <p:sp>
        <p:nvSpPr>
          <p:cNvPr id="39" name="矢印: 上 38">
            <a:extLst>
              <a:ext uri="{FF2B5EF4-FFF2-40B4-BE49-F238E27FC236}">
                <a16:creationId xmlns:a16="http://schemas.microsoft.com/office/drawing/2014/main" id="{4FCC5090-032C-0CA9-87F7-65A296F5BE70}"/>
              </a:ext>
            </a:extLst>
          </p:cNvPr>
          <p:cNvSpPr/>
          <p:nvPr/>
        </p:nvSpPr>
        <p:spPr>
          <a:xfrm rot="5400000">
            <a:off x="3915302" y="2303620"/>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40" name="矢印: 上 39">
            <a:extLst>
              <a:ext uri="{FF2B5EF4-FFF2-40B4-BE49-F238E27FC236}">
                <a16:creationId xmlns:a16="http://schemas.microsoft.com/office/drawing/2014/main" id="{8F0D0CD5-6742-C55D-9D7B-764C6C67787C}"/>
              </a:ext>
            </a:extLst>
          </p:cNvPr>
          <p:cNvSpPr/>
          <p:nvPr/>
        </p:nvSpPr>
        <p:spPr>
          <a:xfrm rot="5400000">
            <a:off x="6363574" y="2303620"/>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41" name="タイトル 2">
            <a:extLst>
              <a:ext uri="{FF2B5EF4-FFF2-40B4-BE49-F238E27FC236}">
                <a16:creationId xmlns:a16="http://schemas.microsoft.com/office/drawing/2014/main" id="{E9C2BB7B-0220-8443-5348-458FCF005E75}"/>
              </a:ext>
            </a:extLst>
          </p:cNvPr>
          <p:cNvSpPr txBox="1">
            <a:spLocks/>
          </p:cNvSpPr>
          <p:nvPr/>
        </p:nvSpPr>
        <p:spPr>
          <a:xfrm>
            <a:off x="7007557" y="992758"/>
            <a:ext cx="1904999"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dirty="0">
                <a:latin typeface="BIZ UDPゴシック" panose="020B0400000000000000" pitchFamily="50" charset="-128"/>
                <a:ea typeface="BIZ UDPゴシック" panose="020B0400000000000000" pitchFamily="50" charset="-128"/>
              </a:rPr>
              <a:t>結果</a:t>
            </a:r>
          </a:p>
        </p:txBody>
      </p:sp>
      <p:pic>
        <p:nvPicPr>
          <p:cNvPr id="45" name="図 44">
            <a:extLst>
              <a:ext uri="{FF2B5EF4-FFF2-40B4-BE49-F238E27FC236}">
                <a16:creationId xmlns:a16="http://schemas.microsoft.com/office/drawing/2014/main" id="{798336C0-B111-9247-C436-8A6B5924977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99992" y="1570417"/>
            <a:ext cx="1905000" cy="1905000"/>
          </a:xfrm>
          <a:prstGeom prst="rect">
            <a:avLst/>
          </a:prstGeom>
        </p:spPr>
      </p:pic>
    </p:spTree>
    <p:extLst>
      <p:ext uri="{BB962C8B-B14F-4D97-AF65-F5344CB8AC3E}">
        <p14:creationId xmlns:p14="http://schemas.microsoft.com/office/powerpoint/2010/main" val="2535615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A8921416-CA79-3CEF-C344-7E3745773AEB}"/>
              </a:ext>
            </a:extLst>
          </p:cNvPr>
          <p:cNvGraphicFramePr>
            <a:graphicFrameLocks noGrp="1"/>
          </p:cNvGraphicFramePr>
          <p:nvPr>
            <p:extLst>
              <p:ext uri="{D42A27DB-BD31-4B8C-83A1-F6EECF244321}">
                <p14:modId xmlns:p14="http://schemas.microsoft.com/office/powerpoint/2010/main" val="9289827"/>
              </p:ext>
            </p:extLst>
          </p:nvPr>
        </p:nvGraphicFramePr>
        <p:xfrm>
          <a:off x="129666" y="3799127"/>
          <a:ext cx="6008202" cy="1516518"/>
        </p:xfrm>
        <a:graphic>
          <a:graphicData uri="http://schemas.openxmlformats.org/drawingml/2006/table">
            <a:tbl>
              <a:tblPr/>
              <a:tblGrid>
                <a:gridCol w="3040105">
                  <a:extLst>
                    <a:ext uri="{9D8B030D-6E8A-4147-A177-3AD203B41FA5}">
                      <a16:colId xmlns:a16="http://schemas.microsoft.com/office/drawing/2014/main" val="457094450"/>
                    </a:ext>
                  </a:extLst>
                </a:gridCol>
                <a:gridCol w="2968097">
                  <a:extLst>
                    <a:ext uri="{9D8B030D-6E8A-4147-A177-3AD203B41FA5}">
                      <a16:colId xmlns:a16="http://schemas.microsoft.com/office/drawing/2014/main" val="2886647615"/>
                    </a:ext>
                  </a:extLst>
                </a:gridCol>
              </a:tblGrid>
              <a:tr h="252753">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総合評語</a:t>
                      </a: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54061"/>
                    </a:solidFill>
                  </a:tcPr>
                </a:tc>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総合点数</a:t>
                      </a: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54061"/>
                    </a:solidFill>
                  </a:tcPr>
                </a:tc>
                <a:extLst>
                  <a:ext uri="{0D108BD9-81ED-4DB2-BD59-A6C34878D82A}">
                    <a16:rowId xmlns:a16="http://schemas.microsoft.com/office/drawing/2014/main" val="775191293"/>
                  </a:ext>
                </a:extLst>
              </a:tr>
              <a:tr h="252753">
                <a:tc>
                  <a:txBody>
                    <a:bodyPr/>
                    <a:lstStyle/>
                    <a:p>
                      <a:pPr algn="ct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S</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9CDE5"/>
                    </a:solidFill>
                  </a:tcPr>
                </a:tc>
                <a:tc>
                  <a:txBody>
                    <a:bodyPr/>
                    <a:lstStyle/>
                    <a:p>
                      <a:pPr algn="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4.6</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以上</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3799139"/>
                  </a:ext>
                </a:extLst>
              </a:tr>
              <a:tr h="252753">
                <a:tc>
                  <a:txBody>
                    <a:bodyPr/>
                    <a:lstStyle/>
                    <a:p>
                      <a:pPr algn="ct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A</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9CDE5"/>
                    </a:solidFill>
                  </a:tcPr>
                </a:tc>
                <a:tc>
                  <a:txBody>
                    <a:bodyPr/>
                    <a:lstStyle/>
                    <a:p>
                      <a:pPr algn="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3.8</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以上</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1060754"/>
                  </a:ext>
                </a:extLst>
              </a:tr>
              <a:tr h="252753">
                <a:tc>
                  <a:txBody>
                    <a:bodyPr/>
                    <a:lstStyle/>
                    <a:p>
                      <a:pPr algn="ct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B</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9CDE5"/>
                    </a:solidFill>
                  </a:tcPr>
                </a:tc>
                <a:tc>
                  <a:txBody>
                    <a:bodyPr/>
                    <a:lstStyle/>
                    <a:p>
                      <a:pPr algn="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2.8</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以上</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1596860"/>
                  </a:ext>
                </a:extLst>
              </a:tr>
              <a:tr h="252753">
                <a:tc>
                  <a:txBody>
                    <a:bodyPr/>
                    <a:lstStyle/>
                    <a:p>
                      <a:pPr algn="ct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C</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9CDE5"/>
                    </a:solidFill>
                  </a:tcPr>
                </a:tc>
                <a:tc>
                  <a:txBody>
                    <a:bodyPr/>
                    <a:lstStyle/>
                    <a:p>
                      <a:pPr algn="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1.8</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以上</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39130665"/>
                  </a:ext>
                </a:extLst>
              </a:tr>
              <a:tr h="252753">
                <a:tc>
                  <a:txBody>
                    <a:bodyPr/>
                    <a:lstStyle/>
                    <a:p>
                      <a:pPr algn="ct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D</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9CDE5"/>
                    </a:solidFill>
                  </a:tcPr>
                </a:tc>
                <a:tc>
                  <a:txBody>
                    <a:bodyPr/>
                    <a:lstStyle/>
                    <a:p>
                      <a:pPr algn="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1.8</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未満</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6863367"/>
                  </a:ext>
                </a:extLst>
              </a:tr>
            </a:tbl>
          </a:graphicData>
        </a:graphic>
      </p:graphicFrame>
      <p:sp>
        <p:nvSpPr>
          <p:cNvPr id="11"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18</a:t>
            </a:fld>
            <a:r>
              <a:rPr lang="ja-JP" altLang="en-US" sz="1050" dirty="0">
                <a:latin typeface="+mn-ea"/>
              </a:rPr>
              <a:t>－</a:t>
            </a:r>
          </a:p>
        </p:txBody>
      </p:sp>
      <p:sp>
        <p:nvSpPr>
          <p:cNvPr id="9" name="タイトル 2">
            <a:extLst>
              <a:ext uri="{FF2B5EF4-FFF2-40B4-BE49-F238E27FC236}">
                <a16:creationId xmlns:a16="http://schemas.microsoft.com/office/drawing/2014/main" id="{89BAE1CA-24A7-45B0-A7E7-5D2F54791A49}"/>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新制度　総合職　総合評語について</a:t>
            </a:r>
          </a:p>
        </p:txBody>
      </p:sp>
      <p:sp>
        <p:nvSpPr>
          <p:cNvPr id="4" name="タイトル 2">
            <a:extLst>
              <a:ext uri="{FF2B5EF4-FFF2-40B4-BE49-F238E27FC236}">
                <a16:creationId xmlns:a16="http://schemas.microsoft.com/office/drawing/2014/main" id="{549EBFD7-D923-4836-4F72-187A1FC7EC79}"/>
              </a:ext>
            </a:extLst>
          </p:cNvPr>
          <p:cNvSpPr txBox="1">
            <a:spLocks/>
          </p:cNvSpPr>
          <p:nvPr/>
        </p:nvSpPr>
        <p:spPr>
          <a:xfrm>
            <a:off x="162354" y="3391403"/>
            <a:ext cx="837201" cy="513258"/>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endParaRPr lang="ja-JP" altLang="en-US" sz="1050" dirty="0">
              <a:latin typeface="BIZ UDPゴシック" panose="020B0400000000000000" pitchFamily="50" charset="-128"/>
              <a:ea typeface="BIZ UDPゴシック" panose="020B0400000000000000" pitchFamily="50" charset="-128"/>
            </a:endParaRPr>
          </a:p>
        </p:txBody>
      </p:sp>
      <p:sp>
        <p:nvSpPr>
          <p:cNvPr id="5" name="タイトル 2">
            <a:extLst>
              <a:ext uri="{FF2B5EF4-FFF2-40B4-BE49-F238E27FC236}">
                <a16:creationId xmlns:a16="http://schemas.microsoft.com/office/drawing/2014/main" id="{84D1BB05-BEA4-70F6-92FF-0023464B190E}"/>
              </a:ext>
            </a:extLst>
          </p:cNvPr>
          <p:cNvSpPr txBox="1">
            <a:spLocks/>
          </p:cNvSpPr>
          <p:nvPr/>
        </p:nvSpPr>
        <p:spPr>
          <a:xfrm>
            <a:off x="6212866" y="3911793"/>
            <a:ext cx="2646301" cy="513258"/>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050" dirty="0">
                <a:latin typeface="BIZ UDPゴシック" panose="020B0400000000000000" pitchFamily="50" charset="-128"/>
                <a:ea typeface="BIZ UDPゴシック" panose="020B0400000000000000" pitchFamily="50" charset="-128"/>
              </a:rPr>
              <a:t>※</a:t>
            </a:r>
            <a:r>
              <a:rPr lang="ja-JP" altLang="en-US" sz="1050" dirty="0">
                <a:latin typeface="BIZ UDPゴシック" panose="020B0400000000000000" pitchFamily="50" charset="-128"/>
                <a:ea typeface="BIZ UDPゴシック" panose="020B0400000000000000" pitchFamily="50" charset="-128"/>
              </a:rPr>
              <a:t>オール</a:t>
            </a:r>
            <a:r>
              <a:rPr lang="en-US" altLang="ja-JP" sz="1050" dirty="0">
                <a:latin typeface="BIZ UDPゴシック" panose="020B0400000000000000" pitchFamily="50" charset="-128"/>
                <a:ea typeface="BIZ UDPゴシック" panose="020B0400000000000000" pitchFamily="50" charset="-128"/>
              </a:rPr>
              <a:t>S</a:t>
            </a:r>
            <a:r>
              <a:rPr lang="ja-JP" altLang="en-US" sz="1050" dirty="0">
                <a:latin typeface="BIZ UDPゴシック" panose="020B0400000000000000" pitchFamily="50" charset="-128"/>
                <a:ea typeface="BIZ UDPゴシック" panose="020B0400000000000000" pitchFamily="50" charset="-128"/>
              </a:rPr>
              <a:t>で「</a:t>
            </a:r>
            <a:r>
              <a:rPr lang="en-US" altLang="ja-JP" sz="1050" dirty="0">
                <a:latin typeface="BIZ UDPゴシック" panose="020B0400000000000000" pitchFamily="50" charset="-128"/>
                <a:ea typeface="BIZ UDPゴシック" panose="020B0400000000000000" pitchFamily="50" charset="-128"/>
              </a:rPr>
              <a:t>5.0</a:t>
            </a:r>
            <a:r>
              <a:rPr lang="ja-JP" altLang="en-US" sz="1050" dirty="0">
                <a:latin typeface="BIZ UDPゴシック" panose="020B0400000000000000" pitchFamily="50" charset="-128"/>
                <a:ea typeface="BIZ UDPゴシック" panose="020B0400000000000000" pitchFamily="50" charset="-128"/>
              </a:rPr>
              <a:t>点」満点</a:t>
            </a:r>
          </a:p>
        </p:txBody>
      </p:sp>
      <p:sp>
        <p:nvSpPr>
          <p:cNvPr id="7" name="タイトル 2">
            <a:extLst>
              <a:ext uri="{FF2B5EF4-FFF2-40B4-BE49-F238E27FC236}">
                <a16:creationId xmlns:a16="http://schemas.microsoft.com/office/drawing/2014/main" id="{4C3ECF7A-D0EF-B104-0CA6-75E7733C9B60}"/>
              </a:ext>
            </a:extLst>
          </p:cNvPr>
          <p:cNvSpPr txBox="1">
            <a:spLocks/>
          </p:cNvSpPr>
          <p:nvPr/>
        </p:nvSpPr>
        <p:spPr>
          <a:xfrm>
            <a:off x="6212866" y="4164711"/>
            <a:ext cx="2646301" cy="513258"/>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050" dirty="0">
                <a:latin typeface="BIZ UDPゴシック" panose="020B0400000000000000" pitchFamily="50" charset="-128"/>
                <a:ea typeface="BIZ UDPゴシック" panose="020B0400000000000000" pitchFamily="50" charset="-128"/>
              </a:rPr>
              <a:t>※</a:t>
            </a:r>
            <a:r>
              <a:rPr lang="ja-JP" altLang="en-US" sz="1050" dirty="0">
                <a:latin typeface="BIZ UDPゴシック" panose="020B0400000000000000" pitchFamily="50" charset="-128"/>
                <a:ea typeface="BIZ UDPゴシック" panose="020B0400000000000000" pitchFamily="50" charset="-128"/>
              </a:rPr>
              <a:t>オール</a:t>
            </a:r>
            <a:r>
              <a:rPr lang="en-US" altLang="ja-JP" sz="1050" dirty="0">
                <a:latin typeface="BIZ UDPゴシック" panose="020B0400000000000000" pitchFamily="50" charset="-128"/>
                <a:ea typeface="BIZ UDPゴシック" panose="020B0400000000000000" pitchFamily="50" charset="-128"/>
              </a:rPr>
              <a:t>A</a:t>
            </a:r>
            <a:r>
              <a:rPr lang="ja-JP" altLang="en-US" sz="1050" dirty="0">
                <a:latin typeface="BIZ UDPゴシック" panose="020B0400000000000000" pitchFamily="50" charset="-128"/>
                <a:ea typeface="BIZ UDPゴシック" panose="020B0400000000000000" pitchFamily="50" charset="-128"/>
              </a:rPr>
              <a:t>で「</a:t>
            </a:r>
            <a:r>
              <a:rPr lang="en-US" altLang="ja-JP" sz="1050" dirty="0">
                <a:latin typeface="BIZ UDPゴシック" panose="020B0400000000000000" pitchFamily="50" charset="-128"/>
                <a:ea typeface="BIZ UDPゴシック" panose="020B0400000000000000" pitchFamily="50" charset="-128"/>
              </a:rPr>
              <a:t>4.0</a:t>
            </a:r>
            <a:r>
              <a:rPr lang="ja-JP" altLang="en-US" sz="1050" dirty="0">
                <a:latin typeface="BIZ UDPゴシック" panose="020B0400000000000000" pitchFamily="50" charset="-128"/>
                <a:ea typeface="BIZ UDPゴシック" panose="020B0400000000000000" pitchFamily="50" charset="-128"/>
              </a:rPr>
              <a:t>点」</a:t>
            </a:r>
          </a:p>
        </p:txBody>
      </p:sp>
      <p:sp>
        <p:nvSpPr>
          <p:cNvPr id="8" name="タイトル 2">
            <a:extLst>
              <a:ext uri="{FF2B5EF4-FFF2-40B4-BE49-F238E27FC236}">
                <a16:creationId xmlns:a16="http://schemas.microsoft.com/office/drawing/2014/main" id="{26BE7A7C-47AD-50C7-A067-C378D0289595}"/>
              </a:ext>
            </a:extLst>
          </p:cNvPr>
          <p:cNvSpPr txBox="1">
            <a:spLocks/>
          </p:cNvSpPr>
          <p:nvPr/>
        </p:nvSpPr>
        <p:spPr>
          <a:xfrm>
            <a:off x="6212866" y="4417629"/>
            <a:ext cx="2646301" cy="513258"/>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050" dirty="0">
                <a:latin typeface="BIZ UDPゴシック" panose="020B0400000000000000" pitchFamily="50" charset="-128"/>
                <a:ea typeface="BIZ UDPゴシック" panose="020B0400000000000000" pitchFamily="50" charset="-128"/>
              </a:rPr>
              <a:t>※</a:t>
            </a:r>
            <a:r>
              <a:rPr lang="ja-JP" altLang="en-US" sz="1050" dirty="0">
                <a:latin typeface="BIZ UDPゴシック" panose="020B0400000000000000" pitchFamily="50" charset="-128"/>
                <a:ea typeface="BIZ UDPゴシック" panose="020B0400000000000000" pitchFamily="50" charset="-128"/>
              </a:rPr>
              <a:t>オール</a:t>
            </a:r>
            <a:r>
              <a:rPr lang="en-US" altLang="ja-JP" sz="1050" dirty="0">
                <a:latin typeface="BIZ UDPゴシック" panose="020B0400000000000000" pitchFamily="50" charset="-128"/>
                <a:ea typeface="BIZ UDPゴシック" panose="020B0400000000000000" pitchFamily="50" charset="-128"/>
              </a:rPr>
              <a:t>B</a:t>
            </a:r>
            <a:r>
              <a:rPr lang="ja-JP" altLang="en-US" sz="1050" dirty="0">
                <a:latin typeface="BIZ UDPゴシック" panose="020B0400000000000000" pitchFamily="50" charset="-128"/>
                <a:ea typeface="BIZ UDPゴシック" panose="020B0400000000000000" pitchFamily="50" charset="-128"/>
              </a:rPr>
              <a:t>で「</a:t>
            </a:r>
            <a:r>
              <a:rPr lang="en-US" altLang="ja-JP" sz="1050" dirty="0">
                <a:latin typeface="BIZ UDPゴシック" panose="020B0400000000000000" pitchFamily="50" charset="-128"/>
                <a:ea typeface="BIZ UDPゴシック" panose="020B0400000000000000" pitchFamily="50" charset="-128"/>
              </a:rPr>
              <a:t>3.0</a:t>
            </a:r>
            <a:r>
              <a:rPr lang="ja-JP" altLang="en-US" sz="1050" dirty="0">
                <a:latin typeface="BIZ UDPゴシック" panose="020B0400000000000000" pitchFamily="50" charset="-128"/>
                <a:ea typeface="BIZ UDPゴシック" panose="020B0400000000000000" pitchFamily="50" charset="-128"/>
              </a:rPr>
              <a:t>点」</a:t>
            </a:r>
          </a:p>
        </p:txBody>
      </p:sp>
      <p:sp>
        <p:nvSpPr>
          <p:cNvPr id="12" name="タイトル 2">
            <a:extLst>
              <a:ext uri="{FF2B5EF4-FFF2-40B4-BE49-F238E27FC236}">
                <a16:creationId xmlns:a16="http://schemas.microsoft.com/office/drawing/2014/main" id="{EEB88C06-3A68-7F08-83DA-7EC59A1645BF}"/>
              </a:ext>
            </a:extLst>
          </p:cNvPr>
          <p:cNvSpPr txBox="1">
            <a:spLocks/>
          </p:cNvSpPr>
          <p:nvPr/>
        </p:nvSpPr>
        <p:spPr>
          <a:xfrm>
            <a:off x="6212866" y="4670547"/>
            <a:ext cx="2646301" cy="513258"/>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050" dirty="0">
                <a:latin typeface="BIZ UDPゴシック" panose="020B0400000000000000" pitchFamily="50" charset="-128"/>
                <a:ea typeface="BIZ UDPゴシック" panose="020B0400000000000000" pitchFamily="50" charset="-128"/>
              </a:rPr>
              <a:t>※</a:t>
            </a:r>
            <a:r>
              <a:rPr lang="ja-JP" altLang="en-US" sz="1050" dirty="0">
                <a:latin typeface="BIZ UDPゴシック" panose="020B0400000000000000" pitchFamily="50" charset="-128"/>
                <a:ea typeface="BIZ UDPゴシック" panose="020B0400000000000000" pitchFamily="50" charset="-128"/>
              </a:rPr>
              <a:t>オール</a:t>
            </a:r>
            <a:r>
              <a:rPr lang="en-US" altLang="ja-JP" sz="1050" dirty="0">
                <a:latin typeface="BIZ UDPゴシック" panose="020B0400000000000000" pitchFamily="50" charset="-128"/>
                <a:ea typeface="BIZ UDPゴシック" panose="020B0400000000000000" pitchFamily="50" charset="-128"/>
              </a:rPr>
              <a:t>C</a:t>
            </a:r>
            <a:r>
              <a:rPr lang="ja-JP" altLang="en-US" sz="1050" dirty="0">
                <a:latin typeface="BIZ UDPゴシック" panose="020B0400000000000000" pitchFamily="50" charset="-128"/>
                <a:ea typeface="BIZ UDPゴシック" panose="020B0400000000000000" pitchFamily="50" charset="-128"/>
              </a:rPr>
              <a:t>で「</a:t>
            </a:r>
            <a:r>
              <a:rPr lang="en-US" altLang="ja-JP" sz="1050" dirty="0">
                <a:latin typeface="BIZ UDPゴシック" panose="020B0400000000000000" pitchFamily="50" charset="-128"/>
                <a:ea typeface="BIZ UDPゴシック" panose="020B0400000000000000" pitchFamily="50" charset="-128"/>
              </a:rPr>
              <a:t>2.0</a:t>
            </a:r>
            <a:r>
              <a:rPr lang="ja-JP" altLang="en-US" sz="1050" dirty="0">
                <a:latin typeface="BIZ UDPゴシック" panose="020B0400000000000000" pitchFamily="50" charset="-128"/>
                <a:ea typeface="BIZ UDPゴシック" panose="020B0400000000000000" pitchFamily="50" charset="-128"/>
              </a:rPr>
              <a:t>点」</a:t>
            </a:r>
          </a:p>
        </p:txBody>
      </p:sp>
      <p:sp>
        <p:nvSpPr>
          <p:cNvPr id="13" name="タイトル 2">
            <a:extLst>
              <a:ext uri="{FF2B5EF4-FFF2-40B4-BE49-F238E27FC236}">
                <a16:creationId xmlns:a16="http://schemas.microsoft.com/office/drawing/2014/main" id="{647AE3A6-79BF-B94E-70A5-CF2FEAC892A7}"/>
              </a:ext>
            </a:extLst>
          </p:cNvPr>
          <p:cNvSpPr txBox="1">
            <a:spLocks/>
          </p:cNvSpPr>
          <p:nvPr/>
        </p:nvSpPr>
        <p:spPr>
          <a:xfrm>
            <a:off x="6212866" y="4923463"/>
            <a:ext cx="2646301" cy="513258"/>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050" dirty="0">
                <a:latin typeface="BIZ UDPゴシック" panose="020B0400000000000000" pitchFamily="50" charset="-128"/>
                <a:ea typeface="BIZ UDPゴシック" panose="020B0400000000000000" pitchFamily="50" charset="-128"/>
              </a:rPr>
              <a:t>※</a:t>
            </a:r>
            <a:r>
              <a:rPr lang="ja-JP" altLang="en-US" sz="1050" dirty="0">
                <a:latin typeface="BIZ UDPゴシック" panose="020B0400000000000000" pitchFamily="50" charset="-128"/>
                <a:ea typeface="BIZ UDPゴシック" panose="020B0400000000000000" pitchFamily="50" charset="-128"/>
              </a:rPr>
              <a:t>オール</a:t>
            </a:r>
            <a:r>
              <a:rPr lang="en-US" altLang="ja-JP" sz="1050" dirty="0">
                <a:latin typeface="BIZ UDPゴシック" panose="020B0400000000000000" pitchFamily="50" charset="-128"/>
                <a:ea typeface="BIZ UDPゴシック" panose="020B0400000000000000" pitchFamily="50" charset="-128"/>
              </a:rPr>
              <a:t>D</a:t>
            </a:r>
            <a:r>
              <a:rPr lang="ja-JP" altLang="en-US" sz="1050" dirty="0">
                <a:latin typeface="BIZ UDPゴシック" panose="020B0400000000000000" pitchFamily="50" charset="-128"/>
                <a:ea typeface="BIZ UDPゴシック" panose="020B0400000000000000" pitchFamily="50" charset="-128"/>
              </a:rPr>
              <a:t>で「</a:t>
            </a:r>
            <a:r>
              <a:rPr lang="en-US" altLang="ja-JP" sz="1050" dirty="0">
                <a:latin typeface="BIZ UDPゴシック" panose="020B0400000000000000" pitchFamily="50" charset="-128"/>
                <a:ea typeface="BIZ UDPゴシック" panose="020B0400000000000000" pitchFamily="50" charset="-128"/>
              </a:rPr>
              <a:t>1.0</a:t>
            </a:r>
            <a:r>
              <a:rPr lang="ja-JP" altLang="en-US" sz="1050" dirty="0">
                <a:latin typeface="BIZ UDPゴシック" panose="020B0400000000000000" pitchFamily="50" charset="-128"/>
                <a:ea typeface="BIZ UDPゴシック" panose="020B0400000000000000" pitchFamily="50" charset="-128"/>
              </a:rPr>
              <a:t>点」</a:t>
            </a:r>
          </a:p>
        </p:txBody>
      </p:sp>
      <p:sp>
        <p:nvSpPr>
          <p:cNvPr id="14" name="タイトル 2">
            <a:extLst>
              <a:ext uri="{FF2B5EF4-FFF2-40B4-BE49-F238E27FC236}">
                <a16:creationId xmlns:a16="http://schemas.microsoft.com/office/drawing/2014/main" id="{FA0C9016-4E2A-21F7-BE9D-586A1336CB86}"/>
              </a:ext>
            </a:extLst>
          </p:cNvPr>
          <p:cNvSpPr txBox="1">
            <a:spLocks/>
          </p:cNvSpPr>
          <p:nvPr/>
        </p:nvSpPr>
        <p:spPr>
          <a:xfrm>
            <a:off x="129666" y="692696"/>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グレード・評価項目ごとの重み</a:t>
            </a:r>
          </a:p>
        </p:txBody>
      </p:sp>
      <p:sp>
        <p:nvSpPr>
          <p:cNvPr id="15" name="タイトル 2">
            <a:extLst>
              <a:ext uri="{FF2B5EF4-FFF2-40B4-BE49-F238E27FC236}">
                <a16:creationId xmlns:a16="http://schemas.microsoft.com/office/drawing/2014/main" id="{DD39DFDE-5EF4-EB56-1C31-366866E398B1}"/>
              </a:ext>
            </a:extLst>
          </p:cNvPr>
          <p:cNvSpPr txBox="1">
            <a:spLocks/>
          </p:cNvSpPr>
          <p:nvPr/>
        </p:nvSpPr>
        <p:spPr>
          <a:xfrm>
            <a:off x="129666" y="3382201"/>
            <a:ext cx="7992888" cy="513258"/>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総合評語</a:t>
            </a:r>
          </a:p>
        </p:txBody>
      </p:sp>
      <p:graphicFrame>
        <p:nvGraphicFramePr>
          <p:cNvPr id="16" name="表 15">
            <a:extLst>
              <a:ext uri="{FF2B5EF4-FFF2-40B4-BE49-F238E27FC236}">
                <a16:creationId xmlns:a16="http://schemas.microsoft.com/office/drawing/2014/main" id="{A68F48EF-553F-89F2-64D8-E74B0FA516CD}"/>
              </a:ext>
            </a:extLst>
          </p:cNvPr>
          <p:cNvGraphicFramePr>
            <a:graphicFrameLocks noGrp="1"/>
          </p:cNvGraphicFramePr>
          <p:nvPr>
            <p:extLst>
              <p:ext uri="{D42A27DB-BD31-4B8C-83A1-F6EECF244321}">
                <p14:modId xmlns:p14="http://schemas.microsoft.com/office/powerpoint/2010/main" val="3151594582"/>
              </p:ext>
            </p:extLst>
          </p:nvPr>
        </p:nvGraphicFramePr>
        <p:xfrm>
          <a:off x="138468" y="2357042"/>
          <a:ext cx="8867748" cy="1100178"/>
        </p:xfrm>
        <a:graphic>
          <a:graphicData uri="http://schemas.openxmlformats.org/drawingml/2006/table">
            <a:tbl>
              <a:tblPr/>
              <a:tblGrid>
                <a:gridCol w="1419388">
                  <a:extLst>
                    <a:ext uri="{9D8B030D-6E8A-4147-A177-3AD203B41FA5}">
                      <a16:colId xmlns:a16="http://schemas.microsoft.com/office/drawing/2014/main" val="3360609039"/>
                    </a:ext>
                  </a:extLst>
                </a:gridCol>
                <a:gridCol w="1656184">
                  <a:extLst>
                    <a:ext uri="{9D8B030D-6E8A-4147-A177-3AD203B41FA5}">
                      <a16:colId xmlns:a16="http://schemas.microsoft.com/office/drawing/2014/main" val="457094450"/>
                    </a:ext>
                  </a:extLst>
                </a:gridCol>
                <a:gridCol w="2952328">
                  <a:extLst>
                    <a:ext uri="{9D8B030D-6E8A-4147-A177-3AD203B41FA5}">
                      <a16:colId xmlns:a16="http://schemas.microsoft.com/office/drawing/2014/main" val="2886647615"/>
                    </a:ext>
                  </a:extLst>
                </a:gridCol>
                <a:gridCol w="2839848">
                  <a:extLst>
                    <a:ext uri="{9D8B030D-6E8A-4147-A177-3AD203B41FA5}">
                      <a16:colId xmlns:a16="http://schemas.microsoft.com/office/drawing/2014/main" val="2056824320"/>
                    </a:ext>
                  </a:extLst>
                </a:gridCol>
              </a:tblGrid>
              <a:tr h="183363">
                <a:tc>
                  <a:txBody>
                    <a:bodyPr/>
                    <a:lstStyle/>
                    <a:p>
                      <a:pPr algn="ctr" rtl="0"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項目</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グレード</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①成果評価　（</a:t>
                      </a: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a:t>
                      </a: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点満点）</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②行動評価　（</a:t>
                      </a: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a:t>
                      </a: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点満点）</a:t>
                      </a:r>
                      <a:endPar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5191293"/>
                  </a:ext>
                </a:extLst>
              </a:tr>
              <a:tr h="183363">
                <a:tc rowSpan="5">
                  <a:txBody>
                    <a:bodyPr/>
                    <a:lstStyle/>
                    <a:p>
                      <a:pPr algn="ctr" rtl="0" fontAlgn="ctr"/>
                      <a:r>
                        <a:rPr lang="ja-JP" altLang="en-US" sz="12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専門職</a:t>
                      </a:r>
                      <a:endParaRPr lang="en-US" altLang="ja-JP" sz="12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p>
                      <a:pPr algn="ctr" rtl="0" fontAlgn="ctr"/>
                      <a:r>
                        <a:rPr lang="ja-JP" altLang="en-US" sz="12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重みの割合</a:t>
                      </a:r>
                      <a:endParaRPr lang="en-US" altLang="ja-JP" sz="12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a:t>
                      </a: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a:t>
                      </a:r>
                      <a:endPar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90%</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10%</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799139"/>
                  </a:ext>
                </a:extLst>
              </a:tr>
              <a:tr h="183363">
                <a:tc vMerge="1">
                  <a:txBody>
                    <a:bodyPr/>
                    <a:lstStyle/>
                    <a:p>
                      <a:endParaRPr kumimoji="1" lang="ja-JP" altLang="en-US"/>
                    </a:p>
                  </a:txBody>
                  <a:tcPr>
                    <a:lnT w="6350" cap="flat" cmpd="sng" algn="ctr">
                      <a:solidFill>
                        <a:srgbClr val="000000"/>
                      </a:solidFill>
                      <a:prstDash val="solid"/>
                      <a:round/>
                      <a:headEnd type="none" w="med" len="med"/>
                      <a:tailEnd type="none" w="med" len="med"/>
                    </a:lnT>
                  </a:tcPr>
                </a:tc>
                <a:tc>
                  <a:txBody>
                    <a:bodyPr/>
                    <a:lstStyle/>
                    <a:p>
                      <a:pPr algn="l"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G4</a:t>
                      </a:r>
                      <a:endPar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r" rtl="0" fontAlgn="ctr"/>
                      <a:endParaRPr lang="en-US" altLang="ja-JP" sz="1050" b="0" i="0" u="none" strike="noStrike" dirty="0">
                        <a:solidFill>
                          <a:schemeClr val="tx1"/>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vMerge="1">
                  <a:txBody>
                    <a:bodyPr/>
                    <a:lstStyle/>
                    <a:p>
                      <a:pPr algn="r" rtl="0" fontAlgn="ctr"/>
                      <a:endParaRPr lang="en-US" altLang="ja-JP" sz="1050" b="0" i="0" u="none" strike="noStrike" dirty="0">
                        <a:solidFill>
                          <a:schemeClr val="tx1"/>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01060754"/>
                  </a:ext>
                </a:extLst>
              </a:tr>
              <a:tr h="183363">
                <a:tc vMerge="1">
                  <a:txBody>
                    <a:bodyPr/>
                    <a:lstStyle/>
                    <a:p>
                      <a:endParaRPr kumimoji="1" lang="ja-JP" altLang="en-US"/>
                    </a:p>
                  </a:txBody>
                  <a:tcPr/>
                </a:tc>
                <a:tc>
                  <a:txBody>
                    <a:bodyPr/>
                    <a:lstStyle/>
                    <a:p>
                      <a:pPr algn="l" rtl="0"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a:t>
                      </a: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a:t>
                      </a:r>
                      <a:endPar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80%</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20%</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1596860"/>
                  </a:ext>
                </a:extLst>
              </a:tr>
              <a:tr h="183363">
                <a:tc vMerge="1">
                  <a:txBody>
                    <a:bodyPr/>
                    <a:lstStyle/>
                    <a:p>
                      <a:endParaRPr kumimoji="1" lang="ja-JP" altLang="en-US"/>
                    </a:p>
                  </a:txBody>
                  <a:tcPr/>
                </a:tc>
                <a:tc>
                  <a:txBody>
                    <a:bodyPr/>
                    <a:lstStyle/>
                    <a:p>
                      <a:pPr algn="l"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G2</a:t>
                      </a:r>
                      <a:endPar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9130665"/>
                  </a:ext>
                </a:extLst>
              </a:tr>
              <a:tr h="183363">
                <a:tc vMerge="1">
                  <a:txBody>
                    <a:bodyPr/>
                    <a:lstStyle/>
                    <a:p>
                      <a:endParaRPr kumimoji="1" lang="ja-JP" altLang="en-US"/>
                    </a:p>
                  </a:txBody>
                  <a:tcPr/>
                </a:tc>
                <a:tc>
                  <a:txBody>
                    <a:bodyPr/>
                    <a:lstStyle/>
                    <a:p>
                      <a:pPr algn="l" rtl="0"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G1</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6863367"/>
                  </a:ext>
                </a:extLst>
              </a:tr>
            </a:tbl>
          </a:graphicData>
        </a:graphic>
      </p:graphicFrame>
      <p:sp>
        <p:nvSpPr>
          <p:cNvPr id="18" name="タイトル 2">
            <a:extLst>
              <a:ext uri="{FF2B5EF4-FFF2-40B4-BE49-F238E27FC236}">
                <a16:creationId xmlns:a16="http://schemas.microsoft.com/office/drawing/2014/main" id="{2ED955FE-7C13-F08E-2DE3-3491D223CE91}"/>
              </a:ext>
            </a:extLst>
          </p:cNvPr>
          <p:cNvSpPr txBox="1">
            <a:spLocks/>
          </p:cNvSpPr>
          <p:nvPr/>
        </p:nvSpPr>
        <p:spPr>
          <a:xfrm>
            <a:off x="156388" y="4891314"/>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特徴</a:t>
            </a:r>
          </a:p>
        </p:txBody>
      </p:sp>
      <p:graphicFrame>
        <p:nvGraphicFramePr>
          <p:cNvPr id="19" name="表 18">
            <a:extLst>
              <a:ext uri="{FF2B5EF4-FFF2-40B4-BE49-F238E27FC236}">
                <a16:creationId xmlns:a16="http://schemas.microsoft.com/office/drawing/2014/main" id="{FC6FA872-902E-61E7-C712-6F481817BE87}"/>
              </a:ext>
            </a:extLst>
          </p:cNvPr>
          <p:cNvGraphicFramePr>
            <a:graphicFrameLocks noGrp="1"/>
          </p:cNvGraphicFramePr>
          <p:nvPr>
            <p:extLst>
              <p:ext uri="{D42A27DB-BD31-4B8C-83A1-F6EECF244321}">
                <p14:modId xmlns:p14="http://schemas.microsoft.com/office/powerpoint/2010/main" val="1835737247"/>
              </p:ext>
            </p:extLst>
          </p:nvPr>
        </p:nvGraphicFramePr>
        <p:xfrm>
          <a:off x="146586" y="1133956"/>
          <a:ext cx="8867748" cy="1135818"/>
        </p:xfrm>
        <a:graphic>
          <a:graphicData uri="http://schemas.openxmlformats.org/drawingml/2006/table">
            <a:tbl>
              <a:tblPr/>
              <a:tblGrid>
                <a:gridCol w="1419388">
                  <a:extLst>
                    <a:ext uri="{9D8B030D-6E8A-4147-A177-3AD203B41FA5}">
                      <a16:colId xmlns:a16="http://schemas.microsoft.com/office/drawing/2014/main" val="3360609039"/>
                    </a:ext>
                  </a:extLst>
                </a:gridCol>
                <a:gridCol w="1656184">
                  <a:extLst>
                    <a:ext uri="{9D8B030D-6E8A-4147-A177-3AD203B41FA5}">
                      <a16:colId xmlns:a16="http://schemas.microsoft.com/office/drawing/2014/main" val="457094450"/>
                    </a:ext>
                  </a:extLst>
                </a:gridCol>
                <a:gridCol w="2952328">
                  <a:extLst>
                    <a:ext uri="{9D8B030D-6E8A-4147-A177-3AD203B41FA5}">
                      <a16:colId xmlns:a16="http://schemas.microsoft.com/office/drawing/2014/main" val="2886647615"/>
                    </a:ext>
                  </a:extLst>
                </a:gridCol>
                <a:gridCol w="2839848">
                  <a:extLst>
                    <a:ext uri="{9D8B030D-6E8A-4147-A177-3AD203B41FA5}">
                      <a16:colId xmlns:a16="http://schemas.microsoft.com/office/drawing/2014/main" val="2056824320"/>
                    </a:ext>
                  </a:extLst>
                </a:gridCol>
              </a:tblGrid>
              <a:tr h="183363">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項目</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グレード</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①成果評価　（</a:t>
                      </a:r>
                      <a:r>
                        <a:rPr lang="en-US" altLang="ja-JP" sz="1050" b="0" i="0" u="none" strike="noStrike" dirty="0">
                          <a:solidFill>
                            <a:srgbClr val="F2F2F2"/>
                          </a:solidFill>
                          <a:effectLst/>
                          <a:latin typeface="BIZ UDPゴシック" panose="020B0400000000000000" pitchFamily="50" charset="-128"/>
                          <a:ea typeface="BIZ UDPゴシック" panose="020B0400000000000000" pitchFamily="50" charset="-128"/>
                        </a:rPr>
                        <a:t>5</a:t>
                      </a: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点満点）</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②行動評価　（</a:t>
                      </a:r>
                      <a:r>
                        <a:rPr lang="en-US" altLang="ja-JP" sz="1050" b="0" i="0" u="none" strike="noStrike" dirty="0">
                          <a:solidFill>
                            <a:srgbClr val="F2F2F2"/>
                          </a:solidFill>
                          <a:effectLst/>
                          <a:latin typeface="BIZ UDPゴシック" panose="020B0400000000000000" pitchFamily="50" charset="-128"/>
                          <a:ea typeface="BIZ UDPゴシック" panose="020B0400000000000000" pitchFamily="50" charset="-128"/>
                        </a:rPr>
                        <a:t>5</a:t>
                      </a: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点満点）</a:t>
                      </a:r>
                      <a:endParaRPr lang="en-US" altLang="ja-JP" sz="1050" b="0" i="0" u="none" strike="noStrike" dirty="0">
                        <a:solidFill>
                          <a:srgbClr val="F2F2F2"/>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extLst>
                  <a:ext uri="{0D108BD9-81ED-4DB2-BD59-A6C34878D82A}">
                    <a16:rowId xmlns:a16="http://schemas.microsoft.com/office/drawing/2014/main" val="775191293"/>
                  </a:ext>
                </a:extLst>
              </a:tr>
              <a:tr h="183363">
                <a:tc rowSpan="5">
                  <a:txBody>
                    <a:bodyPr/>
                    <a:lstStyle/>
                    <a:p>
                      <a:pPr algn="ctr" rtl="0" fontAlgn="ctr"/>
                      <a:r>
                        <a:rPr lang="ja-JP" altLang="en-US" sz="1200" b="0" i="0" u="none" strike="noStrike" dirty="0">
                          <a:solidFill>
                            <a:srgbClr val="F2F2F2"/>
                          </a:solidFill>
                          <a:effectLst/>
                          <a:latin typeface="BIZ UDPゴシック" panose="020B0400000000000000" pitchFamily="50" charset="-128"/>
                          <a:ea typeface="BIZ UDPゴシック" panose="020B0400000000000000" pitchFamily="50" charset="-128"/>
                        </a:rPr>
                        <a:t>総合職</a:t>
                      </a:r>
                      <a:endParaRPr lang="en-US" altLang="ja-JP" sz="1200" b="0" i="0" u="none" strike="noStrike" dirty="0">
                        <a:solidFill>
                          <a:srgbClr val="F2F2F2"/>
                        </a:solidFill>
                        <a:effectLst/>
                        <a:latin typeface="BIZ UDPゴシック" panose="020B0400000000000000" pitchFamily="50" charset="-128"/>
                        <a:ea typeface="BIZ UDPゴシック" panose="020B0400000000000000" pitchFamily="50" charset="-128"/>
                      </a:endParaRPr>
                    </a:p>
                    <a:p>
                      <a:pPr algn="ctr" rtl="0" fontAlgn="ctr"/>
                      <a:r>
                        <a:rPr lang="ja-JP" altLang="en-US" sz="1200" b="0" i="0" u="none" strike="noStrike" dirty="0">
                          <a:solidFill>
                            <a:srgbClr val="F2F2F2"/>
                          </a:solidFill>
                          <a:effectLst/>
                          <a:latin typeface="BIZ UDPゴシック" panose="020B0400000000000000" pitchFamily="50" charset="-128"/>
                          <a:ea typeface="BIZ UDPゴシック" panose="020B0400000000000000" pitchFamily="50" charset="-128"/>
                        </a:rPr>
                        <a:t>重みの割合</a:t>
                      </a:r>
                      <a:endParaRPr lang="en-US" altLang="ja-JP" sz="1200" b="0" i="0" u="none" strike="noStrike" dirty="0">
                        <a:solidFill>
                          <a:srgbClr val="F2F2F2"/>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a:txBody>
                    <a:bodyPr/>
                    <a:lstStyle/>
                    <a:p>
                      <a:pPr algn="l" rtl="0"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G10</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11</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rtl="0" fontAlgn="ctr"/>
                      <a:r>
                        <a:rPr lang="en-US" altLang="ja-JP" sz="1200" b="0" i="0" u="none" strike="noStrike" dirty="0">
                          <a:solidFill>
                            <a:schemeClr val="tx1"/>
                          </a:solidFill>
                          <a:effectLst/>
                          <a:latin typeface="BIZ UDPゴシック" panose="020B0400000000000000" pitchFamily="50" charset="-128"/>
                          <a:ea typeface="BIZ UDPゴシック" panose="020B0400000000000000" pitchFamily="50" charset="-128"/>
                        </a:rPr>
                        <a:t>70%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altLang="ja-JP" sz="1200" b="0" i="0" u="none" strike="noStrike" dirty="0">
                          <a:solidFill>
                            <a:schemeClr val="tx1"/>
                          </a:solidFill>
                          <a:effectLst/>
                          <a:latin typeface="BIZ UDPゴシック" panose="020B0400000000000000" pitchFamily="50" charset="-128"/>
                          <a:ea typeface="BIZ UDPゴシック" panose="020B0400000000000000" pitchFamily="50" charset="-128"/>
                        </a:rPr>
                        <a:t>30%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799139"/>
                  </a:ext>
                </a:extLst>
              </a:tr>
              <a:tr h="183363">
                <a:tc vMerge="1">
                  <a:txBody>
                    <a:bodyPr/>
                    <a:lstStyle/>
                    <a:p>
                      <a:endParaRPr kumimoji="1" lang="ja-JP" altLang="en-US"/>
                    </a:p>
                  </a:txBody>
                  <a:tcPr>
                    <a:lnT w="6350" cap="flat" cmpd="sng" algn="ctr">
                      <a:solidFill>
                        <a:srgbClr val="000000"/>
                      </a:solidFill>
                      <a:prstDash val="solid"/>
                      <a:round/>
                      <a:headEnd type="none" w="med" len="med"/>
                      <a:tailEnd type="none" w="med" len="med"/>
                    </a:lnT>
                  </a:tcPr>
                </a:tc>
                <a:tc>
                  <a:txBody>
                    <a:bodyPr/>
                    <a:lstStyle/>
                    <a:p>
                      <a:pPr algn="l" rtl="0" fontAlgn="ctr"/>
                      <a:r>
                        <a:rPr lang="en-US" altLang="ja-JP" sz="1050" b="0" i="0" u="none" strike="noStrike" dirty="0">
                          <a:solidFill>
                            <a:schemeClr val="tx1"/>
                          </a:solidFill>
                          <a:effectLst/>
                          <a:latin typeface="BIZ UDPゴシック" panose="020B0400000000000000" pitchFamily="50" charset="-128"/>
                          <a:ea typeface="BIZ UDPゴシック" panose="020B0400000000000000" pitchFamily="50" charset="-128"/>
                        </a:rPr>
                        <a:t>G</a:t>
                      </a:r>
                      <a:r>
                        <a:rPr lang="en-US" altLang="ja-JP" sz="1200" b="0" i="0" u="none" strike="noStrike" dirty="0">
                          <a:solidFill>
                            <a:schemeClr val="tx1"/>
                          </a:solidFill>
                          <a:effectLst/>
                          <a:latin typeface="BIZ UDPゴシック" panose="020B0400000000000000" pitchFamily="50" charset="-128"/>
                          <a:ea typeface="BIZ UDPゴシック" panose="020B0400000000000000" pitchFamily="50" charset="-128"/>
                        </a:rPr>
                        <a:t>7</a:t>
                      </a:r>
                      <a:r>
                        <a:rPr lang="ja-JP" altLang="en-US" sz="1050" b="0" i="0" u="none" strike="noStrike" dirty="0">
                          <a:solidFill>
                            <a:schemeClr val="tx1"/>
                          </a:solidFill>
                          <a:effectLst/>
                          <a:latin typeface="BIZ UDPゴシック" panose="020B0400000000000000" pitchFamily="50" charset="-128"/>
                          <a:ea typeface="BIZ UDPゴシック" panose="020B0400000000000000" pitchFamily="50" charset="-128"/>
                        </a:rPr>
                        <a:t>・</a:t>
                      </a:r>
                      <a:r>
                        <a:rPr lang="en-US" altLang="ja-JP" sz="1050" b="0" i="0" u="none" strike="noStrike" dirty="0">
                          <a:solidFill>
                            <a:schemeClr val="tx1"/>
                          </a:solidFill>
                          <a:effectLst/>
                          <a:latin typeface="BIZ UDPゴシック" panose="020B0400000000000000" pitchFamily="50" charset="-128"/>
                          <a:ea typeface="BIZ UDPゴシック" panose="020B0400000000000000" pitchFamily="50" charset="-128"/>
                        </a:rPr>
                        <a:t>8・9</a:t>
                      </a:r>
                      <a:endParaRPr lang="en-US" sz="1050" b="0" i="0" u="none" strike="noStrike" dirty="0">
                        <a:solidFill>
                          <a:schemeClr val="tx1"/>
                        </a:solidFill>
                        <a:effectLst/>
                        <a:latin typeface="BIZ UDPゴシック" panose="020B0400000000000000" pitchFamily="50" charset="-128"/>
                        <a:ea typeface="BIZ UDPゴシック" panose="020B0400000000000000" pitchFamily="50" charset="-128"/>
                      </a:endParaRPr>
                    </a:p>
                  </a:txBody>
                  <a:tcPr marL="7611" marR="7611" marT="7611"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rtl="0" fontAlgn="ctr"/>
                      <a:r>
                        <a:rPr lang="en-US" altLang="ja-JP" sz="1200" b="0" i="0" u="none" strike="noStrike" dirty="0">
                          <a:solidFill>
                            <a:schemeClr val="tx1"/>
                          </a:solidFill>
                          <a:effectLst/>
                          <a:latin typeface="BIZ UDPゴシック" panose="020B0400000000000000" pitchFamily="50" charset="-128"/>
                          <a:ea typeface="BIZ UDPゴシック" panose="020B0400000000000000" pitchFamily="50" charset="-128"/>
                        </a:rPr>
                        <a:t>65%</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altLang="ja-JP" sz="1200" b="0" i="0" u="none" strike="noStrike" dirty="0">
                          <a:solidFill>
                            <a:schemeClr val="tx1"/>
                          </a:solidFill>
                          <a:effectLst/>
                          <a:latin typeface="BIZ UDPゴシック" panose="020B0400000000000000" pitchFamily="50" charset="-128"/>
                          <a:ea typeface="BIZ UDPゴシック" panose="020B0400000000000000" pitchFamily="50" charset="-128"/>
                        </a:rPr>
                        <a:t>35%</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01060754"/>
                  </a:ext>
                </a:extLst>
              </a:tr>
              <a:tr h="183363">
                <a:tc vMerge="1">
                  <a:txBody>
                    <a:bodyPr/>
                    <a:lstStyle/>
                    <a:p>
                      <a:endParaRPr kumimoji="1" lang="ja-JP" altLang="en-US"/>
                    </a:p>
                  </a:txBody>
                  <a:tcPr/>
                </a:tc>
                <a:tc>
                  <a:txBody>
                    <a:bodyPr/>
                    <a:lstStyle/>
                    <a:p>
                      <a:pPr algn="l" rtl="0" fontAlgn="ctr"/>
                      <a:r>
                        <a:rPr lang="en-US" sz="1050" b="0" i="0" u="none" strike="noStrike" dirty="0">
                          <a:solidFill>
                            <a:schemeClr val="tx1"/>
                          </a:solidFill>
                          <a:effectLst/>
                          <a:latin typeface="BIZ UDPゴシック" panose="020B0400000000000000" pitchFamily="50" charset="-128"/>
                          <a:ea typeface="BIZ UDPゴシック" panose="020B0400000000000000" pitchFamily="50" charset="-128"/>
                        </a:rPr>
                        <a:t>G</a:t>
                      </a:r>
                      <a:r>
                        <a:rPr lang="en-US" altLang="ja-JP" sz="1200" b="0" i="0" u="none" strike="noStrike" dirty="0">
                          <a:solidFill>
                            <a:schemeClr val="tx1"/>
                          </a:solidFill>
                          <a:effectLst/>
                          <a:latin typeface="BIZ UDPゴシック" panose="020B0400000000000000" pitchFamily="50" charset="-128"/>
                          <a:ea typeface="BIZ UDPゴシック" panose="020B0400000000000000" pitchFamily="50" charset="-128"/>
                        </a:rPr>
                        <a:t>4</a:t>
                      </a:r>
                      <a:r>
                        <a:rPr lang="ja-JP" altLang="en-US" sz="1050" b="0" i="0" u="none" strike="noStrike" dirty="0">
                          <a:solidFill>
                            <a:schemeClr val="tx1"/>
                          </a:solidFill>
                          <a:effectLst/>
                          <a:latin typeface="BIZ UDPゴシック" panose="020B0400000000000000" pitchFamily="50" charset="-128"/>
                          <a:ea typeface="BIZ UDPゴシック" panose="020B0400000000000000" pitchFamily="50" charset="-128"/>
                        </a:rPr>
                        <a:t>・</a:t>
                      </a:r>
                      <a:r>
                        <a:rPr lang="en-US" sz="1050" b="0" i="0" u="none" strike="noStrike" dirty="0">
                          <a:solidFill>
                            <a:schemeClr val="tx1"/>
                          </a:solidFill>
                          <a:effectLst/>
                          <a:latin typeface="BIZ UDPゴシック" panose="020B0400000000000000" pitchFamily="50" charset="-128"/>
                          <a:ea typeface="BIZ UDPゴシック" panose="020B0400000000000000" pitchFamily="50" charset="-128"/>
                        </a:rPr>
                        <a:t>5・6</a:t>
                      </a:r>
                    </a:p>
                  </a:txBody>
                  <a:tcPr marL="7611" marR="7611" marT="7611"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rtl="0"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50%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50%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1596860"/>
                  </a:ext>
                </a:extLst>
              </a:tr>
              <a:tr h="183363">
                <a:tc vMerge="1">
                  <a:txBody>
                    <a:bodyPr/>
                    <a:lstStyle/>
                    <a:p>
                      <a:endParaRPr kumimoji="1" lang="ja-JP" altLang="en-US"/>
                    </a:p>
                  </a:txBody>
                  <a:tcPr/>
                </a:tc>
                <a:tc>
                  <a:txBody>
                    <a:bodyPr/>
                    <a:lstStyle/>
                    <a:p>
                      <a:pPr algn="l"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G2・3</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rtl="0"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40%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60%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9130665"/>
                  </a:ext>
                </a:extLst>
              </a:tr>
              <a:tr h="183363">
                <a:tc vMerge="1">
                  <a:txBody>
                    <a:bodyPr/>
                    <a:lstStyle/>
                    <a:p>
                      <a:endParaRPr kumimoji="1" lang="ja-JP" altLang="en-US"/>
                    </a:p>
                  </a:txBody>
                  <a:tcPr/>
                </a:tc>
                <a:tc>
                  <a:txBody>
                    <a:bodyPr/>
                    <a:lstStyle/>
                    <a:p>
                      <a:pPr algn="l" rtl="0"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G1</a:t>
                      </a:r>
                    </a:p>
                  </a:txBody>
                  <a:tcPr marL="7611" marR="7611" marT="7611"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r" rtl="0"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30%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70%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6863367"/>
                  </a:ext>
                </a:extLst>
              </a:tr>
            </a:tbl>
          </a:graphicData>
        </a:graphic>
      </p:graphicFrame>
      <p:sp>
        <p:nvSpPr>
          <p:cNvPr id="20" name="正方形/長方形 19">
            <a:extLst>
              <a:ext uri="{FF2B5EF4-FFF2-40B4-BE49-F238E27FC236}">
                <a16:creationId xmlns:a16="http://schemas.microsoft.com/office/drawing/2014/main" id="{F3458AB7-88C8-20D4-46BB-E65AAE8C549E}"/>
              </a:ext>
            </a:extLst>
          </p:cNvPr>
          <p:cNvSpPr/>
          <p:nvPr/>
        </p:nvSpPr>
        <p:spPr>
          <a:xfrm>
            <a:off x="1570580" y="1316598"/>
            <a:ext cx="7434024" cy="9667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1" name="正方形/長方形 20">
            <a:extLst>
              <a:ext uri="{FF2B5EF4-FFF2-40B4-BE49-F238E27FC236}">
                <a16:creationId xmlns:a16="http://schemas.microsoft.com/office/drawing/2014/main" id="{667315A9-F252-8A57-6A2F-3C4822D1D08D}"/>
              </a:ext>
            </a:extLst>
          </p:cNvPr>
          <p:cNvSpPr/>
          <p:nvPr/>
        </p:nvSpPr>
        <p:spPr>
          <a:xfrm>
            <a:off x="131225" y="5648015"/>
            <a:ext cx="8881549" cy="920985"/>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rPr>
              <a:t>成果評価と行動評価の「重みの割合」は、</a:t>
            </a:r>
            <a:r>
              <a:rPr lang="ja-JP" altLang="en-US" sz="14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年度に応じて、比率を変更させることがあり得る。</a:t>
            </a:r>
            <a:endParaRPr lang="en-US" altLang="ja-JP" sz="1400" dirty="0">
              <a:solidFill>
                <a:schemeClr val="tx1"/>
              </a:solidFill>
              <a:latin typeface="BIZ UDPゴシック" panose="020B0400000000000000" pitchFamily="50" charset="-128"/>
              <a:ea typeface="BIZ UDPゴシック" panose="020B0400000000000000" pitchFamily="50" charset="-128"/>
            </a:endParaRPr>
          </a:p>
        </p:txBody>
      </p:sp>
      <p:sp>
        <p:nvSpPr>
          <p:cNvPr id="22" name="タイトル 2">
            <a:extLst>
              <a:ext uri="{FF2B5EF4-FFF2-40B4-BE49-F238E27FC236}">
                <a16:creationId xmlns:a16="http://schemas.microsoft.com/office/drawing/2014/main" id="{5AEE2BF8-231B-ECBF-AE3A-9BFA089040D7}"/>
              </a:ext>
            </a:extLst>
          </p:cNvPr>
          <p:cNvSpPr txBox="1">
            <a:spLocks/>
          </p:cNvSpPr>
          <p:nvPr/>
        </p:nvSpPr>
        <p:spPr>
          <a:xfrm>
            <a:off x="144957" y="5201765"/>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備考</a:t>
            </a:r>
          </a:p>
        </p:txBody>
      </p:sp>
    </p:spTree>
    <p:extLst>
      <p:ext uri="{BB962C8B-B14F-4D97-AF65-F5344CB8AC3E}">
        <p14:creationId xmlns:p14="http://schemas.microsoft.com/office/powerpoint/2010/main" val="1202108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19</a:t>
            </a:fld>
            <a:r>
              <a:rPr lang="ja-JP" altLang="en-US" sz="1050" dirty="0">
                <a:latin typeface="+mn-ea"/>
              </a:rPr>
              <a:t>－</a:t>
            </a:r>
          </a:p>
        </p:txBody>
      </p:sp>
      <p:sp>
        <p:nvSpPr>
          <p:cNvPr id="2" name="正方形/長方形 1">
            <a:extLst>
              <a:ext uri="{FF2B5EF4-FFF2-40B4-BE49-F238E27FC236}">
                <a16:creationId xmlns:a16="http://schemas.microsoft.com/office/drawing/2014/main" id="{B6EF3F9F-ED82-21C6-CB50-EAAAD8F39A89}"/>
              </a:ext>
            </a:extLst>
          </p:cNvPr>
          <p:cNvSpPr/>
          <p:nvPr/>
        </p:nvSpPr>
        <p:spPr>
          <a:xfrm>
            <a:off x="606252" y="1772816"/>
            <a:ext cx="7881466" cy="1368152"/>
          </a:xfrm>
          <a:prstGeom prst="rect">
            <a:avLst/>
          </a:prstGeom>
          <a:solidFill>
            <a:schemeClr val="accent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dirty="0">
                <a:latin typeface="BIZ UDPゴシック" panose="020B0400000000000000" pitchFamily="50" charset="-128"/>
                <a:ea typeface="BIZ UDPゴシック" panose="020B0400000000000000" pitchFamily="50" charset="-128"/>
              </a:rPr>
              <a:t>専門職についての説明</a:t>
            </a:r>
            <a:endParaRPr lang="en-US" altLang="ja-JP" sz="3600" dirty="0">
              <a:latin typeface="BIZ UDPゴシック" panose="020B0400000000000000" pitchFamily="50" charset="-128"/>
              <a:ea typeface="BIZ UDPゴシック" panose="020B0400000000000000" pitchFamily="50" charset="-128"/>
            </a:endParaRPr>
          </a:p>
        </p:txBody>
      </p:sp>
      <p:sp>
        <p:nvSpPr>
          <p:cNvPr id="3" name="タイトル 2">
            <a:extLst>
              <a:ext uri="{FF2B5EF4-FFF2-40B4-BE49-F238E27FC236}">
                <a16:creationId xmlns:a16="http://schemas.microsoft.com/office/drawing/2014/main" id="{9D4C852E-CD49-471B-E9C8-E46BBB953F5A}"/>
              </a:ext>
            </a:extLst>
          </p:cNvPr>
          <p:cNvSpPr txBox="1">
            <a:spLocks/>
          </p:cNvSpPr>
          <p:nvPr/>
        </p:nvSpPr>
        <p:spPr>
          <a:xfrm>
            <a:off x="611560" y="3831808"/>
            <a:ext cx="7881466" cy="1728192"/>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marL="285750" indent="-285750">
              <a:lnSpc>
                <a:spcPct val="200000"/>
              </a:lnSpc>
              <a:buFont typeface="Arial" panose="020B0604020202020204" pitchFamily="34" charset="0"/>
              <a:buChar char="•"/>
            </a:pPr>
            <a:r>
              <a:rPr lang="ja-JP" altLang="en-US" sz="2000" dirty="0">
                <a:latin typeface="BIZ UDPゴシック" panose="020B0400000000000000" pitchFamily="50" charset="-128"/>
                <a:ea typeface="BIZ UDPゴシック" panose="020B0400000000000000" pitchFamily="50" charset="-128"/>
              </a:rPr>
              <a:t>専門職の定義　（総合職との比較表）</a:t>
            </a:r>
            <a:endParaRPr lang="en-US" altLang="ja-JP" sz="2000" dirty="0">
              <a:latin typeface="BIZ UDPゴシック" panose="020B0400000000000000" pitchFamily="50" charset="-128"/>
              <a:ea typeface="BIZ UDPゴシック" panose="020B0400000000000000" pitchFamily="50" charset="-128"/>
            </a:endParaRPr>
          </a:p>
          <a:p>
            <a:pPr marL="285750" indent="-285750">
              <a:lnSpc>
                <a:spcPct val="200000"/>
              </a:lnSpc>
              <a:buFont typeface="Arial" panose="020B0604020202020204" pitchFamily="34" charset="0"/>
              <a:buChar char="•"/>
            </a:pPr>
            <a:r>
              <a:rPr lang="ja-JP" altLang="en-US" sz="2000" dirty="0">
                <a:latin typeface="BIZ UDPゴシック" panose="020B0400000000000000" pitchFamily="50" charset="-128"/>
                <a:ea typeface="BIZ UDPゴシック" panose="020B0400000000000000" pitchFamily="50" charset="-128"/>
              </a:rPr>
              <a:t>専門職　賃金テーブルの一例について</a:t>
            </a:r>
            <a:endParaRPr lang="en-US" altLang="ja-JP" sz="2000" dirty="0">
              <a:latin typeface="BIZ UDPゴシック" panose="020B0400000000000000" pitchFamily="50" charset="-128"/>
              <a:ea typeface="BIZ UDPゴシック" panose="020B0400000000000000" pitchFamily="50" charset="-128"/>
            </a:endParaRPr>
          </a:p>
          <a:p>
            <a:pPr marL="285750" indent="-285750">
              <a:lnSpc>
                <a:spcPct val="200000"/>
              </a:lnSpc>
              <a:buFont typeface="Arial" panose="020B0604020202020204" pitchFamily="34" charset="0"/>
              <a:buChar char="•"/>
            </a:pPr>
            <a:r>
              <a:rPr lang="ja-JP" altLang="en-US" sz="2000" dirty="0">
                <a:latin typeface="BIZ UDPゴシック" panose="020B0400000000000000" pitchFamily="50" charset="-128"/>
                <a:ea typeface="BIZ UDPゴシック" panose="020B0400000000000000" pitchFamily="50" charset="-128"/>
              </a:rPr>
              <a:t>成果評価について</a:t>
            </a:r>
            <a:endParaRPr lang="en-US" altLang="ja-JP" sz="2000" dirty="0">
              <a:latin typeface="BIZ UDPゴシック" panose="020B0400000000000000" pitchFamily="50" charset="-128"/>
              <a:ea typeface="BIZ UDPゴシック" panose="020B0400000000000000" pitchFamily="50" charset="-128"/>
            </a:endParaRPr>
          </a:p>
          <a:p>
            <a:pPr marL="285750" indent="-285750">
              <a:lnSpc>
                <a:spcPct val="200000"/>
              </a:lnSpc>
              <a:buFont typeface="Arial" panose="020B0604020202020204" pitchFamily="34" charset="0"/>
              <a:buChar char="•"/>
            </a:pPr>
            <a:r>
              <a:rPr lang="ja-JP" altLang="en-US" sz="2000" dirty="0">
                <a:latin typeface="BIZ UDPゴシック" panose="020B0400000000000000" pitchFamily="50" charset="-128"/>
                <a:ea typeface="BIZ UDPゴシック" panose="020B0400000000000000" pitchFamily="50" charset="-128"/>
              </a:rPr>
              <a:t>行動評価について</a:t>
            </a:r>
            <a:endParaRPr lang="en-US" altLang="ja-JP" sz="2000" dirty="0">
              <a:latin typeface="BIZ UDPゴシック" panose="020B0400000000000000" pitchFamily="50" charset="-128"/>
              <a:ea typeface="BIZ UDPゴシック" panose="020B0400000000000000" pitchFamily="50" charset="-128"/>
            </a:endParaRPr>
          </a:p>
          <a:p>
            <a:pPr marL="285750" indent="-285750">
              <a:lnSpc>
                <a:spcPct val="200000"/>
              </a:lnSpc>
              <a:buFont typeface="Arial" panose="020B0604020202020204" pitchFamily="34" charset="0"/>
              <a:buChar char="•"/>
            </a:pPr>
            <a:r>
              <a:rPr lang="ja-JP" altLang="en-US" sz="2000" dirty="0">
                <a:latin typeface="BIZ UDPゴシック" panose="020B0400000000000000" pitchFamily="50" charset="-128"/>
                <a:ea typeface="BIZ UDPゴシック" panose="020B0400000000000000" pitchFamily="50" charset="-128"/>
              </a:rPr>
              <a:t>総合評語について</a:t>
            </a:r>
            <a:endParaRPr lang="en-US" altLang="ja-JP" sz="20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64353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20</a:t>
            </a:fld>
            <a:r>
              <a:rPr lang="ja-JP" altLang="en-US" sz="1050" dirty="0">
                <a:latin typeface="+mn-ea"/>
              </a:rPr>
              <a:t>－</a:t>
            </a:r>
          </a:p>
        </p:txBody>
      </p:sp>
      <p:sp>
        <p:nvSpPr>
          <p:cNvPr id="12" name="タイトル 2"/>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専門職の定義</a:t>
            </a:r>
          </a:p>
        </p:txBody>
      </p:sp>
      <p:graphicFrame>
        <p:nvGraphicFramePr>
          <p:cNvPr id="5" name="表 4">
            <a:extLst>
              <a:ext uri="{FF2B5EF4-FFF2-40B4-BE49-F238E27FC236}">
                <a16:creationId xmlns:a16="http://schemas.microsoft.com/office/drawing/2014/main" id="{3DD6668B-2565-AF9A-4BFF-D79D1BECFD0A}"/>
              </a:ext>
            </a:extLst>
          </p:cNvPr>
          <p:cNvGraphicFramePr>
            <a:graphicFrameLocks noGrp="1"/>
          </p:cNvGraphicFramePr>
          <p:nvPr>
            <p:extLst>
              <p:ext uri="{D42A27DB-BD31-4B8C-83A1-F6EECF244321}">
                <p14:modId xmlns:p14="http://schemas.microsoft.com/office/powerpoint/2010/main" val="354167859"/>
              </p:ext>
            </p:extLst>
          </p:nvPr>
        </p:nvGraphicFramePr>
        <p:xfrm>
          <a:off x="107504" y="861160"/>
          <a:ext cx="8928991" cy="5948273"/>
        </p:xfrm>
        <a:graphic>
          <a:graphicData uri="http://schemas.openxmlformats.org/drawingml/2006/table">
            <a:tbl>
              <a:tblPr firstRow="1" bandRow="1">
                <a:tableStyleId>{5C22544A-7EE6-4342-B048-85BDC9FD1C3A}</a:tableStyleId>
              </a:tblPr>
              <a:tblGrid>
                <a:gridCol w="1249671">
                  <a:extLst>
                    <a:ext uri="{9D8B030D-6E8A-4147-A177-3AD203B41FA5}">
                      <a16:colId xmlns:a16="http://schemas.microsoft.com/office/drawing/2014/main" val="512372472"/>
                    </a:ext>
                  </a:extLst>
                </a:gridCol>
                <a:gridCol w="3641862">
                  <a:extLst>
                    <a:ext uri="{9D8B030D-6E8A-4147-A177-3AD203B41FA5}">
                      <a16:colId xmlns:a16="http://schemas.microsoft.com/office/drawing/2014/main" val="1848559048"/>
                    </a:ext>
                  </a:extLst>
                </a:gridCol>
                <a:gridCol w="4037458">
                  <a:extLst>
                    <a:ext uri="{9D8B030D-6E8A-4147-A177-3AD203B41FA5}">
                      <a16:colId xmlns:a16="http://schemas.microsoft.com/office/drawing/2014/main" val="2374557689"/>
                    </a:ext>
                  </a:extLst>
                </a:gridCol>
              </a:tblGrid>
              <a:tr h="264254">
                <a:tc>
                  <a:txBody>
                    <a:bodyPr/>
                    <a:lstStyle/>
                    <a:p>
                      <a:pPr algn="ctr"/>
                      <a:r>
                        <a:rPr kumimoji="1" lang="ja-JP" altLang="en-US" sz="1200" dirty="0">
                          <a:solidFill>
                            <a:schemeClr val="tx1"/>
                          </a:solidFill>
                          <a:latin typeface="BIZ UDPゴシック" panose="020B0400000000000000" pitchFamily="50" charset="-128"/>
                          <a:ea typeface="BIZ UDPゴシック" panose="020B0400000000000000" pitchFamily="50" charset="-128"/>
                        </a:rPr>
                        <a:t>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ja-JP" altLang="en-US" sz="1200" dirty="0">
                          <a:solidFill>
                            <a:schemeClr val="tx1"/>
                          </a:solidFill>
                          <a:latin typeface="BIZ UDPゴシック" panose="020B0400000000000000" pitchFamily="50" charset="-128"/>
                          <a:ea typeface="BIZ UDPゴシック" panose="020B0400000000000000" pitchFamily="50" charset="-128"/>
                        </a:rPr>
                        <a:t>総合職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kumimoji="1" lang="ja-JP" altLang="en-US" sz="1200" dirty="0">
                          <a:solidFill>
                            <a:schemeClr val="tx1"/>
                          </a:solidFill>
                          <a:latin typeface="BIZ UDPゴシック" panose="020B0400000000000000" pitchFamily="50" charset="-128"/>
                          <a:ea typeface="BIZ UDPゴシック" panose="020B0400000000000000" pitchFamily="50" charset="-128"/>
                        </a:rPr>
                        <a:t>専門職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442345474"/>
                  </a:ext>
                </a:extLst>
              </a:tr>
              <a:tr h="620004">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①特徴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lang="ja-JP" altLang="en-US" sz="1050" dirty="0">
                          <a:solidFill>
                            <a:srgbClr val="222222"/>
                          </a:solidFill>
                          <a:latin typeface="BIZ UDPゴシック" panose="020B0400000000000000" pitchFamily="50" charset="-128"/>
                          <a:ea typeface="BIZ UDPゴシック" panose="020B0400000000000000" pitchFamily="50" charset="-128"/>
                        </a:rPr>
                        <a:t>・総合職を育成・評価する制度。</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・格付と役職（職位）を一致させず、一定以上の格付対象者へ、広く昇格・昇進の機会を与える。　</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accent1">
                        <a:lumMod val="20000"/>
                        <a:lumOff val="80000"/>
                      </a:schemeClr>
                    </a:solidFill>
                  </a:tcPr>
                </a:tc>
                <a:tc>
                  <a:txBody>
                    <a:bodyPr/>
                    <a:lstStyle/>
                    <a:p>
                      <a:pPr algn="l"/>
                      <a:r>
                        <a:rPr lang="ja-JP" altLang="en-US" sz="1050" dirty="0">
                          <a:solidFill>
                            <a:srgbClr val="222222"/>
                          </a:solidFill>
                          <a:latin typeface="BIZ UDPゴシック" panose="020B0400000000000000" pitchFamily="50" charset="-128"/>
                          <a:ea typeface="BIZ UDPゴシック" panose="020B0400000000000000" pitchFamily="50" charset="-128"/>
                        </a:rPr>
                        <a:t>専門職を育成・評価する制度。</a:t>
                      </a:r>
                      <a:endParaRPr lang="en-US" altLang="ja-JP" sz="1050" dirty="0">
                        <a:solidFill>
                          <a:srgbClr val="222222"/>
                        </a:solidFill>
                        <a:latin typeface="BIZ UDPゴシック" panose="020B0400000000000000" pitchFamily="50" charset="-128"/>
                        <a:ea typeface="BIZ UDPゴシック" panose="020B0400000000000000" pitchFamily="50" charset="-128"/>
                      </a:endParaRPr>
                    </a:p>
                    <a:p>
                      <a:pPr algn="l"/>
                      <a:r>
                        <a:rPr lang="ja-JP" altLang="en-US" sz="1050" dirty="0">
                          <a:solidFill>
                            <a:srgbClr val="222222"/>
                          </a:solidFill>
                          <a:latin typeface="BIZ UDPゴシック" panose="020B0400000000000000" pitchFamily="50" charset="-128"/>
                          <a:ea typeface="BIZ UDPゴシック" panose="020B0400000000000000" pitchFamily="50" charset="-128"/>
                        </a:rPr>
                        <a:t>管理職などのマネジメントを担うのではなく、個々人の技能に基づくパフォーマンスを発揮し、売上高の獲得に貢献する者を厚遇する。</a:t>
                      </a:r>
                      <a:endParaRPr lang="en-US" altLang="ja-JP" sz="1050" dirty="0">
                        <a:solidFill>
                          <a:srgbClr val="222222"/>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79205789"/>
                  </a:ext>
                </a:extLst>
              </a:tr>
              <a:tr h="264254">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②格付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en-US" altLang="ja-JP" sz="1050" dirty="0">
                          <a:solidFill>
                            <a:schemeClr val="tx1"/>
                          </a:solidFill>
                          <a:latin typeface="BIZ UDPゴシック" panose="020B0400000000000000" pitchFamily="50" charset="-128"/>
                          <a:ea typeface="BIZ UDPゴシック" panose="020B0400000000000000" pitchFamily="50" charset="-128"/>
                        </a:rPr>
                        <a:t>11</a:t>
                      </a:r>
                      <a:r>
                        <a:rPr kumimoji="1" lang="ja-JP" altLang="en-US" sz="1050" dirty="0">
                          <a:solidFill>
                            <a:schemeClr val="tx1"/>
                          </a:solidFill>
                          <a:latin typeface="BIZ UDPゴシック" panose="020B0400000000000000" pitchFamily="50" charset="-128"/>
                          <a:ea typeface="BIZ UDPゴシック" panose="020B0400000000000000" pitchFamily="50" charset="-128"/>
                        </a:rPr>
                        <a:t>　段階</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1">
                        <a:lumMod val="20000"/>
                        <a:lumOff val="80000"/>
                      </a:schemeClr>
                    </a:solidFill>
                  </a:tcPr>
                </a:tc>
                <a:tc>
                  <a:txBody>
                    <a:bodyPr/>
                    <a:lstStyle/>
                    <a:p>
                      <a:pPr algn="l"/>
                      <a:r>
                        <a:rPr kumimoji="1" lang="en-US" altLang="ja-JP" sz="1050" u="sng" dirty="0">
                          <a:solidFill>
                            <a:schemeClr val="tx1"/>
                          </a:solidFill>
                          <a:latin typeface="BIZ UDPゴシック" panose="020B0400000000000000" pitchFamily="50" charset="-128"/>
                          <a:ea typeface="BIZ UDPゴシック" panose="020B0400000000000000" pitchFamily="50" charset="-128"/>
                        </a:rPr>
                        <a:t>5</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　段階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3986651"/>
                  </a:ext>
                </a:extLst>
              </a:tr>
              <a:tr h="2642540">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③昇降格 条件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325"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BIZ UDPゴシック" panose="020B0400000000000000" pitchFamily="50" charset="-128"/>
                          <a:ea typeface="BIZ UDPゴシック" panose="020B0400000000000000" pitchFamily="50" charset="-128"/>
                        </a:rPr>
                        <a:t>直近</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年間の</a:t>
                      </a:r>
                      <a:r>
                        <a:rPr lang="en-US" altLang="ja-JP" sz="1050" dirty="0">
                          <a:solidFill>
                            <a:schemeClr val="tx1"/>
                          </a:solidFill>
                          <a:latin typeface="BIZ UDPゴシック" panose="020B0400000000000000" pitchFamily="50" charset="-128"/>
                          <a:ea typeface="BIZ UDPゴシック" panose="020B0400000000000000" pitchFamily="50" charset="-128"/>
                        </a:rPr>
                        <a:t>4</a:t>
                      </a:r>
                      <a:r>
                        <a:rPr lang="ja-JP" altLang="en-US" sz="1050" dirty="0">
                          <a:solidFill>
                            <a:schemeClr val="tx1"/>
                          </a:solidFill>
                          <a:latin typeface="BIZ UDPゴシック" panose="020B0400000000000000" pitchFamily="50" charset="-128"/>
                          <a:ea typeface="BIZ UDPゴシック" panose="020B0400000000000000" pitchFamily="50" charset="-128"/>
                        </a:rPr>
                        <a:t>回のジョブ評価で、</a:t>
                      </a:r>
                      <a:r>
                        <a:rPr lang="en-US" altLang="ja-JP" sz="1050" dirty="0">
                          <a:solidFill>
                            <a:schemeClr val="tx1"/>
                          </a:solidFill>
                          <a:latin typeface="BIZ UDPゴシック" panose="020B0400000000000000" pitchFamily="50" charset="-128"/>
                          <a:ea typeface="BIZ UDPゴシック" panose="020B0400000000000000" pitchFamily="50" charset="-128"/>
                        </a:rPr>
                        <a:t>15</a:t>
                      </a:r>
                      <a:r>
                        <a:rPr lang="ja-JP" altLang="en-US" sz="1050" dirty="0">
                          <a:solidFill>
                            <a:schemeClr val="tx1"/>
                          </a:solidFill>
                          <a:latin typeface="BIZ UDPゴシック" panose="020B0400000000000000" pitchFamily="50" charset="-128"/>
                          <a:ea typeface="BIZ UDPゴシック" panose="020B0400000000000000" pitchFamily="50" charset="-128"/>
                        </a:rPr>
                        <a:t>点以上（</a:t>
                      </a:r>
                      <a:r>
                        <a:rPr lang="en-US" altLang="ja-JP" sz="1050" dirty="0">
                          <a:solidFill>
                            <a:schemeClr val="tx1"/>
                          </a:solidFill>
                          <a:latin typeface="BIZ UDPゴシック" panose="020B0400000000000000" pitchFamily="50" charset="-128"/>
                          <a:ea typeface="BIZ UDPゴシック" panose="020B0400000000000000" pitchFamily="50" charset="-128"/>
                        </a:rPr>
                        <a:t>S</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5</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A</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4</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B</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3</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C</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点、</a:t>
                      </a:r>
                      <a:r>
                        <a:rPr lang="en-US" altLang="ja-JP" sz="1050" dirty="0">
                          <a:solidFill>
                            <a:schemeClr val="tx1"/>
                          </a:solidFill>
                          <a:latin typeface="BIZ UDPゴシック" panose="020B0400000000000000" pitchFamily="50" charset="-128"/>
                          <a:ea typeface="BIZ UDPゴシック" panose="020B0400000000000000" pitchFamily="50" charset="-128"/>
                        </a:rPr>
                        <a:t>D</a:t>
                      </a:r>
                      <a:r>
                        <a:rPr lang="ja-JP" altLang="en-US" sz="1050" dirty="0">
                          <a:solidFill>
                            <a:schemeClr val="tx1"/>
                          </a:solidFill>
                          <a:latin typeface="BIZ UDPゴシック" panose="020B0400000000000000" pitchFamily="50" charset="-128"/>
                          <a:ea typeface="BIZ UDPゴシック" panose="020B0400000000000000" pitchFamily="50" charset="-128"/>
                        </a:rPr>
                        <a:t>：</a:t>
                      </a:r>
                      <a:r>
                        <a:rPr lang="en-US" altLang="ja-JP" sz="1050" dirty="0">
                          <a:solidFill>
                            <a:schemeClr val="tx1"/>
                          </a:solidFill>
                          <a:latin typeface="BIZ UDPゴシック" panose="020B0400000000000000" pitchFamily="50" charset="-128"/>
                          <a:ea typeface="BIZ UDPゴシック" panose="020B0400000000000000" pitchFamily="50" charset="-128"/>
                        </a:rPr>
                        <a:t>1</a:t>
                      </a:r>
                      <a:r>
                        <a:rPr lang="ja-JP" altLang="en-US" sz="1050" dirty="0">
                          <a:solidFill>
                            <a:schemeClr val="tx1"/>
                          </a:solidFill>
                          <a:latin typeface="BIZ UDPゴシック" panose="020B0400000000000000" pitchFamily="50" charset="-128"/>
                          <a:ea typeface="BIZ UDPゴシック" panose="020B0400000000000000" pitchFamily="50" charset="-128"/>
                        </a:rPr>
                        <a:t>点）を得た人を対象に、一次試験（ペーパー試験）と二次試験（経営層との面接）を実施し、最終的に昇格を決定する。ただし、連続して</a:t>
                      </a:r>
                      <a:r>
                        <a:rPr lang="en-US" altLang="ja-JP" sz="1050" dirty="0">
                          <a:solidFill>
                            <a:schemeClr val="tx1"/>
                          </a:solidFill>
                          <a:latin typeface="BIZ UDPゴシック" panose="020B0400000000000000" pitchFamily="50" charset="-128"/>
                          <a:ea typeface="BIZ UDPゴシック" panose="020B0400000000000000" pitchFamily="50" charset="-128"/>
                        </a:rPr>
                        <a:t>S</a:t>
                      </a:r>
                      <a:r>
                        <a:rPr lang="ja-JP" altLang="en-US" sz="1050" dirty="0">
                          <a:solidFill>
                            <a:schemeClr val="tx1"/>
                          </a:solidFill>
                          <a:latin typeface="BIZ UDPゴシック" panose="020B0400000000000000" pitchFamily="50" charset="-128"/>
                          <a:ea typeface="BIZ UDPゴシック" panose="020B0400000000000000" pitchFamily="50" charset="-128"/>
                        </a:rPr>
                        <a:t>評価を</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回獲得するなど、特に優秀な成績を収めた人は、上記の基準に関わらず、昇格試験の対象者として推薦されることがある。会社が特に認めた場合、</a:t>
                      </a:r>
                      <a:r>
                        <a:rPr lang="en-US" altLang="ja-JP" sz="1050" dirty="0">
                          <a:solidFill>
                            <a:schemeClr val="tx1"/>
                          </a:solidFill>
                          <a:latin typeface="BIZ UDPゴシック" panose="020B0400000000000000" pitchFamily="50" charset="-128"/>
                          <a:ea typeface="BIZ UDPゴシック" panose="020B0400000000000000" pitchFamily="50" charset="-128"/>
                        </a:rPr>
                        <a:t>2</a:t>
                      </a:r>
                      <a:r>
                        <a:rPr lang="ja-JP" altLang="en-US" sz="1050" dirty="0">
                          <a:solidFill>
                            <a:schemeClr val="tx1"/>
                          </a:solidFill>
                          <a:latin typeface="BIZ UDPゴシック" panose="020B0400000000000000" pitchFamily="50" charset="-128"/>
                          <a:ea typeface="BIZ UDPゴシック" panose="020B0400000000000000" pitchFamily="50" charset="-128"/>
                        </a:rPr>
                        <a:t>段階以上の昇格もあり得る。</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lang="en-US" altLang="ja-JP" sz="90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050" dirty="0">
                          <a:solidFill>
                            <a:schemeClr val="tx1"/>
                          </a:solidFill>
                          <a:latin typeface="BIZ UDPゴシック" panose="020B0400000000000000" pitchFamily="50" charset="-128"/>
                          <a:ea typeface="BIZ UDPゴシック" panose="020B0400000000000000" pitchFamily="50" charset="-128"/>
                        </a:rPr>
                        <a:t>昇格試験は、年</a:t>
                      </a:r>
                      <a:r>
                        <a:rPr lang="en-US" altLang="ja-JP" sz="1050" dirty="0">
                          <a:solidFill>
                            <a:schemeClr val="tx1"/>
                          </a:solidFill>
                          <a:latin typeface="BIZ UDPゴシック" panose="020B0400000000000000" pitchFamily="50" charset="-128"/>
                          <a:ea typeface="BIZ UDPゴシック" panose="020B0400000000000000" pitchFamily="50" charset="-128"/>
                        </a:rPr>
                        <a:t>1</a:t>
                      </a:r>
                      <a:r>
                        <a:rPr lang="ja-JP" altLang="en-US" sz="1050" dirty="0">
                          <a:solidFill>
                            <a:schemeClr val="tx1"/>
                          </a:solidFill>
                          <a:latin typeface="BIZ UDPゴシック" panose="020B0400000000000000" pitchFamily="50" charset="-128"/>
                          <a:ea typeface="BIZ UDPゴシック" panose="020B0400000000000000" pitchFamily="50" charset="-128"/>
                        </a:rPr>
                        <a:t>回とする。試験の時期は年度末とし、年度により格付けを定める。</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lang="en-US" altLang="ja-JP" sz="90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050" dirty="0">
                          <a:solidFill>
                            <a:schemeClr val="tx1"/>
                          </a:solidFill>
                          <a:latin typeface="BIZ UDPゴシック" panose="020B0400000000000000" pitchFamily="50" charset="-128"/>
                          <a:ea typeface="BIZ UDPゴシック" panose="020B0400000000000000" pitchFamily="50" charset="-128"/>
                        </a:rPr>
                        <a:t>昇格試験では、格付グループに応じて、問題解決能力や事業構想能力を問う。</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lang="en-US" altLang="ja-JP" sz="900"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降格は、直近</a:t>
                      </a:r>
                      <a:r>
                        <a:rPr kumimoji="1" lang="en-US" altLang="ja-JP" sz="1050" dirty="0">
                          <a:solidFill>
                            <a:schemeClr val="tx1"/>
                          </a:solidFill>
                          <a:latin typeface="BIZ UDPゴシック" panose="020B0400000000000000" pitchFamily="50" charset="-128"/>
                          <a:ea typeface="BIZ UDPゴシック" panose="020B0400000000000000" pitchFamily="50" charset="-128"/>
                        </a:rPr>
                        <a:t>4</a:t>
                      </a:r>
                      <a:r>
                        <a:rPr kumimoji="1" lang="ja-JP" altLang="en-US" sz="1050" dirty="0">
                          <a:solidFill>
                            <a:schemeClr val="tx1"/>
                          </a:solidFill>
                          <a:latin typeface="BIZ UDPゴシック" panose="020B0400000000000000" pitchFamily="50" charset="-128"/>
                          <a:ea typeface="BIZ UDPゴシック" panose="020B0400000000000000" pitchFamily="50" charset="-128"/>
                        </a:rPr>
                        <a:t>回の評価において、</a:t>
                      </a:r>
                      <a:r>
                        <a:rPr kumimoji="1" lang="en-US" altLang="ja-JP" sz="1050" dirty="0">
                          <a:solidFill>
                            <a:schemeClr val="tx1"/>
                          </a:solidFill>
                          <a:latin typeface="BIZ UDPゴシック" panose="020B0400000000000000" pitchFamily="50" charset="-128"/>
                          <a:ea typeface="BIZ UDPゴシック" panose="020B0400000000000000" pitchFamily="50" charset="-128"/>
                        </a:rPr>
                        <a:t>9</a:t>
                      </a:r>
                      <a:r>
                        <a:rPr lang="ja-JP" altLang="en-US" sz="1050" dirty="0">
                          <a:solidFill>
                            <a:schemeClr val="tx1"/>
                          </a:solidFill>
                          <a:latin typeface="BIZ UDPゴシック" panose="020B0400000000000000" pitchFamily="50" charset="-128"/>
                          <a:ea typeface="BIZ UDPゴシック" panose="020B0400000000000000" pitchFamily="50" charset="-128"/>
                        </a:rPr>
                        <a:t>点以下で</a:t>
                      </a:r>
                      <a:r>
                        <a:rPr kumimoji="1" lang="ja-JP" altLang="en-US" sz="1050" dirty="0">
                          <a:solidFill>
                            <a:schemeClr val="tx1"/>
                          </a:solidFill>
                          <a:latin typeface="BIZ UDPゴシック" panose="020B0400000000000000" pitchFamily="50" charset="-128"/>
                          <a:ea typeface="BIZ UDPゴシック" panose="020B0400000000000000" pitchFamily="50" charset="-128"/>
                        </a:rPr>
                        <a:t>あれば降格対象とする。実際の降格是非は総合考課により決定する。</a:t>
                      </a:r>
                      <a:r>
                        <a:rPr kumimoji="1" lang="en-US" altLang="ja-JP" sz="1050" dirty="0">
                          <a:solidFill>
                            <a:schemeClr val="tx1"/>
                          </a:solidFill>
                          <a:latin typeface="BIZ UDPゴシック" panose="020B0400000000000000" pitchFamily="50" charset="-128"/>
                          <a:ea typeface="BIZ UDPゴシック" panose="020B0400000000000000" pitchFamily="50" charset="-128"/>
                        </a:rPr>
                        <a:t>2</a:t>
                      </a:r>
                      <a:r>
                        <a:rPr kumimoji="1" lang="ja-JP" altLang="en-US" sz="1050" dirty="0">
                          <a:solidFill>
                            <a:schemeClr val="tx1"/>
                          </a:solidFill>
                          <a:latin typeface="BIZ UDPゴシック" panose="020B0400000000000000" pitchFamily="50" charset="-128"/>
                          <a:ea typeface="BIZ UDPゴシック" panose="020B0400000000000000" pitchFamily="50" charset="-128"/>
                        </a:rPr>
                        <a:t>段階以上の降格もあり得る。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1">
                        <a:lumMod val="20000"/>
                        <a:lumOff val="80000"/>
                      </a:schemeClr>
                    </a:solidFill>
                  </a:tcPr>
                </a:tc>
                <a:tc>
                  <a:txBody>
                    <a:bodyPr/>
                    <a:lstStyle/>
                    <a:p>
                      <a:pPr algn="l"/>
                      <a:r>
                        <a:rPr lang="ja-JP" altLang="en-US" sz="1050" dirty="0">
                          <a:solidFill>
                            <a:schemeClr val="tx1"/>
                          </a:solidFill>
                          <a:latin typeface="BIZ UDPゴシック" panose="020B0400000000000000" pitchFamily="50" charset="-128"/>
                          <a:ea typeface="BIZ UDPゴシック" panose="020B0400000000000000" pitchFamily="50" charset="-128"/>
                        </a:rPr>
                        <a:t>専門職の任命は、専門職となる対象者は、「①会社指名→②本人の合意→③任命」により年度単位で定める。</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050" dirty="0">
                          <a:solidFill>
                            <a:schemeClr val="tx1"/>
                          </a:solidFill>
                          <a:latin typeface="BIZ UDPゴシック" panose="020B0400000000000000" pitchFamily="50" charset="-128"/>
                          <a:ea typeface="BIZ UDPゴシック" panose="020B0400000000000000" pitchFamily="50" charset="-128"/>
                        </a:rPr>
                        <a:t>任命後の「昇格及び降格」は、</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年</a:t>
                      </a:r>
                      <a:r>
                        <a:rPr kumimoji="1" lang="en-US" altLang="ja-JP" sz="1050" u="sng" dirty="0">
                          <a:solidFill>
                            <a:schemeClr val="tx1"/>
                          </a:solidFill>
                          <a:latin typeface="BIZ UDPゴシック" panose="020B0400000000000000" pitchFamily="50" charset="-128"/>
                          <a:ea typeface="BIZ UDPゴシック" panose="020B0400000000000000" pitchFamily="50" charset="-128"/>
                        </a:rPr>
                        <a:t>1</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回の頻度で行うことがある。</a:t>
                      </a:r>
                      <a:endParaRPr kumimoji="1" lang="en-US" altLang="ja-JP" sz="1050" u="sng"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050" dirty="0">
                          <a:solidFill>
                            <a:schemeClr val="tx1"/>
                          </a:solidFill>
                          <a:latin typeface="BIZ UDPゴシック" panose="020B0400000000000000" pitchFamily="50" charset="-128"/>
                          <a:ea typeface="BIZ UDPゴシック" panose="020B0400000000000000" pitchFamily="50" charset="-128"/>
                        </a:rPr>
                        <a:t>昇格及び降格の評価方法は、部長及び統括リーダー以上で構成する経営幹部間による合議により行う。合議にいたるフローは、「</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①本人は、年</a:t>
                      </a:r>
                      <a:r>
                        <a:rPr kumimoji="1" lang="en-US" altLang="ja-JP" sz="1050" u="sng" dirty="0">
                          <a:solidFill>
                            <a:schemeClr val="tx1"/>
                          </a:solidFill>
                          <a:latin typeface="BIZ UDPゴシック" panose="020B0400000000000000" pitchFamily="50" charset="-128"/>
                          <a:ea typeface="BIZ UDPゴシック" panose="020B0400000000000000" pitchFamily="50" charset="-128"/>
                        </a:rPr>
                        <a:t>1</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回（</a:t>
                      </a:r>
                      <a:r>
                        <a:rPr kumimoji="1" lang="en-US" altLang="ja-JP" sz="1050" u="sng" dirty="0">
                          <a:solidFill>
                            <a:schemeClr val="tx1"/>
                          </a:solidFill>
                          <a:latin typeface="BIZ UDPゴシック" panose="020B0400000000000000" pitchFamily="50" charset="-128"/>
                          <a:ea typeface="BIZ UDPゴシック" panose="020B0400000000000000" pitchFamily="50" charset="-128"/>
                        </a:rPr>
                        <a:t>3</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月初旬）の、当期の事業構想シートの結果報告及び、翌期事業構想シートの策定を行い、経営幹部へプレゼンする→②経営幹部は、評価と承認を行う→③本人の翌期の格付を決定する」とする。</a:t>
                      </a:r>
                    </a:p>
                    <a:p>
                      <a:pPr algn="l"/>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marL="0" marR="0" lvl="0" indent="0" algn="l" defTabSz="914325"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BIZ UDPゴシック" panose="020B0400000000000000" pitchFamily="50" charset="-128"/>
                          <a:ea typeface="BIZ UDPゴシック" panose="020B0400000000000000" pitchFamily="50" charset="-128"/>
                        </a:rPr>
                        <a:t>キャリアチェンジ（専門職→総合職）は、年</a:t>
                      </a:r>
                      <a:r>
                        <a:rPr lang="en-US" altLang="ja-JP" sz="1050" dirty="0">
                          <a:solidFill>
                            <a:schemeClr val="tx1"/>
                          </a:solidFill>
                          <a:latin typeface="BIZ UDPゴシック" panose="020B0400000000000000" pitchFamily="50" charset="-128"/>
                          <a:ea typeface="BIZ UDPゴシック" panose="020B0400000000000000" pitchFamily="50" charset="-128"/>
                        </a:rPr>
                        <a:t>1</a:t>
                      </a:r>
                      <a:r>
                        <a:rPr lang="ja-JP" altLang="en-US" sz="1050" dirty="0">
                          <a:solidFill>
                            <a:schemeClr val="tx1"/>
                          </a:solidFill>
                          <a:latin typeface="BIZ UDPゴシック" panose="020B0400000000000000" pitchFamily="50" charset="-128"/>
                          <a:ea typeface="BIZ UDPゴシック" panose="020B0400000000000000" pitchFamily="50" charset="-128"/>
                        </a:rPr>
                        <a:t>回、会社と本人による意見交換を経て、会社指示により行うことがある。</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marL="0" marR="0" lvl="0" indent="0" algn="l" defTabSz="914325" rtl="0" eaLnBrk="1" fontAlgn="auto" latinLnBrk="0" hangingPunct="1">
                        <a:lnSpc>
                          <a:spcPct val="100000"/>
                        </a:lnSpc>
                        <a:spcBef>
                          <a:spcPts val="0"/>
                        </a:spcBef>
                        <a:spcAft>
                          <a:spcPts val="0"/>
                        </a:spcAft>
                        <a:buClrTx/>
                        <a:buSzTx/>
                        <a:buFontTx/>
                        <a:buNone/>
                        <a:tabLst/>
                        <a:defRPr/>
                      </a:pPr>
                      <a:endParaRPr lang="en-US" altLang="ja-JP" sz="1050" dirty="0">
                        <a:solidFill>
                          <a:schemeClr val="tx1"/>
                        </a:solidFill>
                        <a:latin typeface="BIZ UDPゴシック" panose="020B0400000000000000" pitchFamily="50" charset="-128"/>
                        <a:ea typeface="BIZ UDPゴシック" panose="020B0400000000000000" pitchFamily="50" charset="-128"/>
                      </a:endParaRPr>
                    </a:p>
                    <a:p>
                      <a:pPr marL="0" marR="0" lvl="0" indent="0" algn="l" defTabSz="914325"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BIZ UDPゴシック" panose="020B0400000000000000" pitchFamily="50" charset="-128"/>
                          <a:ea typeface="BIZ UDPゴシック" panose="020B0400000000000000" pitchFamily="50" charset="-128"/>
                        </a:rPr>
                        <a:t>新規入社者が専門職として入社する場合もありえる。</a:t>
                      </a:r>
                      <a:endParaRPr lang="en-US" altLang="ja-JP" sz="105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32675028"/>
                  </a:ext>
                </a:extLst>
              </a:tr>
              <a:tr h="550529">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④管理監督者</a:t>
                      </a:r>
                      <a:endParaRPr kumimoji="1" lang="en-US" altLang="ja-JP" sz="120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管理監督者は、部長・統括リーダーとする。</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1">
                        <a:lumMod val="20000"/>
                        <a:lumOff val="80000"/>
                      </a:schemeClr>
                    </a:solidFill>
                  </a:tcPr>
                </a:tc>
                <a:tc>
                  <a:txBody>
                    <a:bodyPr/>
                    <a:lstStyle/>
                    <a:p>
                      <a:pPr algn="l"/>
                      <a:r>
                        <a:rPr kumimoji="1" lang="ja-JP" altLang="en-US" sz="1050" dirty="0">
                          <a:solidFill>
                            <a:schemeClr val="tx1"/>
                          </a:solidFill>
                          <a:latin typeface="BIZ UDPゴシック" panose="020B0400000000000000" pitchFamily="50" charset="-128"/>
                          <a:ea typeface="BIZ UDPゴシック" panose="020B0400000000000000" pitchFamily="50" charset="-128"/>
                        </a:rPr>
                        <a:t>管理監督者ではない。</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基本的にはマネジメントは担わない。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99519960"/>
                  </a:ext>
                </a:extLst>
              </a:tr>
              <a:tr h="1167122">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⑤賃金テーブルと各種手当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325" rtl="0" eaLnBrk="1" fontAlgn="auto" latinLnBrk="0" hangingPunct="1">
                        <a:lnSpc>
                          <a:spcPct val="100000"/>
                        </a:lnSpc>
                        <a:spcBef>
                          <a:spcPts val="0"/>
                        </a:spcBef>
                        <a:spcAft>
                          <a:spcPts val="0"/>
                        </a:spcAft>
                        <a:buClrTx/>
                        <a:buSzTx/>
                        <a:buFontTx/>
                        <a:buNone/>
                        <a:tabLst/>
                        <a:defRPr/>
                      </a:pPr>
                      <a:r>
                        <a:rPr kumimoji="1" lang="ja-JP" altLang="en-US" sz="1050" strike="noStrike" kern="1200" baseline="0" dirty="0">
                          <a:solidFill>
                            <a:schemeClr val="tx1"/>
                          </a:solidFill>
                          <a:latin typeface="BIZ UDPゴシック" panose="020B0400000000000000" pitchFamily="50" charset="-128"/>
                          <a:ea typeface="BIZ UDPゴシック" panose="020B0400000000000000" pitchFamily="50" charset="-128"/>
                          <a:cs typeface="+mn-cs"/>
                        </a:rPr>
                        <a:t>総合職用の賃金テーブルを用いる。</a:t>
                      </a:r>
                      <a:endParaRPr kumimoji="1" lang="en-US" altLang="ja-JP" sz="1050" strike="noStrike" kern="1200" baseline="0" dirty="0">
                        <a:solidFill>
                          <a:schemeClr val="tx1"/>
                        </a:solidFill>
                        <a:latin typeface="BIZ UDPゴシック" panose="020B0400000000000000" pitchFamily="50" charset="-128"/>
                        <a:ea typeface="BIZ UDPゴシック" panose="020B0400000000000000" pitchFamily="50" charset="-128"/>
                        <a:cs typeface="+mn-cs"/>
                      </a:endParaRPr>
                    </a:p>
                    <a:p>
                      <a:pPr marL="0" marR="0" lvl="0" indent="0" algn="l" defTabSz="914325" rtl="0" eaLnBrk="1" fontAlgn="auto" latinLnBrk="0" hangingPunct="1">
                        <a:lnSpc>
                          <a:spcPct val="100000"/>
                        </a:lnSpc>
                        <a:spcBef>
                          <a:spcPts val="0"/>
                        </a:spcBef>
                        <a:spcAft>
                          <a:spcPts val="0"/>
                        </a:spcAft>
                        <a:buClrTx/>
                        <a:buSzTx/>
                        <a:buFontTx/>
                        <a:buNone/>
                        <a:tabLst/>
                        <a:defRPr/>
                      </a:pPr>
                      <a:endParaRPr kumimoji="1" lang="en-US" altLang="ja-JP" sz="1050" strike="noStrike" kern="1200" baseline="0" dirty="0">
                        <a:solidFill>
                          <a:schemeClr val="tx1"/>
                        </a:solidFill>
                        <a:latin typeface="BIZ UDPゴシック" panose="020B0400000000000000" pitchFamily="50" charset="-128"/>
                        <a:ea typeface="BIZ UDPゴシック" panose="020B0400000000000000" pitchFamily="50" charset="-128"/>
                        <a:cs typeface="+mn-cs"/>
                      </a:endParaRPr>
                    </a:p>
                    <a:p>
                      <a:pPr marL="0" marR="0" lvl="0" indent="0" algn="l" defTabSz="914325" rtl="0" eaLnBrk="1" fontAlgn="auto" latinLnBrk="0" hangingPunct="1">
                        <a:lnSpc>
                          <a:spcPct val="100000"/>
                        </a:lnSpc>
                        <a:spcBef>
                          <a:spcPts val="0"/>
                        </a:spcBef>
                        <a:spcAft>
                          <a:spcPts val="0"/>
                        </a:spcAft>
                        <a:buClrTx/>
                        <a:buSzTx/>
                        <a:buFontTx/>
                        <a:buNone/>
                        <a:tabLst/>
                        <a:defRPr/>
                      </a:pPr>
                      <a:r>
                        <a:rPr kumimoji="1" lang="ja-JP" altLang="en-US" sz="1050" strike="noStrike" kern="1200" baseline="0" dirty="0">
                          <a:solidFill>
                            <a:schemeClr val="tx1"/>
                          </a:solidFill>
                          <a:latin typeface="BIZ UDPゴシック" panose="020B0400000000000000" pitchFamily="50" charset="-128"/>
                          <a:ea typeface="BIZ UDPゴシック" panose="020B0400000000000000" pitchFamily="50" charset="-128"/>
                          <a:cs typeface="+mn-cs"/>
                        </a:rPr>
                        <a:t>手当は、</a:t>
                      </a: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①家族手当・②資格</a:t>
                      </a:r>
                      <a:r>
                        <a:rPr kumimoji="1" lang="ja-JP" altLang="en-US" sz="1050" b="0" kern="1200" dirty="0">
                          <a:solidFill>
                            <a:schemeClr val="tx1"/>
                          </a:solidFill>
                          <a:latin typeface="BIZ UDPゴシック" panose="020B0400000000000000" pitchFamily="50" charset="-128"/>
                          <a:ea typeface="BIZ UDPゴシック" panose="020B0400000000000000" pitchFamily="50" charset="-128"/>
                          <a:cs typeface="+mn-cs"/>
                        </a:rPr>
                        <a:t>手当・</a:t>
                      </a:r>
                      <a:r>
                        <a:rPr kumimoji="1" lang="ja-JP" altLang="en-US" sz="1050" b="0" u="none" kern="1200" dirty="0">
                          <a:solidFill>
                            <a:schemeClr val="tx1"/>
                          </a:solidFill>
                          <a:latin typeface="BIZ UDPゴシック" panose="020B0400000000000000" pitchFamily="50" charset="-128"/>
                          <a:ea typeface="BIZ UDPゴシック" panose="020B0400000000000000" pitchFamily="50" charset="-128"/>
                          <a:cs typeface="+mn-cs"/>
                        </a:rPr>
                        <a:t>③通勤手当・</a:t>
                      </a:r>
                      <a:r>
                        <a:rPr kumimoji="1" lang="ja-JP" altLang="en-US" sz="1050" strike="noStrike" kern="1200" baseline="0" dirty="0">
                          <a:solidFill>
                            <a:schemeClr val="tx1"/>
                          </a:solidFill>
                          <a:latin typeface="BIZ UDPゴシック" panose="020B0400000000000000" pitchFamily="50" charset="-128"/>
                          <a:ea typeface="BIZ UDPゴシック" panose="020B0400000000000000" pitchFamily="50" charset="-128"/>
                          <a:cs typeface="+mn-cs"/>
                        </a:rPr>
                        <a:t>④</a:t>
                      </a: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役職手当・</a:t>
                      </a:r>
                      <a:r>
                        <a:rPr kumimoji="1" lang="ja-JP" altLang="en-US" sz="1050" b="0" kern="1200" dirty="0">
                          <a:solidFill>
                            <a:schemeClr val="tx1"/>
                          </a:solidFill>
                          <a:latin typeface="BIZ UDPゴシック" panose="020B0400000000000000" pitchFamily="50" charset="-128"/>
                          <a:ea typeface="BIZ UDPゴシック" panose="020B0400000000000000" pitchFamily="50" charset="-128"/>
                          <a:cs typeface="+mn-cs"/>
                        </a:rPr>
                        <a:t>⑤</a:t>
                      </a:r>
                      <a:r>
                        <a:rPr kumimoji="1" lang="ja-JP" altLang="en-US" sz="1050" b="0" u="none" kern="1200" dirty="0">
                          <a:solidFill>
                            <a:schemeClr val="tx1"/>
                          </a:solidFill>
                          <a:latin typeface="BIZ UDPゴシック" panose="020B0400000000000000" pitchFamily="50" charset="-128"/>
                          <a:ea typeface="BIZ UDPゴシック" panose="020B0400000000000000" pitchFamily="50" charset="-128"/>
                          <a:cs typeface="+mn-cs"/>
                        </a:rPr>
                        <a:t>専門スキル手当⑥時間外みなし手当⑦単身赴任手当を支給する。</a:t>
                      </a:r>
                      <a:endPar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050" u="sng" dirty="0">
                          <a:solidFill>
                            <a:schemeClr val="tx1"/>
                          </a:solidFill>
                          <a:latin typeface="BIZ UDPゴシック" panose="020B0400000000000000" pitchFamily="50" charset="-128"/>
                          <a:ea typeface="BIZ UDPゴシック" panose="020B0400000000000000" pitchFamily="50" charset="-128"/>
                        </a:rPr>
                        <a:t>専門職用の賃金テーブルを用いる。</a:t>
                      </a:r>
                      <a:endParaRPr kumimoji="1" lang="en-US" altLang="ja-JP" sz="1050" u="sng" dirty="0">
                        <a:solidFill>
                          <a:schemeClr val="tx1"/>
                        </a:solidFill>
                        <a:latin typeface="BIZ UDPゴシック" panose="020B0400000000000000" pitchFamily="50" charset="-128"/>
                        <a:ea typeface="BIZ UDPゴシック" panose="020B0400000000000000" pitchFamily="50" charset="-128"/>
                      </a:endParaRPr>
                    </a:p>
                    <a:p>
                      <a:pPr algn="l"/>
                      <a:r>
                        <a:rPr kumimoji="1" lang="ja-JP" altLang="en-US" sz="1050" u="sng" dirty="0">
                          <a:solidFill>
                            <a:schemeClr val="tx1"/>
                          </a:solidFill>
                          <a:latin typeface="BIZ UDPゴシック" panose="020B0400000000000000" pitchFamily="50" charset="-128"/>
                          <a:ea typeface="BIZ UDPゴシック" panose="020B0400000000000000" pitchFamily="50" charset="-128"/>
                        </a:rPr>
                        <a:t>年棒制とし、賞与は発生しない。</a:t>
                      </a:r>
                      <a:r>
                        <a:rPr kumimoji="1" lang="ja-JP" altLang="en-US" sz="1050" u="none" dirty="0">
                          <a:solidFill>
                            <a:schemeClr val="tx1"/>
                          </a:solidFill>
                          <a:latin typeface="BIZ UDPゴシック" panose="020B0400000000000000" pitchFamily="50" charset="-128"/>
                          <a:ea typeface="BIZ UDPゴシック" panose="020B0400000000000000" pitchFamily="50" charset="-128"/>
                        </a:rPr>
                        <a:t>ただし、</a:t>
                      </a:r>
                      <a:r>
                        <a:rPr kumimoji="1" lang="ja-JP" altLang="en-US" sz="1050" dirty="0">
                          <a:solidFill>
                            <a:schemeClr val="tx1"/>
                          </a:solidFill>
                          <a:latin typeface="BIZ UDPゴシック" panose="020B0400000000000000" pitchFamily="50" charset="-128"/>
                          <a:ea typeface="BIZ UDPゴシック" panose="020B0400000000000000" pitchFamily="50" charset="-128"/>
                        </a:rPr>
                        <a:t>賞与分は月割りとし、月額給与として支給される。（後述）</a:t>
                      </a:r>
                      <a:endParaRPr kumimoji="1" lang="en-US" altLang="ja-JP" sz="1050" dirty="0">
                        <a:solidFill>
                          <a:schemeClr val="tx1"/>
                        </a:solidFill>
                        <a:latin typeface="BIZ UDPゴシック" panose="020B0400000000000000" pitchFamily="50" charset="-128"/>
                        <a:ea typeface="BIZ UDPゴシック" panose="020B0400000000000000" pitchFamily="50" charset="-128"/>
                      </a:endParaRPr>
                    </a:p>
                    <a:p>
                      <a:pPr algn="l"/>
                      <a:endParaRPr kumimoji="1" lang="en-US" altLang="ja-JP" sz="1050" strike="noStrike" kern="1200" baseline="0" dirty="0">
                        <a:solidFill>
                          <a:schemeClr val="tx1"/>
                        </a:solidFill>
                        <a:latin typeface="BIZ UDPゴシック" panose="020B0400000000000000" pitchFamily="50" charset="-128"/>
                        <a:ea typeface="BIZ UDPゴシック" panose="020B0400000000000000" pitchFamily="50" charset="-128"/>
                        <a:cs typeface="+mn-cs"/>
                      </a:endParaRPr>
                    </a:p>
                    <a:p>
                      <a:pPr marL="0" marR="0" lvl="0" indent="0" algn="l" defTabSz="914325" rtl="0" eaLnBrk="1" fontAlgn="auto" latinLnBrk="0" hangingPunct="1">
                        <a:lnSpc>
                          <a:spcPct val="100000"/>
                        </a:lnSpc>
                        <a:spcBef>
                          <a:spcPts val="0"/>
                        </a:spcBef>
                        <a:spcAft>
                          <a:spcPts val="0"/>
                        </a:spcAft>
                        <a:buClrTx/>
                        <a:buSzTx/>
                        <a:buFontTx/>
                        <a:buNone/>
                        <a:tabLst/>
                        <a:defRPr/>
                      </a:pPr>
                      <a:r>
                        <a:rPr kumimoji="1" lang="ja-JP" altLang="en-US" sz="1050" strike="noStrike" kern="1200" baseline="0" dirty="0">
                          <a:solidFill>
                            <a:schemeClr val="tx1"/>
                          </a:solidFill>
                          <a:latin typeface="BIZ UDPゴシック" panose="020B0400000000000000" pitchFamily="50" charset="-128"/>
                          <a:ea typeface="BIZ UDPゴシック" panose="020B0400000000000000" pitchFamily="50" charset="-128"/>
                          <a:cs typeface="+mn-cs"/>
                        </a:rPr>
                        <a:t>手当は、①</a:t>
                      </a: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家族手当・②資格</a:t>
                      </a:r>
                      <a:r>
                        <a:rPr kumimoji="1" lang="ja-JP" altLang="en-US" sz="1050" b="0" kern="1200" dirty="0">
                          <a:solidFill>
                            <a:schemeClr val="tx1"/>
                          </a:solidFill>
                          <a:latin typeface="BIZ UDPゴシック" panose="020B0400000000000000" pitchFamily="50" charset="-128"/>
                          <a:ea typeface="BIZ UDPゴシック" panose="020B0400000000000000" pitchFamily="50" charset="-128"/>
                          <a:cs typeface="+mn-cs"/>
                        </a:rPr>
                        <a:t>手当・③</a:t>
                      </a:r>
                      <a:r>
                        <a:rPr kumimoji="1" lang="ja-JP" altLang="en-US" sz="1050" b="0" u="none" kern="1200" dirty="0">
                          <a:solidFill>
                            <a:schemeClr val="tx1"/>
                          </a:solidFill>
                          <a:latin typeface="BIZ UDPゴシック" panose="020B0400000000000000" pitchFamily="50" charset="-128"/>
                          <a:ea typeface="BIZ UDPゴシック" panose="020B0400000000000000" pitchFamily="50" charset="-128"/>
                          <a:cs typeface="+mn-cs"/>
                        </a:rPr>
                        <a:t>通勤手当・⑤専門スキル手当⑥時間外みなし手当・⑦単身赴任手当、を支給する。</a:t>
                      </a:r>
                      <a:r>
                        <a:rPr kumimoji="1" lang="ja-JP" altLang="en-US" sz="1050" b="0" u="sng" kern="1200" dirty="0">
                          <a:solidFill>
                            <a:schemeClr val="tx1"/>
                          </a:solidFill>
                          <a:latin typeface="BIZ UDPゴシック" panose="020B0400000000000000" pitchFamily="50" charset="-128"/>
                          <a:ea typeface="BIZ UDPゴシック" panose="020B0400000000000000" pitchFamily="50" charset="-128"/>
                          <a:cs typeface="+mn-cs"/>
                        </a:rPr>
                        <a:t>④役職手当は支給しない。</a:t>
                      </a:r>
                      <a:endParaRPr kumimoji="1" lang="ja-JP" altLang="en-US" sz="1050" u="sng" kern="1200" dirty="0">
                        <a:solidFill>
                          <a:schemeClr val="tx1"/>
                        </a:solidFill>
                        <a:latin typeface="BIZ UDPゴシック" panose="020B0400000000000000" pitchFamily="50" charset="-128"/>
                        <a:ea typeface="BIZ UDPゴシック" panose="020B0400000000000000" pitchFamily="50"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04248590"/>
                  </a:ext>
                </a:extLst>
              </a:tr>
              <a:tr h="264254">
                <a:tc>
                  <a:txBody>
                    <a:bodyPr/>
                    <a:lstStyle/>
                    <a:p>
                      <a:pPr algn="l"/>
                      <a:r>
                        <a:rPr kumimoji="1" lang="ja-JP" altLang="en-US" sz="1200" dirty="0">
                          <a:solidFill>
                            <a:schemeClr val="tx1"/>
                          </a:solidFill>
                          <a:latin typeface="BIZ UDPゴシック" panose="020B0400000000000000" pitchFamily="50" charset="-128"/>
                          <a:ea typeface="BIZ UDPゴシック" panose="020B0400000000000000" pitchFamily="50" charset="-128"/>
                        </a:rPr>
                        <a:t>⑥ジョブ評価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325" rtl="0" eaLnBrk="1" fontAlgn="auto" latinLnBrk="0" hangingPunct="1">
                        <a:lnSpc>
                          <a:spcPct val="100000"/>
                        </a:lnSpc>
                        <a:spcBef>
                          <a:spcPts val="0"/>
                        </a:spcBef>
                        <a:spcAft>
                          <a:spcPts val="0"/>
                        </a:spcAft>
                        <a:buClrTx/>
                        <a:buSzTx/>
                        <a:buFontTx/>
                        <a:buNone/>
                        <a:tabLst/>
                        <a:defRPr/>
                      </a:pP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半期に</a:t>
                      </a:r>
                      <a:r>
                        <a:rPr kumimoji="1" lang="en-US" altLang="ja-JP" sz="1050" kern="1200" dirty="0">
                          <a:solidFill>
                            <a:schemeClr val="tx1"/>
                          </a:solidFill>
                          <a:latin typeface="BIZ UDPゴシック" panose="020B0400000000000000" pitchFamily="50" charset="-128"/>
                          <a:ea typeface="BIZ UDPゴシック" panose="020B0400000000000000" pitchFamily="50" charset="-128"/>
                          <a:cs typeface="+mn-cs"/>
                        </a:rPr>
                        <a:t>1</a:t>
                      </a:r>
                      <a:r>
                        <a:rPr kumimoji="1" lang="ja-JP" altLang="en-US" sz="1050" kern="1200" dirty="0">
                          <a:solidFill>
                            <a:schemeClr val="tx1"/>
                          </a:solidFill>
                          <a:latin typeface="BIZ UDPゴシック" panose="020B0400000000000000" pitchFamily="50" charset="-128"/>
                          <a:ea typeface="BIZ UDPゴシック" panose="020B0400000000000000" pitchFamily="50" charset="-128"/>
                          <a:cs typeface="+mn-cs"/>
                        </a:rPr>
                        <a:t>度の目標管理によるジョブ評価シートを用いる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050" u="sng" dirty="0">
                          <a:solidFill>
                            <a:schemeClr val="tx1"/>
                          </a:solidFill>
                          <a:latin typeface="BIZ UDPゴシック" panose="020B0400000000000000" pitchFamily="50" charset="-128"/>
                          <a:ea typeface="BIZ UDPゴシック" panose="020B0400000000000000" pitchFamily="50" charset="-128"/>
                        </a:rPr>
                        <a:t>年に</a:t>
                      </a:r>
                      <a:r>
                        <a:rPr kumimoji="1" lang="en-US" altLang="ja-JP" sz="1050" u="sng" dirty="0">
                          <a:solidFill>
                            <a:schemeClr val="tx1"/>
                          </a:solidFill>
                          <a:latin typeface="BIZ UDPゴシック" panose="020B0400000000000000" pitchFamily="50" charset="-128"/>
                          <a:ea typeface="BIZ UDPゴシック" panose="020B0400000000000000" pitchFamily="50" charset="-128"/>
                        </a:rPr>
                        <a:t>1</a:t>
                      </a:r>
                      <a:r>
                        <a:rPr kumimoji="1" lang="ja-JP" altLang="en-US" sz="1050" u="sng" dirty="0">
                          <a:solidFill>
                            <a:schemeClr val="tx1"/>
                          </a:solidFill>
                          <a:latin typeface="BIZ UDPゴシック" panose="020B0400000000000000" pitchFamily="50" charset="-128"/>
                          <a:ea typeface="BIZ UDPゴシック" panose="020B0400000000000000" pitchFamily="50" charset="-128"/>
                        </a:rPr>
                        <a:t>度の結果管理による事業構想シート（新設）を用いる。</a:t>
                      </a:r>
                      <a:endParaRPr kumimoji="1" lang="en-US" altLang="ja-JP" sz="1050" u="sng" dirty="0">
                        <a:solidFill>
                          <a:schemeClr val="tx1"/>
                        </a:solidFill>
                        <a:latin typeface="BIZ UDPゴシック" panose="020B0400000000000000" pitchFamily="50" charset="-128"/>
                        <a:ea typeface="BIZ UDPゴシック" panose="020B04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95287525"/>
                  </a:ext>
                </a:extLst>
              </a:tr>
            </a:tbl>
          </a:graphicData>
        </a:graphic>
      </p:graphicFrame>
      <p:sp>
        <p:nvSpPr>
          <p:cNvPr id="3" name="吹き出し: 線 2">
            <a:extLst>
              <a:ext uri="{FF2B5EF4-FFF2-40B4-BE49-F238E27FC236}">
                <a16:creationId xmlns:a16="http://schemas.microsoft.com/office/drawing/2014/main" id="{B0B4B465-2068-BED3-05F1-93B4F7ADEDD6}"/>
              </a:ext>
            </a:extLst>
          </p:cNvPr>
          <p:cNvSpPr/>
          <p:nvPr/>
        </p:nvSpPr>
        <p:spPr>
          <a:xfrm>
            <a:off x="4283968" y="399925"/>
            <a:ext cx="1008112" cy="436787"/>
          </a:xfrm>
          <a:prstGeom prst="borderCallout1">
            <a:avLst>
              <a:gd name="adj1" fmla="val 88278"/>
              <a:gd name="adj2" fmla="val 16055"/>
              <a:gd name="adj3" fmla="val 156362"/>
              <a:gd name="adj4" fmla="val -7499"/>
            </a:avLst>
          </a:prstGeom>
          <a:solidFill>
            <a:srgbClr val="FFFFCC"/>
          </a:solidFill>
          <a:ln w="12700">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再掲</a:t>
            </a:r>
          </a:p>
        </p:txBody>
      </p:sp>
    </p:spTree>
    <p:extLst>
      <p:ext uri="{BB962C8B-B14F-4D97-AF65-F5344CB8AC3E}">
        <p14:creationId xmlns:p14="http://schemas.microsoft.com/office/powerpoint/2010/main" val="763870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C36F4-8DAC-E027-AE97-260179405265}"/>
            </a:ext>
          </a:extLst>
        </p:cNvPr>
        <p:cNvGrpSpPr/>
        <p:nvPr/>
      </p:nvGrpSpPr>
      <p:grpSpPr>
        <a:xfrm>
          <a:off x="0" y="0"/>
          <a:ext cx="0" cy="0"/>
          <a:chOff x="0" y="0"/>
          <a:chExt cx="0" cy="0"/>
        </a:xfrm>
      </p:grpSpPr>
      <p:sp>
        <p:nvSpPr>
          <p:cNvPr id="4" name="Text Box 31">
            <a:extLst>
              <a:ext uri="{FF2B5EF4-FFF2-40B4-BE49-F238E27FC236}">
                <a16:creationId xmlns:a16="http://schemas.microsoft.com/office/drawing/2014/main" id="{1D2C1489-F02B-1427-C466-78D5696E9EBC}"/>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21</a:t>
            </a:fld>
            <a:r>
              <a:rPr lang="ja-JP" altLang="en-US" sz="1050" dirty="0">
                <a:latin typeface="+mn-ea"/>
              </a:rPr>
              <a:t>－</a:t>
            </a:r>
          </a:p>
        </p:txBody>
      </p:sp>
      <p:graphicFrame>
        <p:nvGraphicFramePr>
          <p:cNvPr id="5" name="表 4">
            <a:extLst>
              <a:ext uri="{FF2B5EF4-FFF2-40B4-BE49-F238E27FC236}">
                <a16:creationId xmlns:a16="http://schemas.microsoft.com/office/drawing/2014/main" id="{792092DC-911A-9321-FDBF-03743159BC72}"/>
              </a:ext>
            </a:extLst>
          </p:cNvPr>
          <p:cNvGraphicFramePr>
            <a:graphicFrameLocks noGrp="1"/>
          </p:cNvGraphicFramePr>
          <p:nvPr/>
        </p:nvGraphicFramePr>
        <p:xfrm>
          <a:off x="457201" y="897463"/>
          <a:ext cx="8229598" cy="2765686"/>
        </p:xfrm>
        <a:graphic>
          <a:graphicData uri="http://schemas.openxmlformats.org/drawingml/2006/table">
            <a:tbl>
              <a:tblPr/>
              <a:tblGrid>
                <a:gridCol w="910652">
                  <a:extLst>
                    <a:ext uri="{9D8B030D-6E8A-4147-A177-3AD203B41FA5}">
                      <a16:colId xmlns:a16="http://schemas.microsoft.com/office/drawing/2014/main" val="1309538544"/>
                    </a:ext>
                  </a:extLst>
                </a:gridCol>
                <a:gridCol w="910652">
                  <a:extLst>
                    <a:ext uri="{9D8B030D-6E8A-4147-A177-3AD203B41FA5}">
                      <a16:colId xmlns:a16="http://schemas.microsoft.com/office/drawing/2014/main" val="2204529326"/>
                    </a:ext>
                  </a:extLst>
                </a:gridCol>
                <a:gridCol w="910652">
                  <a:extLst>
                    <a:ext uri="{9D8B030D-6E8A-4147-A177-3AD203B41FA5}">
                      <a16:colId xmlns:a16="http://schemas.microsoft.com/office/drawing/2014/main" val="1610248359"/>
                    </a:ext>
                  </a:extLst>
                </a:gridCol>
                <a:gridCol w="910652">
                  <a:extLst>
                    <a:ext uri="{9D8B030D-6E8A-4147-A177-3AD203B41FA5}">
                      <a16:colId xmlns:a16="http://schemas.microsoft.com/office/drawing/2014/main" val="1528681833"/>
                    </a:ext>
                  </a:extLst>
                </a:gridCol>
                <a:gridCol w="910652">
                  <a:extLst>
                    <a:ext uri="{9D8B030D-6E8A-4147-A177-3AD203B41FA5}">
                      <a16:colId xmlns:a16="http://schemas.microsoft.com/office/drawing/2014/main" val="1219739304"/>
                    </a:ext>
                  </a:extLst>
                </a:gridCol>
                <a:gridCol w="910652">
                  <a:extLst>
                    <a:ext uri="{9D8B030D-6E8A-4147-A177-3AD203B41FA5}">
                      <a16:colId xmlns:a16="http://schemas.microsoft.com/office/drawing/2014/main" val="2354198475"/>
                    </a:ext>
                  </a:extLst>
                </a:gridCol>
                <a:gridCol w="1382843">
                  <a:extLst>
                    <a:ext uri="{9D8B030D-6E8A-4147-A177-3AD203B41FA5}">
                      <a16:colId xmlns:a16="http://schemas.microsoft.com/office/drawing/2014/main" val="1625279067"/>
                    </a:ext>
                  </a:extLst>
                </a:gridCol>
                <a:gridCol w="1382843">
                  <a:extLst>
                    <a:ext uri="{9D8B030D-6E8A-4147-A177-3AD203B41FA5}">
                      <a16:colId xmlns:a16="http://schemas.microsoft.com/office/drawing/2014/main" val="3265151152"/>
                    </a:ext>
                  </a:extLst>
                </a:gridCol>
              </a:tblGrid>
              <a:tr h="472190">
                <a:tc>
                  <a:txBody>
                    <a:bodyPr/>
                    <a:lstStyle/>
                    <a:p>
                      <a:pPr algn="ctr" fontAlgn="ctr"/>
                      <a:endPar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8432" marR="8432" marT="8432" marB="0" anchor="ctr">
                    <a:lnL>
                      <a:noFill/>
                    </a:lnL>
                    <a:lnR>
                      <a:noFill/>
                    </a:lnR>
                    <a:lnT>
                      <a:noFill/>
                    </a:lnT>
                    <a:lnB>
                      <a:noFill/>
                    </a:lnB>
                  </a:tcPr>
                </a:tc>
                <a:tc>
                  <a:txBody>
                    <a:bodyPr/>
                    <a:lstStyle/>
                    <a:p>
                      <a:pPr algn="ctr"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①</a:t>
                      </a:r>
                    </a:p>
                  </a:txBody>
                  <a:tcPr marL="8432" marR="8432" marT="8432" marB="0" anchor="ctr">
                    <a:lnL>
                      <a:noFill/>
                    </a:lnL>
                    <a:lnR>
                      <a:noFill/>
                    </a:lnR>
                    <a:lnT>
                      <a:noFill/>
                    </a:lnT>
                    <a:lnB>
                      <a:noFill/>
                    </a:lnB>
                  </a:tcPr>
                </a:tc>
                <a:tc>
                  <a:txBody>
                    <a:bodyPr/>
                    <a:lstStyle/>
                    <a:p>
                      <a:pPr algn="ctr"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②</a:t>
                      </a:r>
                    </a:p>
                  </a:txBody>
                  <a:tcPr marL="8432" marR="8432" marT="8432" marB="0" anchor="ctr">
                    <a:lnL>
                      <a:noFill/>
                    </a:lnL>
                    <a:lnR>
                      <a:noFill/>
                    </a:lnR>
                    <a:lnT>
                      <a:noFill/>
                    </a:lnT>
                    <a:lnB>
                      <a:noFill/>
                    </a:lnB>
                  </a:tcPr>
                </a:tc>
                <a:tc>
                  <a:txBody>
                    <a:bodyPr/>
                    <a:lstStyle/>
                    <a:p>
                      <a:pPr algn="ctr"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③</a:t>
                      </a:r>
                      <a:endPar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（①</a:t>
                      </a: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②）</a:t>
                      </a:r>
                    </a:p>
                  </a:txBody>
                  <a:tcPr marL="8432" marR="8432" marT="8432" marB="0" anchor="ctr">
                    <a:lnL>
                      <a:noFill/>
                    </a:lnL>
                    <a:lnR>
                      <a:noFill/>
                    </a:lnR>
                    <a:lnT>
                      <a:noFill/>
                    </a:lnT>
                    <a:lnB>
                      <a:noFill/>
                    </a:lnB>
                  </a:tcPr>
                </a:tc>
                <a:tc>
                  <a:txBody>
                    <a:bodyPr/>
                    <a:lstStyle/>
                    <a:p>
                      <a:pPr algn="ctr"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④</a:t>
                      </a:r>
                    </a:p>
                  </a:txBody>
                  <a:tcPr marL="8432" marR="8432" marT="8432" marB="0" anchor="ctr">
                    <a:lnL>
                      <a:noFill/>
                    </a:lnL>
                    <a:lnR>
                      <a:noFill/>
                    </a:lnR>
                    <a:lnT>
                      <a:noFill/>
                    </a:lnT>
                    <a:lnB>
                      <a:noFill/>
                    </a:lnB>
                  </a:tcPr>
                </a:tc>
                <a:tc>
                  <a:txBody>
                    <a:bodyPr/>
                    <a:lstStyle/>
                    <a:p>
                      <a:pPr algn="ctr" fontAlgn="ctr"/>
                      <a:r>
                        <a:rPr lang="ja-JP" altLang="en-US" sz="1200" b="0" i="0" u="none" strike="noStrike">
                          <a:solidFill>
                            <a:srgbClr val="000000"/>
                          </a:solidFill>
                          <a:effectLst/>
                          <a:latin typeface="BIZ UDPゴシック" panose="020B0400000000000000" pitchFamily="50" charset="-128"/>
                          <a:ea typeface="BIZ UDPゴシック" panose="020B0400000000000000" pitchFamily="50" charset="-128"/>
                        </a:rPr>
                        <a:t>⑤</a:t>
                      </a:r>
                    </a:p>
                  </a:txBody>
                  <a:tcPr marL="8432" marR="8432" marT="8432" marB="0" anchor="ctr">
                    <a:lnL>
                      <a:noFill/>
                    </a:lnL>
                    <a:lnR>
                      <a:noFill/>
                    </a:lnR>
                    <a:lnT>
                      <a:noFill/>
                    </a:lnT>
                    <a:lnB>
                      <a:noFill/>
                    </a:lnB>
                  </a:tcPr>
                </a:tc>
                <a:tc>
                  <a:txBody>
                    <a:bodyPr/>
                    <a:lstStyle/>
                    <a:p>
                      <a:pPr algn="ctr"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⑥</a:t>
                      </a:r>
                      <a:b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（③</a:t>
                      </a: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+④</a:t>
                      </a: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8432" marR="8432" marT="8432" marB="0" anchor="ctr">
                    <a:lnL>
                      <a:noFill/>
                    </a:lnL>
                    <a:lnR>
                      <a:noFill/>
                    </a:lnR>
                    <a:lnT>
                      <a:noFill/>
                    </a:lnT>
                    <a:lnB>
                      <a:noFill/>
                    </a:lnB>
                  </a:tcPr>
                </a:tc>
                <a:tc>
                  <a:txBody>
                    <a:bodyPr/>
                    <a:lstStyle/>
                    <a:p>
                      <a:pPr algn="ctr"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⑦</a:t>
                      </a:r>
                      <a:b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（③</a:t>
                      </a: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+④+⑤</a:t>
                      </a: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8432" marR="8432" marT="8432" marB="0" anchor="ctr">
                    <a:lnL>
                      <a:noFill/>
                    </a:lnL>
                    <a:lnR>
                      <a:noFill/>
                    </a:lnR>
                    <a:lnT>
                      <a:noFill/>
                    </a:lnT>
                    <a:lnB>
                      <a:noFill/>
                    </a:lnB>
                  </a:tcPr>
                </a:tc>
                <a:extLst>
                  <a:ext uri="{0D108BD9-81ED-4DB2-BD59-A6C34878D82A}">
                    <a16:rowId xmlns:a16="http://schemas.microsoft.com/office/drawing/2014/main" val="3837242634"/>
                  </a:ext>
                </a:extLst>
              </a:tr>
              <a:tr h="472190">
                <a:tc>
                  <a:txBody>
                    <a:bodyPr/>
                    <a:lstStyle/>
                    <a:p>
                      <a:pPr algn="ctr" fontAlgn="ctr"/>
                      <a:endParaRPr lang="ja-JP" altLang="en-US" sz="10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8432" marR="8432" marT="8432"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8432" marR="8432" marT="8432"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ja-JP" altLang="en-US"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8432" marR="8432" marT="8432"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8432" marR="8432" marT="8432"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8432" marR="8432" marT="8432"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endPar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8432" marR="8432" marT="8432"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専門職　</a:t>
                      </a:r>
                      <a:b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（扶養　なし）</a:t>
                      </a:r>
                    </a:p>
                  </a:txBody>
                  <a:tcPr marL="8432" marR="8432" marT="8432"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専門職　</a:t>
                      </a:r>
                      <a:b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（扶養　配偶者・第一子）</a:t>
                      </a:r>
                    </a:p>
                  </a:txBody>
                  <a:tcPr marL="8432" marR="8432" marT="8432"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376379"/>
                  </a:ext>
                </a:extLst>
              </a:tr>
              <a:tr h="345711">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グレード</a:t>
                      </a:r>
                    </a:p>
                  </a:txBody>
                  <a:tcPr marL="8432" marR="8432" marT="8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rtl="0"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月例</a:t>
                      </a:r>
                      <a:endPar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rtl="0"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基本給</a:t>
                      </a:r>
                    </a:p>
                  </a:txBody>
                  <a:tcPr marL="8432" marR="8432" marT="8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賞与</a:t>
                      </a:r>
                      <a:r>
                        <a:rPr lang="ja-JP" altLang="en-US" sz="1050" b="1" i="0" u="none" strike="noStrike" dirty="0">
                          <a:solidFill>
                            <a:srgbClr val="FF0000"/>
                          </a:solidFill>
                          <a:effectLst/>
                          <a:latin typeface="BIZ UDPゴシック" panose="020B0400000000000000" pitchFamily="50" charset="-128"/>
                          <a:ea typeface="BIZ UDPゴシック" panose="020B0400000000000000" pitchFamily="50" charset="-128"/>
                        </a:rPr>
                        <a:t>分</a:t>
                      </a:r>
                      <a:endPar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8432" marR="8432" marT="8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ctr"/>
                      <a:r>
                        <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rPr>
                        <a:t>正味月例基本給</a:t>
                      </a:r>
                      <a:endParaRPr lang="en-US" altLang="ja-JP"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①</a:t>
                      </a: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a:t>
                      </a: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（②</a:t>
                      </a: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×2÷12</a:t>
                      </a: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a:t>
                      </a:r>
                      <a:endParaRPr lang="ja-JP" altLang="en-US" sz="9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8432" marR="8432" marT="8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0"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時間外みなし</a:t>
                      </a:r>
                      <a:b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手当</a:t>
                      </a:r>
                    </a:p>
                  </a:txBody>
                  <a:tcPr marL="8432" marR="8432" marT="8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家族手当</a:t>
                      </a:r>
                      <a:endParaRPr lang="en-US" altLang="ja-JP" sz="10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（一例）</a:t>
                      </a:r>
                    </a:p>
                  </a:txBody>
                  <a:tcPr marL="8432" marR="8432" marT="8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ja-JP" altLang="en-US" sz="11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理論年収</a:t>
                      </a:r>
                    </a:p>
                  </a:txBody>
                  <a:tcPr marL="8432" marR="8432" marT="8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1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理論年収</a:t>
                      </a:r>
                    </a:p>
                  </a:txBody>
                  <a:tcPr marL="8432" marR="8432" marT="8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530698869"/>
                  </a:ext>
                </a:extLst>
              </a:tr>
              <a:tr h="295119">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5</a:t>
                      </a:r>
                    </a:p>
                  </a:txBody>
                  <a:tcPr marL="8432" marR="8432" marT="8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kumimoji="1" lang="en-US" altLang="ja-JP" sz="1050" b="0"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kumimoji="1" lang="en-US" altLang="ja-JP" sz="1050" b="0"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t>
                      </a: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605,105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31,500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7,639,260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7,927,260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81249215"/>
                  </a:ext>
                </a:extLst>
              </a:tr>
              <a:tr h="295119">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4</a:t>
                      </a:r>
                    </a:p>
                  </a:txBody>
                  <a:tcPr marL="8432" marR="8432" marT="8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kumimoji="1" lang="en-US" altLang="ja-JP" sz="1050" b="0"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kumimoji="1" lang="en-US" altLang="ja-JP" sz="1050" b="0"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t>
                      </a: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577,604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30,000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7,291,248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7,579,248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650115440"/>
                  </a:ext>
                </a:extLst>
              </a:tr>
              <a:tr h="295119">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3</a:t>
                      </a:r>
                    </a:p>
                  </a:txBody>
                  <a:tcPr marL="8432" marR="8432" marT="8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kumimoji="1" lang="en-US" altLang="ja-JP" sz="1050" b="0"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kumimoji="1" lang="en-US" altLang="ja-JP" sz="1050" b="0"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550,103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28,500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6,943,236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7,231,236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65084129"/>
                  </a:ext>
                </a:extLst>
              </a:tr>
              <a:tr h="295119">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2</a:t>
                      </a:r>
                    </a:p>
                  </a:txBody>
                  <a:tcPr marL="8432" marR="8432" marT="8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kumimoji="1" lang="en-US" altLang="ja-JP" sz="1050" b="0"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kumimoji="1" lang="en-US" altLang="ja-JP" sz="1050" b="0"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522,592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27,000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6,595,104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6,883,104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79848613"/>
                  </a:ext>
                </a:extLst>
              </a:tr>
              <a:tr h="295119">
                <a:tc>
                  <a:txBody>
                    <a:bodyPr/>
                    <a:lstStyle/>
                    <a:p>
                      <a:pPr algn="ctr" rtl="0" fontAlgn="ctr"/>
                      <a:r>
                        <a:rPr lang="ja-JP" altLang="en-US"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r>
                        <a:rPr lang="en-US" altLang="ja-JP" sz="1000" b="1"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1</a:t>
                      </a:r>
                    </a:p>
                  </a:txBody>
                  <a:tcPr marL="8432" marR="8432" marT="84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r" rtl="0" fontAlgn="ctr"/>
                      <a:r>
                        <a:rPr kumimoji="1" lang="en-US" altLang="ja-JP" sz="1050" b="0" i="0" u="none" strike="noStrike" kern="1200" cap="none" spc="0" normalizeH="0" baseline="0" noProof="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kumimoji="1" lang="en-US" altLang="ja-JP" sz="1050" b="0" i="0" u="none" strike="noStrike" kern="1200" cap="none" spc="0" normalizeH="0" baseline="0" noProof="0" dirty="0">
                          <a:ln>
                            <a:noFill/>
                          </a:ln>
                          <a:solidFill>
                            <a:srgbClr val="000000"/>
                          </a:solidFill>
                          <a:effectLst/>
                          <a:uLnTx/>
                          <a:uFillTx/>
                          <a:latin typeface="BIZ UDPゴシック" panose="020B0400000000000000" pitchFamily="50" charset="-128"/>
                          <a:ea typeface="BIZ UDPゴシック" panose="020B0400000000000000" pitchFamily="50" charset="-128"/>
                          <a:cs typeface="+mn-cs"/>
                        </a:rPr>
                        <a:t>-</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495,091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25,000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24,000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rtl="0" fontAlgn="ctr"/>
                      <a:r>
                        <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rPr>
                        <a:t>6,241,092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6,529,092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995398139"/>
                  </a:ext>
                </a:extLst>
              </a:tr>
            </a:tbl>
          </a:graphicData>
        </a:graphic>
      </p:graphicFrame>
      <p:sp>
        <p:nvSpPr>
          <p:cNvPr id="7" name="タイトル 2">
            <a:extLst>
              <a:ext uri="{FF2B5EF4-FFF2-40B4-BE49-F238E27FC236}">
                <a16:creationId xmlns:a16="http://schemas.microsoft.com/office/drawing/2014/main" id="{29B69090-2390-3D65-3B6A-55BF016914B0}"/>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専門職　賃金テーブルの一例（</a:t>
            </a:r>
            <a:r>
              <a:rPr lang="en-US" altLang="ja-JP" sz="1600" dirty="0">
                <a:latin typeface="BIZ UDPゴシック" panose="020B0400000000000000" pitchFamily="50" charset="-128"/>
                <a:ea typeface="BIZ UDPゴシック" panose="020B0400000000000000" pitchFamily="50" charset="-128"/>
              </a:rPr>
              <a:t>2025</a:t>
            </a:r>
            <a:r>
              <a:rPr lang="ja-JP" altLang="en-US" sz="1600" dirty="0">
                <a:latin typeface="BIZ UDPゴシック" panose="020B0400000000000000" pitchFamily="50" charset="-128"/>
                <a:ea typeface="BIZ UDPゴシック" panose="020B0400000000000000" pitchFamily="50" charset="-128"/>
              </a:rPr>
              <a:t>年</a:t>
            </a:r>
            <a:r>
              <a:rPr lang="en-US" altLang="ja-JP" sz="1600" dirty="0">
                <a:latin typeface="BIZ UDPゴシック" panose="020B0400000000000000" pitchFamily="50" charset="-128"/>
                <a:ea typeface="BIZ UDPゴシック" panose="020B0400000000000000" pitchFamily="50" charset="-128"/>
              </a:rPr>
              <a:t>4</a:t>
            </a:r>
            <a:r>
              <a:rPr lang="ja-JP" altLang="en-US" sz="1600" dirty="0">
                <a:latin typeface="BIZ UDPゴシック" panose="020B0400000000000000" pitchFamily="50" charset="-128"/>
                <a:ea typeface="BIZ UDPゴシック" panose="020B0400000000000000" pitchFamily="50" charset="-128"/>
              </a:rPr>
              <a:t>月</a:t>
            </a:r>
            <a:r>
              <a:rPr lang="en-US" altLang="ja-JP" sz="1600" dirty="0">
                <a:latin typeface="BIZ UDPゴシック" panose="020B0400000000000000" pitchFamily="50" charset="-128"/>
                <a:ea typeface="BIZ UDPゴシック" panose="020B0400000000000000" pitchFamily="50" charset="-128"/>
              </a:rPr>
              <a:t>16</a:t>
            </a:r>
            <a:r>
              <a:rPr lang="ja-JP" altLang="en-US" sz="1600" dirty="0">
                <a:latin typeface="BIZ UDPゴシック" panose="020B0400000000000000" pitchFamily="50" charset="-128"/>
                <a:ea typeface="BIZ UDPゴシック" panose="020B0400000000000000" pitchFamily="50" charset="-128"/>
              </a:rPr>
              <a:t>日現在）</a:t>
            </a:r>
            <a:endParaRPr lang="en-US" altLang="ja-JP" sz="1600" dirty="0">
              <a:latin typeface="BIZ UDPゴシック" panose="020B0400000000000000" pitchFamily="50" charset="-128"/>
              <a:ea typeface="BIZ UDPゴシック" panose="020B0400000000000000" pitchFamily="50" charset="-128"/>
            </a:endParaRPr>
          </a:p>
        </p:txBody>
      </p:sp>
      <p:sp>
        <p:nvSpPr>
          <p:cNvPr id="2" name="正方形/長方形 1">
            <a:extLst>
              <a:ext uri="{FF2B5EF4-FFF2-40B4-BE49-F238E27FC236}">
                <a16:creationId xmlns:a16="http://schemas.microsoft.com/office/drawing/2014/main" id="{A71283BB-3873-C183-7072-4658688F310B}"/>
              </a:ext>
            </a:extLst>
          </p:cNvPr>
          <p:cNvSpPr/>
          <p:nvPr/>
        </p:nvSpPr>
        <p:spPr>
          <a:xfrm>
            <a:off x="179512" y="5240003"/>
            <a:ext cx="8784976" cy="1285341"/>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専門職は</a:t>
            </a:r>
            <a:r>
              <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G1</a:t>
            </a: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5</a:t>
            </a: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の「</a:t>
            </a:r>
            <a:r>
              <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5</a:t>
            </a: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段階」とする。</a:t>
            </a:r>
            <a:endPar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171450" indent="-171450">
              <a:buFont typeface="Arial" panose="020B0604020202020204" pitchFamily="34" charset="0"/>
              <a:buChar char="•"/>
            </a:pP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上記の専門職の</a:t>
            </a:r>
            <a:r>
              <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G1</a:t>
            </a: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における「①月例基本給」は、「総合職の</a:t>
            </a:r>
            <a:r>
              <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G7+</a:t>
            </a: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リーダー職」と相当とした。また、「②賞与分」は、「①月例基本給」の</a:t>
            </a:r>
            <a:r>
              <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1.7</a:t>
            </a: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倍となるよう設定した。</a:t>
            </a:r>
            <a:endPar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171450" indent="-171450">
              <a:buFont typeface="Arial" panose="020B0604020202020204" pitchFamily="34" charset="0"/>
              <a:buChar char="•"/>
            </a:pP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専門職は年俸制を採用しているため、半期ごとの業績に応じた「賞与」は支給されない。また、総合職において、賞与が基本給の</a:t>
            </a:r>
            <a:r>
              <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1.7</a:t>
            </a:r>
            <a:r>
              <a:rPr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倍超支給されることがあっても、専門職に対して臨時で賞与を支給することはない。</a:t>
            </a:r>
            <a:endParaRPr lang="en-US" altLang="ja-JP"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C76B3FF7-EEB9-C1AF-B2F5-2267B650990F}"/>
              </a:ext>
            </a:extLst>
          </p:cNvPr>
          <p:cNvSpPr/>
          <p:nvPr/>
        </p:nvSpPr>
        <p:spPr>
          <a:xfrm>
            <a:off x="3203849" y="1844824"/>
            <a:ext cx="919576" cy="1800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20" name="グループ化 19">
            <a:extLst>
              <a:ext uri="{FF2B5EF4-FFF2-40B4-BE49-F238E27FC236}">
                <a16:creationId xmlns:a16="http://schemas.microsoft.com/office/drawing/2014/main" id="{63165E1E-3E1D-004D-7906-5160F59C00F9}"/>
              </a:ext>
            </a:extLst>
          </p:cNvPr>
          <p:cNvGrpSpPr/>
          <p:nvPr/>
        </p:nvGrpSpPr>
        <p:grpSpPr>
          <a:xfrm>
            <a:off x="1835696" y="1484784"/>
            <a:ext cx="1800200" cy="360040"/>
            <a:chOff x="1835696" y="1484784"/>
            <a:chExt cx="1800200" cy="360040"/>
          </a:xfrm>
        </p:grpSpPr>
        <p:cxnSp>
          <p:nvCxnSpPr>
            <p:cNvPr id="11" name="直線矢印コネクタ 10">
              <a:extLst>
                <a:ext uri="{FF2B5EF4-FFF2-40B4-BE49-F238E27FC236}">
                  <a16:creationId xmlns:a16="http://schemas.microsoft.com/office/drawing/2014/main" id="{0981EBE1-1F70-EB28-040C-79E440B96684}"/>
                </a:ext>
              </a:extLst>
            </p:cNvPr>
            <p:cNvCxnSpPr>
              <a:cxnSpLocks/>
            </p:cNvCxnSpPr>
            <p:nvPr/>
          </p:nvCxnSpPr>
          <p:spPr>
            <a:xfrm>
              <a:off x="3623196" y="1484784"/>
              <a:ext cx="0" cy="360040"/>
            </a:xfrm>
            <a:prstGeom prst="straightConnector1">
              <a:avLst/>
            </a:prstGeom>
            <a:ln w="254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6DE3FAC1-376F-BC65-D429-DB8D44A2DA8C}"/>
                </a:ext>
              </a:extLst>
            </p:cNvPr>
            <p:cNvCxnSpPr>
              <a:cxnSpLocks/>
            </p:cNvCxnSpPr>
            <p:nvPr/>
          </p:nvCxnSpPr>
          <p:spPr>
            <a:xfrm>
              <a:off x="1835696" y="1484784"/>
              <a:ext cx="1800200" cy="0"/>
            </a:xfrm>
            <a:prstGeom prst="line">
              <a:avLst/>
            </a:prstGeom>
            <a:ln w="25400">
              <a:solidFill>
                <a:srgbClr val="FF0000"/>
              </a:solidFill>
              <a:tailEnd w="lg" len="lg"/>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1680A6F0-2A27-9702-FEDF-CE6E0649C2FF}"/>
                </a:ext>
              </a:extLst>
            </p:cNvPr>
            <p:cNvCxnSpPr>
              <a:cxnSpLocks/>
            </p:cNvCxnSpPr>
            <p:nvPr/>
          </p:nvCxnSpPr>
          <p:spPr>
            <a:xfrm flipV="1">
              <a:off x="1848396" y="1484784"/>
              <a:ext cx="0" cy="360040"/>
            </a:xfrm>
            <a:prstGeom prst="line">
              <a:avLst/>
            </a:prstGeom>
            <a:ln w="25400">
              <a:solidFill>
                <a:srgbClr val="FF0000"/>
              </a:solidFill>
              <a:tailEnd w="lg" len="lg"/>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C4517300-A517-AE00-D214-3DE9F32CEDCC}"/>
                </a:ext>
              </a:extLst>
            </p:cNvPr>
            <p:cNvCxnSpPr>
              <a:cxnSpLocks/>
            </p:cNvCxnSpPr>
            <p:nvPr/>
          </p:nvCxnSpPr>
          <p:spPr>
            <a:xfrm flipV="1">
              <a:off x="2771800" y="1484784"/>
              <a:ext cx="0" cy="360040"/>
            </a:xfrm>
            <a:prstGeom prst="line">
              <a:avLst/>
            </a:prstGeom>
            <a:ln w="25400">
              <a:solidFill>
                <a:srgbClr val="FF0000"/>
              </a:solidFill>
              <a:tailEnd w="lg" len="lg"/>
            </a:ln>
          </p:spPr>
          <p:style>
            <a:lnRef idx="1">
              <a:schemeClr val="accent1"/>
            </a:lnRef>
            <a:fillRef idx="0">
              <a:schemeClr val="accent1"/>
            </a:fillRef>
            <a:effectRef idx="0">
              <a:schemeClr val="accent1"/>
            </a:effectRef>
            <a:fontRef idx="minor">
              <a:schemeClr val="tx1"/>
            </a:fontRef>
          </p:style>
        </p:cxnSp>
      </p:grpSp>
      <p:graphicFrame>
        <p:nvGraphicFramePr>
          <p:cNvPr id="3" name="表 2">
            <a:extLst>
              <a:ext uri="{FF2B5EF4-FFF2-40B4-BE49-F238E27FC236}">
                <a16:creationId xmlns:a16="http://schemas.microsoft.com/office/drawing/2014/main" id="{7A7FB305-6E3C-A8DF-8972-2DCBF9F475E3}"/>
              </a:ext>
            </a:extLst>
          </p:cNvPr>
          <p:cNvGraphicFramePr>
            <a:graphicFrameLocks noGrp="1"/>
          </p:cNvGraphicFramePr>
          <p:nvPr/>
        </p:nvGraphicFramePr>
        <p:xfrm>
          <a:off x="457201" y="3851495"/>
          <a:ext cx="2353568" cy="1159862"/>
        </p:xfrm>
        <a:graphic>
          <a:graphicData uri="http://schemas.openxmlformats.org/drawingml/2006/table">
            <a:tbl>
              <a:tblPr/>
              <a:tblGrid>
                <a:gridCol w="588392">
                  <a:extLst>
                    <a:ext uri="{9D8B030D-6E8A-4147-A177-3AD203B41FA5}">
                      <a16:colId xmlns:a16="http://schemas.microsoft.com/office/drawing/2014/main" val="2535656229"/>
                    </a:ext>
                  </a:extLst>
                </a:gridCol>
                <a:gridCol w="588392">
                  <a:extLst>
                    <a:ext uri="{9D8B030D-6E8A-4147-A177-3AD203B41FA5}">
                      <a16:colId xmlns:a16="http://schemas.microsoft.com/office/drawing/2014/main" val="3353060507"/>
                    </a:ext>
                  </a:extLst>
                </a:gridCol>
                <a:gridCol w="588392">
                  <a:extLst>
                    <a:ext uri="{9D8B030D-6E8A-4147-A177-3AD203B41FA5}">
                      <a16:colId xmlns:a16="http://schemas.microsoft.com/office/drawing/2014/main" val="1354278994"/>
                    </a:ext>
                  </a:extLst>
                </a:gridCol>
                <a:gridCol w="588392">
                  <a:extLst>
                    <a:ext uri="{9D8B030D-6E8A-4147-A177-3AD203B41FA5}">
                      <a16:colId xmlns:a16="http://schemas.microsoft.com/office/drawing/2014/main" val="2362238898"/>
                    </a:ext>
                  </a:extLst>
                </a:gridCol>
              </a:tblGrid>
              <a:tr h="181701">
                <a:tc gridSpan="2">
                  <a:txBody>
                    <a:bodyPr/>
                    <a:lstStyle/>
                    <a:p>
                      <a:pPr algn="ctr" rtl="0" fontAlgn="ctr"/>
                      <a:r>
                        <a:rPr lang="zh-TW"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役職手当　月額　</a:t>
                      </a:r>
                      <a:endParaRPr lang="en-US" altLang="zh-TW"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rtl="0" fontAlgn="ctr"/>
                      <a:r>
                        <a:rPr lang="zh-TW"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（単位：円）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tc gridSpan="2">
                  <a:txBody>
                    <a:bodyPr/>
                    <a:lstStyle/>
                    <a:p>
                      <a:pPr algn="ctr" rtl="0"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家族手当　月額　</a:t>
                      </a:r>
                      <a:endParaRPr lang="en-US" altLang="ja-JP"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rtl="0"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（単位：円）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p>
                  </a:txBody>
                  <a:tcPr/>
                </a:tc>
                <a:extLst>
                  <a:ext uri="{0D108BD9-81ED-4DB2-BD59-A6C34878D82A}">
                    <a16:rowId xmlns:a16="http://schemas.microsoft.com/office/drawing/2014/main" val="426848317"/>
                  </a:ext>
                </a:extLst>
              </a:tr>
              <a:tr h="176654">
                <a:tc>
                  <a:txBody>
                    <a:bodyPr/>
                    <a:lstStyle/>
                    <a:p>
                      <a:pPr algn="ctr" rtl="0" fontAlgn="ctr"/>
                      <a:r>
                        <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rPr>
                        <a:t>本部長</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ja-JP" altLang="en-US" sz="800" b="0" i="0" u="none" strike="noStrike">
                          <a:solidFill>
                            <a:srgbClr val="000000"/>
                          </a:solidFill>
                          <a:effectLst/>
                          <a:latin typeface="BIZ UDPゴシック" panose="020B0400000000000000" pitchFamily="50" charset="-128"/>
                          <a:ea typeface="BIZ UDPゴシック" panose="020B0400000000000000" pitchFamily="50" charset="-128"/>
                        </a:rPr>
                        <a:t>配偶者</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16,000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9422531"/>
                  </a:ext>
                </a:extLst>
              </a:tr>
              <a:tr h="176654">
                <a:tc>
                  <a:txBody>
                    <a:bodyPr/>
                    <a:lstStyle/>
                    <a:p>
                      <a:pPr algn="ctr" rtl="0" fontAlgn="ctr"/>
                      <a:r>
                        <a:rPr lang="ja-JP" altLang="en-US" sz="800" b="0" i="0" u="none" strike="noStrike">
                          <a:solidFill>
                            <a:srgbClr val="000000"/>
                          </a:solidFill>
                          <a:effectLst/>
                          <a:latin typeface="BIZ UDPゴシック" panose="020B0400000000000000" pitchFamily="50" charset="-128"/>
                          <a:ea typeface="BIZ UDPゴシック" panose="020B0400000000000000" pitchFamily="50" charset="-128"/>
                        </a:rPr>
                        <a:t>部長</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第一子</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8,000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7984374"/>
                  </a:ext>
                </a:extLst>
              </a:tr>
              <a:tr h="176654">
                <a:tc>
                  <a:txBody>
                    <a:bodyPr/>
                    <a:lstStyle/>
                    <a:p>
                      <a:pPr algn="ctr" rtl="0"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統括ﾘｰﾀﾞｰ</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第二子</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a:solidFill>
                            <a:srgbClr val="000000"/>
                          </a:solidFill>
                          <a:effectLst/>
                          <a:latin typeface="BIZ UDPゴシック" panose="020B0400000000000000" pitchFamily="50" charset="-128"/>
                          <a:ea typeface="BIZ UDPゴシック" panose="020B0400000000000000" pitchFamily="50" charset="-128"/>
                        </a:rPr>
                        <a:t>6,000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807387"/>
                  </a:ext>
                </a:extLst>
              </a:tr>
              <a:tr h="176654">
                <a:tc>
                  <a:txBody>
                    <a:bodyPr/>
                    <a:lstStyle/>
                    <a:p>
                      <a:pPr algn="ctr" rtl="0" fontAlgn="ctr"/>
                      <a:r>
                        <a:rPr lang="ja-JP" altLang="en-US" sz="800" b="0" i="0" u="none" strike="noStrike">
                          <a:solidFill>
                            <a:srgbClr val="000000"/>
                          </a:solidFill>
                          <a:effectLst/>
                          <a:latin typeface="BIZ UDPゴシック" panose="020B0400000000000000" pitchFamily="50" charset="-128"/>
                          <a:ea typeface="BIZ UDPゴシック" panose="020B0400000000000000" pitchFamily="50" charset="-128"/>
                        </a:rPr>
                        <a:t>リーダー</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289185314"/>
                  </a:ext>
                </a:extLst>
              </a:tr>
              <a:tr h="203056">
                <a:tc>
                  <a:txBody>
                    <a:bodyPr/>
                    <a:lstStyle/>
                    <a:p>
                      <a:pPr algn="ctr" rtl="0" fontAlgn="ctr"/>
                      <a:r>
                        <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rPr>
                        <a:t>サブリーダー</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rtl="0" fontAlgn="ctr"/>
                      <a:r>
                        <a:rPr lang="en-US" altLang="ja-JP" sz="800" b="0" i="0" u="none" strike="noStrike" dirty="0">
                          <a:solidFill>
                            <a:srgbClr val="000000"/>
                          </a:solidFill>
                          <a:effectLst/>
                          <a:latin typeface="BIZ UDPゴシック" panose="020B0400000000000000" pitchFamily="50" charset="-128"/>
                          <a:ea typeface="BIZ UDPゴシック" panose="020B0400000000000000" pitchFamily="50" charset="-128"/>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ja-JP" altLang="en-US" sz="800" b="0" i="0" u="none" strike="noStrike" dirty="0">
                          <a:solidFill>
                            <a:srgbClr val="000000"/>
                          </a:solidFill>
                          <a:effectLst/>
                          <a:latin typeface="Arial" panose="020B0604020202020204" pitchFamily="34" charset="0"/>
                          <a:ea typeface="游ゴシック" panose="020B0400000000000000" pitchFamily="50" charset="-128"/>
                        </a:rPr>
                        <a:t>　</a:t>
                      </a:r>
                    </a:p>
                  </a:txBody>
                  <a:tcPr marL="6350" marR="6350" marT="635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endParaRPr lang="ja-JP" altLang="en-US" sz="800" b="0" i="0" u="none" strike="noStrike" dirty="0">
                        <a:solidFill>
                          <a:srgbClr val="000000"/>
                        </a:solidFill>
                        <a:effectLst/>
                        <a:latin typeface="Arial" panose="020B0604020202020204" pitchFamily="34" charset="0"/>
                        <a:ea typeface="游ゴシック" panose="020B0400000000000000" pitchFamily="50" charset="-128"/>
                      </a:endParaRPr>
                    </a:p>
                  </a:txBody>
                  <a:tcPr marL="6350" marR="6350" marT="6350" marB="0" anchor="ctr">
                    <a:lnL>
                      <a:noFill/>
                    </a:lnL>
                    <a:lnR>
                      <a:noFill/>
                    </a:lnR>
                    <a:lnT>
                      <a:noFill/>
                    </a:lnT>
                    <a:lnB>
                      <a:noFill/>
                    </a:lnB>
                    <a:noFill/>
                  </a:tcPr>
                </a:tc>
                <a:extLst>
                  <a:ext uri="{0D108BD9-81ED-4DB2-BD59-A6C34878D82A}">
                    <a16:rowId xmlns:a16="http://schemas.microsoft.com/office/drawing/2014/main" val="2369311015"/>
                  </a:ext>
                </a:extLst>
              </a:tr>
            </a:tbl>
          </a:graphicData>
        </a:graphic>
      </p:graphicFrame>
    </p:spTree>
    <p:extLst>
      <p:ext uri="{BB962C8B-B14F-4D97-AF65-F5344CB8AC3E}">
        <p14:creationId xmlns:p14="http://schemas.microsoft.com/office/powerpoint/2010/main" val="1250394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図 9" descr="グラフィカル ユーザー インターフェイス&#10;&#10;自動的に生成された説明">
            <a:extLst>
              <a:ext uri="{FF2B5EF4-FFF2-40B4-BE49-F238E27FC236}">
                <a16:creationId xmlns:a16="http://schemas.microsoft.com/office/drawing/2014/main" id="{D31BD59F-CB92-20CC-E183-D06DF6DB7A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6203"/>
            <a:ext cx="9144000" cy="6465594"/>
          </a:xfrm>
          <a:prstGeom prst="rect">
            <a:avLst/>
          </a:prstGeom>
        </p:spPr>
      </p:pic>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22</a:t>
            </a:fld>
            <a:r>
              <a:rPr lang="ja-JP" altLang="en-US" sz="1050" dirty="0">
                <a:latin typeface="+mn-ea"/>
              </a:rPr>
              <a:t>－</a:t>
            </a:r>
          </a:p>
        </p:txBody>
      </p:sp>
      <p:sp>
        <p:nvSpPr>
          <p:cNvPr id="2" name="正方形/長方形 1">
            <a:extLst>
              <a:ext uri="{FF2B5EF4-FFF2-40B4-BE49-F238E27FC236}">
                <a16:creationId xmlns:a16="http://schemas.microsoft.com/office/drawing/2014/main" id="{0E2BE262-9A4D-1E20-1E82-67788BB5086B}"/>
              </a:ext>
            </a:extLst>
          </p:cNvPr>
          <p:cNvSpPr/>
          <p:nvPr/>
        </p:nvSpPr>
        <p:spPr>
          <a:xfrm>
            <a:off x="683568" y="44624"/>
            <a:ext cx="7881466" cy="720080"/>
          </a:xfrm>
          <a:prstGeom prst="rect">
            <a:avLst/>
          </a:prstGeom>
          <a:solidFill>
            <a:schemeClr val="accent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dirty="0">
                <a:latin typeface="BIZ UDPゴシック" panose="020B0400000000000000" pitchFamily="50" charset="-128"/>
                <a:ea typeface="BIZ UDPゴシック" panose="020B0400000000000000" pitchFamily="50" charset="-128"/>
              </a:rPr>
              <a:t>専門職　事業構想シート</a:t>
            </a:r>
            <a:endParaRPr lang="en-US" altLang="ja-JP" sz="2800" dirty="0">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B6C987A3-14C1-8CA8-46E7-BAE499AA9850}"/>
              </a:ext>
            </a:extLst>
          </p:cNvPr>
          <p:cNvSpPr/>
          <p:nvPr/>
        </p:nvSpPr>
        <p:spPr>
          <a:xfrm>
            <a:off x="107504" y="809091"/>
            <a:ext cx="8928992" cy="23042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5A515010-0D31-12E0-CBBF-F3975B8E4BF5}"/>
              </a:ext>
            </a:extLst>
          </p:cNvPr>
          <p:cNvSpPr/>
          <p:nvPr/>
        </p:nvSpPr>
        <p:spPr>
          <a:xfrm>
            <a:off x="107504" y="3165350"/>
            <a:ext cx="6552728" cy="34320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正方形/長方形 7">
            <a:extLst>
              <a:ext uri="{FF2B5EF4-FFF2-40B4-BE49-F238E27FC236}">
                <a16:creationId xmlns:a16="http://schemas.microsoft.com/office/drawing/2014/main" id="{D61A9EA5-789C-F332-E860-979709078127}"/>
              </a:ext>
            </a:extLst>
          </p:cNvPr>
          <p:cNvSpPr/>
          <p:nvPr/>
        </p:nvSpPr>
        <p:spPr>
          <a:xfrm>
            <a:off x="2339752" y="1727025"/>
            <a:ext cx="2592288" cy="56973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latin typeface="BIZ UDPゴシック" panose="020B0400000000000000" pitchFamily="50" charset="-128"/>
                <a:ea typeface="BIZ UDPゴシック" panose="020B0400000000000000" pitchFamily="50" charset="-128"/>
              </a:rPr>
              <a:t>①成果評価</a:t>
            </a:r>
            <a:endParaRPr lang="en-US" altLang="ja-JP" dirty="0">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D756B6B7-4271-AB1E-D0E0-E41AAB293F26}"/>
              </a:ext>
            </a:extLst>
          </p:cNvPr>
          <p:cNvSpPr/>
          <p:nvPr/>
        </p:nvSpPr>
        <p:spPr>
          <a:xfrm>
            <a:off x="2339752" y="4155411"/>
            <a:ext cx="2592288" cy="56973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latin typeface="BIZ UDPゴシック" panose="020B0400000000000000" pitchFamily="50" charset="-128"/>
                <a:ea typeface="BIZ UDPゴシック" panose="020B0400000000000000" pitchFamily="50" charset="-128"/>
              </a:rPr>
              <a:t>②行動評価</a:t>
            </a: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760346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23</a:t>
            </a:fld>
            <a:r>
              <a:rPr lang="ja-JP" altLang="en-US" sz="1050" dirty="0">
                <a:latin typeface="+mn-ea"/>
              </a:rPr>
              <a:t>－</a:t>
            </a:r>
          </a:p>
        </p:txBody>
      </p:sp>
      <p:sp>
        <p:nvSpPr>
          <p:cNvPr id="6" name="正方形/長方形 5">
            <a:extLst>
              <a:ext uri="{FF2B5EF4-FFF2-40B4-BE49-F238E27FC236}">
                <a16:creationId xmlns:a16="http://schemas.microsoft.com/office/drawing/2014/main" id="{6222AB96-7456-E663-C0FF-DBE7672D9A84}"/>
              </a:ext>
            </a:extLst>
          </p:cNvPr>
          <p:cNvSpPr/>
          <p:nvPr/>
        </p:nvSpPr>
        <p:spPr>
          <a:xfrm>
            <a:off x="128277" y="5816888"/>
            <a:ext cx="8881549" cy="776284"/>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rPr>
              <a:t>専門職では、事業構想シートを用いる。</a:t>
            </a:r>
            <a:endParaRPr lang="en-US" altLang="ja-JP" sz="1400" dirty="0">
              <a:solidFill>
                <a:schemeClr val="tx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rPr>
              <a:t>事業構想シートにおける成果評価の目標設定数は、各自で定めてよい。</a:t>
            </a:r>
            <a:endParaRPr lang="en-US" altLang="ja-JP" sz="1400" dirty="0">
              <a:solidFill>
                <a:schemeClr val="tx1"/>
              </a:solidFill>
              <a:latin typeface="BIZ UDPゴシック" panose="020B0400000000000000" pitchFamily="50" charset="-128"/>
              <a:ea typeface="BIZ UDPゴシック" panose="020B0400000000000000" pitchFamily="50" charset="-128"/>
            </a:endParaRPr>
          </a:p>
        </p:txBody>
      </p:sp>
      <p:sp>
        <p:nvSpPr>
          <p:cNvPr id="9" name="タイトル 2">
            <a:extLst>
              <a:ext uri="{FF2B5EF4-FFF2-40B4-BE49-F238E27FC236}">
                <a16:creationId xmlns:a16="http://schemas.microsoft.com/office/drawing/2014/main" id="{89BAE1CA-24A7-45B0-A7E7-5D2F54791A49}"/>
              </a:ext>
            </a:extLst>
          </p:cNvPr>
          <p:cNvSpPr txBox="1">
            <a:spLocks/>
          </p:cNvSpPr>
          <p:nvPr/>
        </p:nvSpPr>
        <p:spPr>
          <a:xfrm>
            <a:off x="115286" y="776516"/>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グレード・評価項目ごとの重み</a:t>
            </a:r>
          </a:p>
        </p:txBody>
      </p:sp>
      <p:graphicFrame>
        <p:nvGraphicFramePr>
          <p:cNvPr id="3" name="表 2">
            <a:extLst>
              <a:ext uri="{FF2B5EF4-FFF2-40B4-BE49-F238E27FC236}">
                <a16:creationId xmlns:a16="http://schemas.microsoft.com/office/drawing/2014/main" id="{431A9E29-8563-5297-D049-5F14FA0A63BC}"/>
              </a:ext>
            </a:extLst>
          </p:cNvPr>
          <p:cNvGraphicFramePr>
            <a:graphicFrameLocks noGrp="1"/>
          </p:cNvGraphicFramePr>
          <p:nvPr>
            <p:extLst>
              <p:ext uri="{D42A27DB-BD31-4B8C-83A1-F6EECF244321}">
                <p14:modId xmlns:p14="http://schemas.microsoft.com/office/powerpoint/2010/main" val="2014823675"/>
              </p:ext>
            </p:extLst>
          </p:nvPr>
        </p:nvGraphicFramePr>
        <p:xfrm>
          <a:off x="115286" y="1213977"/>
          <a:ext cx="8881550" cy="1305970"/>
        </p:xfrm>
        <a:graphic>
          <a:graphicData uri="http://schemas.openxmlformats.org/drawingml/2006/table">
            <a:tbl>
              <a:tblPr/>
              <a:tblGrid>
                <a:gridCol w="1968756">
                  <a:extLst>
                    <a:ext uri="{9D8B030D-6E8A-4147-A177-3AD203B41FA5}">
                      <a16:colId xmlns:a16="http://schemas.microsoft.com/office/drawing/2014/main" val="3360609039"/>
                    </a:ext>
                  </a:extLst>
                </a:gridCol>
                <a:gridCol w="1583864">
                  <a:extLst>
                    <a:ext uri="{9D8B030D-6E8A-4147-A177-3AD203B41FA5}">
                      <a16:colId xmlns:a16="http://schemas.microsoft.com/office/drawing/2014/main" val="457094450"/>
                    </a:ext>
                  </a:extLst>
                </a:gridCol>
                <a:gridCol w="1776310">
                  <a:extLst>
                    <a:ext uri="{9D8B030D-6E8A-4147-A177-3AD203B41FA5}">
                      <a16:colId xmlns:a16="http://schemas.microsoft.com/office/drawing/2014/main" val="2886647615"/>
                    </a:ext>
                  </a:extLst>
                </a:gridCol>
                <a:gridCol w="1776310">
                  <a:extLst>
                    <a:ext uri="{9D8B030D-6E8A-4147-A177-3AD203B41FA5}">
                      <a16:colId xmlns:a16="http://schemas.microsoft.com/office/drawing/2014/main" val="2056824320"/>
                    </a:ext>
                  </a:extLst>
                </a:gridCol>
                <a:gridCol w="1776310">
                  <a:extLst>
                    <a:ext uri="{9D8B030D-6E8A-4147-A177-3AD203B41FA5}">
                      <a16:colId xmlns:a16="http://schemas.microsoft.com/office/drawing/2014/main" val="940794449"/>
                    </a:ext>
                  </a:extLst>
                </a:gridCol>
              </a:tblGrid>
              <a:tr h="269610">
                <a:tc>
                  <a:txBody>
                    <a:bodyPr/>
                    <a:lstStyle/>
                    <a:p>
                      <a:pPr algn="ctr" rtl="0"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項目</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グレード</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組織目標</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ja-JP" alt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個人目標①</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ja-JP" alt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個人目標②</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09055731"/>
                  </a:ext>
                </a:extLst>
              </a:tr>
              <a:tr h="207272">
                <a:tc rowSpan="5">
                  <a:txBody>
                    <a:bodyPr/>
                    <a:lstStyle/>
                    <a:p>
                      <a:pPr algn="ctr" rtl="0" fontAlgn="ctr"/>
                      <a:r>
                        <a:rPr lang="ja-JP" altLang="en-US" sz="12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①</a:t>
                      </a:r>
                      <a:endParaRPr lang="en-US" altLang="ja-JP" sz="12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p>
                      <a:pPr algn="ctr" rtl="0" fontAlgn="ctr"/>
                      <a:r>
                        <a:rPr lang="ja-JP" altLang="en-US" sz="12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成果評価　総合職</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G10</a:t>
                      </a: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a:t>
                      </a: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11</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5">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5">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40%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5">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43723513"/>
                  </a:ext>
                </a:extLst>
              </a:tr>
              <a:tr h="207272">
                <a:tc vMerge="1">
                  <a:txBody>
                    <a:bodyPr/>
                    <a:lstStyle/>
                    <a:p>
                      <a:endParaRPr kumimoji="1" lang="ja-JP" altLang="en-US"/>
                    </a:p>
                  </a:txBody>
                  <a:tcPr/>
                </a:tc>
                <a:tc>
                  <a:txBody>
                    <a:bodyPr/>
                    <a:lstStyle/>
                    <a:p>
                      <a:pPr algn="l"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G7</a:t>
                      </a: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a:t>
                      </a: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8・9</a:t>
                      </a:r>
                      <a:endPar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4709981"/>
                  </a:ext>
                </a:extLst>
              </a:tr>
              <a:tr h="207272">
                <a:tc vMerge="1">
                  <a:txBody>
                    <a:bodyPr/>
                    <a:lstStyle/>
                    <a:p>
                      <a:endParaRPr kumimoji="1" lang="ja-JP" altLang="en-US"/>
                    </a:p>
                  </a:txBody>
                  <a:tcPr/>
                </a:tc>
                <a:tc>
                  <a:txBody>
                    <a:bodyPr/>
                    <a:lstStyle/>
                    <a:p>
                      <a:pPr algn="l" rtl="0"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a:t>
                      </a: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4</a:t>
                      </a: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a:t>
                      </a: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5・6</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8415359"/>
                  </a:ext>
                </a:extLst>
              </a:tr>
              <a:tr h="207272">
                <a:tc vMerge="1">
                  <a:txBody>
                    <a:bodyPr/>
                    <a:lstStyle/>
                    <a:p>
                      <a:endParaRPr kumimoji="1" lang="ja-JP" altLang="en-US"/>
                    </a:p>
                  </a:txBody>
                  <a:tcPr/>
                </a:tc>
                <a:tc>
                  <a:txBody>
                    <a:bodyPr/>
                    <a:lstStyle/>
                    <a:p>
                      <a:pPr algn="l"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G2・3</a:t>
                      </a:r>
                      <a:endPar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8241732"/>
                  </a:ext>
                </a:extLst>
              </a:tr>
              <a:tr h="207272">
                <a:tc vMerge="1">
                  <a:txBody>
                    <a:bodyPr/>
                    <a:lstStyle/>
                    <a:p>
                      <a:endParaRPr kumimoji="1" lang="ja-JP" altLang="en-US"/>
                    </a:p>
                  </a:txBody>
                  <a:tcPr/>
                </a:tc>
                <a:tc>
                  <a:txBody>
                    <a:bodyPr/>
                    <a:lstStyle/>
                    <a:p>
                      <a:pPr algn="l" rtl="0"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G1</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8699495"/>
                  </a:ext>
                </a:extLst>
              </a:tr>
            </a:tbl>
          </a:graphicData>
        </a:graphic>
      </p:graphicFrame>
      <p:graphicFrame>
        <p:nvGraphicFramePr>
          <p:cNvPr id="4" name="表 3">
            <a:extLst>
              <a:ext uri="{FF2B5EF4-FFF2-40B4-BE49-F238E27FC236}">
                <a16:creationId xmlns:a16="http://schemas.microsoft.com/office/drawing/2014/main" id="{C2F0AAD1-6BB5-1FEC-6F85-305D1E9F0529}"/>
              </a:ext>
            </a:extLst>
          </p:cNvPr>
          <p:cNvGraphicFramePr>
            <a:graphicFrameLocks noGrp="1"/>
          </p:cNvGraphicFramePr>
          <p:nvPr/>
        </p:nvGraphicFramePr>
        <p:xfrm>
          <a:off x="115286" y="3978956"/>
          <a:ext cx="8881549" cy="1436552"/>
        </p:xfrm>
        <a:graphic>
          <a:graphicData uri="http://schemas.openxmlformats.org/drawingml/2006/table">
            <a:tbl>
              <a:tblPr/>
              <a:tblGrid>
                <a:gridCol w="1976665">
                  <a:extLst>
                    <a:ext uri="{9D8B030D-6E8A-4147-A177-3AD203B41FA5}">
                      <a16:colId xmlns:a16="http://schemas.microsoft.com/office/drawing/2014/main" val="876742290"/>
                    </a:ext>
                  </a:extLst>
                </a:gridCol>
                <a:gridCol w="3343275">
                  <a:extLst>
                    <a:ext uri="{9D8B030D-6E8A-4147-A177-3AD203B41FA5}">
                      <a16:colId xmlns:a16="http://schemas.microsoft.com/office/drawing/2014/main" val="82513063"/>
                    </a:ext>
                  </a:extLst>
                </a:gridCol>
                <a:gridCol w="3561609">
                  <a:extLst>
                    <a:ext uri="{9D8B030D-6E8A-4147-A177-3AD203B41FA5}">
                      <a16:colId xmlns:a16="http://schemas.microsoft.com/office/drawing/2014/main" val="2967521946"/>
                    </a:ext>
                  </a:extLst>
                </a:gridCol>
              </a:tblGrid>
              <a:tr h="240695">
                <a:tc>
                  <a:txBody>
                    <a:bodyPr/>
                    <a:lstStyle/>
                    <a:p>
                      <a:pPr algn="ctr" fontAlgn="ctr"/>
                      <a:r>
                        <a:rPr lang="ja-JP" alt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評価</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評価の目安（定量：目標達成度）</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評価の目安（定性）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868145021"/>
                  </a:ext>
                </a:extLst>
              </a:tr>
              <a:tr h="233077">
                <a:tc>
                  <a:txBody>
                    <a:bodyPr/>
                    <a:lstStyle/>
                    <a:p>
                      <a:pPr algn="ctr" fontAlgn="ctr"/>
                      <a:r>
                        <a:rPr 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rPr>
                        <a:t>120</a:t>
                      </a: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役職の期待役割をはるかに上回った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3400690"/>
                  </a:ext>
                </a:extLst>
              </a:tr>
              <a:tr h="240695">
                <a:tc>
                  <a:txBody>
                    <a:bodyPr/>
                    <a:lstStyle/>
                    <a:p>
                      <a:pPr algn="ctr" fontAlgn="ctr"/>
                      <a:r>
                        <a:rPr 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110</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120</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役職の期待役割を上回った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5934792"/>
                  </a:ext>
                </a:extLst>
              </a:tr>
              <a:tr h="240695">
                <a:tc>
                  <a:txBody>
                    <a:bodyPr/>
                    <a:lstStyle/>
                    <a:p>
                      <a:pPr algn="ctr" fontAlgn="ctr"/>
                      <a:r>
                        <a:rPr 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100</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110</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役職の期待役割をほぼ期待どおりだった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8273164"/>
                  </a:ext>
                </a:extLst>
              </a:tr>
              <a:tr h="240695">
                <a:tc>
                  <a:txBody>
                    <a:bodyPr/>
                    <a:lstStyle/>
                    <a:p>
                      <a:pPr algn="ctr" fontAlgn="ctr"/>
                      <a:r>
                        <a:rPr 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90</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100</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役職の期待役割を下回った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8680383"/>
                  </a:ext>
                </a:extLst>
              </a:tr>
              <a:tr h="240695">
                <a:tc>
                  <a:txBody>
                    <a:bodyPr/>
                    <a:lstStyle/>
                    <a:p>
                      <a:pPr algn="ctr" fontAlgn="ctr"/>
                      <a:r>
                        <a:rPr 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90</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役職の期待役割を大きく下回った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1113360"/>
                  </a:ext>
                </a:extLst>
              </a:tr>
            </a:tbl>
          </a:graphicData>
        </a:graphic>
      </p:graphicFrame>
      <p:sp>
        <p:nvSpPr>
          <p:cNvPr id="19" name="タイトル 2">
            <a:extLst>
              <a:ext uri="{FF2B5EF4-FFF2-40B4-BE49-F238E27FC236}">
                <a16:creationId xmlns:a16="http://schemas.microsoft.com/office/drawing/2014/main" id="{3F36AAC8-DFB5-F66B-50A7-1A29E21B3E1D}"/>
              </a:ext>
            </a:extLst>
          </p:cNvPr>
          <p:cNvSpPr txBox="1">
            <a:spLocks/>
          </p:cNvSpPr>
          <p:nvPr/>
        </p:nvSpPr>
        <p:spPr>
          <a:xfrm>
            <a:off x="115286" y="3546026"/>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達成基準</a:t>
            </a:r>
          </a:p>
        </p:txBody>
      </p:sp>
      <p:sp>
        <p:nvSpPr>
          <p:cNvPr id="2" name="タイトル 2">
            <a:extLst>
              <a:ext uri="{FF2B5EF4-FFF2-40B4-BE49-F238E27FC236}">
                <a16:creationId xmlns:a16="http://schemas.microsoft.com/office/drawing/2014/main" id="{C984C94F-88AA-A6BE-CD6C-891599681AF8}"/>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新制度　専門職　①成果評価について</a:t>
            </a:r>
          </a:p>
        </p:txBody>
      </p:sp>
      <p:graphicFrame>
        <p:nvGraphicFramePr>
          <p:cNvPr id="5" name="表 4">
            <a:extLst>
              <a:ext uri="{FF2B5EF4-FFF2-40B4-BE49-F238E27FC236}">
                <a16:creationId xmlns:a16="http://schemas.microsoft.com/office/drawing/2014/main" id="{3E4D8317-0227-E576-6544-797913FE6C71}"/>
              </a:ext>
            </a:extLst>
          </p:cNvPr>
          <p:cNvGraphicFramePr>
            <a:graphicFrameLocks noGrp="1"/>
          </p:cNvGraphicFramePr>
          <p:nvPr>
            <p:extLst>
              <p:ext uri="{D42A27DB-BD31-4B8C-83A1-F6EECF244321}">
                <p14:modId xmlns:p14="http://schemas.microsoft.com/office/powerpoint/2010/main" val="1347666220"/>
              </p:ext>
            </p:extLst>
          </p:nvPr>
        </p:nvGraphicFramePr>
        <p:xfrm>
          <a:off x="107504" y="2582130"/>
          <a:ext cx="8881550" cy="1036360"/>
        </p:xfrm>
        <a:graphic>
          <a:graphicData uri="http://schemas.openxmlformats.org/drawingml/2006/table">
            <a:tbl>
              <a:tblPr/>
              <a:tblGrid>
                <a:gridCol w="1968756">
                  <a:extLst>
                    <a:ext uri="{9D8B030D-6E8A-4147-A177-3AD203B41FA5}">
                      <a16:colId xmlns:a16="http://schemas.microsoft.com/office/drawing/2014/main" val="3360609039"/>
                    </a:ext>
                  </a:extLst>
                </a:gridCol>
                <a:gridCol w="1583864">
                  <a:extLst>
                    <a:ext uri="{9D8B030D-6E8A-4147-A177-3AD203B41FA5}">
                      <a16:colId xmlns:a16="http://schemas.microsoft.com/office/drawing/2014/main" val="457094450"/>
                    </a:ext>
                  </a:extLst>
                </a:gridCol>
                <a:gridCol w="5328930">
                  <a:extLst>
                    <a:ext uri="{9D8B030D-6E8A-4147-A177-3AD203B41FA5}">
                      <a16:colId xmlns:a16="http://schemas.microsoft.com/office/drawing/2014/main" val="2886647615"/>
                    </a:ext>
                  </a:extLst>
                </a:gridCol>
              </a:tblGrid>
              <a:tr h="207272">
                <a:tc rowSpan="5">
                  <a:txBody>
                    <a:bodyPr/>
                    <a:lstStyle/>
                    <a:p>
                      <a:pPr algn="ctr" rtl="0" fontAlgn="ctr"/>
                      <a:r>
                        <a:rPr lang="ja-JP" altLang="en-US" sz="1200" b="0" i="0" u="none" strike="noStrike" dirty="0">
                          <a:solidFill>
                            <a:srgbClr val="F2F2F2"/>
                          </a:solidFill>
                          <a:effectLst/>
                          <a:latin typeface="BIZ UDPゴシック" panose="020B0400000000000000" pitchFamily="50" charset="-128"/>
                          <a:ea typeface="BIZ UDPゴシック" panose="020B0400000000000000" pitchFamily="50" charset="-128"/>
                        </a:rPr>
                        <a:t>①</a:t>
                      </a:r>
                      <a:endParaRPr lang="en-US" altLang="ja-JP" sz="1200" b="0" i="0" u="none" strike="noStrike" dirty="0">
                        <a:solidFill>
                          <a:srgbClr val="F2F2F2"/>
                        </a:solidFill>
                        <a:effectLst/>
                        <a:latin typeface="BIZ UDPゴシック" panose="020B0400000000000000" pitchFamily="50" charset="-128"/>
                        <a:ea typeface="BIZ UDPゴシック" panose="020B0400000000000000" pitchFamily="50" charset="-128"/>
                      </a:endParaRPr>
                    </a:p>
                    <a:p>
                      <a:pPr algn="ctr" rtl="0" fontAlgn="ctr"/>
                      <a:r>
                        <a:rPr lang="ja-JP" altLang="en-US" sz="1200" b="0" i="0" u="none" strike="noStrike" dirty="0">
                          <a:solidFill>
                            <a:srgbClr val="F2F2F2"/>
                          </a:solidFill>
                          <a:effectLst/>
                          <a:latin typeface="BIZ UDPゴシック" panose="020B0400000000000000" pitchFamily="50" charset="-128"/>
                          <a:ea typeface="BIZ UDPゴシック" panose="020B0400000000000000" pitchFamily="50" charset="-128"/>
                        </a:rPr>
                        <a:t>成果評価　専門職</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a:txBody>
                    <a:bodyPr/>
                    <a:lstStyle/>
                    <a:p>
                      <a:pPr algn="l" rtl="0"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G</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5</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9CDE5"/>
                    </a:solidFill>
                  </a:tcPr>
                </a:tc>
                <a:tc rowSpan="5">
                  <a:txBody>
                    <a:bodyPr/>
                    <a:lstStyle/>
                    <a:p>
                      <a:pPr algn="ctr" rtl="0" fontAlgn="ctr"/>
                      <a:r>
                        <a:rPr lang="ja-JP" altLang="en-US" sz="1600" b="1" i="0" u="none" strike="noStrike" dirty="0">
                          <a:solidFill>
                            <a:srgbClr val="FF0000"/>
                          </a:solidFill>
                          <a:effectLst/>
                          <a:latin typeface="BIZ UDPゴシック" panose="020B0400000000000000" pitchFamily="50" charset="-128"/>
                          <a:ea typeface="BIZ UDPゴシック" panose="020B0400000000000000" pitchFamily="50" charset="-128"/>
                        </a:rPr>
                        <a:t>事業構想シートにより、各案件ごとに比重を定める</a:t>
                      </a:r>
                      <a:endParaRPr lang="en-US" altLang="ja-JP" sz="1600" b="1" i="0" u="none" strike="noStrike" dirty="0">
                        <a:solidFill>
                          <a:srgbClr val="FF0000"/>
                        </a:solidFill>
                        <a:effectLst/>
                        <a:latin typeface="BIZ UDPゴシック" panose="020B0400000000000000" pitchFamily="50" charset="-128"/>
                        <a:ea typeface="BIZ UDPゴシック" panose="020B0400000000000000" pitchFamily="50" charset="-128"/>
                      </a:endParaRPr>
                    </a:p>
                    <a:p>
                      <a:pPr algn="ctr" rtl="0" fontAlgn="ctr"/>
                      <a:r>
                        <a:rPr lang="ja-JP" altLang="en-US" sz="1600" b="1" i="0" u="none" strike="noStrike" dirty="0">
                          <a:solidFill>
                            <a:srgbClr val="FF0000"/>
                          </a:solidFill>
                          <a:effectLst/>
                          <a:latin typeface="BIZ UDPゴシック" panose="020B0400000000000000" pitchFamily="50" charset="-128"/>
                          <a:ea typeface="BIZ UDPゴシック" panose="020B0400000000000000" pitchFamily="50" charset="-128"/>
                        </a:rPr>
                        <a:t>（例：</a:t>
                      </a:r>
                      <a:r>
                        <a:rPr lang="en-US" altLang="ja-JP" sz="1600" b="1" i="0" u="none" strike="noStrike" dirty="0">
                          <a:solidFill>
                            <a:srgbClr val="FF0000"/>
                          </a:solidFill>
                          <a:effectLst/>
                          <a:latin typeface="BIZ UDPゴシック" panose="020B0400000000000000" pitchFamily="50" charset="-128"/>
                          <a:ea typeface="BIZ UDPゴシック" panose="020B0400000000000000" pitchFamily="50" charset="-128"/>
                        </a:rPr>
                        <a:t>5</a:t>
                      </a:r>
                      <a:r>
                        <a:rPr lang="ja-JP" altLang="en-US" sz="1600" b="1" i="0" u="none" strike="noStrike" dirty="0">
                          <a:solidFill>
                            <a:srgbClr val="FF0000"/>
                          </a:solidFill>
                          <a:effectLst/>
                          <a:latin typeface="BIZ UDPゴシック" panose="020B0400000000000000" pitchFamily="50" charset="-128"/>
                          <a:ea typeface="BIZ UDPゴシック" panose="020B0400000000000000" pitchFamily="50" charset="-128"/>
                        </a:rPr>
                        <a:t>案件であれば各案件で</a:t>
                      </a:r>
                      <a:r>
                        <a:rPr lang="en-US" altLang="ja-JP" sz="1600" b="1" i="0" u="none" strike="noStrike" dirty="0">
                          <a:solidFill>
                            <a:srgbClr val="FF0000"/>
                          </a:solidFill>
                          <a:effectLst/>
                          <a:latin typeface="BIZ UDPゴシック" panose="020B0400000000000000" pitchFamily="50" charset="-128"/>
                          <a:ea typeface="BIZ UDPゴシック" panose="020B0400000000000000" pitchFamily="50" charset="-128"/>
                        </a:rPr>
                        <a:t>20</a:t>
                      </a:r>
                      <a:r>
                        <a:rPr lang="ja-JP" altLang="en-US" sz="1600" b="1" i="0" u="none" strike="noStrike" dirty="0">
                          <a:solidFill>
                            <a:srgbClr val="FF0000"/>
                          </a:solidFill>
                          <a:effectLst/>
                          <a:latin typeface="BIZ UDPゴシック" panose="020B0400000000000000" pitchFamily="50" charset="-128"/>
                          <a:ea typeface="BIZ UDPゴシック" panose="020B0400000000000000" pitchFamily="50" charset="-128"/>
                        </a:rPr>
                        <a:t>％の重み、合計</a:t>
                      </a:r>
                      <a:r>
                        <a:rPr lang="en-US" altLang="ja-JP" sz="1600" b="1" i="0" u="none" strike="noStrike" dirty="0">
                          <a:solidFill>
                            <a:srgbClr val="FF0000"/>
                          </a:solidFill>
                          <a:effectLst/>
                          <a:latin typeface="BIZ UDPゴシック" panose="020B0400000000000000" pitchFamily="50" charset="-128"/>
                          <a:ea typeface="BIZ UDPゴシック" panose="020B0400000000000000" pitchFamily="50" charset="-128"/>
                        </a:rPr>
                        <a:t>100</a:t>
                      </a:r>
                      <a:r>
                        <a:rPr lang="ja-JP" altLang="en-US" sz="1600" b="1" i="0" u="none" strike="noStrike" dirty="0">
                          <a:solidFill>
                            <a:srgbClr val="FF0000"/>
                          </a:solidFill>
                          <a:effectLst/>
                          <a:latin typeface="BIZ UDPゴシック" panose="020B0400000000000000" pitchFamily="50" charset="-128"/>
                          <a:ea typeface="BIZ UDPゴシック" panose="020B0400000000000000" pitchFamily="50" charset="-128"/>
                        </a:rPr>
                        <a:t>％）</a:t>
                      </a:r>
                      <a:endParaRPr lang="en-US" altLang="ja-JP" sz="1600" b="1" i="0" u="none" strike="noStrike" dirty="0">
                        <a:solidFill>
                          <a:srgbClr val="FF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3723513"/>
                  </a:ext>
                </a:extLst>
              </a:tr>
              <a:tr h="207272">
                <a:tc vMerge="1">
                  <a:txBody>
                    <a:bodyPr/>
                    <a:lstStyle/>
                    <a:p>
                      <a:endParaRPr kumimoji="1" lang="ja-JP" altLang="en-US"/>
                    </a:p>
                  </a:txBody>
                  <a:tcPr/>
                </a:tc>
                <a:tc>
                  <a:txBody>
                    <a:bodyPr/>
                    <a:lstStyle/>
                    <a:p>
                      <a:pPr algn="l"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G4</a:t>
                      </a:r>
                      <a:endParaRPr lang="en-US" sz="1050" b="0" i="0" u="none" strike="noStrike" dirty="0">
                        <a:solidFill>
                          <a:srgbClr val="FF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vMerge="1">
                  <a:txBody>
                    <a:bodyPr/>
                    <a:lstStyle/>
                    <a:p>
                      <a:pPr algn="r" rtl="0" fontAlgn="ctr"/>
                      <a:endParaRPr lang="en-US" altLang="ja-JP" sz="105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4709981"/>
                  </a:ext>
                </a:extLst>
              </a:tr>
              <a:tr h="207272">
                <a:tc vMerge="1">
                  <a:txBody>
                    <a:bodyPr/>
                    <a:lstStyle/>
                    <a:p>
                      <a:endParaRPr kumimoji="1" lang="ja-JP" altLang="en-US"/>
                    </a:p>
                  </a:txBody>
                  <a:tcPr/>
                </a:tc>
                <a:tc>
                  <a:txBody>
                    <a:bodyPr/>
                    <a:lstStyle/>
                    <a:p>
                      <a:pPr algn="l" rtl="0"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G</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3</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8415359"/>
                  </a:ext>
                </a:extLst>
              </a:tr>
              <a:tr h="207272">
                <a:tc vMerge="1">
                  <a:txBody>
                    <a:bodyPr/>
                    <a:lstStyle/>
                    <a:p>
                      <a:endParaRPr kumimoji="1" lang="ja-JP" altLang="en-US"/>
                    </a:p>
                  </a:txBody>
                  <a:tcPr/>
                </a:tc>
                <a:tc>
                  <a:txBody>
                    <a:bodyPr/>
                    <a:lstStyle/>
                    <a:p>
                      <a:pPr algn="l"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G2</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8241732"/>
                  </a:ext>
                </a:extLst>
              </a:tr>
              <a:tr h="207272">
                <a:tc vMerge="1">
                  <a:txBody>
                    <a:bodyPr/>
                    <a:lstStyle/>
                    <a:p>
                      <a:endParaRPr kumimoji="1" lang="ja-JP" altLang="en-US"/>
                    </a:p>
                  </a:txBody>
                  <a:tcPr/>
                </a:tc>
                <a:tc>
                  <a:txBody>
                    <a:bodyPr/>
                    <a:lstStyle/>
                    <a:p>
                      <a:pPr algn="l" rtl="0"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G1</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9CDE5"/>
                    </a:solidFill>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8699495"/>
                  </a:ext>
                </a:extLst>
              </a:tr>
            </a:tbl>
          </a:graphicData>
        </a:graphic>
      </p:graphicFrame>
      <p:sp>
        <p:nvSpPr>
          <p:cNvPr id="12" name="タイトル 2">
            <a:extLst>
              <a:ext uri="{FF2B5EF4-FFF2-40B4-BE49-F238E27FC236}">
                <a16:creationId xmlns:a16="http://schemas.microsoft.com/office/drawing/2014/main" id="{5EA4CB3C-0981-604E-F94E-3C3208B91838}"/>
              </a:ext>
            </a:extLst>
          </p:cNvPr>
          <p:cNvSpPr txBox="1">
            <a:spLocks/>
          </p:cNvSpPr>
          <p:nvPr/>
        </p:nvSpPr>
        <p:spPr>
          <a:xfrm>
            <a:off x="124756" y="5387206"/>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特徴</a:t>
            </a:r>
          </a:p>
        </p:txBody>
      </p:sp>
    </p:spTree>
    <p:extLst>
      <p:ext uri="{BB962C8B-B14F-4D97-AF65-F5344CB8AC3E}">
        <p14:creationId xmlns:p14="http://schemas.microsoft.com/office/powerpoint/2010/main" val="444316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図 9" descr="グラフィカル ユーザー インターフェイス&#10;&#10;自動的に生成された説明">
            <a:extLst>
              <a:ext uri="{FF2B5EF4-FFF2-40B4-BE49-F238E27FC236}">
                <a16:creationId xmlns:a16="http://schemas.microsoft.com/office/drawing/2014/main" id="{D31BD59F-CB92-20CC-E183-D06DF6DB7A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6203"/>
            <a:ext cx="9144000" cy="6465594"/>
          </a:xfrm>
          <a:prstGeom prst="rect">
            <a:avLst/>
          </a:prstGeom>
        </p:spPr>
      </p:pic>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24</a:t>
            </a:fld>
            <a:r>
              <a:rPr lang="ja-JP" altLang="en-US" sz="1050" dirty="0">
                <a:latin typeface="+mn-ea"/>
              </a:rPr>
              <a:t>－</a:t>
            </a:r>
          </a:p>
        </p:txBody>
      </p:sp>
      <p:sp>
        <p:nvSpPr>
          <p:cNvPr id="2" name="正方形/長方形 1">
            <a:extLst>
              <a:ext uri="{FF2B5EF4-FFF2-40B4-BE49-F238E27FC236}">
                <a16:creationId xmlns:a16="http://schemas.microsoft.com/office/drawing/2014/main" id="{0E2BE262-9A4D-1E20-1E82-67788BB5086B}"/>
              </a:ext>
            </a:extLst>
          </p:cNvPr>
          <p:cNvSpPr/>
          <p:nvPr/>
        </p:nvSpPr>
        <p:spPr>
          <a:xfrm>
            <a:off x="683568" y="44624"/>
            <a:ext cx="7881466" cy="720080"/>
          </a:xfrm>
          <a:prstGeom prst="rect">
            <a:avLst/>
          </a:prstGeom>
          <a:solidFill>
            <a:schemeClr val="accent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dirty="0">
                <a:latin typeface="BIZ UDPゴシック" panose="020B0400000000000000" pitchFamily="50" charset="-128"/>
                <a:ea typeface="BIZ UDPゴシック" panose="020B0400000000000000" pitchFamily="50" charset="-128"/>
              </a:rPr>
              <a:t>新制度　専門職　事業構想シート</a:t>
            </a:r>
            <a:endParaRPr lang="en-US" altLang="ja-JP" sz="2800" dirty="0">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B6C987A3-14C1-8CA8-46E7-BAE499AA9850}"/>
              </a:ext>
            </a:extLst>
          </p:cNvPr>
          <p:cNvSpPr/>
          <p:nvPr/>
        </p:nvSpPr>
        <p:spPr>
          <a:xfrm>
            <a:off x="107504" y="809091"/>
            <a:ext cx="8928992" cy="23042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5A515010-0D31-12E0-CBBF-F3975B8E4BF5}"/>
              </a:ext>
            </a:extLst>
          </p:cNvPr>
          <p:cNvSpPr/>
          <p:nvPr/>
        </p:nvSpPr>
        <p:spPr>
          <a:xfrm>
            <a:off x="107504" y="3165350"/>
            <a:ext cx="6552728" cy="34320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正方形/長方形 7">
            <a:extLst>
              <a:ext uri="{FF2B5EF4-FFF2-40B4-BE49-F238E27FC236}">
                <a16:creationId xmlns:a16="http://schemas.microsoft.com/office/drawing/2014/main" id="{D61A9EA5-789C-F332-E860-979709078127}"/>
              </a:ext>
            </a:extLst>
          </p:cNvPr>
          <p:cNvSpPr/>
          <p:nvPr/>
        </p:nvSpPr>
        <p:spPr>
          <a:xfrm>
            <a:off x="2339752" y="1727025"/>
            <a:ext cx="2592288" cy="56973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latin typeface="BIZ UDPゴシック" panose="020B0400000000000000" pitchFamily="50" charset="-128"/>
                <a:ea typeface="BIZ UDPゴシック" panose="020B0400000000000000" pitchFamily="50" charset="-128"/>
              </a:rPr>
              <a:t>①成果評価</a:t>
            </a:r>
            <a:endParaRPr lang="en-US" altLang="ja-JP" dirty="0">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D756B6B7-4271-AB1E-D0E0-E41AAB293F26}"/>
              </a:ext>
            </a:extLst>
          </p:cNvPr>
          <p:cNvSpPr/>
          <p:nvPr/>
        </p:nvSpPr>
        <p:spPr>
          <a:xfrm>
            <a:off x="2339752" y="4155411"/>
            <a:ext cx="2592288" cy="56973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latin typeface="BIZ UDPゴシック" panose="020B0400000000000000" pitchFamily="50" charset="-128"/>
                <a:ea typeface="BIZ UDPゴシック" panose="020B0400000000000000" pitchFamily="50" charset="-128"/>
              </a:rPr>
              <a:t>②行動評価</a:t>
            </a: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691744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0B8A88F2-A3FF-555C-A5AE-36E342C56415}"/>
              </a:ext>
            </a:extLst>
          </p:cNvPr>
          <p:cNvGraphicFramePr>
            <a:graphicFrameLocks noGrp="1"/>
          </p:cNvGraphicFramePr>
          <p:nvPr>
            <p:extLst>
              <p:ext uri="{D42A27DB-BD31-4B8C-83A1-F6EECF244321}">
                <p14:modId xmlns:p14="http://schemas.microsoft.com/office/powerpoint/2010/main" val="2821126695"/>
              </p:ext>
            </p:extLst>
          </p:nvPr>
        </p:nvGraphicFramePr>
        <p:xfrm>
          <a:off x="131712" y="1134179"/>
          <a:ext cx="8880575" cy="1535949"/>
        </p:xfrm>
        <a:graphic>
          <a:graphicData uri="http://schemas.openxmlformats.org/drawingml/2006/table">
            <a:tbl>
              <a:tblPr/>
              <a:tblGrid>
                <a:gridCol w="531506">
                  <a:extLst>
                    <a:ext uri="{9D8B030D-6E8A-4147-A177-3AD203B41FA5}">
                      <a16:colId xmlns:a16="http://schemas.microsoft.com/office/drawing/2014/main" val="1929790110"/>
                    </a:ext>
                  </a:extLst>
                </a:gridCol>
                <a:gridCol w="509360">
                  <a:extLst>
                    <a:ext uri="{9D8B030D-6E8A-4147-A177-3AD203B41FA5}">
                      <a16:colId xmlns:a16="http://schemas.microsoft.com/office/drawing/2014/main" val="1445327876"/>
                    </a:ext>
                  </a:extLst>
                </a:gridCol>
                <a:gridCol w="1151595">
                  <a:extLst>
                    <a:ext uri="{9D8B030D-6E8A-4147-A177-3AD203B41FA5}">
                      <a16:colId xmlns:a16="http://schemas.microsoft.com/office/drawing/2014/main" val="1090894469"/>
                    </a:ext>
                  </a:extLst>
                </a:gridCol>
                <a:gridCol w="1114685">
                  <a:extLst>
                    <a:ext uri="{9D8B030D-6E8A-4147-A177-3AD203B41FA5}">
                      <a16:colId xmlns:a16="http://schemas.microsoft.com/office/drawing/2014/main" val="1283833770"/>
                    </a:ext>
                  </a:extLst>
                </a:gridCol>
                <a:gridCol w="1114685">
                  <a:extLst>
                    <a:ext uri="{9D8B030D-6E8A-4147-A177-3AD203B41FA5}">
                      <a16:colId xmlns:a16="http://schemas.microsoft.com/office/drawing/2014/main" val="3059238420"/>
                    </a:ext>
                  </a:extLst>
                </a:gridCol>
                <a:gridCol w="1114685">
                  <a:extLst>
                    <a:ext uri="{9D8B030D-6E8A-4147-A177-3AD203B41FA5}">
                      <a16:colId xmlns:a16="http://schemas.microsoft.com/office/drawing/2014/main" val="1930360063"/>
                    </a:ext>
                  </a:extLst>
                </a:gridCol>
                <a:gridCol w="1146021">
                  <a:extLst>
                    <a:ext uri="{9D8B030D-6E8A-4147-A177-3AD203B41FA5}">
                      <a16:colId xmlns:a16="http://schemas.microsoft.com/office/drawing/2014/main" val="560093819"/>
                    </a:ext>
                  </a:extLst>
                </a:gridCol>
                <a:gridCol w="1083353">
                  <a:extLst>
                    <a:ext uri="{9D8B030D-6E8A-4147-A177-3AD203B41FA5}">
                      <a16:colId xmlns:a16="http://schemas.microsoft.com/office/drawing/2014/main" val="3434817349"/>
                    </a:ext>
                  </a:extLst>
                </a:gridCol>
                <a:gridCol w="1114685">
                  <a:extLst>
                    <a:ext uri="{9D8B030D-6E8A-4147-A177-3AD203B41FA5}">
                      <a16:colId xmlns:a16="http://schemas.microsoft.com/office/drawing/2014/main" val="1545057269"/>
                    </a:ext>
                  </a:extLst>
                </a:gridCol>
              </a:tblGrid>
              <a:tr h="350343">
                <a:tc gridSpan="3">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項目</a:t>
                      </a:r>
                    </a:p>
                  </a:txBody>
                  <a:tcPr marL="6850" marR="6850" marT="6850" marB="0" anchor="ctr">
                    <a:lnL w="6350" cap="flat" cmpd="sng" algn="ctr">
                      <a:solidFill>
                        <a:srgbClr val="000000"/>
                      </a:solidFill>
                      <a:prstDash val="solid"/>
                      <a:round/>
                      <a:headEnd type="none" w="med" len="med"/>
                      <a:tailEnd type="none" w="med" len="med"/>
                    </a:lnL>
                    <a:lnR w="12700" cap="flat" cmpd="sng" algn="ctr">
                      <a:solidFill>
                        <a:srgbClr val="F2F2F2"/>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kumimoji="1" lang="ja-JP" altLang="en-US"/>
                    </a:p>
                  </a:txBody>
                  <a:tcPr/>
                </a:tc>
                <a:tc hMerge="1">
                  <a:txBody>
                    <a:bodyPr/>
                    <a:lstStyle/>
                    <a:p>
                      <a:endParaRPr kumimoji="1" lang="ja-JP" altLang="en-US"/>
                    </a:p>
                  </a:txBody>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①</a:t>
                      </a:r>
                      <a:endParaRPr lang="en-US" altLang="zh-TW"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zh-TW"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職務達成責任</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②</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ﾁｬﾚﾝｼﾞ精神</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③</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チームワーク</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④</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ｺﾐｭﾆｹｰｼｮﾝ</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⑤</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業務改善</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⑥</a:t>
                      </a:r>
                      <a:endParaRPr lang="en-US" altLang="ja-JP" sz="1050" b="0"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rtl="0" fontAlgn="ctr"/>
                      <a:r>
                        <a:rPr lang="ja-JP" altLang="en-US" sz="1050" b="0" i="0" u="none" strike="noStrike" dirty="0">
                          <a:solidFill>
                            <a:srgbClr val="FFFFFF"/>
                          </a:solidFill>
                          <a:effectLst/>
                          <a:latin typeface="BIZ UDPゴシック" panose="020B0400000000000000" pitchFamily="50" charset="-128"/>
                          <a:ea typeface="BIZ UDPゴシック" panose="020B0400000000000000" pitchFamily="50" charset="-128"/>
                        </a:rPr>
                        <a:t>人材育成</a:t>
                      </a:r>
                    </a:p>
                  </a:txBody>
                  <a:tcPr marL="6850" marR="6850" marT="6850" marB="0" anchor="ctr">
                    <a:lnL w="12700" cap="flat" cmpd="sng" algn="ctr">
                      <a:solidFill>
                        <a:srgbClr val="F2F2F2"/>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254061"/>
                    </a:solidFill>
                  </a:tcPr>
                </a:tc>
                <a:extLst>
                  <a:ext uri="{0D108BD9-81ED-4DB2-BD59-A6C34878D82A}">
                    <a16:rowId xmlns:a16="http://schemas.microsoft.com/office/drawing/2014/main" val="219164197"/>
                  </a:ext>
                </a:extLst>
              </a:tr>
              <a:tr h="214679">
                <a:tc rowSpan="5">
                  <a:txBody>
                    <a:bodyPr/>
                    <a:lstStyle/>
                    <a:p>
                      <a:pPr algn="ctr" fontAlgn="ctr"/>
                      <a:r>
                        <a:rPr lang="ja-JP" altLang="en-US" sz="1200" b="1" i="0" u="none" strike="noStrike" dirty="0">
                          <a:solidFill>
                            <a:srgbClr val="FFFFFF"/>
                          </a:solidFill>
                          <a:effectLst/>
                          <a:latin typeface="BIZ UDPゴシック" panose="020B0400000000000000" pitchFamily="50" charset="-128"/>
                          <a:ea typeface="BIZ UDPゴシック" panose="020B0400000000000000" pitchFamily="50" charset="-128"/>
                        </a:rPr>
                        <a:t>②</a:t>
                      </a:r>
                      <a:endParaRPr lang="en-US" altLang="ja-JP" sz="1200" b="1"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fontAlgn="ctr"/>
                      <a:r>
                        <a:rPr lang="ja-JP" altLang="en-US" sz="1200" b="1" i="0" u="none" strike="noStrike" dirty="0">
                          <a:solidFill>
                            <a:srgbClr val="FFFFFF"/>
                          </a:solidFill>
                          <a:effectLst/>
                          <a:latin typeface="BIZ UDPゴシック" panose="020B0400000000000000" pitchFamily="50" charset="-128"/>
                          <a:ea typeface="BIZ UDPゴシック" panose="020B0400000000000000" pitchFamily="50" charset="-128"/>
                        </a:rPr>
                        <a:t>行動</a:t>
                      </a:r>
                      <a:endParaRPr lang="en-US" altLang="ja-JP" sz="1200" b="1" i="0" u="none" strike="noStrike" dirty="0">
                        <a:solidFill>
                          <a:srgbClr val="FFFFFF"/>
                        </a:solidFill>
                        <a:effectLst/>
                        <a:latin typeface="BIZ UDPゴシック" panose="020B0400000000000000" pitchFamily="50" charset="-128"/>
                        <a:ea typeface="BIZ UDPゴシック" panose="020B0400000000000000" pitchFamily="50" charset="-128"/>
                      </a:endParaRPr>
                    </a:p>
                    <a:p>
                      <a:pPr algn="ctr" fontAlgn="ctr"/>
                      <a:r>
                        <a:rPr lang="ja-JP" altLang="en-US" sz="1200" b="1" i="0" u="none" strike="noStrike" dirty="0">
                          <a:solidFill>
                            <a:srgbClr val="FFFFFF"/>
                          </a:solidFill>
                          <a:effectLst/>
                          <a:latin typeface="BIZ UDPゴシック" panose="020B0400000000000000" pitchFamily="50" charset="-128"/>
                          <a:ea typeface="BIZ UDPゴシック" panose="020B0400000000000000" pitchFamily="50" charset="-128"/>
                        </a:rPr>
                        <a:t>評価</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rowSpan="4">
                  <a:txBody>
                    <a:bodyPr/>
                    <a:lstStyle/>
                    <a:p>
                      <a:pPr algn="ctr"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総合職</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本部長・部長・統括ﾘｰﾀﾞｰ</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04274789"/>
                  </a:ext>
                </a:extLst>
              </a:tr>
              <a:tr h="214679">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リーダー</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09210230"/>
                  </a:ext>
                </a:extLst>
              </a:tr>
              <a:tr h="214679">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サブﾘｰﾀﾞｰ（館長）</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40316221"/>
                  </a:ext>
                </a:extLst>
              </a:tr>
              <a:tr h="214679">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一般スタッフ</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73622632"/>
                  </a:ext>
                </a:extLst>
              </a:tr>
              <a:tr h="214679">
                <a:tc vMerge="1">
                  <a:txBody>
                    <a:bodyPr/>
                    <a:lstStyle/>
                    <a:p>
                      <a:endParaRPr kumimoji="1" lang="ja-JP" altLang="en-US"/>
                    </a:p>
                  </a:txBody>
                  <a:tcPr/>
                </a:tc>
                <a:tc gridSpan="2">
                  <a:txBody>
                    <a:bodyPr/>
                    <a:lstStyle/>
                    <a:p>
                      <a:pPr algn="ctr" fontAlgn="ct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専門職</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hMerge="1">
                  <a:txBody>
                    <a:bodyPr/>
                    <a:lstStyle/>
                    <a:p>
                      <a:endParaRPr kumimoji="1" lang="ja-JP" altLang="en-US"/>
                    </a:p>
                  </a:txBody>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10%</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25%</a:t>
                      </a:r>
                    </a:p>
                  </a:txBody>
                  <a:tcPr marL="6850" marR="6850" marT="68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07723510"/>
                  </a:ext>
                </a:extLst>
              </a:tr>
            </a:tbl>
          </a:graphicData>
        </a:graphic>
      </p:graphicFrame>
      <p:graphicFrame>
        <p:nvGraphicFramePr>
          <p:cNvPr id="3" name="表 2">
            <a:extLst>
              <a:ext uri="{FF2B5EF4-FFF2-40B4-BE49-F238E27FC236}">
                <a16:creationId xmlns:a16="http://schemas.microsoft.com/office/drawing/2014/main" id="{368A12F3-4561-A492-9339-804ECDA00FAE}"/>
              </a:ext>
            </a:extLst>
          </p:cNvPr>
          <p:cNvGraphicFramePr>
            <a:graphicFrameLocks noGrp="1"/>
          </p:cNvGraphicFramePr>
          <p:nvPr>
            <p:extLst>
              <p:ext uri="{D42A27DB-BD31-4B8C-83A1-F6EECF244321}">
                <p14:modId xmlns:p14="http://schemas.microsoft.com/office/powerpoint/2010/main" val="3291033335"/>
              </p:ext>
            </p:extLst>
          </p:nvPr>
        </p:nvGraphicFramePr>
        <p:xfrm>
          <a:off x="114319" y="2966809"/>
          <a:ext cx="8881542" cy="1807081"/>
        </p:xfrm>
        <a:graphic>
          <a:graphicData uri="http://schemas.openxmlformats.org/drawingml/2006/table">
            <a:tbl>
              <a:tblPr/>
              <a:tblGrid>
                <a:gridCol w="1601674">
                  <a:extLst>
                    <a:ext uri="{9D8B030D-6E8A-4147-A177-3AD203B41FA5}">
                      <a16:colId xmlns:a16="http://schemas.microsoft.com/office/drawing/2014/main" val="1143918663"/>
                    </a:ext>
                  </a:extLst>
                </a:gridCol>
                <a:gridCol w="485669">
                  <a:extLst>
                    <a:ext uri="{9D8B030D-6E8A-4147-A177-3AD203B41FA5}">
                      <a16:colId xmlns:a16="http://schemas.microsoft.com/office/drawing/2014/main" val="1493460869"/>
                    </a:ext>
                  </a:extLst>
                </a:gridCol>
                <a:gridCol w="485669">
                  <a:extLst>
                    <a:ext uri="{9D8B030D-6E8A-4147-A177-3AD203B41FA5}">
                      <a16:colId xmlns:a16="http://schemas.microsoft.com/office/drawing/2014/main" val="3072068793"/>
                    </a:ext>
                  </a:extLst>
                </a:gridCol>
                <a:gridCol w="485669">
                  <a:extLst>
                    <a:ext uri="{9D8B030D-6E8A-4147-A177-3AD203B41FA5}">
                      <a16:colId xmlns:a16="http://schemas.microsoft.com/office/drawing/2014/main" val="3546210422"/>
                    </a:ext>
                  </a:extLst>
                </a:gridCol>
                <a:gridCol w="485669">
                  <a:extLst>
                    <a:ext uri="{9D8B030D-6E8A-4147-A177-3AD203B41FA5}">
                      <a16:colId xmlns:a16="http://schemas.microsoft.com/office/drawing/2014/main" val="636571829"/>
                    </a:ext>
                  </a:extLst>
                </a:gridCol>
                <a:gridCol w="480502">
                  <a:extLst>
                    <a:ext uri="{9D8B030D-6E8A-4147-A177-3AD203B41FA5}">
                      <a16:colId xmlns:a16="http://schemas.microsoft.com/office/drawing/2014/main" val="3153578282"/>
                    </a:ext>
                  </a:extLst>
                </a:gridCol>
                <a:gridCol w="485669">
                  <a:extLst>
                    <a:ext uri="{9D8B030D-6E8A-4147-A177-3AD203B41FA5}">
                      <a16:colId xmlns:a16="http://schemas.microsoft.com/office/drawing/2014/main" val="2434052610"/>
                    </a:ext>
                  </a:extLst>
                </a:gridCol>
                <a:gridCol w="485669">
                  <a:extLst>
                    <a:ext uri="{9D8B030D-6E8A-4147-A177-3AD203B41FA5}">
                      <a16:colId xmlns:a16="http://schemas.microsoft.com/office/drawing/2014/main" val="3591620833"/>
                    </a:ext>
                  </a:extLst>
                </a:gridCol>
                <a:gridCol w="485669">
                  <a:extLst>
                    <a:ext uri="{9D8B030D-6E8A-4147-A177-3AD203B41FA5}">
                      <a16:colId xmlns:a16="http://schemas.microsoft.com/office/drawing/2014/main" val="306685310"/>
                    </a:ext>
                  </a:extLst>
                </a:gridCol>
                <a:gridCol w="485669">
                  <a:extLst>
                    <a:ext uri="{9D8B030D-6E8A-4147-A177-3AD203B41FA5}">
                      <a16:colId xmlns:a16="http://schemas.microsoft.com/office/drawing/2014/main" val="1693228559"/>
                    </a:ext>
                  </a:extLst>
                </a:gridCol>
                <a:gridCol w="485669">
                  <a:extLst>
                    <a:ext uri="{9D8B030D-6E8A-4147-A177-3AD203B41FA5}">
                      <a16:colId xmlns:a16="http://schemas.microsoft.com/office/drawing/2014/main" val="629780812"/>
                    </a:ext>
                  </a:extLst>
                </a:gridCol>
                <a:gridCol w="485669">
                  <a:extLst>
                    <a:ext uri="{9D8B030D-6E8A-4147-A177-3AD203B41FA5}">
                      <a16:colId xmlns:a16="http://schemas.microsoft.com/office/drawing/2014/main" val="3030220376"/>
                    </a:ext>
                  </a:extLst>
                </a:gridCol>
                <a:gridCol w="485669">
                  <a:extLst>
                    <a:ext uri="{9D8B030D-6E8A-4147-A177-3AD203B41FA5}">
                      <a16:colId xmlns:a16="http://schemas.microsoft.com/office/drawing/2014/main" val="4142679519"/>
                    </a:ext>
                  </a:extLst>
                </a:gridCol>
                <a:gridCol w="485669">
                  <a:extLst>
                    <a:ext uri="{9D8B030D-6E8A-4147-A177-3AD203B41FA5}">
                      <a16:colId xmlns:a16="http://schemas.microsoft.com/office/drawing/2014/main" val="636100432"/>
                    </a:ext>
                  </a:extLst>
                </a:gridCol>
                <a:gridCol w="485669">
                  <a:extLst>
                    <a:ext uri="{9D8B030D-6E8A-4147-A177-3AD203B41FA5}">
                      <a16:colId xmlns:a16="http://schemas.microsoft.com/office/drawing/2014/main" val="18698577"/>
                    </a:ext>
                  </a:extLst>
                </a:gridCol>
                <a:gridCol w="485669">
                  <a:extLst>
                    <a:ext uri="{9D8B030D-6E8A-4147-A177-3AD203B41FA5}">
                      <a16:colId xmlns:a16="http://schemas.microsoft.com/office/drawing/2014/main" val="1728375627"/>
                    </a:ext>
                  </a:extLst>
                </a:gridCol>
              </a:tblGrid>
              <a:tr h="224594">
                <a:tc rowSpan="2">
                  <a:txBody>
                    <a:bodyPr/>
                    <a:lstStyle/>
                    <a:p>
                      <a:pPr algn="ctr" fontAlgn="ctr"/>
                      <a:r>
                        <a:rPr lang="ja-JP" altLang="en-US" sz="1100" b="0" i="0" u="none" strike="noStrike" dirty="0">
                          <a:solidFill>
                            <a:srgbClr val="FFFFFF"/>
                          </a:solidFill>
                          <a:effectLst/>
                          <a:latin typeface="BIZ UDPゴシック" panose="020B0400000000000000" pitchFamily="50" charset="-128"/>
                          <a:ea typeface="BIZ UDPゴシック" panose="020B0400000000000000" pitchFamily="50" charset="-128"/>
                        </a:rPr>
                        <a:t>②行動評価</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ja-JP" altLang="en-US" sz="9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総合職</a:t>
                      </a:r>
                      <a:r>
                        <a:rPr lang="en-US" sz="9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G1</a:t>
                      </a: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ja-JP" altLang="en-US" sz="9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総合職</a:t>
                      </a:r>
                      <a:r>
                        <a:rPr lang="en-US" sz="9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G2・3</a:t>
                      </a: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gridSpan="3">
                  <a:txBody>
                    <a:bodyPr/>
                    <a:lstStyle/>
                    <a:p>
                      <a:pPr algn="ctr" fontAlgn="ctr"/>
                      <a:r>
                        <a:rPr lang="ja-JP" altLang="en-US" sz="9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総合職</a:t>
                      </a:r>
                      <a:endParaRPr lang="en-US" altLang="ja-JP" sz="9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p>
                      <a:pPr algn="ctr" fontAlgn="ctr"/>
                      <a:r>
                        <a:rPr lang="en-US" sz="9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G4・5・6</a:t>
                      </a: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hMerge="1">
                  <a:txBody>
                    <a:bodyPr/>
                    <a:lstStyle/>
                    <a:p>
                      <a:endParaRPr kumimoji="1" lang="ja-JP" altLang="en-US"/>
                    </a:p>
                  </a:txBody>
                  <a:tcPr/>
                </a:tc>
                <a:tc hMerge="1">
                  <a:txBody>
                    <a:bodyPr/>
                    <a:lstStyle/>
                    <a:p>
                      <a:endParaRPr kumimoji="1" lang="ja-JP" altLang="en-US"/>
                    </a:p>
                  </a:txBody>
                  <a:tcPr/>
                </a:tc>
                <a:tc gridSpan="5">
                  <a:txBody>
                    <a:bodyPr/>
                    <a:lstStyle/>
                    <a:p>
                      <a:pPr algn="ctr" fontAlgn="ctr"/>
                      <a:r>
                        <a:rPr lang="ja-JP" altLang="en-US" sz="900" b="0" i="0" u="none" strike="noStrike" dirty="0">
                          <a:solidFill>
                            <a:srgbClr val="FFFFFF"/>
                          </a:solidFill>
                          <a:effectLst/>
                          <a:latin typeface="BIZ UDPゴシック" panose="020B0400000000000000" pitchFamily="50" charset="-128"/>
                          <a:ea typeface="BIZ UDPゴシック" panose="020B0400000000000000" pitchFamily="50" charset="-128"/>
                        </a:rPr>
                        <a:t>専門職 </a:t>
                      </a:r>
                      <a:r>
                        <a:rPr lang="en-US" altLang="ja-JP" sz="900" b="0" i="0" u="none" strike="noStrike" dirty="0">
                          <a:solidFill>
                            <a:srgbClr val="FFFFFF"/>
                          </a:solidFill>
                          <a:effectLst/>
                          <a:latin typeface="BIZ UDPゴシック" panose="020B0400000000000000" pitchFamily="50" charset="-128"/>
                          <a:ea typeface="BIZ UDPゴシック" panose="020B0400000000000000" pitchFamily="50" charset="-128"/>
                        </a:rPr>
                        <a:t>G1</a:t>
                      </a:r>
                      <a:r>
                        <a:rPr lang="ja-JP" altLang="en-US" sz="900" b="0"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rgbClr val="FFFFFF"/>
                          </a:solidFill>
                          <a:effectLst/>
                          <a:latin typeface="BIZ UDPゴシック" panose="020B0400000000000000" pitchFamily="50" charset="-128"/>
                          <a:ea typeface="BIZ UDPゴシック" panose="020B0400000000000000" pitchFamily="50" charset="-128"/>
                        </a:rPr>
                        <a:t>2</a:t>
                      </a:r>
                      <a:r>
                        <a:rPr lang="ja-JP" altLang="en-US" sz="900" b="0"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rgbClr val="FFFFFF"/>
                          </a:solidFill>
                          <a:effectLst/>
                          <a:latin typeface="BIZ UDPゴシック" panose="020B0400000000000000" pitchFamily="50" charset="-128"/>
                          <a:ea typeface="BIZ UDPゴシック" panose="020B0400000000000000" pitchFamily="50" charset="-128"/>
                        </a:rPr>
                        <a:t>3 </a:t>
                      </a: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（総合職 </a:t>
                      </a: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G7・8・9</a:t>
                      </a: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相当）</a:t>
                      </a:r>
                      <a:endParaRPr lang="en-US" sz="900" b="0"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0" marR="0" marT="0" marB="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p>
                      <a:pPr marL="0" marR="0" lvl="0" indent="0" algn="ctr" defTabSz="914325" rtl="0" eaLnBrk="1" fontAlgn="ctr" latinLnBrk="0" hangingPunct="1">
                        <a:lnSpc>
                          <a:spcPct val="100000"/>
                        </a:lnSpc>
                        <a:spcBef>
                          <a:spcPts val="0"/>
                        </a:spcBef>
                        <a:spcAft>
                          <a:spcPts val="0"/>
                        </a:spcAft>
                        <a:buClrTx/>
                        <a:buSzTx/>
                        <a:buFontTx/>
                        <a:buNone/>
                        <a:tabLst/>
                        <a:defRPr/>
                      </a:pPr>
                      <a:r>
                        <a:rPr lang="ja-JP" altLang="en-US" sz="900" b="0" i="0" u="none" strike="noStrike" dirty="0">
                          <a:solidFill>
                            <a:srgbClr val="FFFFFF"/>
                          </a:solidFill>
                          <a:effectLst/>
                          <a:latin typeface="BIZ UDPゴシック" panose="020B0400000000000000" pitchFamily="50" charset="-128"/>
                          <a:ea typeface="BIZ UDPゴシック" panose="020B0400000000000000" pitchFamily="50" charset="-128"/>
                        </a:rPr>
                        <a:t>専門職 </a:t>
                      </a:r>
                      <a:r>
                        <a:rPr lang="en-US" altLang="ja-JP" sz="900" b="0" i="0" u="none" strike="noStrike" dirty="0">
                          <a:solidFill>
                            <a:srgbClr val="FFFFFF"/>
                          </a:solidFill>
                          <a:effectLst/>
                          <a:latin typeface="BIZ UDPゴシック" panose="020B0400000000000000" pitchFamily="50" charset="-128"/>
                          <a:ea typeface="BIZ UDPゴシック" panose="020B0400000000000000" pitchFamily="50" charset="-128"/>
                        </a:rPr>
                        <a:t>G4</a:t>
                      </a:r>
                      <a:r>
                        <a:rPr lang="ja-JP" altLang="en-US" sz="900" b="0"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rgbClr val="FFFFFF"/>
                          </a:solidFill>
                          <a:effectLst/>
                          <a:latin typeface="BIZ UDPゴシック" panose="020B0400000000000000" pitchFamily="50" charset="-128"/>
                          <a:ea typeface="BIZ UDPゴシック" panose="020B0400000000000000" pitchFamily="50" charset="-128"/>
                        </a:rPr>
                        <a:t>5 </a:t>
                      </a: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（総合職 </a:t>
                      </a: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G10</a:t>
                      </a: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rPr>
                        <a:t>11</a:t>
                      </a: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相当）</a:t>
                      </a:r>
                      <a:endParaRPr lang="en-US" altLang="ja-JP" sz="900" b="0"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0" marR="0" marT="0" marB="0" anchor="ctr">
                    <a:lnL w="12700" cap="flat" cmpd="sng" algn="ctr">
                      <a:solidFill>
                        <a:schemeClr val="bg1">
                          <a:lumMod val="95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116782785"/>
                  </a:ext>
                </a:extLst>
              </a:tr>
              <a:tr h="260822">
                <a:tc vMerge="1">
                  <a:txBody>
                    <a:bodyPr/>
                    <a:lstStyle/>
                    <a:p>
                      <a:endParaRPr kumimoji="1" lang="ja-JP" altLang="en-US"/>
                    </a:p>
                  </a:txBody>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一般</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一般</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一般</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ｻﾌﾞﾘｰﾀﾞｰ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1"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一般</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ｻﾌﾞﾘｰﾀﾞｰ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本部長・部長・統括ﾘｰﾀﾞｰ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rPr>
                        <a:t>専門職</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一般</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ｻﾌﾞﾘｰﾀﾞｰ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1"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本部長・部長・統括ﾘｰﾀﾞｰ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rPr>
                        <a:t>専門職</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extLst>
                  <a:ext uri="{0D108BD9-81ED-4DB2-BD59-A6C34878D82A}">
                    <a16:rowId xmlns:a16="http://schemas.microsoft.com/office/drawing/2014/main" val="126567838"/>
                  </a:ext>
                </a:extLst>
              </a:tr>
              <a:tr h="130411">
                <a:tc>
                  <a:txBody>
                    <a:bodyPr/>
                    <a:lstStyle/>
                    <a:p>
                      <a:pPr algn="l" fontAlgn="ctr"/>
                      <a:endParaRPr lang="ja-JP" altLang="en-US" sz="8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ja-JP" altLang="en-US" sz="8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2730862"/>
                  </a:ext>
                </a:extLst>
              </a:tr>
              <a:tr h="207318">
                <a:tc>
                  <a:txBody>
                    <a:bodyPr/>
                    <a:lstStyle/>
                    <a:p>
                      <a:pPr algn="l" fontAlgn="ct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G10</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11</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7P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6P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5P</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5P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5P</a:t>
                      </a: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4P</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extLst>
                  <a:ext uri="{0D108BD9-81ED-4DB2-BD59-A6C34878D82A}">
                    <a16:rowId xmlns:a16="http://schemas.microsoft.com/office/drawing/2014/main" val="3456481568"/>
                  </a:ext>
                </a:extLst>
              </a:tr>
              <a:tr h="207318">
                <a:tc>
                  <a:txBody>
                    <a:bodyPr/>
                    <a:lstStyle/>
                    <a:p>
                      <a:pPr algn="l" fontAlgn="ct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G7</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8</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9</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6P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5P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4P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4P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B8B7"/>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2557215"/>
                  </a:ext>
                </a:extLst>
              </a:tr>
              <a:tr h="207318">
                <a:tc>
                  <a:txBody>
                    <a:bodyPr/>
                    <a:lstStyle/>
                    <a:p>
                      <a:pPr algn="l" fontAlgn="ct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G4</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5</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6</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5P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4P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3284802"/>
                  </a:ext>
                </a:extLst>
              </a:tr>
              <a:tr h="207318">
                <a:tc>
                  <a:txBody>
                    <a:bodyPr/>
                    <a:lstStyle/>
                    <a:p>
                      <a:pPr algn="l" fontAlgn="ct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G2</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a:t>
                      </a: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3</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4P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0859390"/>
                  </a:ext>
                </a:extLst>
              </a:tr>
              <a:tr h="207318">
                <a:tc>
                  <a:txBody>
                    <a:bodyPr/>
                    <a:lstStyle/>
                    <a:p>
                      <a:pPr algn="l" fontAlgn="ctr"/>
                      <a:r>
                        <a:rPr lang="en-US" altLang="ja-JP" sz="1000" b="1" i="0" u="none" strike="noStrike" dirty="0">
                          <a:solidFill>
                            <a:srgbClr val="FFFFFF"/>
                          </a:solidFill>
                          <a:effectLst/>
                          <a:latin typeface="BIZ UDPゴシック" panose="020B0400000000000000" pitchFamily="50" charset="-128"/>
                          <a:ea typeface="BIZ UDPゴシック" panose="020B0400000000000000" pitchFamily="50" charset="-128"/>
                        </a:rPr>
                        <a:t>G1</a:t>
                      </a:r>
                      <a:r>
                        <a:rPr lang="ja-JP" altLang="en-US" sz="1000" b="1" i="0" u="none" strike="noStrike" dirty="0">
                          <a:solidFill>
                            <a:srgbClr val="FFFFFF"/>
                          </a:solidFill>
                          <a:effectLst/>
                          <a:latin typeface="BIZ UDPゴシック" panose="020B0400000000000000" pitchFamily="50" charset="-128"/>
                          <a:ea typeface="BIZ UDPゴシック" panose="020B0400000000000000" pitchFamily="50" charset="-128"/>
                        </a:rPr>
                        <a:t>　レベル</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44062"/>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2P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1P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0P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6719878"/>
                  </a:ext>
                </a:extLst>
              </a:tr>
            </a:tbl>
          </a:graphicData>
        </a:graphic>
      </p:graphicFrame>
      <p:sp>
        <p:nvSpPr>
          <p:cNvPr id="11"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25</a:t>
            </a:fld>
            <a:r>
              <a:rPr lang="ja-JP" altLang="en-US" sz="1050" dirty="0">
                <a:latin typeface="+mn-ea"/>
              </a:rPr>
              <a:t>－</a:t>
            </a:r>
          </a:p>
        </p:txBody>
      </p:sp>
      <p:sp>
        <p:nvSpPr>
          <p:cNvPr id="9" name="タイトル 2">
            <a:extLst>
              <a:ext uri="{FF2B5EF4-FFF2-40B4-BE49-F238E27FC236}">
                <a16:creationId xmlns:a16="http://schemas.microsoft.com/office/drawing/2014/main" id="{89BAE1CA-24A7-45B0-A7E7-5D2F54791A49}"/>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新制度　専門職　②行動評価について（</a:t>
            </a:r>
            <a:r>
              <a:rPr lang="en-US" altLang="ja-JP" sz="1600" dirty="0">
                <a:latin typeface="BIZ UDPゴシック" panose="020B0400000000000000" pitchFamily="50" charset="-128"/>
                <a:ea typeface="BIZ UDPゴシック" panose="020B0400000000000000" pitchFamily="50" charset="-128"/>
              </a:rPr>
              <a:t>2025</a:t>
            </a:r>
            <a:r>
              <a:rPr lang="ja-JP" altLang="en-US" sz="1600" dirty="0">
                <a:latin typeface="BIZ UDPゴシック" panose="020B0400000000000000" pitchFamily="50" charset="-128"/>
                <a:ea typeface="BIZ UDPゴシック" panose="020B0400000000000000" pitchFamily="50" charset="-128"/>
              </a:rPr>
              <a:t>年</a:t>
            </a:r>
            <a:r>
              <a:rPr lang="en-US" altLang="ja-JP" sz="1600" dirty="0">
                <a:latin typeface="BIZ UDPゴシック" panose="020B0400000000000000" pitchFamily="50" charset="-128"/>
                <a:ea typeface="BIZ UDPゴシック" panose="020B0400000000000000" pitchFamily="50" charset="-128"/>
              </a:rPr>
              <a:t>4</a:t>
            </a:r>
            <a:r>
              <a:rPr lang="ja-JP" altLang="en-US" sz="1600" dirty="0">
                <a:latin typeface="BIZ UDPゴシック" panose="020B0400000000000000" pitchFamily="50" charset="-128"/>
                <a:ea typeface="BIZ UDPゴシック" panose="020B0400000000000000" pitchFamily="50" charset="-128"/>
              </a:rPr>
              <a:t>月</a:t>
            </a:r>
            <a:r>
              <a:rPr lang="en-US" altLang="ja-JP" sz="1600" dirty="0">
                <a:latin typeface="BIZ UDPゴシック" panose="020B0400000000000000" pitchFamily="50" charset="-128"/>
                <a:ea typeface="BIZ UDPゴシック" panose="020B0400000000000000" pitchFamily="50" charset="-128"/>
              </a:rPr>
              <a:t>1</a:t>
            </a:r>
            <a:r>
              <a:rPr lang="ja-JP" altLang="en-US" sz="1600" dirty="0">
                <a:latin typeface="BIZ UDPゴシック" panose="020B0400000000000000" pitchFamily="50" charset="-128"/>
                <a:ea typeface="BIZ UDPゴシック" panose="020B0400000000000000" pitchFamily="50" charset="-128"/>
              </a:rPr>
              <a:t>日現在）</a:t>
            </a:r>
          </a:p>
        </p:txBody>
      </p:sp>
      <p:sp>
        <p:nvSpPr>
          <p:cNvPr id="6" name="正方形/長方形 5">
            <a:extLst>
              <a:ext uri="{FF2B5EF4-FFF2-40B4-BE49-F238E27FC236}">
                <a16:creationId xmlns:a16="http://schemas.microsoft.com/office/drawing/2014/main" id="{6222AB96-7456-E663-C0FF-DBE7672D9A84}"/>
              </a:ext>
            </a:extLst>
          </p:cNvPr>
          <p:cNvSpPr/>
          <p:nvPr/>
        </p:nvSpPr>
        <p:spPr>
          <a:xfrm>
            <a:off x="128277" y="5389133"/>
            <a:ext cx="8881549" cy="992195"/>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rPr>
              <a:t>専門職では、事業構想シートを用いる。</a:t>
            </a:r>
            <a:endParaRPr lang="en-US" altLang="ja-JP" sz="1400" dirty="0">
              <a:solidFill>
                <a:schemeClr val="tx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rPr>
              <a:t>事業構想シートにおける行動評価は、総合職の行動評価と同様の評価方法を採用する。</a:t>
            </a:r>
            <a:endParaRPr lang="en-US" altLang="ja-JP" sz="1400" dirty="0">
              <a:solidFill>
                <a:schemeClr val="tx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rPr>
              <a:t>期待通りの行動であれば評価「</a:t>
            </a:r>
            <a:r>
              <a:rPr lang="en-US" altLang="ja-JP" sz="1400" dirty="0">
                <a:solidFill>
                  <a:schemeClr val="tx1"/>
                </a:solidFill>
                <a:latin typeface="BIZ UDPゴシック" panose="020B0400000000000000" pitchFamily="50" charset="-128"/>
                <a:ea typeface="BIZ UDPゴシック" panose="020B0400000000000000" pitchFamily="50" charset="-128"/>
              </a:rPr>
              <a:t>3</a:t>
            </a:r>
            <a:r>
              <a:rPr lang="ja-JP" altLang="en-US" sz="1400" dirty="0">
                <a:solidFill>
                  <a:schemeClr val="tx1"/>
                </a:solidFill>
                <a:latin typeface="BIZ UDPゴシック" panose="020B0400000000000000" pitchFamily="50" charset="-128"/>
                <a:ea typeface="BIZ UDPゴシック" panose="020B0400000000000000" pitchFamily="50" charset="-128"/>
              </a:rPr>
              <a:t>Ｐ」とする。</a:t>
            </a:r>
            <a:endParaRPr lang="en-US" altLang="ja-JP" sz="1400" dirty="0">
              <a:solidFill>
                <a:schemeClr val="tx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400" b="0" i="0" u="none" strike="noStrike" dirty="0">
                <a:solidFill>
                  <a:schemeClr val="tx1"/>
                </a:solidFill>
                <a:effectLst/>
                <a:latin typeface="BIZ UDPゴシック" panose="020B0400000000000000" pitchFamily="50" charset="-128"/>
                <a:ea typeface="BIZ UDPゴシック" panose="020B0400000000000000" pitchFamily="50" charset="-128"/>
              </a:rPr>
              <a:t>達成基準は、「専門職 </a:t>
            </a:r>
            <a:r>
              <a:rPr lang="en-US" altLang="ja-JP" sz="1400" b="0" i="0" u="none" strike="noStrike" dirty="0">
                <a:solidFill>
                  <a:schemeClr val="tx1"/>
                </a:solidFill>
                <a:effectLst/>
                <a:latin typeface="BIZ UDPゴシック" panose="020B0400000000000000" pitchFamily="50" charset="-128"/>
                <a:ea typeface="BIZ UDPゴシック" panose="020B0400000000000000" pitchFamily="50" charset="-128"/>
              </a:rPr>
              <a:t>G1</a:t>
            </a:r>
            <a:r>
              <a:rPr lang="ja-JP" altLang="en-US" sz="1400" b="0" i="0" u="none" strike="noStrike" dirty="0">
                <a:solidFill>
                  <a:schemeClr val="tx1"/>
                </a:solidFill>
                <a:effectLst/>
                <a:latin typeface="BIZ UDPゴシック" panose="020B0400000000000000" pitchFamily="50" charset="-128"/>
                <a:ea typeface="BIZ UDPゴシック" panose="020B0400000000000000" pitchFamily="50" charset="-128"/>
              </a:rPr>
              <a:t>・</a:t>
            </a:r>
            <a:r>
              <a:rPr lang="en-US" altLang="ja-JP" sz="1400" b="0" i="0" u="none" strike="noStrike" dirty="0">
                <a:solidFill>
                  <a:schemeClr val="tx1"/>
                </a:solidFill>
                <a:effectLst/>
                <a:latin typeface="BIZ UDPゴシック" panose="020B0400000000000000" pitchFamily="50" charset="-128"/>
                <a:ea typeface="BIZ UDPゴシック" panose="020B0400000000000000" pitchFamily="50" charset="-128"/>
              </a:rPr>
              <a:t>2</a:t>
            </a:r>
            <a:r>
              <a:rPr lang="ja-JP" altLang="en-US" sz="1400" b="0" i="0" u="none" strike="noStrike" dirty="0">
                <a:solidFill>
                  <a:schemeClr val="tx1"/>
                </a:solidFill>
                <a:effectLst/>
                <a:latin typeface="BIZ UDPゴシック" panose="020B0400000000000000" pitchFamily="50" charset="-128"/>
                <a:ea typeface="BIZ UDPゴシック" panose="020B0400000000000000" pitchFamily="50" charset="-128"/>
              </a:rPr>
              <a:t>・</a:t>
            </a:r>
            <a:r>
              <a:rPr lang="en-US" altLang="ja-JP" sz="1400" b="0" i="0" u="none" strike="noStrike" dirty="0">
                <a:solidFill>
                  <a:schemeClr val="tx1"/>
                </a:solidFill>
                <a:effectLst/>
                <a:latin typeface="BIZ UDPゴシック" panose="020B0400000000000000" pitchFamily="50" charset="-128"/>
                <a:ea typeface="BIZ UDPゴシック" panose="020B0400000000000000" pitchFamily="50" charset="-128"/>
              </a:rPr>
              <a:t>3 </a:t>
            </a:r>
            <a:r>
              <a:rPr lang="ja-JP" altLang="en-US" sz="1400" b="0" i="0" u="none" strike="noStrike" dirty="0">
                <a:solidFill>
                  <a:schemeClr val="tx1"/>
                </a:solidFill>
                <a:effectLst/>
                <a:latin typeface="BIZ UDPゴシック" panose="020B0400000000000000" pitchFamily="50" charset="-128"/>
                <a:ea typeface="BIZ UDPゴシック" panose="020B0400000000000000" pitchFamily="50" charset="-128"/>
              </a:rPr>
              <a:t>＝ 総合職 </a:t>
            </a:r>
            <a:r>
              <a:rPr lang="en-US" altLang="ja-JP" sz="1400" b="0" i="0" u="none" strike="noStrike" dirty="0">
                <a:solidFill>
                  <a:schemeClr val="tx1"/>
                </a:solidFill>
                <a:effectLst/>
                <a:latin typeface="BIZ UDPゴシック" panose="020B0400000000000000" pitchFamily="50" charset="-128"/>
                <a:ea typeface="BIZ UDPゴシック" panose="020B0400000000000000" pitchFamily="50" charset="-128"/>
              </a:rPr>
              <a:t>G7・8・9</a:t>
            </a:r>
            <a:r>
              <a:rPr lang="ja-JP" altLang="en-US" sz="1400" b="0" i="0" u="none" strike="noStrike" dirty="0">
                <a:solidFill>
                  <a:schemeClr val="tx1"/>
                </a:solidFill>
                <a:effectLst/>
                <a:latin typeface="BIZ UDPゴシック" panose="020B0400000000000000" pitchFamily="50" charset="-128"/>
                <a:ea typeface="BIZ UDPゴシック" panose="020B0400000000000000" pitchFamily="50" charset="-128"/>
              </a:rPr>
              <a:t>相当」、 「専門職 </a:t>
            </a:r>
            <a:r>
              <a:rPr lang="en-US" altLang="ja-JP" sz="1400" b="0" i="0" u="none" strike="noStrike" dirty="0">
                <a:solidFill>
                  <a:schemeClr val="tx1"/>
                </a:solidFill>
                <a:effectLst/>
                <a:latin typeface="BIZ UDPゴシック" panose="020B0400000000000000" pitchFamily="50" charset="-128"/>
                <a:ea typeface="BIZ UDPゴシック" panose="020B0400000000000000" pitchFamily="50" charset="-128"/>
              </a:rPr>
              <a:t>G4</a:t>
            </a:r>
            <a:r>
              <a:rPr lang="ja-JP" altLang="en-US" sz="1400" b="0" i="0" u="none" strike="noStrike" dirty="0">
                <a:solidFill>
                  <a:schemeClr val="tx1"/>
                </a:solidFill>
                <a:effectLst/>
                <a:latin typeface="BIZ UDPゴシック" panose="020B0400000000000000" pitchFamily="50" charset="-128"/>
                <a:ea typeface="BIZ UDPゴシック" panose="020B0400000000000000" pitchFamily="50" charset="-128"/>
              </a:rPr>
              <a:t>・</a:t>
            </a:r>
            <a:r>
              <a:rPr lang="en-US" altLang="ja-JP" sz="1400" b="0" i="0" u="none" strike="noStrike" dirty="0">
                <a:solidFill>
                  <a:schemeClr val="tx1"/>
                </a:solidFill>
                <a:effectLst/>
                <a:latin typeface="BIZ UDPゴシック" panose="020B0400000000000000" pitchFamily="50" charset="-128"/>
                <a:ea typeface="BIZ UDPゴシック" panose="020B0400000000000000" pitchFamily="50" charset="-128"/>
              </a:rPr>
              <a:t>5 </a:t>
            </a:r>
            <a:r>
              <a:rPr lang="ja-JP" altLang="en-US" sz="1400" b="0" i="0" u="none" strike="noStrike" dirty="0">
                <a:solidFill>
                  <a:schemeClr val="tx1"/>
                </a:solidFill>
                <a:effectLst/>
                <a:latin typeface="BIZ UDPゴシック" panose="020B0400000000000000" pitchFamily="50" charset="-128"/>
                <a:ea typeface="BIZ UDPゴシック" panose="020B0400000000000000" pitchFamily="50" charset="-128"/>
              </a:rPr>
              <a:t>＝ 総合職 </a:t>
            </a:r>
            <a:r>
              <a:rPr lang="en-US" altLang="ja-JP" sz="1400" b="0" i="0" u="none" strike="noStrike" dirty="0">
                <a:solidFill>
                  <a:schemeClr val="tx1"/>
                </a:solidFill>
                <a:effectLst/>
                <a:latin typeface="BIZ UDPゴシック" panose="020B0400000000000000" pitchFamily="50" charset="-128"/>
                <a:ea typeface="BIZ UDPゴシック" panose="020B0400000000000000" pitchFamily="50" charset="-128"/>
              </a:rPr>
              <a:t>G10</a:t>
            </a:r>
            <a:r>
              <a:rPr lang="ja-JP" altLang="en-US" sz="1400" b="0" i="0" u="none" strike="noStrike" dirty="0">
                <a:solidFill>
                  <a:schemeClr val="tx1"/>
                </a:solidFill>
                <a:effectLst/>
                <a:latin typeface="BIZ UDPゴシック" panose="020B0400000000000000" pitchFamily="50" charset="-128"/>
                <a:ea typeface="BIZ UDPゴシック" panose="020B0400000000000000" pitchFamily="50" charset="-128"/>
              </a:rPr>
              <a:t>・</a:t>
            </a:r>
            <a:r>
              <a:rPr lang="en-US" altLang="ja-JP" sz="1400" b="0" i="0" u="none" strike="noStrike" dirty="0">
                <a:solidFill>
                  <a:schemeClr val="tx1"/>
                </a:solidFill>
                <a:effectLst/>
                <a:latin typeface="BIZ UDPゴシック" panose="020B0400000000000000" pitchFamily="50" charset="-128"/>
                <a:ea typeface="BIZ UDPゴシック" panose="020B0400000000000000" pitchFamily="50" charset="-128"/>
              </a:rPr>
              <a:t>11</a:t>
            </a:r>
            <a:r>
              <a:rPr lang="ja-JP" altLang="en-US" sz="1400" b="0" i="0" u="none" strike="noStrike" dirty="0">
                <a:solidFill>
                  <a:schemeClr val="tx1"/>
                </a:solidFill>
                <a:effectLst/>
                <a:latin typeface="BIZ UDPゴシック" panose="020B0400000000000000" pitchFamily="50" charset="-128"/>
                <a:ea typeface="BIZ UDPゴシック" panose="020B0400000000000000" pitchFamily="50" charset="-128"/>
              </a:rPr>
              <a:t>相当」とする。</a:t>
            </a:r>
            <a:endParaRPr lang="en-US" altLang="ja-JP" sz="1400" b="0" i="0" u="none" strike="noStrike" dirty="0">
              <a:solidFill>
                <a:schemeClr val="tx1"/>
              </a:solidFill>
              <a:effectLst/>
              <a:latin typeface="BIZ UDPゴシック" panose="020B0400000000000000" pitchFamily="50" charset="-128"/>
              <a:ea typeface="BIZ UDPゴシック" panose="020B0400000000000000" pitchFamily="50" charset="-128"/>
            </a:endParaRPr>
          </a:p>
        </p:txBody>
      </p:sp>
      <p:sp>
        <p:nvSpPr>
          <p:cNvPr id="19" name="タイトル 2">
            <a:extLst>
              <a:ext uri="{FF2B5EF4-FFF2-40B4-BE49-F238E27FC236}">
                <a16:creationId xmlns:a16="http://schemas.microsoft.com/office/drawing/2014/main" id="{1F19699B-BCDA-C944-E8EB-FF79BF18AB2B}"/>
              </a:ext>
            </a:extLst>
          </p:cNvPr>
          <p:cNvSpPr txBox="1">
            <a:spLocks/>
          </p:cNvSpPr>
          <p:nvPr/>
        </p:nvSpPr>
        <p:spPr>
          <a:xfrm>
            <a:off x="142007" y="703601"/>
            <a:ext cx="7947355"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役職・評価項目ごとの重み</a:t>
            </a:r>
          </a:p>
        </p:txBody>
      </p:sp>
      <p:sp>
        <p:nvSpPr>
          <p:cNvPr id="20" name="タイトル 2">
            <a:extLst>
              <a:ext uri="{FF2B5EF4-FFF2-40B4-BE49-F238E27FC236}">
                <a16:creationId xmlns:a16="http://schemas.microsoft.com/office/drawing/2014/main" id="{5448DE31-D089-D8D1-3B66-EFCD746D1F1C}"/>
              </a:ext>
            </a:extLst>
          </p:cNvPr>
          <p:cNvSpPr txBox="1">
            <a:spLocks/>
          </p:cNvSpPr>
          <p:nvPr/>
        </p:nvSpPr>
        <p:spPr>
          <a:xfrm>
            <a:off x="114319" y="2541747"/>
            <a:ext cx="7993855"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達成基準</a:t>
            </a:r>
          </a:p>
        </p:txBody>
      </p:sp>
      <p:sp>
        <p:nvSpPr>
          <p:cNvPr id="5" name="タイトル 2">
            <a:extLst>
              <a:ext uri="{FF2B5EF4-FFF2-40B4-BE49-F238E27FC236}">
                <a16:creationId xmlns:a16="http://schemas.microsoft.com/office/drawing/2014/main" id="{F7DA3F96-92C5-E5C4-D2AF-335761796C50}"/>
              </a:ext>
            </a:extLst>
          </p:cNvPr>
          <p:cNvSpPr txBox="1">
            <a:spLocks/>
          </p:cNvSpPr>
          <p:nvPr/>
        </p:nvSpPr>
        <p:spPr>
          <a:xfrm>
            <a:off x="142008" y="4941168"/>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特徴</a:t>
            </a:r>
          </a:p>
        </p:txBody>
      </p:sp>
      <p:sp>
        <p:nvSpPr>
          <p:cNvPr id="7" name="正方形/長方形 6">
            <a:extLst>
              <a:ext uri="{FF2B5EF4-FFF2-40B4-BE49-F238E27FC236}">
                <a16:creationId xmlns:a16="http://schemas.microsoft.com/office/drawing/2014/main" id="{13744FA6-4DF8-D1F7-6D0F-D19EFBF983E5}"/>
              </a:ext>
            </a:extLst>
          </p:cNvPr>
          <p:cNvSpPr/>
          <p:nvPr/>
        </p:nvSpPr>
        <p:spPr>
          <a:xfrm>
            <a:off x="6084168" y="3227388"/>
            <a:ext cx="466552" cy="154650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正方形/長方形 7">
            <a:extLst>
              <a:ext uri="{FF2B5EF4-FFF2-40B4-BE49-F238E27FC236}">
                <a16:creationId xmlns:a16="http://schemas.microsoft.com/office/drawing/2014/main" id="{57C8D1C7-A6EF-AB46-402C-A3A664416DCF}"/>
              </a:ext>
            </a:extLst>
          </p:cNvPr>
          <p:cNvSpPr/>
          <p:nvPr/>
        </p:nvSpPr>
        <p:spPr>
          <a:xfrm>
            <a:off x="8512191" y="3235622"/>
            <a:ext cx="466552" cy="154650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1D996EC3-E457-6C4E-BEE8-C9531C6F0428}"/>
              </a:ext>
            </a:extLst>
          </p:cNvPr>
          <p:cNvSpPr/>
          <p:nvPr/>
        </p:nvSpPr>
        <p:spPr>
          <a:xfrm>
            <a:off x="640080" y="2442659"/>
            <a:ext cx="8350286" cy="2266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3767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26</a:t>
            </a:fld>
            <a:r>
              <a:rPr lang="ja-JP" altLang="en-US" sz="1050" dirty="0">
                <a:latin typeface="+mn-ea"/>
              </a:rPr>
              <a:t>－</a:t>
            </a:r>
          </a:p>
        </p:txBody>
      </p:sp>
      <p:graphicFrame>
        <p:nvGraphicFramePr>
          <p:cNvPr id="2" name="表 1">
            <a:extLst>
              <a:ext uri="{FF2B5EF4-FFF2-40B4-BE49-F238E27FC236}">
                <a16:creationId xmlns:a16="http://schemas.microsoft.com/office/drawing/2014/main" id="{526DFA84-3957-41C1-627C-C865424D2C05}"/>
              </a:ext>
            </a:extLst>
          </p:cNvPr>
          <p:cNvGraphicFramePr>
            <a:graphicFrameLocks noGrp="1"/>
          </p:cNvGraphicFramePr>
          <p:nvPr>
            <p:extLst>
              <p:ext uri="{D42A27DB-BD31-4B8C-83A1-F6EECF244321}">
                <p14:modId xmlns:p14="http://schemas.microsoft.com/office/powerpoint/2010/main" val="3939571161"/>
              </p:ext>
            </p:extLst>
          </p:nvPr>
        </p:nvGraphicFramePr>
        <p:xfrm>
          <a:off x="128277" y="949905"/>
          <a:ext cx="8881549" cy="1110943"/>
        </p:xfrm>
        <a:graphic>
          <a:graphicData uri="http://schemas.openxmlformats.org/drawingml/2006/table">
            <a:tbl>
              <a:tblPr/>
              <a:tblGrid>
                <a:gridCol w="495715">
                  <a:extLst>
                    <a:ext uri="{9D8B030D-6E8A-4147-A177-3AD203B41FA5}">
                      <a16:colId xmlns:a16="http://schemas.microsoft.com/office/drawing/2014/main" val="1480483385"/>
                    </a:ext>
                  </a:extLst>
                </a:gridCol>
                <a:gridCol w="1397639">
                  <a:extLst>
                    <a:ext uri="{9D8B030D-6E8A-4147-A177-3AD203B41FA5}">
                      <a16:colId xmlns:a16="http://schemas.microsoft.com/office/drawing/2014/main" val="3175105297"/>
                    </a:ext>
                  </a:extLst>
                </a:gridCol>
                <a:gridCol w="1397639">
                  <a:extLst>
                    <a:ext uri="{9D8B030D-6E8A-4147-A177-3AD203B41FA5}">
                      <a16:colId xmlns:a16="http://schemas.microsoft.com/office/drawing/2014/main" val="4222984432"/>
                    </a:ext>
                  </a:extLst>
                </a:gridCol>
                <a:gridCol w="1397639">
                  <a:extLst>
                    <a:ext uri="{9D8B030D-6E8A-4147-A177-3AD203B41FA5}">
                      <a16:colId xmlns:a16="http://schemas.microsoft.com/office/drawing/2014/main" val="3756988707"/>
                    </a:ext>
                  </a:extLst>
                </a:gridCol>
                <a:gridCol w="1397639">
                  <a:extLst>
                    <a:ext uri="{9D8B030D-6E8A-4147-A177-3AD203B41FA5}">
                      <a16:colId xmlns:a16="http://schemas.microsoft.com/office/drawing/2014/main" val="2905299213"/>
                    </a:ext>
                  </a:extLst>
                </a:gridCol>
                <a:gridCol w="1397639">
                  <a:extLst>
                    <a:ext uri="{9D8B030D-6E8A-4147-A177-3AD203B41FA5}">
                      <a16:colId xmlns:a16="http://schemas.microsoft.com/office/drawing/2014/main" val="1468593211"/>
                    </a:ext>
                  </a:extLst>
                </a:gridCol>
                <a:gridCol w="1397639">
                  <a:extLst>
                    <a:ext uri="{9D8B030D-6E8A-4147-A177-3AD203B41FA5}">
                      <a16:colId xmlns:a16="http://schemas.microsoft.com/office/drawing/2014/main" val="2823172554"/>
                    </a:ext>
                  </a:extLst>
                </a:gridCol>
              </a:tblGrid>
              <a:tr h="35816">
                <a:tc>
                  <a:txBody>
                    <a:bodyPr/>
                    <a:lstStyle/>
                    <a:p>
                      <a:pPr algn="ctr" fontAlgn="ctr"/>
                      <a:r>
                        <a:rPr lang="ja-JP" altLang="en-US" sz="900" b="0" i="0" u="none" strike="noStrike" dirty="0">
                          <a:solidFill>
                            <a:schemeClr val="bg1"/>
                          </a:solidFill>
                          <a:effectLst/>
                          <a:latin typeface="BIZ UDPゴシック" panose="020B0400000000000000" pitchFamily="50" charset="-128"/>
                          <a:ea typeface="BIZ UDP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①</a:t>
                      </a:r>
                      <a:r>
                        <a:rPr lang="zh-TW"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職務達成責任</a:t>
                      </a:r>
                      <a:endParaRPr lang="en-US" altLang="zh-TW" sz="1000" b="1"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②チャレンジ精神</a:t>
                      </a:r>
                      <a:endParaRPr lang="en-US" altLang="ja-JP" sz="1000" b="1"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③チームワーク</a:t>
                      </a:r>
                      <a:endParaRPr lang="en-US" altLang="ja-JP" sz="1000" b="1"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④コミュニケーション</a:t>
                      </a:r>
                      <a:endParaRPr lang="en-US" altLang="ja-JP" sz="1000" b="1"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⑤業務改善</a:t>
                      </a:r>
                      <a:endParaRPr lang="en-US" altLang="ja-JP" sz="1000" b="1"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⑥人材育成</a:t>
                      </a:r>
                      <a:endParaRPr lang="en-US" altLang="ja-JP" sz="1000" b="1" i="0" u="none" strike="noStrike" dirty="0">
                        <a:solidFill>
                          <a:schemeClr val="bg1"/>
                        </a:solidFill>
                        <a:effectLst/>
                        <a:latin typeface="BIZ UDPゴシック" panose="020B0400000000000000" pitchFamily="50" charset="-128"/>
                        <a:ea typeface="BIZ UDP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543094577"/>
                  </a:ext>
                </a:extLst>
              </a:tr>
              <a:tr h="958543">
                <a:tc>
                  <a:txBody>
                    <a:bodyPr/>
                    <a:lstStyle/>
                    <a:p>
                      <a:pPr algn="ctr" fontAlgn="ctr"/>
                      <a:r>
                        <a:rPr lang="ja-JP" altLang="en-US" sz="1000" b="1" i="0" u="none" strike="noStrike" dirty="0">
                          <a:solidFill>
                            <a:schemeClr val="bg1"/>
                          </a:solidFill>
                          <a:effectLst/>
                          <a:latin typeface="BIZ UDPゴシック" panose="020B0400000000000000" pitchFamily="50" charset="-128"/>
                          <a:ea typeface="BIZ UDPゴシック" panose="020B0400000000000000" pitchFamily="50" charset="-128"/>
                        </a:rPr>
                        <a:t>定義</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確かな成果を生み出す為に、取り得るあらゆる手段を試み、責任をもって結果を追求する姿勢</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専門知識や経験を活かし、従来のやり方や風土にとらわれず、斬新なアイデアや新たな取り組みを追求し、困難な問題・課題に立ち向かっている。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チーム全体の最適や目標達成を意識し、専門知識や経験に基づき、自発的に行動し周囲へ影響をもたらしている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職務遂行を円滑化するために、専門知識や経験に基づき、社内外の関係者に働きかけ、協力関係を構築していく。</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専門知識や経験を活かし、自らの担当業務における改善に向け粘り強く取り組み、生産性の向上へ導いている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000" b="0" i="0" u="none" strike="noStrike" dirty="0">
                          <a:solidFill>
                            <a:srgbClr val="000000"/>
                          </a:solidFill>
                          <a:effectLst/>
                          <a:latin typeface="BIZ UDPゴシック" panose="020B0400000000000000" pitchFamily="50" charset="-128"/>
                          <a:ea typeface="BIZ UDPゴシック" panose="020B0400000000000000" pitchFamily="50" charset="-128"/>
                        </a:rPr>
                        <a:t>自らの専門的な知識・経験に基づき、部下・同僚・後輩に的確に助言や指導を与え、成長を促している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58401812"/>
                  </a:ext>
                </a:extLst>
              </a:tr>
            </a:tbl>
          </a:graphicData>
        </a:graphic>
      </p:graphicFrame>
      <p:graphicFrame>
        <p:nvGraphicFramePr>
          <p:cNvPr id="3" name="表 2">
            <a:extLst>
              <a:ext uri="{FF2B5EF4-FFF2-40B4-BE49-F238E27FC236}">
                <a16:creationId xmlns:a16="http://schemas.microsoft.com/office/drawing/2014/main" id="{E7764080-FA49-E9DC-E618-CB65958A7724}"/>
              </a:ext>
            </a:extLst>
          </p:cNvPr>
          <p:cNvGraphicFramePr>
            <a:graphicFrameLocks noGrp="1"/>
          </p:cNvGraphicFramePr>
          <p:nvPr>
            <p:extLst>
              <p:ext uri="{D42A27DB-BD31-4B8C-83A1-F6EECF244321}">
                <p14:modId xmlns:p14="http://schemas.microsoft.com/office/powerpoint/2010/main" val="106246526"/>
              </p:ext>
            </p:extLst>
          </p:nvPr>
        </p:nvGraphicFramePr>
        <p:xfrm>
          <a:off x="128277" y="2060848"/>
          <a:ext cx="8881549" cy="4191000"/>
        </p:xfrm>
        <a:graphic>
          <a:graphicData uri="http://schemas.openxmlformats.org/drawingml/2006/table">
            <a:tbl>
              <a:tblPr/>
              <a:tblGrid>
                <a:gridCol w="495715">
                  <a:extLst>
                    <a:ext uri="{9D8B030D-6E8A-4147-A177-3AD203B41FA5}">
                      <a16:colId xmlns:a16="http://schemas.microsoft.com/office/drawing/2014/main" val="1480483385"/>
                    </a:ext>
                  </a:extLst>
                </a:gridCol>
                <a:gridCol w="1397639">
                  <a:extLst>
                    <a:ext uri="{9D8B030D-6E8A-4147-A177-3AD203B41FA5}">
                      <a16:colId xmlns:a16="http://schemas.microsoft.com/office/drawing/2014/main" val="3175105297"/>
                    </a:ext>
                  </a:extLst>
                </a:gridCol>
                <a:gridCol w="1397639">
                  <a:extLst>
                    <a:ext uri="{9D8B030D-6E8A-4147-A177-3AD203B41FA5}">
                      <a16:colId xmlns:a16="http://schemas.microsoft.com/office/drawing/2014/main" val="4222984432"/>
                    </a:ext>
                  </a:extLst>
                </a:gridCol>
                <a:gridCol w="1397639">
                  <a:extLst>
                    <a:ext uri="{9D8B030D-6E8A-4147-A177-3AD203B41FA5}">
                      <a16:colId xmlns:a16="http://schemas.microsoft.com/office/drawing/2014/main" val="3756988707"/>
                    </a:ext>
                  </a:extLst>
                </a:gridCol>
                <a:gridCol w="1397639">
                  <a:extLst>
                    <a:ext uri="{9D8B030D-6E8A-4147-A177-3AD203B41FA5}">
                      <a16:colId xmlns:a16="http://schemas.microsoft.com/office/drawing/2014/main" val="2905299213"/>
                    </a:ext>
                  </a:extLst>
                </a:gridCol>
                <a:gridCol w="1397639">
                  <a:extLst>
                    <a:ext uri="{9D8B030D-6E8A-4147-A177-3AD203B41FA5}">
                      <a16:colId xmlns:a16="http://schemas.microsoft.com/office/drawing/2014/main" val="1468593211"/>
                    </a:ext>
                  </a:extLst>
                </a:gridCol>
                <a:gridCol w="1397639">
                  <a:extLst>
                    <a:ext uri="{9D8B030D-6E8A-4147-A177-3AD203B41FA5}">
                      <a16:colId xmlns:a16="http://schemas.microsoft.com/office/drawing/2014/main" val="2823172554"/>
                    </a:ext>
                  </a:extLst>
                </a:gridCol>
              </a:tblGrid>
              <a:tr h="251162">
                <a:tc>
                  <a:txBody>
                    <a:bodyPr/>
                    <a:lstStyle/>
                    <a:p>
                      <a:pPr algn="ctr" fontAlgn="ct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endPar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endParaRPr>
                    </a:p>
                    <a:p>
                      <a:pPr algn="ctr" fontAlgn="ct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10</a:t>
                      </a: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t"/>
                      <a:r>
                        <a:rPr lang="ja-JP" altLang="en-US" sz="900" b="1" i="0" u="none" strike="noStrike" dirty="0">
                          <a:effectLst/>
                          <a:latin typeface="BIZ UDPゴシック" panose="020B0400000000000000" pitchFamily="50" charset="-128"/>
                          <a:ea typeface="BIZ UDPゴシック" panose="020B0400000000000000" pitchFamily="50" charset="-128"/>
                        </a:rPr>
                        <a:t>経営目線で</a:t>
                      </a:r>
                      <a:r>
                        <a:rPr lang="en-US" altLang="ja-JP" sz="900" b="1" i="0" u="none" strike="noStrike" dirty="0">
                          <a:effectLst/>
                          <a:latin typeface="BIZ UDPゴシック" panose="020B0400000000000000" pitchFamily="50" charset="-128"/>
                          <a:ea typeface="BIZ UDPゴシック" panose="020B0400000000000000" pitchFamily="50" charset="-128"/>
                        </a:rPr>
                        <a:t>7</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8</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9</a:t>
                      </a:r>
                      <a:r>
                        <a:rPr lang="ja-JP" altLang="en-US" sz="900" b="1" i="0" u="none" strike="noStrike" dirty="0">
                          <a:effectLst/>
                          <a:latin typeface="BIZ UDPゴシック" panose="020B0400000000000000" pitchFamily="50" charset="-128"/>
                          <a:ea typeface="BIZ UDPゴシック" panose="020B0400000000000000" pitchFamily="50" charset="-128"/>
                        </a:rPr>
                        <a:t>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325" rtl="0" eaLnBrk="1" fontAlgn="t" latinLnBrk="0" hangingPunct="1">
                        <a:lnSpc>
                          <a:spcPct val="100000"/>
                        </a:lnSpc>
                        <a:spcBef>
                          <a:spcPts val="0"/>
                        </a:spcBef>
                        <a:spcAft>
                          <a:spcPts val="0"/>
                        </a:spcAft>
                        <a:buClrTx/>
                        <a:buSzTx/>
                        <a:buFontTx/>
                        <a:buNone/>
                        <a:tabLst/>
                        <a:defRPr/>
                      </a:pPr>
                      <a:r>
                        <a:rPr lang="ja-JP" altLang="en-US" sz="900" b="1" i="0" u="none" strike="noStrike" dirty="0">
                          <a:effectLst/>
                          <a:latin typeface="BIZ UDPゴシック" panose="020B0400000000000000" pitchFamily="50" charset="-128"/>
                          <a:ea typeface="BIZ UDPゴシック" panose="020B0400000000000000" pitchFamily="50" charset="-128"/>
                        </a:rPr>
                        <a:t>経営目線で</a:t>
                      </a:r>
                      <a:r>
                        <a:rPr lang="en-US" altLang="ja-JP" sz="900" b="1" i="0" u="none" strike="noStrike" dirty="0">
                          <a:effectLst/>
                          <a:latin typeface="BIZ UDPゴシック" panose="020B0400000000000000" pitchFamily="50" charset="-128"/>
                          <a:ea typeface="BIZ UDPゴシック" panose="020B0400000000000000" pitchFamily="50" charset="-128"/>
                        </a:rPr>
                        <a:t>7</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8</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9</a:t>
                      </a:r>
                      <a:r>
                        <a:rPr lang="ja-JP" altLang="en-US" sz="900" b="1" i="0" u="none" strike="noStrike" dirty="0">
                          <a:effectLst/>
                          <a:latin typeface="BIZ UDPゴシック" panose="020B0400000000000000" pitchFamily="50" charset="-128"/>
                          <a:ea typeface="BIZ UDPゴシック" panose="020B0400000000000000" pitchFamily="50" charset="-128"/>
                        </a:rPr>
                        <a:t>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325" rtl="0" eaLnBrk="1" fontAlgn="t" latinLnBrk="0" hangingPunct="1">
                        <a:lnSpc>
                          <a:spcPct val="100000"/>
                        </a:lnSpc>
                        <a:spcBef>
                          <a:spcPts val="0"/>
                        </a:spcBef>
                        <a:spcAft>
                          <a:spcPts val="0"/>
                        </a:spcAft>
                        <a:buClrTx/>
                        <a:buSzTx/>
                        <a:buFontTx/>
                        <a:buNone/>
                        <a:tabLst/>
                        <a:defRPr/>
                      </a:pPr>
                      <a:r>
                        <a:rPr lang="ja-JP" altLang="en-US" sz="900" b="1" i="0" u="none" strike="noStrike" dirty="0">
                          <a:effectLst/>
                          <a:latin typeface="BIZ UDPゴシック" panose="020B0400000000000000" pitchFamily="50" charset="-128"/>
                          <a:ea typeface="BIZ UDPゴシック" panose="020B0400000000000000" pitchFamily="50" charset="-128"/>
                        </a:rPr>
                        <a:t>経営目線で</a:t>
                      </a:r>
                      <a:r>
                        <a:rPr lang="en-US" altLang="ja-JP" sz="900" b="1" i="0" u="none" strike="noStrike" dirty="0">
                          <a:effectLst/>
                          <a:latin typeface="BIZ UDPゴシック" panose="020B0400000000000000" pitchFamily="50" charset="-128"/>
                          <a:ea typeface="BIZ UDPゴシック" panose="020B0400000000000000" pitchFamily="50" charset="-128"/>
                        </a:rPr>
                        <a:t>7</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8</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9</a:t>
                      </a:r>
                      <a:r>
                        <a:rPr lang="ja-JP" altLang="en-US" sz="900" b="1" i="0" u="none" strike="noStrike" dirty="0">
                          <a:effectLst/>
                          <a:latin typeface="BIZ UDPゴシック" panose="020B0400000000000000" pitchFamily="50" charset="-128"/>
                          <a:ea typeface="BIZ UDPゴシック" panose="020B0400000000000000" pitchFamily="50" charset="-128"/>
                        </a:rPr>
                        <a:t>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325" rtl="0" eaLnBrk="1" fontAlgn="t" latinLnBrk="0" hangingPunct="1">
                        <a:lnSpc>
                          <a:spcPct val="100000"/>
                        </a:lnSpc>
                        <a:spcBef>
                          <a:spcPts val="0"/>
                        </a:spcBef>
                        <a:spcAft>
                          <a:spcPts val="0"/>
                        </a:spcAft>
                        <a:buClrTx/>
                        <a:buSzTx/>
                        <a:buFontTx/>
                        <a:buNone/>
                        <a:tabLst/>
                        <a:defRPr/>
                      </a:pPr>
                      <a:r>
                        <a:rPr lang="ja-JP" altLang="en-US" sz="900" b="1" i="0" u="none" strike="noStrike" dirty="0">
                          <a:effectLst/>
                          <a:latin typeface="BIZ UDPゴシック" panose="020B0400000000000000" pitchFamily="50" charset="-128"/>
                          <a:ea typeface="BIZ UDPゴシック" panose="020B0400000000000000" pitchFamily="50" charset="-128"/>
                        </a:rPr>
                        <a:t>経営目線で</a:t>
                      </a:r>
                      <a:r>
                        <a:rPr lang="en-US" altLang="ja-JP" sz="900" b="1" i="0" u="none" strike="noStrike" dirty="0">
                          <a:effectLst/>
                          <a:latin typeface="BIZ UDPゴシック" panose="020B0400000000000000" pitchFamily="50" charset="-128"/>
                          <a:ea typeface="BIZ UDPゴシック" panose="020B0400000000000000" pitchFamily="50" charset="-128"/>
                        </a:rPr>
                        <a:t>7</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8</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9</a:t>
                      </a:r>
                      <a:r>
                        <a:rPr lang="ja-JP" altLang="en-US" sz="900" b="1" i="0" u="none" strike="noStrike" dirty="0">
                          <a:effectLst/>
                          <a:latin typeface="BIZ UDPゴシック" panose="020B0400000000000000" pitchFamily="50" charset="-128"/>
                          <a:ea typeface="BIZ UDPゴシック" panose="020B0400000000000000" pitchFamily="50" charset="-128"/>
                        </a:rPr>
                        <a:t>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325" rtl="0" eaLnBrk="1" fontAlgn="t" latinLnBrk="0" hangingPunct="1">
                        <a:lnSpc>
                          <a:spcPct val="100000"/>
                        </a:lnSpc>
                        <a:spcBef>
                          <a:spcPts val="0"/>
                        </a:spcBef>
                        <a:spcAft>
                          <a:spcPts val="0"/>
                        </a:spcAft>
                        <a:buClrTx/>
                        <a:buSzTx/>
                        <a:buFontTx/>
                        <a:buNone/>
                        <a:tabLst/>
                        <a:defRPr/>
                      </a:pPr>
                      <a:r>
                        <a:rPr lang="ja-JP" altLang="en-US" sz="900" b="1" i="0" u="none" strike="noStrike" dirty="0">
                          <a:effectLst/>
                          <a:latin typeface="BIZ UDPゴシック" panose="020B0400000000000000" pitchFamily="50" charset="-128"/>
                          <a:ea typeface="BIZ UDPゴシック" panose="020B0400000000000000" pitchFamily="50" charset="-128"/>
                        </a:rPr>
                        <a:t>経営目線で</a:t>
                      </a:r>
                      <a:r>
                        <a:rPr lang="en-US" altLang="ja-JP" sz="900" b="1" i="0" u="none" strike="noStrike" dirty="0">
                          <a:effectLst/>
                          <a:latin typeface="BIZ UDPゴシック" panose="020B0400000000000000" pitchFamily="50" charset="-128"/>
                          <a:ea typeface="BIZ UDPゴシック" panose="020B0400000000000000" pitchFamily="50" charset="-128"/>
                        </a:rPr>
                        <a:t>7</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8</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9</a:t>
                      </a:r>
                      <a:r>
                        <a:rPr lang="ja-JP" altLang="en-US" sz="900" b="1" i="0" u="none" strike="noStrike" dirty="0">
                          <a:effectLst/>
                          <a:latin typeface="BIZ UDPゴシック" panose="020B0400000000000000" pitchFamily="50" charset="-128"/>
                          <a:ea typeface="BIZ UDPゴシック" panose="020B0400000000000000" pitchFamily="50" charset="-128"/>
                        </a:rPr>
                        <a:t>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325" rtl="0" eaLnBrk="1" fontAlgn="t" latinLnBrk="0" hangingPunct="1">
                        <a:lnSpc>
                          <a:spcPct val="100000"/>
                        </a:lnSpc>
                        <a:spcBef>
                          <a:spcPts val="0"/>
                        </a:spcBef>
                        <a:spcAft>
                          <a:spcPts val="0"/>
                        </a:spcAft>
                        <a:buClrTx/>
                        <a:buSzTx/>
                        <a:buFontTx/>
                        <a:buNone/>
                        <a:tabLst/>
                        <a:defRPr/>
                      </a:pPr>
                      <a:r>
                        <a:rPr lang="ja-JP" altLang="en-US" sz="900" b="1" i="0" u="none" strike="noStrike" dirty="0">
                          <a:effectLst/>
                          <a:latin typeface="BIZ UDPゴシック" panose="020B0400000000000000" pitchFamily="50" charset="-128"/>
                          <a:ea typeface="BIZ UDPゴシック" panose="020B0400000000000000" pitchFamily="50" charset="-128"/>
                        </a:rPr>
                        <a:t>経営目線で</a:t>
                      </a:r>
                      <a:r>
                        <a:rPr lang="en-US" altLang="ja-JP" sz="900" b="1" i="0" u="none" strike="noStrike" dirty="0">
                          <a:effectLst/>
                          <a:latin typeface="BIZ UDPゴシック" panose="020B0400000000000000" pitchFamily="50" charset="-128"/>
                          <a:ea typeface="BIZ UDPゴシック" panose="020B0400000000000000" pitchFamily="50" charset="-128"/>
                        </a:rPr>
                        <a:t>7</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8</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9</a:t>
                      </a:r>
                      <a:r>
                        <a:rPr lang="ja-JP" altLang="en-US" sz="900" b="1" i="0" u="none" strike="noStrike" dirty="0">
                          <a:effectLst/>
                          <a:latin typeface="BIZ UDPゴシック" panose="020B0400000000000000" pitchFamily="50" charset="-128"/>
                          <a:ea typeface="BIZ UDPゴシック" panose="020B0400000000000000" pitchFamily="50" charset="-128"/>
                        </a:rPr>
                        <a:t>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62125998"/>
                  </a:ext>
                </a:extLst>
              </a:tr>
              <a:tr h="1255811">
                <a:tc>
                  <a:txBody>
                    <a:bodyPr/>
                    <a:lstStyle/>
                    <a:p>
                      <a:pPr algn="ctr" fontAlgn="ct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endPar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endParaRPr>
                    </a:p>
                    <a:p>
                      <a:pPr algn="ctr" fontAlgn="ct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7</a:t>
                      </a: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8</a:t>
                      </a: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・経営方針・部内方針に基づき、与えられた達成すべき成果や役割、責任を理解し、その達成に向けて的確なマネジメントを行っている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・自らリーダーシップを発揮し、組織業績の達成に向け、部下や周囲へ積極的に働き掛けている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・斬新なアイデアや常にチャレンジングな取組を実践し、目標達成に向けて実行している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・目標に対して執着し、結果が出るまで粘り強くとことんやり通している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・所属部署の目標や自らの役割を理解し、チーム全体の目標達成のために、自ら進んで社内の関係者と協力して行動している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・部内や社内に留まらず、社外の関係者とも積極的に協力し、チーム成果に貢献している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・率先して職場内の上下左右の意志疎通を図っている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・社外の方とも積極的にｺﾐｭﾆｹｰｼｮﾝを図ることで信頼を得て、良好な協力関係を構築している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・より高い知識やスキルの習得に励むとともに、担当業務の改善の課題を明確にし、改善を実施している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・業務改善だけに留まらずに職場における人材育成・組織作りへも影響を発揮し、周囲への模範となっている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・部内のスタッフへはもちろん、部外へのスタッフに対しても的確に助言をし、指導ができている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endParaRPr lang="ja-JP" altLang="en-US" sz="900" b="1" i="0" u="none" strike="noStrike" dirty="0">
                        <a:effectLst/>
                        <a:latin typeface="BIZ UDPゴシック" panose="020B0400000000000000" pitchFamily="50" charset="-128"/>
                        <a:ea typeface="BIZ UDPゴシック" panose="020B0400000000000000" pitchFamily="50" charset="-128"/>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30727267"/>
                  </a:ext>
                </a:extLst>
              </a:tr>
              <a:tr h="1130230">
                <a:tc>
                  <a:txBody>
                    <a:bodyPr/>
                    <a:lstStyle/>
                    <a:p>
                      <a:pPr algn="ctr" fontAlgn="ct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endPar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endParaRPr>
                    </a:p>
                    <a:p>
                      <a:pPr algn="ctr" fontAlgn="ct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4</a:t>
                      </a: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5</a:t>
                      </a: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・与えられた成果や役割・責任を認識し、その達成に向け日々業務に取り組んでいる。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・組織業績の達成に向け、周囲と連携を図り、前向きに行動をしている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・目標達成に向け、既存の枠組みにとらわれることなく行動に移している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・取り組んだ全ての目標に対して成果をあげているわけではないが、障害や困難に対しても諦めず取り組む姿勢を持っている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・所属部署の目標や自らの役割を理解し、所属部署のメンバーと協力して行動し、チーム内に相乗効果をもたらしている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・職務遂行を円滑にするためには、周りとの協力関係が重要であるということを理解している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・協力関係の構築が図れるよう、関係者とのコミュニケーションを心がけている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・担当業務における課題を理解し、適宜必要な業務改善を行っている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・職場の課題に対しても、前向きに改善行動を行っている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・部内のスタッフへ的確な助言や指導を行い、成長を促している</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endParaRPr lang="ja-JP" altLang="en-US" sz="900" b="1" i="0" u="none" strike="noStrike" dirty="0">
                        <a:effectLst/>
                        <a:latin typeface="BIZ UDPゴシック" panose="020B0400000000000000" pitchFamily="50" charset="-128"/>
                        <a:ea typeface="BIZ UDPゴシック" panose="020B0400000000000000" pitchFamily="50" charset="-128"/>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61849973"/>
                  </a:ext>
                </a:extLst>
              </a:tr>
              <a:tr h="1004649">
                <a:tc>
                  <a:txBody>
                    <a:bodyPr/>
                    <a:lstStyle/>
                    <a:p>
                      <a:pPr algn="ctr" fontAlgn="ct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endPar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endParaRPr>
                    </a:p>
                    <a:p>
                      <a:pPr algn="ctr" fontAlgn="ct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2</a:t>
                      </a:r>
                      <a:r>
                        <a:rPr lang="ja-JP" altLang="en-US"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a:t>
                      </a:r>
                      <a:r>
                        <a:rPr lang="en-US" altLang="ja-JP" sz="9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・与えられた役割・責任の一部は果たしている</a:t>
                      </a: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・組織業績達成に向けて周囲と連携して業務に取り組む姿勢がやや欠けている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・業務に対する取り組み姿勢は問題ないが、既存のスタイルや思考から脱却するまでには至っていない。</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a:effectLst/>
                          <a:latin typeface="BIZ UDPゴシック" panose="020B0400000000000000" pitchFamily="50" charset="-128"/>
                          <a:ea typeface="BIZ UDPゴシック" panose="020B0400000000000000" pitchFamily="50" charset="-128"/>
                        </a:rPr>
                        <a:t>・所属部署のメンバーと協力して行動する姿勢が一部では見られるが、チームワークの発揮までには至っていない</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・一部の限定的な対象や範囲ではコミュニケーションをとっている</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・担当業務における課題は認識しているものの改善には至っていない。</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r>
                        <a:rPr lang="ja-JP" altLang="en-US" sz="900" b="1" i="0" u="none" strike="noStrike" dirty="0">
                          <a:effectLst/>
                          <a:latin typeface="BIZ UDPゴシック" panose="020B0400000000000000" pitchFamily="50" charset="-128"/>
                          <a:ea typeface="BIZ UDPゴシック" panose="020B0400000000000000" pitchFamily="50" charset="-128"/>
                        </a:rPr>
                        <a:t>・職場における人材育成や組織風土の醸成において、影響を与えるまでには至っていない</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t"/>
                      <a:r>
                        <a:rPr lang="ja-JP" altLang="en-US" sz="900" b="1" i="0" u="none" strike="noStrike" dirty="0">
                          <a:effectLst/>
                          <a:latin typeface="BIZ UDPゴシック" panose="020B0400000000000000" pitchFamily="50" charset="-128"/>
                          <a:ea typeface="BIZ UDPゴシック" panose="020B0400000000000000" pitchFamily="50" charset="-128"/>
                        </a:rPr>
                        <a:t>・自らの後任の育成を行う中で、部内のスタッフに対して的確な助言や指導を行えていない</a:t>
                      </a:r>
                      <a:br>
                        <a:rPr lang="ja-JP" altLang="en-US" sz="900" b="1" i="0" u="none" strike="noStrike" dirty="0">
                          <a:effectLst/>
                          <a:latin typeface="BIZ UDPゴシック" panose="020B0400000000000000" pitchFamily="50" charset="-128"/>
                          <a:ea typeface="BIZ UDPゴシック" panose="020B0400000000000000" pitchFamily="50" charset="-128"/>
                        </a:rPr>
                      </a:br>
                      <a:br>
                        <a:rPr lang="ja-JP" altLang="en-US" sz="900" b="1" i="0" u="none" strike="noStrike" dirty="0">
                          <a:effectLst/>
                          <a:latin typeface="BIZ UDPゴシック" panose="020B0400000000000000" pitchFamily="50" charset="-128"/>
                          <a:ea typeface="BIZ UDPゴシック" panose="020B0400000000000000" pitchFamily="50" charset="-128"/>
                        </a:rPr>
                      </a:br>
                      <a:endParaRPr lang="ja-JP" altLang="en-US" sz="900" b="1" i="0" u="none" strike="noStrike" dirty="0">
                        <a:effectLst/>
                        <a:latin typeface="BIZ UDPゴシック" panose="020B0400000000000000" pitchFamily="50" charset="-128"/>
                        <a:ea typeface="BIZ UDPゴシック" panose="020B0400000000000000" pitchFamily="50" charset="-128"/>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73799089"/>
                  </a:ext>
                </a:extLst>
              </a:tr>
              <a:tr h="197068">
                <a:tc>
                  <a:txBody>
                    <a:bodyPr/>
                    <a:lstStyle/>
                    <a:p>
                      <a:pPr algn="ctr" fontAlgn="ctr"/>
                      <a:r>
                        <a:rPr lang="ja-JP" altLang="en-US" sz="7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Ｇ</a:t>
                      </a:r>
                      <a:endParaRPr lang="en-US" altLang="ja-JP" sz="7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endParaRPr>
                    </a:p>
                    <a:p>
                      <a:pPr algn="ctr" fontAlgn="ctr"/>
                      <a:r>
                        <a:rPr lang="en-US" altLang="ja-JP" sz="7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900" b="1" i="0" u="none" strike="noStrike" dirty="0">
                          <a:effectLst/>
                          <a:latin typeface="BIZ UDPゴシック" panose="020B0400000000000000" pitchFamily="50" charset="-128"/>
                          <a:ea typeface="BIZ UDPゴシック" panose="020B0400000000000000" pitchFamily="50" charset="-128"/>
                        </a:rPr>
                        <a:t>　</a:t>
                      </a:r>
                      <a:r>
                        <a:rPr lang="en-US" altLang="ja-JP" sz="900" b="1" i="0" u="none" strike="noStrike" dirty="0">
                          <a:effectLst/>
                          <a:latin typeface="BIZ UDPゴシック" panose="020B0400000000000000" pitchFamily="50" charset="-128"/>
                          <a:ea typeface="BIZ UDPゴシック" panose="020B0400000000000000" pitchFamily="50" charset="-128"/>
                        </a:rPr>
                        <a:t>2</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3</a:t>
                      </a:r>
                      <a:r>
                        <a:rPr lang="ja-JP" altLang="en-US" sz="900" b="1" i="0" u="none" strike="noStrike" dirty="0">
                          <a:effectLst/>
                          <a:latin typeface="BIZ UDPゴシック" panose="020B0400000000000000" pitchFamily="50" charset="-128"/>
                          <a:ea typeface="BIZ UDPゴシック" panose="020B0400000000000000" pitchFamily="50" charset="-128"/>
                        </a:rPr>
                        <a:t>未満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ja-JP" altLang="en-US" sz="900" b="1" i="0" u="none" strike="noStrike" dirty="0">
                          <a:effectLst/>
                          <a:latin typeface="BIZ UDPゴシック" panose="020B0400000000000000" pitchFamily="50" charset="-128"/>
                          <a:ea typeface="BIZ UDPゴシック" panose="020B0400000000000000" pitchFamily="50" charset="-128"/>
                        </a:rPr>
                        <a:t>　</a:t>
                      </a:r>
                      <a:r>
                        <a:rPr lang="en-US" altLang="ja-JP" sz="900" b="1" i="0" u="none" strike="noStrike" dirty="0">
                          <a:effectLst/>
                          <a:latin typeface="BIZ UDPゴシック" panose="020B0400000000000000" pitchFamily="50" charset="-128"/>
                          <a:ea typeface="BIZ UDPゴシック" panose="020B0400000000000000" pitchFamily="50" charset="-128"/>
                        </a:rPr>
                        <a:t>2</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3</a:t>
                      </a:r>
                      <a:r>
                        <a:rPr lang="ja-JP" altLang="en-US" sz="900" b="1" i="0" u="none" strike="noStrike" dirty="0">
                          <a:effectLst/>
                          <a:latin typeface="BIZ UDPゴシック" panose="020B0400000000000000" pitchFamily="50" charset="-128"/>
                          <a:ea typeface="BIZ UDPゴシック" panose="020B0400000000000000" pitchFamily="50" charset="-128"/>
                        </a:rPr>
                        <a:t>未満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ja-JP" sz="900" b="1" i="0" u="none" strike="noStrike" dirty="0">
                          <a:effectLst/>
                          <a:latin typeface="BIZ UDPゴシック" panose="020B0400000000000000" pitchFamily="50" charset="-128"/>
                          <a:ea typeface="BIZ UDPゴシック" panose="020B0400000000000000" pitchFamily="50" charset="-128"/>
                        </a:rPr>
                        <a:t>2</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3</a:t>
                      </a:r>
                      <a:r>
                        <a:rPr lang="ja-JP" altLang="en-US" sz="900" b="1" i="0" u="none" strike="noStrike" dirty="0">
                          <a:effectLst/>
                          <a:latin typeface="BIZ UDPゴシック" panose="020B0400000000000000" pitchFamily="50" charset="-128"/>
                          <a:ea typeface="BIZ UDPゴシック" panose="020B0400000000000000" pitchFamily="50" charset="-128"/>
                        </a:rPr>
                        <a:t>未満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ja-JP" altLang="en-US" sz="900" b="1" i="0" u="none" strike="noStrike" dirty="0">
                          <a:effectLst/>
                          <a:latin typeface="BIZ UDPゴシック" panose="020B0400000000000000" pitchFamily="50" charset="-128"/>
                          <a:ea typeface="BIZ UDPゴシック" panose="020B0400000000000000" pitchFamily="50" charset="-128"/>
                        </a:rPr>
                        <a:t>　</a:t>
                      </a:r>
                      <a:r>
                        <a:rPr lang="en-US" altLang="ja-JP" sz="900" b="1" i="0" u="none" strike="noStrike" dirty="0">
                          <a:effectLst/>
                          <a:latin typeface="BIZ UDPゴシック" panose="020B0400000000000000" pitchFamily="50" charset="-128"/>
                          <a:ea typeface="BIZ UDPゴシック" panose="020B0400000000000000" pitchFamily="50" charset="-128"/>
                        </a:rPr>
                        <a:t>2</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3</a:t>
                      </a:r>
                      <a:r>
                        <a:rPr lang="ja-JP" altLang="en-US" sz="900" b="1" i="0" u="none" strike="noStrike" dirty="0">
                          <a:effectLst/>
                          <a:latin typeface="BIZ UDPゴシック" panose="020B0400000000000000" pitchFamily="50" charset="-128"/>
                          <a:ea typeface="BIZ UDPゴシック" panose="020B0400000000000000" pitchFamily="50" charset="-128"/>
                        </a:rPr>
                        <a:t>未満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ja-JP" altLang="en-US" sz="900" b="1" i="0" u="none" strike="noStrike" dirty="0">
                          <a:effectLst/>
                          <a:latin typeface="BIZ UDPゴシック" panose="020B0400000000000000" pitchFamily="50" charset="-128"/>
                          <a:ea typeface="BIZ UDPゴシック" panose="020B0400000000000000" pitchFamily="50" charset="-128"/>
                        </a:rPr>
                        <a:t>　</a:t>
                      </a:r>
                      <a:r>
                        <a:rPr lang="en-US" altLang="ja-JP" sz="900" b="1" i="0" u="none" strike="noStrike" dirty="0">
                          <a:effectLst/>
                          <a:latin typeface="BIZ UDPゴシック" panose="020B0400000000000000" pitchFamily="50" charset="-128"/>
                          <a:ea typeface="BIZ UDPゴシック" panose="020B0400000000000000" pitchFamily="50" charset="-128"/>
                        </a:rPr>
                        <a:t>2</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3</a:t>
                      </a:r>
                      <a:r>
                        <a:rPr lang="ja-JP" altLang="en-US" sz="900" b="1" i="0" u="none" strike="noStrike" dirty="0">
                          <a:effectLst/>
                          <a:latin typeface="BIZ UDPゴシック" panose="020B0400000000000000" pitchFamily="50" charset="-128"/>
                          <a:ea typeface="BIZ UDPゴシック" panose="020B0400000000000000" pitchFamily="50" charset="-128"/>
                        </a:rPr>
                        <a:t>未満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ja-JP" altLang="en-US" sz="900" b="1" i="0" u="none" strike="noStrike" dirty="0">
                          <a:effectLst/>
                          <a:latin typeface="BIZ UDPゴシック" panose="020B0400000000000000" pitchFamily="50" charset="-128"/>
                          <a:ea typeface="BIZ UDPゴシック" panose="020B0400000000000000" pitchFamily="50" charset="-128"/>
                        </a:rPr>
                        <a:t>　</a:t>
                      </a:r>
                      <a:r>
                        <a:rPr lang="en-US" altLang="ja-JP" sz="900" b="1" i="0" u="none" strike="noStrike" dirty="0">
                          <a:effectLst/>
                          <a:latin typeface="BIZ UDPゴシック" panose="020B0400000000000000" pitchFamily="50" charset="-128"/>
                          <a:ea typeface="BIZ UDPゴシック" panose="020B0400000000000000" pitchFamily="50" charset="-128"/>
                        </a:rPr>
                        <a:t>2</a:t>
                      </a:r>
                      <a:r>
                        <a:rPr lang="ja-JP" altLang="en-US" sz="900" b="1" i="0" u="none" strike="noStrike" dirty="0">
                          <a:effectLst/>
                          <a:latin typeface="BIZ UDPゴシック" panose="020B0400000000000000" pitchFamily="50" charset="-128"/>
                          <a:ea typeface="BIZ UDPゴシック" panose="020B0400000000000000" pitchFamily="50" charset="-128"/>
                        </a:rPr>
                        <a:t>・</a:t>
                      </a:r>
                      <a:r>
                        <a:rPr lang="en-US" altLang="ja-JP" sz="900" b="1" i="0" u="none" strike="noStrike" dirty="0">
                          <a:effectLst/>
                          <a:latin typeface="BIZ UDPゴシック" panose="020B0400000000000000" pitchFamily="50" charset="-128"/>
                          <a:ea typeface="BIZ UDPゴシック" panose="020B0400000000000000" pitchFamily="50" charset="-128"/>
                        </a:rPr>
                        <a:t>3</a:t>
                      </a:r>
                      <a:r>
                        <a:rPr lang="ja-JP" altLang="en-US" sz="900" b="1" i="0" u="none" strike="noStrike" dirty="0">
                          <a:effectLst/>
                          <a:latin typeface="BIZ UDPゴシック" panose="020B0400000000000000" pitchFamily="50" charset="-128"/>
                          <a:ea typeface="BIZ UDPゴシック" panose="020B0400000000000000" pitchFamily="50" charset="-128"/>
                        </a:rPr>
                        <a:t>未満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54354350"/>
                  </a:ext>
                </a:extLst>
              </a:tr>
            </a:tbl>
          </a:graphicData>
        </a:graphic>
      </p:graphicFrame>
      <p:sp>
        <p:nvSpPr>
          <p:cNvPr id="10" name="正方形/長方形 9">
            <a:extLst>
              <a:ext uri="{FF2B5EF4-FFF2-40B4-BE49-F238E27FC236}">
                <a16:creationId xmlns:a16="http://schemas.microsoft.com/office/drawing/2014/main" id="{B5CF21CF-5A6A-7715-479D-91B21305E8BF}"/>
              </a:ext>
            </a:extLst>
          </p:cNvPr>
          <p:cNvSpPr/>
          <p:nvPr/>
        </p:nvSpPr>
        <p:spPr>
          <a:xfrm>
            <a:off x="128277" y="6290126"/>
            <a:ext cx="8881549" cy="434400"/>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latin typeface="BIZ UDPゴシック" panose="020B0400000000000000" pitchFamily="50" charset="-128"/>
                <a:ea typeface="BIZ UDPゴシック" panose="020B0400000000000000" pitchFamily="50" charset="-128"/>
              </a:rPr>
              <a:t>・行動評価は、</a:t>
            </a:r>
            <a:r>
              <a:rPr lang="en-US" altLang="ja-JP" sz="1400" dirty="0">
                <a:solidFill>
                  <a:schemeClr val="tx1"/>
                </a:solidFill>
                <a:latin typeface="BIZ UDPゴシック" panose="020B0400000000000000" pitchFamily="50" charset="-128"/>
                <a:ea typeface="BIZ UDPゴシック" panose="020B0400000000000000" pitchFamily="50" charset="-128"/>
              </a:rPr>
              <a:t>5</a:t>
            </a:r>
            <a:r>
              <a:rPr lang="ja-JP" altLang="en-US" sz="1400" dirty="0">
                <a:solidFill>
                  <a:schemeClr val="tx1"/>
                </a:solidFill>
                <a:latin typeface="BIZ UDPゴシック" panose="020B0400000000000000" pitchFamily="50" charset="-128"/>
                <a:ea typeface="BIZ UDPゴシック" panose="020B0400000000000000" pitchFamily="50" charset="-128"/>
              </a:rPr>
              <a:t>段階での評価とする。最上位で「</a:t>
            </a:r>
            <a:r>
              <a:rPr lang="en-US" altLang="ja-JP" sz="1400" dirty="0">
                <a:solidFill>
                  <a:schemeClr val="tx1"/>
                </a:solidFill>
                <a:latin typeface="BIZ UDPゴシック" panose="020B0400000000000000" pitchFamily="50" charset="-128"/>
                <a:ea typeface="BIZ UDPゴシック" panose="020B0400000000000000" pitchFamily="50" charset="-128"/>
              </a:rPr>
              <a:t>G10</a:t>
            </a:r>
            <a:r>
              <a:rPr lang="ja-JP" altLang="en-US" sz="1400" dirty="0">
                <a:solidFill>
                  <a:schemeClr val="tx1"/>
                </a:solidFill>
                <a:latin typeface="BIZ UDPゴシック" panose="020B0400000000000000" pitchFamily="50" charset="-128"/>
                <a:ea typeface="BIZ UDPゴシック" panose="020B0400000000000000" pitchFamily="50" charset="-128"/>
              </a:rPr>
              <a:t>・</a:t>
            </a:r>
            <a:r>
              <a:rPr lang="en-US" altLang="ja-JP" sz="1400" dirty="0">
                <a:solidFill>
                  <a:schemeClr val="tx1"/>
                </a:solidFill>
                <a:latin typeface="BIZ UDPゴシック" panose="020B0400000000000000" pitchFamily="50" charset="-128"/>
                <a:ea typeface="BIZ UDPゴシック" panose="020B0400000000000000" pitchFamily="50" charset="-128"/>
              </a:rPr>
              <a:t>11</a:t>
            </a:r>
            <a:r>
              <a:rPr lang="ja-JP" altLang="en-US" sz="1400" dirty="0">
                <a:solidFill>
                  <a:schemeClr val="tx1"/>
                </a:solidFill>
                <a:latin typeface="BIZ UDPゴシック" panose="020B0400000000000000" pitchFamily="50" charset="-128"/>
                <a:ea typeface="BIZ UDPゴシック" panose="020B0400000000000000" pitchFamily="50" charset="-128"/>
              </a:rPr>
              <a:t>相当」、最下位で「</a:t>
            </a:r>
            <a:r>
              <a:rPr lang="en-US" altLang="ja-JP" sz="1400" dirty="0">
                <a:solidFill>
                  <a:schemeClr val="tx1"/>
                </a:solidFill>
                <a:latin typeface="BIZ UDPゴシック" panose="020B0400000000000000" pitchFamily="50" charset="-128"/>
                <a:ea typeface="BIZ UDPゴシック" panose="020B0400000000000000" pitchFamily="50" charset="-128"/>
              </a:rPr>
              <a:t>G1</a:t>
            </a:r>
            <a:r>
              <a:rPr lang="ja-JP" altLang="en-US" sz="1400" dirty="0">
                <a:solidFill>
                  <a:schemeClr val="tx1"/>
                </a:solidFill>
                <a:latin typeface="BIZ UDPゴシック" panose="020B0400000000000000" pitchFamily="50" charset="-128"/>
                <a:ea typeface="BIZ UDPゴシック" panose="020B0400000000000000" pitchFamily="50" charset="-128"/>
              </a:rPr>
              <a:t>相当」、とする。</a:t>
            </a:r>
            <a:endParaRPr lang="en-US" altLang="ja-JP" sz="1400" dirty="0">
              <a:solidFill>
                <a:schemeClr val="tx1"/>
              </a:solidFill>
              <a:latin typeface="BIZ UDPゴシック" panose="020B0400000000000000" pitchFamily="50" charset="-128"/>
              <a:ea typeface="BIZ UDPゴシック" panose="020B0400000000000000" pitchFamily="50" charset="-128"/>
            </a:endParaRPr>
          </a:p>
        </p:txBody>
      </p:sp>
      <p:sp>
        <p:nvSpPr>
          <p:cNvPr id="4" name="タイトル 2">
            <a:extLst>
              <a:ext uri="{FF2B5EF4-FFF2-40B4-BE49-F238E27FC236}">
                <a16:creationId xmlns:a16="http://schemas.microsoft.com/office/drawing/2014/main" id="{FCB59DC3-017E-A4FC-8C06-4395937D6F20}"/>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新制度　総合職・専門職共通　②行動評価について　定義</a:t>
            </a:r>
          </a:p>
        </p:txBody>
      </p:sp>
      <p:sp>
        <p:nvSpPr>
          <p:cNvPr id="5" name="吹き出し: 線 4">
            <a:extLst>
              <a:ext uri="{FF2B5EF4-FFF2-40B4-BE49-F238E27FC236}">
                <a16:creationId xmlns:a16="http://schemas.microsoft.com/office/drawing/2014/main" id="{C3A04408-2F3C-FB17-DD1D-0C528D3FC446}"/>
              </a:ext>
            </a:extLst>
          </p:cNvPr>
          <p:cNvSpPr/>
          <p:nvPr/>
        </p:nvSpPr>
        <p:spPr>
          <a:xfrm>
            <a:off x="5580112" y="183808"/>
            <a:ext cx="1008112" cy="436787"/>
          </a:xfrm>
          <a:prstGeom prst="borderCallout1">
            <a:avLst>
              <a:gd name="adj1" fmla="val 88278"/>
              <a:gd name="adj2" fmla="val 16055"/>
              <a:gd name="adj3" fmla="val 166829"/>
              <a:gd name="adj4" fmla="val -30175"/>
            </a:avLst>
          </a:prstGeom>
          <a:solidFill>
            <a:srgbClr val="FFFFCC"/>
          </a:solidFill>
          <a:ln w="12700">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再掲</a:t>
            </a:r>
          </a:p>
        </p:txBody>
      </p:sp>
    </p:spTree>
    <p:extLst>
      <p:ext uri="{BB962C8B-B14F-4D97-AF65-F5344CB8AC3E}">
        <p14:creationId xmlns:p14="http://schemas.microsoft.com/office/powerpoint/2010/main" val="2119261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89373D74-1554-0914-0D84-BB1CF1AE0FD3}"/>
              </a:ext>
            </a:extLst>
          </p:cNvPr>
          <p:cNvSpPr/>
          <p:nvPr/>
        </p:nvSpPr>
        <p:spPr>
          <a:xfrm>
            <a:off x="7045506" y="4318034"/>
            <a:ext cx="1838348" cy="2016224"/>
          </a:xfrm>
          <a:prstGeom prst="rect">
            <a:avLst/>
          </a:prstGeom>
          <a:solidFill>
            <a:schemeClr val="accent1">
              <a:lumMod val="60000"/>
              <a:lumOff val="4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2P</a:t>
            </a:r>
          </a:p>
          <a:p>
            <a:pPr algn="ctr"/>
            <a:r>
              <a:rPr lang="ja-JP" altLang="en-US"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（不足）</a:t>
            </a:r>
            <a:endParaRPr kumimoji="1" lang="en-US" altLang="ja-JP"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18" name="正方形/長方形 17">
            <a:extLst>
              <a:ext uri="{FF2B5EF4-FFF2-40B4-BE49-F238E27FC236}">
                <a16:creationId xmlns:a16="http://schemas.microsoft.com/office/drawing/2014/main" id="{249EAD51-8A89-2C35-DA2D-AAE3DB50201E}"/>
              </a:ext>
            </a:extLst>
          </p:cNvPr>
          <p:cNvSpPr/>
          <p:nvPr/>
        </p:nvSpPr>
        <p:spPr>
          <a:xfrm>
            <a:off x="1971086" y="4318034"/>
            <a:ext cx="1838348" cy="2016224"/>
          </a:xfrm>
          <a:prstGeom prst="rect">
            <a:avLst/>
          </a:prstGeom>
          <a:solidFill>
            <a:schemeClr val="accent1">
              <a:lumMod val="20000"/>
              <a:lumOff val="8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G7</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8</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9</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レベル</a:t>
            </a:r>
          </a:p>
        </p:txBody>
      </p:sp>
      <p:sp>
        <p:nvSpPr>
          <p:cNvPr id="11"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27</a:t>
            </a:fld>
            <a:r>
              <a:rPr lang="ja-JP" altLang="en-US" sz="1050" dirty="0">
                <a:latin typeface="+mn-ea"/>
              </a:rPr>
              <a:t>－</a:t>
            </a:r>
          </a:p>
        </p:txBody>
      </p:sp>
      <p:sp>
        <p:nvSpPr>
          <p:cNvPr id="9" name="タイトル 2">
            <a:extLst>
              <a:ext uri="{FF2B5EF4-FFF2-40B4-BE49-F238E27FC236}">
                <a16:creationId xmlns:a16="http://schemas.microsoft.com/office/drawing/2014/main" id="{89BAE1CA-24A7-45B0-A7E7-5D2F54791A49}"/>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新制度　専門職　②行動評価について　例示</a:t>
            </a:r>
          </a:p>
        </p:txBody>
      </p:sp>
      <p:pic>
        <p:nvPicPr>
          <p:cNvPr id="5" name="図 4" descr="スーツを着た人の絵&#10;&#10;中程度の精度で自動的に生成された説明">
            <a:extLst>
              <a:ext uri="{FF2B5EF4-FFF2-40B4-BE49-F238E27FC236}">
                <a16:creationId xmlns:a16="http://schemas.microsoft.com/office/drawing/2014/main" id="{0FC7FA27-6B8B-0EA2-F770-1F10A3E327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76" y="1642790"/>
            <a:ext cx="1155297" cy="1658888"/>
          </a:xfrm>
          <a:prstGeom prst="rect">
            <a:avLst/>
          </a:prstGeom>
        </p:spPr>
      </p:pic>
      <p:pic>
        <p:nvPicPr>
          <p:cNvPr id="8" name="図 7" descr="スーツを着ている人形&#10;&#10;中程度の精度で自動的に生成された説明">
            <a:extLst>
              <a:ext uri="{FF2B5EF4-FFF2-40B4-BE49-F238E27FC236}">
                <a16:creationId xmlns:a16="http://schemas.microsoft.com/office/drawing/2014/main" id="{744A1995-D6E7-3E45-D0BA-EDF2379D72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755" y="4329182"/>
            <a:ext cx="1300433" cy="1664061"/>
          </a:xfrm>
          <a:prstGeom prst="rect">
            <a:avLst/>
          </a:prstGeom>
        </p:spPr>
      </p:pic>
      <p:sp>
        <p:nvSpPr>
          <p:cNvPr id="10" name="タイトル 2">
            <a:extLst>
              <a:ext uri="{FF2B5EF4-FFF2-40B4-BE49-F238E27FC236}">
                <a16:creationId xmlns:a16="http://schemas.microsoft.com/office/drawing/2014/main" id="{B1C92D7D-F99D-B949-3CD6-AB722767C3E1}"/>
              </a:ext>
            </a:extLst>
          </p:cNvPr>
          <p:cNvSpPr txBox="1">
            <a:spLocks/>
          </p:cNvSpPr>
          <p:nvPr/>
        </p:nvSpPr>
        <p:spPr>
          <a:xfrm>
            <a:off x="-2652" y="5963270"/>
            <a:ext cx="197373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200" b="1" dirty="0">
                <a:latin typeface="BIZ UDPゴシック" panose="020B0400000000000000" pitchFamily="50" charset="-128"/>
                <a:ea typeface="BIZ UDPゴシック" panose="020B0400000000000000" pitchFamily="50" charset="-128"/>
              </a:rPr>
              <a:t>専門職　</a:t>
            </a:r>
            <a:r>
              <a:rPr lang="en-US" altLang="ja-JP" sz="1200" b="1" dirty="0">
                <a:latin typeface="BIZ UDPゴシック" panose="020B0400000000000000" pitchFamily="50" charset="-128"/>
                <a:ea typeface="BIZ UDPゴシック" panose="020B0400000000000000" pitchFamily="50" charset="-128"/>
              </a:rPr>
              <a:t>G4</a:t>
            </a:r>
          </a:p>
          <a:p>
            <a:pPr algn="ctr"/>
            <a:r>
              <a:rPr lang="ja-JP" altLang="en-US" sz="1200" b="1" dirty="0">
                <a:latin typeface="BIZ UDPゴシック" panose="020B0400000000000000" pitchFamily="50" charset="-128"/>
                <a:ea typeface="BIZ UDPゴシック" panose="020B0400000000000000" pitchFamily="50" charset="-128"/>
              </a:rPr>
              <a:t>（総合職　Ｇ</a:t>
            </a:r>
            <a:r>
              <a:rPr lang="en-US" altLang="ja-JP" sz="1200" b="1" dirty="0">
                <a:latin typeface="BIZ UDPゴシック" panose="020B0400000000000000" pitchFamily="50" charset="-128"/>
                <a:ea typeface="BIZ UDPゴシック" panose="020B0400000000000000" pitchFamily="50" charset="-128"/>
              </a:rPr>
              <a:t>10</a:t>
            </a:r>
            <a:r>
              <a:rPr lang="ja-JP" altLang="en-US" sz="1200" b="1" dirty="0">
                <a:latin typeface="BIZ UDPゴシック" panose="020B0400000000000000" pitchFamily="50" charset="-128"/>
                <a:ea typeface="BIZ UDPゴシック" panose="020B0400000000000000" pitchFamily="50" charset="-128"/>
              </a:rPr>
              <a:t>・</a:t>
            </a:r>
            <a:r>
              <a:rPr lang="en-US" altLang="ja-JP" sz="1200" b="1" dirty="0">
                <a:latin typeface="BIZ UDPゴシック" panose="020B0400000000000000" pitchFamily="50" charset="-128"/>
                <a:ea typeface="BIZ UDPゴシック" panose="020B0400000000000000" pitchFamily="50" charset="-128"/>
              </a:rPr>
              <a:t>11</a:t>
            </a:r>
            <a:r>
              <a:rPr lang="ja-JP" altLang="en-US" sz="1200" b="1" dirty="0">
                <a:latin typeface="BIZ UDPゴシック" panose="020B0400000000000000" pitchFamily="50" charset="-128"/>
                <a:ea typeface="BIZ UDPゴシック" panose="020B0400000000000000" pitchFamily="50" charset="-128"/>
              </a:rPr>
              <a:t>相当）</a:t>
            </a:r>
          </a:p>
        </p:txBody>
      </p:sp>
      <p:sp>
        <p:nvSpPr>
          <p:cNvPr id="16" name="矢印: 上 15">
            <a:extLst>
              <a:ext uri="{FF2B5EF4-FFF2-40B4-BE49-F238E27FC236}">
                <a16:creationId xmlns:a16="http://schemas.microsoft.com/office/drawing/2014/main" id="{9143020E-7AC8-D8B2-408F-BE489632FAFE}"/>
              </a:ext>
            </a:extLst>
          </p:cNvPr>
          <p:cNvSpPr/>
          <p:nvPr/>
        </p:nvSpPr>
        <p:spPr>
          <a:xfrm rot="5400000">
            <a:off x="1251006" y="5146126"/>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17" name="タイトル 2">
            <a:extLst>
              <a:ext uri="{FF2B5EF4-FFF2-40B4-BE49-F238E27FC236}">
                <a16:creationId xmlns:a16="http://schemas.microsoft.com/office/drawing/2014/main" id="{5A4B04FE-6457-E5AB-F61B-F9CB772E93CA}"/>
              </a:ext>
            </a:extLst>
          </p:cNvPr>
          <p:cNvSpPr txBox="1">
            <a:spLocks/>
          </p:cNvSpPr>
          <p:nvPr/>
        </p:nvSpPr>
        <p:spPr>
          <a:xfrm>
            <a:off x="1971086" y="3835264"/>
            <a:ext cx="183834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dirty="0">
                <a:latin typeface="BIZ UDPゴシック" panose="020B0400000000000000" pitchFamily="50" charset="-128"/>
                <a:ea typeface="BIZ UDPゴシック" panose="020B0400000000000000" pitchFamily="50" charset="-128"/>
              </a:rPr>
              <a:t>評価</a:t>
            </a:r>
          </a:p>
        </p:txBody>
      </p:sp>
      <p:pic>
        <p:nvPicPr>
          <p:cNvPr id="28" name="図 27" descr="ロゴ&#10;&#10;自動的に生成された説明">
            <a:extLst>
              <a:ext uri="{FF2B5EF4-FFF2-40B4-BE49-F238E27FC236}">
                <a16:creationId xmlns:a16="http://schemas.microsoft.com/office/drawing/2014/main" id="{984FB688-0E25-B52B-02EF-3091FEA64F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6122" y="4373646"/>
            <a:ext cx="1905000" cy="1905000"/>
          </a:xfrm>
          <a:prstGeom prst="rect">
            <a:avLst/>
          </a:prstGeom>
        </p:spPr>
      </p:pic>
      <p:sp>
        <p:nvSpPr>
          <p:cNvPr id="29" name="矢印: 上 28">
            <a:extLst>
              <a:ext uri="{FF2B5EF4-FFF2-40B4-BE49-F238E27FC236}">
                <a16:creationId xmlns:a16="http://schemas.microsoft.com/office/drawing/2014/main" id="{2D980C32-2E0E-90F6-D28C-B49845436513}"/>
              </a:ext>
            </a:extLst>
          </p:cNvPr>
          <p:cNvSpPr/>
          <p:nvPr/>
        </p:nvSpPr>
        <p:spPr>
          <a:xfrm rot="5400000">
            <a:off x="3915302" y="5146126"/>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1" name="矢印: 上 30">
            <a:extLst>
              <a:ext uri="{FF2B5EF4-FFF2-40B4-BE49-F238E27FC236}">
                <a16:creationId xmlns:a16="http://schemas.microsoft.com/office/drawing/2014/main" id="{29CE34BA-4DBA-44C4-F391-8F5813C204AE}"/>
              </a:ext>
            </a:extLst>
          </p:cNvPr>
          <p:cNvSpPr/>
          <p:nvPr/>
        </p:nvSpPr>
        <p:spPr>
          <a:xfrm rot="5400000">
            <a:off x="6363574" y="5146126"/>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3" name="タイトル 2">
            <a:extLst>
              <a:ext uri="{FF2B5EF4-FFF2-40B4-BE49-F238E27FC236}">
                <a16:creationId xmlns:a16="http://schemas.microsoft.com/office/drawing/2014/main" id="{DB55880D-9D8F-4A8A-F4A7-81E30CB65537}"/>
              </a:ext>
            </a:extLst>
          </p:cNvPr>
          <p:cNvSpPr txBox="1">
            <a:spLocks/>
          </p:cNvSpPr>
          <p:nvPr/>
        </p:nvSpPr>
        <p:spPr>
          <a:xfrm>
            <a:off x="7007557" y="3835264"/>
            <a:ext cx="1904999"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dirty="0">
                <a:latin typeface="BIZ UDPゴシック" panose="020B0400000000000000" pitchFamily="50" charset="-128"/>
                <a:ea typeface="BIZ UDPゴシック" panose="020B0400000000000000" pitchFamily="50" charset="-128"/>
              </a:rPr>
              <a:t>結果</a:t>
            </a:r>
          </a:p>
        </p:txBody>
      </p:sp>
      <p:sp>
        <p:nvSpPr>
          <p:cNvPr id="34" name="正方形/長方形 33">
            <a:extLst>
              <a:ext uri="{FF2B5EF4-FFF2-40B4-BE49-F238E27FC236}">
                <a16:creationId xmlns:a16="http://schemas.microsoft.com/office/drawing/2014/main" id="{3D0E030E-5C11-8659-ECF2-51F24687FBC8}"/>
              </a:ext>
            </a:extLst>
          </p:cNvPr>
          <p:cNvSpPr/>
          <p:nvPr/>
        </p:nvSpPr>
        <p:spPr>
          <a:xfrm>
            <a:off x="7045506" y="1639794"/>
            <a:ext cx="1838348" cy="2016224"/>
          </a:xfrm>
          <a:prstGeom prst="rect">
            <a:avLst/>
          </a:prstGeom>
          <a:solidFill>
            <a:schemeClr val="accent1">
              <a:lumMod val="60000"/>
              <a:lumOff val="4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3P</a:t>
            </a:r>
          </a:p>
          <a:p>
            <a:pPr algn="ctr"/>
            <a:r>
              <a:rPr lang="ja-JP" altLang="en-US"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（期待通り）</a:t>
            </a:r>
            <a:endParaRPr kumimoji="1" lang="ja-JP" altLang="en-US" sz="24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5" name="正方形/長方形 34">
            <a:extLst>
              <a:ext uri="{FF2B5EF4-FFF2-40B4-BE49-F238E27FC236}">
                <a16:creationId xmlns:a16="http://schemas.microsoft.com/office/drawing/2014/main" id="{B44D6C08-ADD9-1D1B-7EE4-FE599EC56E21}"/>
              </a:ext>
            </a:extLst>
          </p:cNvPr>
          <p:cNvSpPr/>
          <p:nvPr/>
        </p:nvSpPr>
        <p:spPr>
          <a:xfrm>
            <a:off x="1971086" y="1639794"/>
            <a:ext cx="1838348" cy="2016224"/>
          </a:xfrm>
          <a:prstGeom prst="rect">
            <a:avLst/>
          </a:prstGeom>
          <a:solidFill>
            <a:schemeClr val="accent1">
              <a:lumMod val="20000"/>
              <a:lumOff val="8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G7</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8</a:t>
            </a:r>
            <a:r>
              <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kumimoji="1" lang="en-US" altLang="ja-JP"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9</a:t>
            </a:r>
            <a:r>
              <a:rPr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レベル</a:t>
            </a:r>
            <a:endParaRPr kumimoji="1" lang="ja-JP" altLang="en-US" sz="16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6" name="矢印: 上 35">
            <a:extLst>
              <a:ext uri="{FF2B5EF4-FFF2-40B4-BE49-F238E27FC236}">
                <a16:creationId xmlns:a16="http://schemas.microsoft.com/office/drawing/2014/main" id="{45F4BB55-EF2D-335B-389B-87E9823674BA}"/>
              </a:ext>
            </a:extLst>
          </p:cNvPr>
          <p:cNvSpPr/>
          <p:nvPr/>
        </p:nvSpPr>
        <p:spPr>
          <a:xfrm rot="5400000">
            <a:off x="1251006" y="2467886"/>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37" name="タイトル 2">
            <a:extLst>
              <a:ext uri="{FF2B5EF4-FFF2-40B4-BE49-F238E27FC236}">
                <a16:creationId xmlns:a16="http://schemas.microsoft.com/office/drawing/2014/main" id="{79541CF8-54A5-82C4-934F-7F91C8B46D24}"/>
              </a:ext>
            </a:extLst>
          </p:cNvPr>
          <p:cNvSpPr txBox="1">
            <a:spLocks/>
          </p:cNvSpPr>
          <p:nvPr/>
        </p:nvSpPr>
        <p:spPr>
          <a:xfrm>
            <a:off x="1971086" y="1157024"/>
            <a:ext cx="183834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dirty="0">
                <a:latin typeface="BIZ UDPゴシック" panose="020B0400000000000000" pitchFamily="50" charset="-128"/>
                <a:ea typeface="BIZ UDPゴシック" panose="020B0400000000000000" pitchFamily="50" charset="-128"/>
              </a:rPr>
              <a:t>評価</a:t>
            </a:r>
          </a:p>
        </p:txBody>
      </p:sp>
      <p:sp>
        <p:nvSpPr>
          <p:cNvPr id="39" name="矢印: 上 38">
            <a:extLst>
              <a:ext uri="{FF2B5EF4-FFF2-40B4-BE49-F238E27FC236}">
                <a16:creationId xmlns:a16="http://schemas.microsoft.com/office/drawing/2014/main" id="{4FCC5090-032C-0CA9-87F7-65A296F5BE70}"/>
              </a:ext>
            </a:extLst>
          </p:cNvPr>
          <p:cNvSpPr/>
          <p:nvPr/>
        </p:nvSpPr>
        <p:spPr>
          <a:xfrm rot="5400000">
            <a:off x="3915302" y="2467886"/>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40" name="矢印: 上 39">
            <a:extLst>
              <a:ext uri="{FF2B5EF4-FFF2-40B4-BE49-F238E27FC236}">
                <a16:creationId xmlns:a16="http://schemas.microsoft.com/office/drawing/2014/main" id="{8F0D0CD5-6742-C55D-9D7B-764C6C67787C}"/>
              </a:ext>
            </a:extLst>
          </p:cNvPr>
          <p:cNvSpPr/>
          <p:nvPr/>
        </p:nvSpPr>
        <p:spPr>
          <a:xfrm rot="5400000">
            <a:off x="6363574" y="2467886"/>
            <a:ext cx="648072" cy="360040"/>
          </a:xfrm>
          <a:prstGeom prst="up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41" name="タイトル 2">
            <a:extLst>
              <a:ext uri="{FF2B5EF4-FFF2-40B4-BE49-F238E27FC236}">
                <a16:creationId xmlns:a16="http://schemas.microsoft.com/office/drawing/2014/main" id="{E9C2BB7B-0220-8443-5348-458FCF005E75}"/>
              </a:ext>
            </a:extLst>
          </p:cNvPr>
          <p:cNvSpPr txBox="1">
            <a:spLocks/>
          </p:cNvSpPr>
          <p:nvPr/>
        </p:nvSpPr>
        <p:spPr>
          <a:xfrm>
            <a:off x="7007557" y="1157024"/>
            <a:ext cx="1904999"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600" dirty="0">
                <a:latin typeface="BIZ UDPゴシック" panose="020B0400000000000000" pitchFamily="50" charset="-128"/>
                <a:ea typeface="BIZ UDPゴシック" panose="020B0400000000000000" pitchFamily="50" charset="-128"/>
              </a:rPr>
              <a:t>結果</a:t>
            </a:r>
          </a:p>
        </p:txBody>
      </p:sp>
      <p:pic>
        <p:nvPicPr>
          <p:cNvPr id="45" name="図 44">
            <a:extLst>
              <a:ext uri="{FF2B5EF4-FFF2-40B4-BE49-F238E27FC236}">
                <a16:creationId xmlns:a16="http://schemas.microsoft.com/office/drawing/2014/main" id="{798336C0-B111-9247-C436-8A6B5924977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99992" y="1734683"/>
            <a:ext cx="1905000" cy="1905000"/>
          </a:xfrm>
          <a:prstGeom prst="rect">
            <a:avLst/>
          </a:prstGeom>
        </p:spPr>
      </p:pic>
      <p:sp>
        <p:nvSpPr>
          <p:cNvPr id="4" name="タイトル 2">
            <a:extLst>
              <a:ext uri="{FF2B5EF4-FFF2-40B4-BE49-F238E27FC236}">
                <a16:creationId xmlns:a16="http://schemas.microsoft.com/office/drawing/2014/main" id="{C41404FF-BCB0-090D-04E2-67D52A427F91}"/>
              </a:ext>
            </a:extLst>
          </p:cNvPr>
          <p:cNvSpPr txBox="1">
            <a:spLocks/>
          </p:cNvSpPr>
          <p:nvPr/>
        </p:nvSpPr>
        <p:spPr>
          <a:xfrm>
            <a:off x="-6032" y="3226966"/>
            <a:ext cx="197373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pPr algn="ctr"/>
            <a:r>
              <a:rPr lang="ja-JP" altLang="en-US" sz="1200" b="1" dirty="0">
                <a:latin typeface="BIZ UDPゴシック" panose="020B0400000000000000" pitchFamily="50" charset="-128"/>
                <a:ea typeface="BIZ UDPゴシック" panose="020B0400000000000000" pitchFamily="50" charset="-128"/>
              </a:rPr>
              <a:t>専門職　</a:t>
            </a:r>
            <a:r>
              <a:rPr lang="en-US" altLang="ja-JP" sz="1200" b="1" dirty="0">
                <a:latin typeface="BIZ UDPゴシック" panose="020B0400000000000000" pitchFamily="50" charset="-128"/>
                <a:ea typeface="BIZ UDPゴシック" panose="020B0400000000000000" pitchFamily="50" charset="-128"/>
              </a:rPr>
              <a:t>G1</a:t>
            </a:r>
          </a:p>
          <a:p>
            <a:pPr algn="ctr"/>
            <a:r>
              <a:rPr lang="ja-JP" altLang="en-US" sz="1200" b="1" dirty="0">
                <a:latin typeface="BIZ UDPゴシック" panose="020B0400000000000000" pitchFamily="50" charset="-128"/>
                <a:ea typeface="BIZ UDPゴシック" panose="020B0400000000000000" pitchFamily="50" charset="-128"/>
              </a:rPr>
              <a:t>（総合職　Ｇ</a:t>
            </a:r>
            <a:r>
              <a:rPr lang="en-US" altLang="ja-JP" sz="1200" b="1" dirty="0">
                <a:latin typeface="BIZ UDPゴシック" panose="020B0400000000000000" pitchFamily="50" charset="-128"/>
                <a:ea typeface="BIZ UDPゴシック" panose="020B0400000000000000" pitchFamily="50" charset="-128"/>
              </a:rPr>
              <a:t>7</a:t>
            </a:r>
            <a:r>
              <a:rPr lang="ja-JP" altLang="en-US" sz="1200" b="1" dirty="0">
                <a:latin typeface="BIZ UDPゴシック" panose="020B0400000000000000" pitchFamily="50" charset="-128"/>
                <a:ea typeface="BIZ UDPゴシック" panose="020B0400000000000000" pitchFamily="50" charset="-128"/>
              </a:rPr>
              <a:t>・</a:t>
            </a:r>
            <a:r>
              <a:rPr lang="en-US" altLang="ja-JP" sz="1200" b="1" dirty="0">
                <a:latin typeface="BIZ UDPゴシック" panose="020B0400000000000000" pitchFamily="50" charset="-128"/>
                <a:ea typeface="BIZ UDPゴシック" panose="020B0400000000000000" pitchFamily="50" charset="-128"/>
              </a:rPr>
              <a:t>8</a:t>
            </a:r>
            <a:r>
              <a:rPr lang="ja-JP" altLang="en-US" sz="1200" b="1" dirty="0">
                <a:latin typeface="BIZ UDPゴシック" panose="020B0400000000000000" pitchFamily="50" charset="-128"/>
                <a:ea typeface="BIZ UDPゴシック" panose="020B0400000000000000" pitchFamily="50" charset="-128"/>
              </a:rPr>
              <a:t>・</a:t>
            </a:r>
            <a:r>
              <a:rPr lang="en-US" altLang="ja-JP" sz="1200" b="1" dirty="0">
                <a:latin typeface="BIZ UDPゴシック" panose="020B0400000000000000" pitchFamily="50" charset="-128"/>
                <a:ea typeface="BIZ UDPゴシック" panose="020B0400000000000000" pitchFamily="50" charset="-128"/>
              </a:rPr>
              <a:t>9</a:t>
            </a:r>
            <a:r>
              <a:rPr lang="ja-JP" altLang="en-US" sz="1200" b="1" dirty="0">
                <a:latin typeface="BIZ UDPゴシック" panose="020B0400000000000000" pitchFamily="50" charset="-128"/>
                <a:ea typeface="BIZ UDPゴシック" panose="020B0400000000000000" pitchFamily="50" charset="-128"/>
              </a:rPr>
              <a:t>相当）</a:t>
            </a:r>
          </a:p>
        </p:txBody>
      </p:sp>
    </p:spTree>
    <p:extLst>
      <p:ext uri="{BB962C8B-B14F-4D97-AF65-F5344CB8AC3E}">
        <p14:creationId xmlns:p14="http://schemas.microsoft.com/office/powerpoint/2010/main" val="23098150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28</a:t>
            </a:fld>
            <a:r>
              <a:rPr lang="ja-JP" altLang="en-US" sz="1050" dirty="0">
                <a:latin typeface="+mn-ea"/>
              </a:rPr>
              <a:t>－</a:t>
            </a:r>
          </a:p>
        </p:txBody>
      </p:sp>
      <p:sp>
        <p:nvSpPr>
          <p:cNvPr id="9" name="タイトル 2">
            <a:extLst>
              <a:ext uri="{FF2B5EF4-FFF2-40B4-BE49-F238E27FC236}">
                <a16:creationId xmlns:a16="http://schemas.microsoft.com/office/drawing/2014/main" id="{89BAE1CA-24A7-45B0-A7E7-5D2F54791A49}"/>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新制度　専門職　総合評語について</a:t>
            </a:r>
          </a:p>
        </p:txBody>
      </p:sp>
      <p:sp>
        <p:nvSpPr>
          <p:cNvPr id="6" name="正方形/長方形 5">
            <a:extLst>
              <a:ext uri="{FF2B5EF4-FFF2-40B4-BE49-F238E27FC236}">
                <a16:creationId xmlns:a16="http://schemas.microsoft.com/office/drawing/2014/main" id="{6222AB96-7456-E663-C0FF-DBE7672D9A84}"/>
              </a:ext>
            </a:extLst>
          </p:cNvPr>
          <p:cNvSpPr/>
          <p:nvPr/>
        </p:nvSpPr>
        <p:spPr>
          <a:xfrm>
            <a:off x="128277" y="5803444"/>
            <a:ext cx="8881549" cy="733843"/>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rPr>
              <a:t>専門職の「①成果評価」と「②行動評価」の重みの割合は、「②成果評価」を高く設定している。</a:t>
            </a:r>
            <a:endParaRPr lang="en-US" altLang="ja-JP" sz="1400" dirty="0">
              <a:solidFill>
                <a:schemeClr val="tx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rPr>
              <a:t>専門職の総合評語の基準は、総合職と同様である。</a:t>
            </a:r>
            <a:endParaRPr lang="en-US" altLang="ja-JP" sz="1400" dirty="0">
              <a:solidFill>
                <a:schemeClr val="tx1"/>
              </a:solidFill>
              <a:latin typeface="BIZ UDPゴシック" panose="020B0400000000000000" pitchFamily="50" charset="-128"/>
              <a:ea typeface="BIZ UDPゴシック" panose="020B0400000000000000" pitchFamily="50" charset="-128"/>
            </a:endParaRPr>
          </a:p>
        </p:txBody>
      </p:sp>
      <p:graphicFrame>
        <p:nvGraphicFramePr>
          <p:cNvPr id="2" name="表 1">
            <a:extLst>
              <a:ext uri="{FF2B5EF4-FFF2-40B4-BE49-F238E27FC236}">
                <a16:creationId xmlns:a16="http://schemas.microsoft.com/office/drawing/2014/main" id="{6646E933-B709-5EFE-AF7B-D249F79BBBDB}"/>
              </a:ext>
            </a:extLst>
          </p:cNvPr>
          <p:cNvGraphicFramePr>
            <a:graphicFrameLocks noGrp="1"/>
          </p:cNvGraphicFramePr>
          <p:nvPr>
            <p:extLst>
              <p:ext uri="{D42A27DB-BD31-4B8C-83A1-F6EECF244321}">
                <p14:modId xmlns:p14="http://schemas.microsoft.com/office/powerpoint/2010/main" val="754766840"/>
              </p:ext>
            </p:extLst>
          </p:nvPr>
        </p:nvGraphicFramePr>
        <p:xfrm>
          <a:off x="115286" y="1286375"/>
          <a:ext cx="8867748" cy="1100178"/>
        </p:xfrm>
        <a:graphic>
          <a:graphicData uri="http://schemas.openxmlformats.org/drawingml/2006/table">
            <a:tbl>
              <a:tblPr/>
              <a:tblGrid>
                <a:gridCol w="1419388">
                  <a:extLst>
                    <a:ext uri="{9D8B030D-6E8A-4147-A177-3AD203B41FA5}">
                      <a16:colId xmlns:a16="http://schemas.microsoft.com/office/drawing/2014/main" val="3360609039"/>
                    </a:ext>
                  </a:extLst>
                </a:gridCol>
                <a:gridCol w="1656184">
                  <a:extLst>
                    <a:ext uri="{9D8B030D-6E8A-4147-A177-3AD203B41FA5}">
                      <a16:colId xmlns:a16="http://schemas.microsoft.com/office/drawing/2014/main" val="457094450"/>
                    </a:ext>
                  </a:extLst>
                </a:gridCol>
                <a:gridCol w="2952328">
                  <a:extLst>
                    <a:ext uri="{9D8B030D-6E8A-4147-A177-3AD203B41FA5}">
                      <a16:colId xmlns:a16="http://schemas.microsoft.com/office/drawing/2014/main" val="2886647615"/>
                    </a:ext>
                  </a:extLst>
                </a:gridCol>
                <a:gridCol w="2839848">
                  <a:extLst>
                    <a:ext uri="{9D8B030D-6E8A-4147-A177-3AD203B41FA5}">
                      <a16:colId xmlns:a16="http://schemas.microsoft.com/office/drawing/2014/main" val="2056824320"/>
                    </a:ext>
                  </a:extLst>
                </a:gridCol>
              </a:tblGrid>
              <a:tr h="183363">
                <a:tc>
                  <a:txBody>
                    <a:bodyPr/>
                    <a:lstStyle/>
                    <a:p>
                      <a:pPr algn="ctr" rtl="0"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項目</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グレード</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①成果評価　（</a:t>
                      </a: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a:t>
                      </a: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点満点）</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②行動評価　（</a:t>
                      </a: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a:t>
                      </a: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点満点）</a:t>
                      </a:r>
                      <a:endPar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5191293"/>
                  </a:ext>
                </a:extLst>
              </a:tr>
              <a:tr h="183363">
                <a:tc rowSpan="5">
                  <a:txBody>
                    <a:bodyPr/>
                    <a:lstStyle/>
                    <a:p>
                      <a:pPr algn="ctr" rtl="0" fontAlgn="ctr"/>
                      <a:r>
                        <a:rPr lang="ja-JP" altLang="en-US" sz="12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総合職</a:t>
                      </a:r>
                      <a:endParaRPr lang="en-US" altLang="ja-JP" sz="12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p>
                      <a:pPr algn="ctr" rtl="0" fontAlgn="ctr"/>
                      <a:r>
                        <a:rPr lang="ja-JP" altLang="en-US" sz="12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重みの割合</a:t>
                      </a:r>
                      <a:endParaRPr lang="en-US" altLang="ja-JP" sz="120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G10</a:t>
                      </a: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a:t>
                      </a: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11</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70%</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30%</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799139"/>
                  </a:ext>
                </a:extLst>
              </a:tr>
              <a:tr h="183363">
                <a:tc vMerge="1">
                  <a:txBody>
                    <a:bodyPr/>
                    <a:lstStyle/>
                    <a:p>
                      <a:endParaRPr kumimoji="1" lang="ja-JP" altLang="en-US"/>
                    </a:p>
                  </a:txBody>
                  <a:tcPr>
                    <a:lnT w="6350" cap="flat" cmpd="sng" algn="ctr">
                      <a:solidFill>
                        <a:srgbClr val="000000"/>
                      </a:solidFill>
                      <a:prstDash val="solid"/>
                      <a:round/>
                      <a:headEnd type="none" w="med" len="med"/>
                      <a:tailEnd type="none" w="med" len="med"/>
                    </a:lnT>
                  </a:tcPr>
                </a:tc>
                <a:tc>
                  <a:txBody>
                    <a:bodyPr/>
                    <a:lstStyle/>
                    <a:p>
                      <a:pPr algn="l"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G7</a:t>
                      </a: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a:t>
                      </a: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8・9</a:t>
                      </a:r>
                      <a:endPar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65%</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35%</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1060754"/>
                  </a:ext>
                </a:extLst>
              </a:tr>
              <a:tr h="183363">
                <a:tc vMerge="1">
                  <a:txBody>
                    <a:bodyPr/>
                    <a:lstStyle/>
                    <a:p>
                      <a:endParaRPr kumimoji="1" lang="ja-JP" altLang="en-US"/>
                    </a:p>
                  </a:txBody>
                  <a:tcPr/>
                </a:tc>
                <a:tc>
                  <a:txBody>
                    <a:bodyPr/>
                    <a:lstStyle/>
                    <a:p>
                      <a:pPr algn="l" rtl="0"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a:t>
                      </a: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4</a:t>
                      </a:r>
                      <a:r>
                        <a:rPr lang="ja-JP" alt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a:t>
                      </a: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5・6</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50%</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50%</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1596860"/>
                  </a:ext>
                </a:extLst>
              </a:tr>
              <a:tr h="183363">
                <a:tc vMerge="1">
                  <a:txBody>
                    <a:bodyPr/>
                    <a:lstStyle/>
                    <a:p>
                      <a:endParaRPr kumimoji="1" lang="ja-JP" altLang="en-US"/>
                    </a:p>
                  </a:txBody>
                  <a:tcPr/>
                </a:tc>
                <a:tc>
                  <a:txBody>
                    <a:bodyPr/>
                    <a:lstStyle/>
                    <a:p>
                      <a:pPr algn="l"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G2・3</a:t>
                      </a:r>
                      <a:endPar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40%</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60%</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39130665"/>
                  </a:ext>
                </a:extLst>
              </a:tr>
              <a:tr h="183363">
                <a:tc vMerge="1">
                  <a:txBody>
                    <a:bodyPr/>
                    <a:lstStyle/>
                    <a:p>
                      <a:endParaRPr kumimoji="1" lang="ja-JP" altLang="en-US"/>
                    </a:p>
                  </a:txBody>
                  <a:tcPr/>
                </a:tc>
                <a:tc>
                  <a:txBody>
                    <a:bodyPr/>
                    <a:lstStyle/>
                    <a:p>
                      <a:pPr algn="l" rtl="0" fontAlgn="ctr"/>
                      <a:r>
                        <a:rPr lang="en-US"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G1</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30%</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rtl="0" fontAlgn="ctr"/>
                      <a:r>
                        <a:rPr lang="en-US" altLang="ja-JP" sz="1050" b="0" i="0" u="none" strike="noStrike" dirty="0">
                          <a:solidFill>
                            <a:schemeClr val="bg1">
                              <a:lumMod val="65000"/>
                            </a:schemeClr>
                          </a:solidFill>
                          <a:effectLst/>
                          <a:latin typeface="BIZ UDPゴシック" panose="020B0400000000000000" pitchFamily="50" charset="-128"/>
                          <a:ea typeface="BIZ UDPゴシック" panose="020B0400000000000000" pitchFamily="50" charset="-128"/>
                        </a:rPr>
                        <a:t>70%</a:t>
                      </a:r>
                    </a:p>
                  </a:txBody>
                  <a:tcPr marL="7611" marR="7611" marT="7611"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6863367"/>
                  </a:ext>
                </a:extLst>
              </a:tr>
            </a:tbl>
          </a:graphicData>
        </a:graphic>
      </p:graphicFrame>
      <p:graphicFrame>
        <p:nvGraphicFramePr>
          <p:cNvPr id="7" name="表 6">
            <a:extLst>
              <a:ext uri="{FF2B5EF4-FFF2-40B4-BE49-F238E27FC236}">
                <a16:creationId xmlns:a16="http://schemas.microsoft.com/office/drawing/2014/main" id="{64F1BA13-CC8E-B07B-6227-388D188F4996}"/>
              </a:ext>
            </a:extLst>
          </p:cNvPr>
          <p:cNvGraphicFramePr>
            <a:graphicFrameLocks noGrp="1"/>
          </p:cNvGraphicFramePr>
          <p:nvPr/>
        </p:nvGraphicFramePr>
        <p:xfrm>
          <a:off x="115286" y="3920357"/>
          <a:ext cx="6008202" cy="1516518"/>
        </p:xfrm>
        <a:graphic>
          <a:graphicData uri="http://schemas.openxmlformats.org/drawingml/2006/table">
            <a:tbl>
              <a:tblPr/>
              <a:tblGrid>
                <a:gridCol w="3040105">
                  <a:extLst>
                    <a:ext uri="{9D8B030D-6E8A-4147-A177-3AD203B41FA5}">
                      <a16:colId xmlns:a16="http://schemas.microsoft.com/office/drawing/2014/main" val="457094450"/>
                    </a:ext>
                  </a:extLst>
                </a:gridCol>
                <a:gridCol w="2968097">
                  <a:extLst>
                    <a:ext uri="{9D8B030D-6E8A-4147-A177-3AD203B41FA5}">
                      <a16:colId xmlns:a16="http://schemas.microsoft.com/office/drawing/2014/main" val="2886647615"/>
                    </a:ext>
                  </a:extLst>
                </a:gridCol>
              </a:tblGrid>
              <a:tr h="252753">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総合評語</a:t>
                      </a: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54061"/>
                    </a:solidFill>
                  </a:tcPr>
                </a:tc>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総合点数</a:t>
                      </a: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54061"/>
                    </a:solidFill>
                  </a:tcPr>
                </a:tc>
                <a:extLst>
                  <a:ext uri="{0D108BD9-81ED-4DB2-BD59-A6C34878D82A}">
                    <a16:rowId xmlns:a16="http://schemas.microsoft.com/office/drawing/2014/main" val="775191293"/>
                  </a:ext>
                </a:extLst>
              </a:tr>
              <a:tr h="252753">
                <a:tc>
                  <a:txBody>
                    <a:bodyPr/>
                    <a:lstStyle/>
                    <a:p>
                      <a:pPr algn="ct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S</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9CDE5"/>
                    </a:solidFill>
                  </a:tcPr>
                </a:tc>
                <a:tc>
                  <a:txBody>
                    <a:bodyPr/>
                    <a:lstStyle/>
                    <a:p>
                      <a:pPr algn="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4.6</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以上</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3799139"/>
                  </a:ext>
                </a:extLst>
              </a:tr>
              <a:tr h="252753">
                <a:tc>
                  <a:txBody>
                    <a:bodyPr/>
                    <a:lstStyle/>
                    <a:p>
                      <a:pPr algn="ct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A</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9CDE5"/>
                    </a:solidFill>
                  </a:tcPr>
                </a:tc>
                <a:tc>
                  <a:txBody>
                    <a:bodyPr/>
                    <a:lstStyle/>
                    <a:p>
                      <a:pPr algn="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3.8</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以上</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1060754"/>
                  </a:ext>
                </a:extLst>
              </a:tr>
              <a:tr h="252753">
                <a:tc>
                  <a:txBody>
                    <a:bodyPr/>
                    <a:lstStyle/>
                    <a:p>
                      <a:pPr algn="ct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B</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9CDE5"/>
                    </a:solidFill>
                  </a:tcPr>
                </a:tc>
                <a:tc>
                  <a:txBody>
                    <a:bodyPr/>
                    <a:lstStyle/>
                    <a:p>
                      <a:pPr algn="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2.8</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以上</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1596860"/>
                  </a:ext>
                </a:extLst>
              </a:tr>
              <a:tr h="252753">
                <a:tc>
                  <a:txBody>
                    <a:bodyPr/>
                    <a:lstStyle/>
                    <a:p>
                      <a:pPr algn="ct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C</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9CDE5"/>
                    </a:solidFill>
                  </a:tcPr>
                </a:tc>
                <a:tc>
                  <a:txBody>
                    <a:bodyPr/>
                    <a:lstStyle/>
                    <a:p>
                      <a:pPr algn="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1.8</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以上</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39130665"/>
                  </a:ext>
                </a:extLst>
              </a:tr>
              <a:tr h="252753">
                <a:tc>
                  <a:txBody>
                    <a:bodyPr/>
                    <a:lstStyle/>
                    <a:p>
                      <a:pPr algn="ct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D</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9CDE5"/>
                    </a:solidFill>
                  </a:tcPr>
                </a:tc>
                <a:tc>
                  <a:txBody>
                    <a:bodyPr/>
                    <a:lstStyle/>
                    <a:p>
                      <a:pPr algn="r"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1.8</a:t>
                      </a:r>
                      <a:r>
                        <a:rPr lang="ja-JP" alt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未満</a:t>
                      </a: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6863367"/>
                  </a:ext>
                </a:extLst>
              </a:tr>
            </a:tbl>
          </a:graphicData>
        </a:graphic>
      </p:graphicFrame>
      <p:sp>
        <p:nvSpPr>
          <p:cNvPr id="8" name="タイトル 2">
            <a:extLst>
              <a:ext uri="{FF2B5EF4-FFF2-40B4-BE49-F238E27FC236}">
                <a16:creationId xmlns:a16="http://schemas.microsoft.com/office/drawing/2014/main" id="{3C681708-CB4E-B47D-45A0-AAC20674FEDE}"/>
              </a:ext>
            </a:extLst>
          </p:cNvPr>
          <p:cNvSpPr txBox="1">
            <a:spLocks/>
          </p:cNvSpPr>
          <p:nvPr/>
        </p:nvSpPr>
        <p:spPr>
          <a:xfrm>
            <a:off x="147974" y="3512633"/>
            <a:ext cx="837201" cy="513258"/>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endParaRPr lang="ja-JP" altLang="en-US" sz="1050" dirty="0">
              <a:latin typeface="BIZ UDPゴシック" panose="020B0400000000000000" pitchFamily="50" charset="-128"/>
              <a:ea typeface="BIZ UDPゴシック" panose="020B0400000000000000" pitchFamily="50" charset="-128"/>
            </a:endParaRPr>
          </a:p>
        </p:txBody>
      </p:sp>
      <p:sp>
        <p:nvSpPr>
          <p:cNvPr id="12" name="タイトル 2">
            <a:extLst>
              <a:ext uri="{FF2B5EF4-FFF2-40B4-BE49-F238E27FC236}">
                <a16:creationId xmlns:a16="http://schemas.microsoft.com/office/drawing/2014/main" id="{8D914924-E1F9-E834-6492-E81381208F02}"/>
              </a:ext>
            </a:extLst>
          </p:cNvPr>
          <p:cNvSpPr txBox="1">
            <a:spLocks/>
          </p:cNvSpPr>
          <p:nvPr/>
        </p:nvSpPr>
        <p:spPr>
          <a:xfrm>
            <a:off x="6198486" y="4033023"/>
            <a:ext cx="2646301" cy="513258"/>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050" dirty="0">
                <a:latin typeface="BIZ UDPゴシック" panose="020B0400000000000000" pitchFamily="50" charset="-128"/>
                <a:ea typeface="BIZ UDPゴシック" panose="020B0400000000000000" pitchFamily="50" charset="-128"/>
              </a:rPr>
              <a:t>※</a:t>
            </a:r>
            <a:r>
              <a:rPr lang="ja-JP" altLang="en-US" sz="1050" dirty="0">
                <a:latin typeface="BIZ UDPゴシック" panose="020B0400000000000000" pitchFamily="50" charset="-128"/>
                <a:ea typeface="BIZ UDPゴシック" panose="020B0400000000000000" pitchFamily="50" charset="-128"/>
              </a:rPr>
              <a:t>オール</a:t>
            </a:r>
            <a:r>
              <a:rPr lang="en-US" altLang="ja-JP" sz="1050" dirty="0">
                <a:latin typeface="BIZ UDPゴシック" panose="020B0400000000000000" pitchFamily="50" charset="-128"/>
                <a:ea typeface="BIZ UDPゴシック" panose="020B0400000000000000" pitchFamily="50" charset="-128"/>
              </a:rPr>
              <a:t>S</a:t>
            </a:r>
            <a:r>
              <a:rPr lang="ja-JP" altLang="en-US" sz="1050" dirty="0">
                <a:latin typeface="BIZ UDPゴシック" panose="020B0400000000000000" pitchFamily="50" charset="-128"/>
                <a:ea typeface="BIZ UDPゴシック" panose="020B0400000000000000" pitchFamily="50" charset="-128"/>
              </a:rPr>
              <a:t>で「</a:t>
            </a:r>
            <a:r>
              <a:rPr lang="en-US" altLang="ja-JP" sz="1050" dirty="0">
                <a:latin typeface="BIZ UDPゴシック" panose="020B0400000000000000" pitchFamily="50" charset="-128"/>
                <a:ea typeface="BIZ UDPゴシック" panose="020B0400000000000000" pitchFamily="50" charset="-128"/>
              </a:rPr>
              <a:t>5.0</a:t>
            </a:r>
            <a:r>
              <a:rPr lang="ja-JP" altLang="en-US" sz="1050" dirty="0">
                <a:latin typeface="BIZ UDPゴシック" panose="020B0400000000000000" pitchFamily="50" charset="-128"/>
                <a:ea typeface="BIZ UDPゴシック" panose="020B0400000000000000" pitchFamily="50" charset="-128"/>
              </a:rPr>
              <a:t>点」満点</a:t>
            </a:r>
          </a:p>
        </p:txBody>
      </p:sp>
      <p:sp>
        <p:nvSpPr>
          <p:cNvPr id="13" name="タイトル 2">
            <a:extLst>
              <a:ext uri="{FF2B5EF4-FFF2-40B4-BE49-F238E27FC236}">
                <a16:creationId xmlns:a16="http://schemas.microsoft.com/office/drawing/2014/main" id="{A50ED047-1F9F-2573-8727-6D4C892A2545}"/>
              </a:ext>
            </a:extLst>
          </p:cNvPr>
          <p:cNvSpPr txBox="1">
            <a:spLocks/>
          </p:cNvSpPr>
          <p:nvPr/>
        </p:nvSpPr>
        <p:spPr>
          <a:xfrm>
            <a:off x="6198486" y="4285941"/>
            <a:ext cx="2646301" cy="513258"/>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050" dirty="0">
                <a:latin typeface="BIZ UDPゴシック" panose="020B0400000000000000" pitchFamily="50" charset="-128"/>
                <a:ea typeface="BIZ UDPゴシック" panose="020B0400000000000000" pitchFamily="50" charset="-128"/>
              </a:rPr>
              <a:t>※</a:t>
            </a:r>
            <a:r>
              <a:rPr lang="ja-JP" altLang="en-US" sz="1050" dirty="0">
                <a:latin typeface="BIZ UDPゴシック" panose="020B0400000000000000" pitchFamily="50" charset="-128"/>
                <a:ea typeface="BIZ UDPゴシック" panose="020B0400000000000000" pitchFamily="50" charset="-128"/>
              </a:rPr>
              <a:t>オール</a:t>
            </a:r>
            <a:r>
              <a:rPr lang="en-US" altLang="ja-JP" sz="1050" dirty="0">
                <a:latin typeface="BIZ UDPゴシック" panose="020B0400000000000000" pitchFamily="50" charset="-128"/>
                <a:ea typeface="BIZ UDPゴシック" panose="020B0400000000000000" pitchFamily="50" charset="-128"/>
              </a:rPr>
              <a:t>A</a:t>
            </a:r>
            <a:r>
              <a:rPr lang="ja-JP" altLang="en-US" sz="1050" dirty="0">
                <a:latin typeface="BIZ UDPゴシック" panose="020B0400000000000000" pitchFamily="50" charset="-128"/>
                <a:ea typeface="BIZ UDPゴシック" panose="020B0400000000000000" pitchFamily="50" charset="-128"/>
              </a:rPr>
              <a:t>で「</a:t>
            </a:r>
            <a:r>
              <a:rPr lang="en-US" altLang="ja-JP" sz="1050" dirty="0">
                <a:latin typeface="BIZ UDPゴシック" panose="020B0400000000000000" pitchFamily="50" charset="-128"/>
                <a:ea typeface="BIZ UDPゴシック" panose="020B0400000000000000" pitchFamily="50" charset="-128"/>
              </a:rPr>
              <a:t>4.0</a:t>
            </a:r>
            <a:r>
              <a:rPr lang="ja-JP" altLang="en-US" sz="1050" dirty="0">
                <a:latin typeface="BIZ UDPゴシック" panose="020B0400000000000000" pitchFamily="50" charset="-128"/>
                <a:ea typeface="BIZ UDPゴシック" panose="020B0400000000000000" pitchFamily="50" charset="-128"/>
              </a:rPr>
              <a:t>点」</a:t>
            </a:r>
          </a:p>
        </p:txBody>
      </p:sp>
      <p:sp>
        <p:nvSpPr>
          <p:cNvPr id="14" name="タイトル 2">
            <a:extLst>
              <a:ext uri="{FF2B5EF4-FFF2-40B4-BE49-F238E27FC236}">
                <a16:creationId xmlns:a16="http://schemas.microsoft.com/office/drawing/2014/main" id="{151DA8D0-7034-C8A2-E94B-7706E41F3A20}"/>
              </a:ext>
            </a:extLst>
          </p:cNvPr>
          <p:cNvSpPr txBox="1">
            <a:spLocks/>
          </p:cNvSpPr>
          <p:nvPr/>
        </p:nvSpPr>
        <p:spPr>
          <a:xfrm>
            <a:off x="6198486" y="4538859"/>
            <a:ext cx="2646301" cy="513258"/>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050" dirty="0">
                <a:latin typeface="BIZ UDPゴシック" panose="020B0400000000000000" pitchFamily="50" charset="-128"/>
                <a:ea typeface="BIZ UDPゴシック" panose="020B0400000000000000" pitchFamily="50" charset="-128"/>
              </a:rPr>
              <a:t>※</a:t>
            </a:r>
            <a:r>
              <a:rPr lang="ja-JP" altLang="en-US" sz="1050" dirty="0">
                <a:latin typeface="BIZ UDPゴシック" panose="020B0400000000000000" pitchFamily="50" charset="-128"/>
                <a:ea typeface="BIZ UDPゴシック" panose="020B0400000000000000" pitchFamily="50" charset="-128"/>
              </a:rPr>
              <a:t>オール</a:t>
            </a:r>
            <a:r>
              <a:rPr lang="en-US" altLang="ja-JP" sz="1050" dirty="0">
                <a:latin typeface="BIZ UDPゴシック" panose="020B0400000000000000" pitchFamily="50" charset="-128"/>
                <a:ea typeface="BIZ UDPゴシック" panose="020B0400000000000000" pitchFamily="50" charset="-128"/>
              </a:rPr>
              <a:t>B</a:t>
            </a:r>
            <a:r>
              <a:rPr lang="ja-JP" altLang="en-US" sz="1050" dirty="0">
                <a:latin typeface="BIZ UDPゴシック" panose="020B0400000000000000" pitchFamily="50" charset="-128"/>
                <a:ea typeface="BIZ UDPゴシック" panose="020B0400000000000000" pitchFamily="50" charset="-128"/>
              </a:rPr>
              <a:t>で「</a:t>
            </a:r>
            <a:r>
              <a:rPr lang="en-US" altLang="ja-JP" sz="1050" dirty="0">
                <a:latin typeface="BIZ UDPゴシック" panose="020B0400000000000000" pitchFamily="50" charset="-128"/>
                <a:ea typeface="BIZ UDPゴシック" panose="020B0400000000000000" pitchFamily="50" charset="-128"/>
              </a:rPr>
              <a:t>3.0</a:t>
            </a:r>
            <a:r>
              <a:rPr lang="ja-JP" altLang="en-US" sz="1050" dirty="0">
                <a:latin typeface="BIZ UDPゴシック" panose="020B0400000000000000" pitchFamily="50" charset="-128"/>
                <a:ea typeface="BIZ UDPゴシック" panose="020B0400000000000000" pitchFamily="50" charset="-128"/>
              </a:rPr>
              <a:t>点」</a:t>
            </a:r>
          </a:p>
        </p:txBody>
      </p:sp>
      <p:sp>
        <p:nvSpPr>
          <p:cNvPr id="15" name="タイトル 2">
            <a:extLst>
              <a:ext uri="{FF2B5EF4-FFF2-40B4-BE49-F238E27FC236}">
                <a16:creationId xmlns:a16="http://schemas.microsoft.com/office/drawing/2014/main" id="{FA982553-99D5-6E36-BD6E-82AC0A588BCB}"/>
              </a:ext>
            </a:extLst>
          </p:cNvPr>
          <p:cNvSpPr txBox="1">
            <a:spLocks/>
          </p:cNvSpPr>
          <p:nvPr/>
        </p:nvSpPr>
        <p:spPr>
          <a:xfrm>
            <a:off x="6198486" y="4791777"/>
            <a:ext cx="2646301" cy="513258"/>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050" dirty="0">
                <a:latin typeface="BIZ UDPゴシック" panose="020B0400000000000000" pitchFamily="50" charset="-128"/>
                <a:ea typeface="BIZ UDPゴシック" panose="020B0400000000000000" pitchFamily="50" charset="-128"/>
              </a:rPr>
              <a:t>※</a:t>
            </a:r>
            <a:r>
              <a:rPr lang="ja-JP" altLang="en-US" sz="1050" dirty="0">
                <a:latin typeface="BIZ UDPゴシック" panose="020B0400000000000000" pitchFamily="50" charset="-128"/>
                <a:ea typeface="BIZ UDPゴシック" panose="020B0400000000000000" pitchFamily="50" charset="-128"/>
              </a:rPr>
              <a:t>オール</a:t>
            </a:r>
            <a:r>
              <a:rPr lang="en-US" altLang="ja-JP" sz="1050" dirty="0">
                <a:latin typeface="BIZ UDPゴシック" panose="020B0400000000000000" pitchFamily="50" charset="-128"/>
                <a:ea typeface="BIZ UDPゴシック" panose="020B0400000000000000" pitchFamily="50" charset="-128"/>
              </a:rPr>
              <a:t>C</a:t>
            </a:r>
            <a:r>
              <a:rPr lang="ja-JP" altLang="en-US" sz="1050" dirty="0">
                <a:latin typeface="BIZ UDPゴシック" panose="020B0400000000000000" pitchFamily="50" charset="-128"/>
                <a:ea typeface="BIZ UDPゴシック" panose="020B0400000000000000" pitchFamily="50" charset="-128"/>
              </a:rPr>
              <a:t>で「</a:t>
            </a:r>
            <a:r>
              <a:rPr lang="en-US" altLang="ja-JP" sz="1050" dirty="0">
                <a:latin typeface="BIZ UDPゴシック" panose="020B0400000000000000" pitchFamily="50" charset="-128"/>
                <a:ea typeface="BIZ UDPゴシック" panose="020B0400000000000000" pitchFamily="50" charset="-128"/>
              </a:rPr>
              <a:t>2.0</a:t>
            </a:r>
            <a:r>
              <a:rPr lang="ja-JP" altLang="en-US" sz="1050" dirty="0">
                <a:latin typeface="BIZ UDPゴシック" panose="020B0400000000000000" pitchFamily="50" charset="-128"/>
                <a:ea typeface="BIZ UDPゴシック" panose="020B0400000000000000" pitchFamily="50" charset="-128"/>
              </a:rPr>
              <a:t>点」</a:t>
            </a:r>
          </a:p>
        </p:txBody>
      </p:sp>
      <p:sp>
        <p:nvSpPr>
          <p:cNvPr id="16" name="タイトル 2">
            <a:extLst>
              <a:ext uri="{FF2B5EF4-FFF2-40B4-BE49-F238E27FC236}">
                <a16:creationId xmlns:a16="http://schemas.microsoft.com/office/drawing/2014/main" id="{B9D0AB6C-EF33-9B4C-1B2E-68A97B656473}"/>
              </a:ext>
            </a:extLst>
          </p:cNvPr>
          <p:cNvSpPr txBox="1">
            <a:spLocks/>
          </p:cNvSpPr>
          <p:nvPr/>
        </p:nvSpPr>
        <p:spPr>
          <a:xfrm>
            <a:off x="6198486" y="5044693"/>
            <a:ext cx="2646301" cy="513258"/>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050" dirty="0">
                <a:latin typeface="BIZ UDPゴシック" panose="020B0400000000000000" pitchFamily="50" charset="-128"/>
                <a:ea typeface="BIZ UDPゴシック" panose="020B0400000000000000" pitchFamily="50" charset="-128"/>
              </a:rPr>
              <a:t>※</a:t>
            </a:r>
            <a:r>
              <a:rPr lang="ja-JP" altLang="en-US" sz="1050" dirty="0">
                <a:latin typeface="BIZ UDPゴシック" panose="020B0400000000000000" pitchFamily="50" charset="-128"/>
                <a:ea typeface="BIZ UDPゴシック" panose="020B0400000000000000" pitchFamily="50" charset="-128"/>
              </a:rPr>
              <a:t>オール</a:t>
            </a:r>
            <a:r>
              <a:rPr lang="en-US" altLang="ja-JP" sz="1050" dirty="0">
                <a:latin typeface="BIZ UDPゴシック" panose="020B0400000000000000" pitchFamily="50" charset="-128"/>
                <a:ea typeface="BIZ UDPゴシック" panose="020B0400000000000000" pitchFamily="50" charset="-128"/>
              </a:rPr>
              <a:t>D</a:t>
            </a:r>
            <a:r>
              <a:rPr lang="ja-JP" altLang="en-US" sz="1050" dirty="0">
                <a:latin typeface="BIZ UDPゴシック" panose="020B0400000000000000" pitchFamily="50" charset="-128"/>
                <a:ea typeface="BIZ UDPゴシック" panose="020B0400000000000000" pitchFamily="50" charset="-128"/>
              </a:rPr>
              <a:t>で「</a:t>
            </a:r>
            <a:r>
              <a:rPr lang="en-US" altLang="ja-JP" sz="1050" dirty="0">
                <a:latin typeface="BIZ UDPゴシック" panose="020B0400000000000000" pitchFamily="50" charset="-128"/>
                <a:ea typeface="BIZ UDPゴシック" panose="020B0400000000000000" pitchFamily="50" charset="-128"/>
              </a:rPr>
              <a:t>1.0</a:t>
            </a:r>
            <a:r>
              <a:rPr lang="ja-JP" altLang="en-US" sz="1050" dirty="0">
                <a:latin typeface="BIZ UDPゴシック" panose="020B0400000000000000" pitchFamily="50" charset="-128"/>
                <a:ea typeface="BIZ UDPゴシック" panose="020B0400000000000000" pitchFamily="50" charset="-128"/>
              </a:rPr>
              <a:t>点」</a:t>
            </a:r>
          </a:p>
        </p:txBody>
      </p:sp>
      <p:sp>
        <p:nvSpPr>
          <p:cNvPr id="4" name="タイトル 2">
            <a:extLst>
              <a:ext uri="{FF2B5EF4-FFF2-40B4-BE49-F238E27FC236}">
                <a16:creationId xmlns:a16="http://schemas.microsoft.com/office/drawing/2014/main" id="{0FED06C7-E2AB-A9AF-186B-1EF162115E39}"/>
              </a:ext>
            </a:extLst>
          </p:cNvPr>
          <p:cNvSpPr txBox="1">
            <a:spLocks/>
          </p:cNvSpPr>
          <p:nvPr/>
        </p:nvSpPr>
        <p:spPr>
          <a:xfrm>
            <a:off x="115286" y="813926"/>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グレード・評価項目ごとの重み</a:t>
            </a:r>
          </a:p>
        </p:txBody>
      </p:sp>
      <p:sp>
        <p:nvSpPr>
          <p:cNvPr id="18" name="タイトル 2">
            <a:extLst>
              <a:ext uri="{FF2B5EF4-FFF2-40B4-BE49-F238E27FC236}">
                <a16:creationId xmlns:a16="http://schemas.microsoft.com/office/drawing/2014/main" id="{9ADB420C-51A0-E0F8-10D6-4899A7B13AD3}"/>
              </a:ext>
            </a:extLst>
          </p:cNvPr>
          <p:cNvSpPr txBox="1">
            <a:spLocks/>
          </p:cNvSpPr>
          <p:nvPr/>
        </p:nvSpPr>
        <p:spPr>
          <a:xfrm>
            <a:off x="115286" y="3503431"/>
            <a:ext cx="7992888" cy="513258"/>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総合評語</a:t>
            </a:r>
          </a:p>
        </p:txBody>
      </p:sp>
      <p:graphicFrame>
        <p:nvGraphicFramePr>
          <p:cNvPr id="3" name="表 2">
            <a:extLst>
              <a:ext uri="{FF2B5EF4-FFF2-40B4-BE49-F238E27FC236}">
                <a16:creationId xmlns:a16="http://schemas.microsoft.com/office/drawing/2014/main" id="{D79DC156-C57A-72DB-94D1-B95F69A5AD2F}"/>
              </a:ext>
            </a:extLst>
          </p:cNvPr>
          <p:cNvGraphicFramePr>
            <a:graphicFrameLocks noGrp="1"/>
          </p:cNvGraphicFramePr>
          <p:nvPr>
            <p:extLst>
              <p:ext uri="{D42A27DB-BD31-4B8C-83A1-F6EECF244321}">
                <p14:modId xmlns:p14="http://schemas.microsoft.com/office/powerpoint/2010/main" val="3200966031"/>
              </p:ext>
            </p:extLst>
          </p:nvPr>
        </p:nvGraphicFramePr>
        <p:xfrm>
          <a:off x="124088" y="2443768"/>
          <a:ext cx="8867748" cy="1100178"/>
        </p:xfrm>
        <a:graphic>
          <a:graphicData uri="http://schemas.openxmlformats.org/drawingml/2006/table">
            <a:tbl>
              <a:tblPr/>
              <a:tblGrid>
                <a:gridCol w="1419388">
                  <a:extLst>
                    <a:ext uri="{9D8B030D-6E8A-4147-A177-3AD203B41FA5}">
                      <a16:colId xmlns:a16="http://schemas.microsoft.com/office/drawing/2014/main" val="3360609039"/>
                    </a:ext>
                  </a:extLst>
                </a:gridCol>
                <a:gridCol w="1656184">
                  <a:extLst>
                    <a:ext uri="{9D8B030D-6E8A-4147-A177-3AD203B41FA5}">
                      <a16:colId xmlns:a16="http://schemas.microsoft.com/office/drawing/2014/main" val="457094450"/>
                    </a:ext>
                  </a:extLst>
                </a:gridCol>
                <a:gridCol w="2952328">
                  <a:extLst>
                    <a:ext uri="{9D8B030D-6E8A-4147-A177-3AD203B41FA5}">
                      <a16:colId xmlns:a16="http://schemas.microsoft.com/office/drawing/2014/main" val="2886647615"/>
                    </a:ext>
                  </a:extLst>
                </a:gridCol>
                <a:gridCol w="2839848">
                  <a:extLst>
                    <a:ext uri="{9D8B030D-6E8A-4147-A177-3AD203B41FA5}">
                      <a16:colId xmlns:a16="http://schemas.microsoft.com/office/drawing/2014/main" val="2056824320"/>
                    </a:ext>
                  </a:extLst>
                </a:gridCol>
              </a:tblGrid>
              <a:tr h="183363">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項目</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グレード</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①成果評価　（</a:t>
                      </a:r>
                      <a:r>
                        <a:rPr lang="en-US" altLang="ja-JP" sz="1050" b="0" i="0" u="none" strike="noStrike" dirty="0">
                          <a:solidFill>
                            <a:srgbClr val="F2F2F2"/>
                          </a:solidFill>
                          <a:effectLst/>
                          <a:latin typeface="BIZ UDPゴシック" panose="020B0400000000000000" pitchFamily="50" charset="-128"/>
                          <a:ea typeface="BIZ UDPゴシック" panose="020B0400000000000000" pitchFamily="50" charset="-128"/>
                        </a:rPr>
                        <a:t>5</a:t>
                      </a: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点満点）</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a:txBody>
                    <a:bodyPr/>
                    <a:lstStyle/>
                    <a:p>
                      <a:pPr algn="ctr" rtl="0" fontAlgn="ct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②行動評価　（</a:t>
                      </a:r>
                      <a:r>
                        <a:rPr lang="en-US" altLang="ja-JP" sz="1050" b="0" i="0" u="none" strike="noStrike" dirty="0">
                          <a:solidFill>
                            <a:srgbClr val="F2F2F2"/>
                          </a:solidFill>
                          <a:effectLst/>
                          <a:latin typeface="BIZ UDPゴシック" panose="020B0400000000000000" pitchFamily="50" charset="-128"/>
                          <a:ea typeface="BIZ UDPゴシック" panose="020B0400000000000000" pitchFamily="50" charset="-128"/>
                        </a:rPr>
                        <a:t>5</a:t>
                      </a:r>
                      <a:r>
                        <a:rPr lang="ja-JP" altLang="en-US" sz="1050" b="0" i="0" u="none" strike="noStrike" dirty="0">
                          <a:solidFill>
                            <a:srgbClr val="F2F2F2"/>
                          </a:solidFill>
                          <a:effectLst/>
                          <a:latin typeface="BIZ UDPゴシック" panose="020B0400000000000000" pitchFamily="50" charset="-128"/>
                          <a:ea typeface="BIZ UDPゴシック" panose="020B0400000000000000" pitchFamily="50" charset="-128"/>
                        </a:rPr>
                        <a:t>点満点）</a:t>
                      </a:r>
                      <a:endParaRPr lang="en-US" altLang="ja-JP" sz="1050" b="0" i="0" u="none" strike="noStrike" dirty="0">
                        <a:solidFill>
                          <a:srgbClr val="F2F2F2"/>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extLst>
                  <a:ext uri="{0D108BD9-81ED-4DB2-BD59-A6C34878D82A}">
                    <a16:rowId xmlns:a16="http://schemas.microsoft.com/office/drawing/2014/main" val="775191293"/>
                  </a:ext>
                </a:extLst>
              </a:tr>
              <a:tr h="183363">
                <a:tc rowSpan="5">
                  <a:txBody>
                    <a:bodyPr/>
                    <a:lstStyle/>
                    <a:p>
                      <a:pPr algn="ctr" rtl="0" fontAlgn="ctr"/>
                      <a:r>
                        <a:rPr lang="ja-JP" altLang="en-US" sz="1200" b="0" i="0" u="none" strike="noStrike" dirty="0">
                          <a:solidFill>
                            <a:srgbClr val="F2F2F2"/>
                          </a:solidFill>
                          <a:effectLst/>
                          <a:latin typeface="BIZ UDPゴシック" panose="020B0400000000000000" pitchFamily="50" charset="-128"/>
                          <a:ea typeface="BIZ UDPゴシック" panose="020B0400000000000000" pitchFamily="50" charset="-128"/>
                        </a:rPr>
                        <a:t>専門職</a:t>
                      </a:r>
                      <a:endParaRPr lang="en-US" altLang="ja-JP" sz="1200" b="0" i="0" u="none" strike="noStrike" dirty="0">
                        <a:solidFill>
                          <a:srgbClr val="F2F2F2"/>
                        </a:solidFill>
                        <a:effectLst/>
                        <a:latin typeface="BIZ UDPゴシック" panose="020B0400000000000000" pitchFamily="50" charset="-128"/>
                        <a:ea typeface="BIZ UDPゴシック" panose="020B0400000000000000" pitchFamily="50" charset="-128"/>
                      </a:endParaRPr>
                    </a:p>
                    <a:p>
                      <a:pPr algn="ctr" rtl="0" fontAlgn="ctr"/>
                      <a:r>
                        <a:rPr lang="ja-JP" altLang="en-US" sz="1200" b="0" i="0" u="none" strike="noStrike" dirty="0">
                          <a:solidFill>
                            <a:srgbClr val="F2F2F2"/>
                          </a:solidFill>
                          <a:effectLst/>
                          <a:latin typeface="BIZ UDPゴシック" panose="020B0400000000000000" pitchFamily="50" charset="-128"/>
                          <a:ea typeface="BIZ UDPゴシック" panose="020B0400000000000000" pitchFamily="50" charset="-128"/>
                        </a:rPr>
                        <a:t>重みの割合</a:t>
                      </a:r>
                      <a:endParaRPr lang="en-US" altLang="ja-JP" sz="1200" b="0" i="0" u="none" strike="noStrike" dirty="0">
                        <a:solidFill>
                          <a:srgbClr val="F2F2F2"/>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a:txBody>
                    <a:bodyPr/>
                    <a:lstStyle/>
                    <a:p>
                      <a:pPr algn="l" rtl="0"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G</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5</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rowSpan="2">
                  <a:txBody>
                    <a:bodyPr/>
                    <a:lstStyle/>
                    <a:p>
                      <a:pPr algn="r" rtl="0" fontAlgn="ctr"/>
                      <a:r>
                        <a:rPr lang="en-US" altLang="ja-JP" sz="1400" b="0" i="0" u="none" strike="noStrike" dirty="0">
                          <a:solidFill>
                            <a:schemeClr val="tx1"/>
                          </a:solidFill>
                          <a:effectLst/>
                          <a:latin typeface="BIZ UDPゴシック" panose="020B0400000000000000" pitchFamily="50" charset="-128"/>
                          <a:ea typeface="BIZ UDPゴシック" panose="020B0400000000000000" pitchFamily="50" charset="-128"/>
                        </a:rPr>
                        <a:t>90%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rowSpan="2">
                  <a:txBody>
                    <a:bodyPr/>
                    <a:lstStyle/>
                    <a:p>
                      <a:pPr algn="r" rtl="0" fontAlgn="ctr"/>
                      <a:r>
                        <a:rPr lang="en-US" altLang="ja-JP" sz="1400" b="0" i="0" u="none" strike="noStrike" dirty="0">
                          <a:solidFill>
                            <a:schemeClr val="tx1"/>
                          </a:solidFill>
                          <a:effectLst/>
                          <a:latin typeface="BIZ UDPゴシック" panose="020B0400000000000000" pitchFamily="50" charset="-128"/>
                          <a:ea typeface="BIZ UDPゴシック" panose="020B0400000000000000" pitchFamily="50" charset="-128"/>
                        </a:rPr>
                        <a:t>10%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83799139"/>
                  </a:ext>
                </a:extLst>
              </a:tr>
              <a:tr h="183363">
                <a:tc vMerge="1">
                  <a:txBody>
                    <a:bodyPr/>
                    <a:lstStyle/>
                    <a:p>
                      <a:endParaRPr kumimoji="1" lang="ja-JP" altLang="en-US"/>
                    </a:p>
                  </a:txBody>
                  <a:tcPr>
                    <a:lnT w="6350" cap="flat" cmpd="sng" algn="ctr">
                      <a:solidFill>
                        <a:srgbClr val="000000"/>
                      </a:solidFill>
                      <a:prstDash val="solid"/>
                      <a:round/>
                      <a:headEnd type="none" w="med" len="med"/>
                      <a:tailEnd type="none" w="med" len="med"/>
                    </a:lnT>
                  </a:tcPr>
                </a:tc>
                <a:tc>
                  <a:txBody>
                    <a:bodyPr/>
                    <a:lstStyle/>
                    <a:p>
                      <a:pPr algn="l"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G4</a:t>
                      </a:r>
                      <a:endParaRPr lang="en-US" sz="1050" b="0" i="0" u="none" strike="noStrike" dirty="0">
                        <a:solidFill>
                          <a:srgbClr val="FF0000"/>
                        </a:solidFill>
                        <a:effectLst/>
                        <a:latin typeface="BIZ UDPゴシック" panose="020B0400000000000000" pitchFamily="50" charset="-128"/>
                        <a:ea typeface="BIZ UDPゴシック" panose="020B0400000000000000" pitchFamily="50" charset="-128"/>
                      </a:endParaRPr>
                    </a:p>
                  </a:txBody>
                  <a:tcPr marL="7611" marR="7611" marT="7611"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vMerge="1">
                  <a:txBody>
                    <a:bodyPr/>
                    <a:lstStyle/>
                    <a:p>
                      <a:pPr algn="r" rtl="0" fontAlgn="ctr"/>
                      <a:endParaRPr lang="en-US" altLang="ja-JP" sz="1050" b="0" i="0" u="none" strike="noStrike" dirty="0">
                        <a:solidFill>
                          <a:schemeClr val="tx1"/>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vMerge="1">
                  <a:txBody>
                    <a:bodyPr/>
                    <a:lstStyle/>
                    <a:p>
                      <a:pPr algn="r" rtl="0" fontAlgn="ctr"/>
                      <a:endParaRPr lang="en-US" altLang="ja-JP" sz="1050" b="0" i="0" u="none" strike="noStrike" dirty="0">
                        <a:solidFill>
                          <a:schemeClr val="tx1"/>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01060754"/>
                  </a:ext>
                </a:extLst>
              </a:tr>
              <a:tr h="183363">
                <a:tc vMerge="1">
                  <a:txBody>
                    <a:bodyPr/>
                    <a:lstStyle/>
                    <a:p>
                      <a:endParaRPr kumimoji="1" lang="ja-JP" altLang="en-US"/>
                    </a:p>
                  </a:txBody>
                  <a:tcPr/>
                </a:tc>
                <a:tc>
                  <a:txBody>
                    <a:bodyPr/>
                    <a:lstStyle/>
                    <a:p>
                      <a:pPr algn="l" rtl="0"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G</a:t>
                      </a: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3</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rowSpan="3">
                  <a:txBody>
                    <a:bodyPr/>
                    <a:lstStyle/>
                    <a:p>
                      <a:pPr algn="r" rtl="0" fontAlgn="ctr"/>
                      <a:r>
                        <a:rPr lang="en-US" altLang="ja-JP" sz="1400" b="0" i="0" u="none" strike="noStrike" dirty="0">
                          <a:solidFill>
                            <a:srgbClr val="000000"/>
                          </a:solidFill>
                          <a:effectLst/>
                          <a:latin typeface="BIZ UDPゴシック" panose="020B0400000000000000" pitchFamily="50" charset="-128"/>
                          <a:ea typeface="BIZ UDPゴシック" panose="020B0400000000000000" pitchFamily="50" charset="-128"/>
                        </a:rPr>
                        <a:t>80%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rowSpan="3">
                  <a:txBody>
                    <a:bodyPr/>
                    <a:lstStyle/>
                    <a:p>
                      <a:pPr algn="r" rtl="0" fontAlgn="ctr"/>
                      <a:r>
                        <a:rPr lang="en-US" altLang="ja-JP" sz="1400" b="0" i="0" u="none" strike="noStrike" dirty="0">
                          <a:solidFill>
                            <a:srgbClr val="000000"/>
                          </a:solidFill>
                          <a:effectLst/>
                          <a:latin typeface="BIZ UDPゴシック" panose="020B0400000000000000" pitchFamily="50" charset="-128"/>
                          <a:ea typeface="BIZ UDPゴシック" panose="020B0400000000000000" pitchFamily="50" charset="-128"/>
                        </a:rPr>
                        <a:t>20%</a:t>
                      </a: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31596860"/>
                  </a:ext>
                </a:extLst>
              </a:tr>
              <a:tr h="183363">
                <a:tc vMerge="1">
                  <a:txBody>
                    <a:bodyPr/>
                    <a:lstStyle/>
                    <a:p>
                      <a:endParaRPr kumimoji="1" lang="ja-JP" altLang="en-US"/>
                    </a:p>
                  </a:txBody>
                  <a:tcPr/>
                </a:tc>
                <a:tc>
                  <a:txBody>
                    <a:bodyPr/>
                    <a:lstStyle/>
                    <a:p>
                      <a:pPr algn="l" rtl="0" fontAlgn="ctr"/>
                      <a:r>
                        <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rPr>
                        <a:t>G2</a:t>
                      </a:r>
                      <a:endParaRPr lang="en-US"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9130665"/>
                  </a:ext>
                </a:extLst>
              </a:tr>
              <a:tr h="183363">
                <a:tc vMerge="1">
                  <a:txBody>
                    <a:bodyPr/>
                    <a:lstStyle/>
                    <a:p>
                      <a:endParaRPr kumimoji="1" lang="ja-JP" altLang="en-US"/>
                    </a:p>
                  </a:txBody>
                  <a:tcPr/>
                </a:tc>
                <a:tc>
                  <a:txBody>
                    <a:bodyPr/>
                    <a:lstStyle/>
                    <a:p>
                      <a:pPr algn="l" rtl="0" fontAlgn="ctr"/>
                      <a:r>
                        <a:rPr lang="en-US" sz="1050" b="0" i="0" u="none" strike="noStrike" dirty="0">
                          <a:solidFill>
                            <a:srgbClr val="000000"/>
                          </a:solidFill>
                          <a:effectLst/>
                          <a:latin typeface="BIZ UDPゴシック" panose="020B0400000000000000" pitchFamily="50" charset="-128"/>
                          <a:ea typeface="BIZ UDPゴシック" panose="020B0400000000000000" pitchFamily="50" charset="-128"/>
                        </a:rPr>
                        <a:t>G1</a:t>
                      </a:r>
                    </a:p>
                  </a:txBody>
                  <a:tcPr marL="7611" marR="7611" marT="7611"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r" rtl="0" fontAlgn="ctr"/>
                      <a:endParaRPr lang="en-US" altLang="ja-JP" sz="105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7611" marR="7611" marT="761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6863367"/>
                  </a:ext>
                </a:extLst>
              </a:tr>
            </a:tbl>
          </a:graphicData>
        </a:graphic>
      </p:graphicFrame>
      <p:sp>
        <p:nvSpPr>
          <p:cNvPr id="10" name="正方形/長方形 9">
            <a:extLst>
              <a:ext uri="{FF2B5EF4-FFF2-40B4-BE49-F238E27FC236}">
                <a16:creationId xmlns:a16="http://schemas.microsoft.com/office/drawing/2014/main" id="{FB3183E7-0F94-BDA7-6F20-31F56B2FE840}"/>
              </a:ext>
            </a:extLst>
          </p:cNvPr>
          <p:cNvSpPr/>
          <p:nvPr/>
        </p:nvSpPr>
        <p:spPr>
          <a:xfrm>
            <a:off x="1541914" y="2628173"/>
            <a:ext cx="7434024" cy="9286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タイトル 2">
            <a:extLst>
              <a:ext uri="{FF2B5EF4-FFF2-40B4-BE49-F238E27FC236}">
                <a16:creationId xmlns:a16="http://schemas.microsoft.com/office/drawing/2014/main" id="{99B8A281-9B48-3DE7-4D09-1A1584AF696E}"/>
              </a:ext>
            </a:extLst>
          </p:cNvPr>
          <p:cNvSpPr txBox="1">
            <a:spLocks/>
          </p:cNvSpPr>
          <p:nvPr/>
        </p:nvSpPr>
        <p:spPr>
          <a:xfrm>
            <a:off x="142008" y="5387206"/>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特徴</a:t>
            </a:r>
          </a:p>
        </p:txBody>
      </p:sp>
    </p:spTree>
    <p:extLst>
      <p:ext uri="{BB962C8B-B14F-4D97-AF65-F5344CB8AC3E}">
        <p14:creationId xmlns:p14="http://schemas.microsoft.com/office/powerpoint/2010/main" val="2272137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29</a:t>
            </a:fld>
            <a:r>
              <a:rPr lang="ja-JP" altLang="en-US" sz="1050" dirty="0">
                <a:latin typeface="+mn-ea"/>
              </a:rPr>
              <a:t>－</a:t>
            </a:r>
          </a:p>
        </p:txBody>
      </p:sp>
      <p:sp>
        <p:nvSpPr>
          <p:cNvPr id="2" name="正方形/長方形 1">
            <a:extLst>
              <a:ext uri="{FF2B5EF4-FFF2-40B4-BE49-F238E27FC236}">
                <a16:creationId xmlns:a16="http://schemas.microsoft.com/office/drawing/2014/main" id="{B6EF3F9F-ED82-21C6-CB50-EAAAD8F39A89}"/>
              </a:ext>
            </a:extLst>
          </p:cNvPr>
          <p:cNvSpPr/>
          <p:nvPr/>
        </p:nvSpPr>
        <p:spPr>
          <a:xfrm>
            <a:off x="650974" y="2905894"/>
            <a:ext cx="7836744" cy="3600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20204" pitchFamily="34" charset="0"/>
              <a:buChar char="•"/>
            </a:pPr>
            <a:r>
              <a:rPr lang="ja-JP" altLang="en-US" dirty="0">
                <a:solidFill>
                  <a:schemeClr val="tx1"/>
                </a:solidFill>
                <a:latin typeface="BIZ UDPゴシック" panose="020B0400000000000000" pitchFamily="50" charset="-128"/>
                <a:ea typeface="BIZ UDPゴシック" panose="020B0400000000000000" pitchFamily="50" charset="-128"/>
              </a:rPr>
              <a:t>総合職・専門職　共通</a:t>
            </a:r>
            <a:endParaRPr lang="en-US" altLang="ja-JP" dirty="0">
              <a:solidFill>
                <a:schemeClr val="tx1"/>
              </a:solidFill>
              <a:latin typeface="BIZ UDPゴシック" panose="020B0400000000000000" pitchFamily="50" charset="-128"/>
              <a:ea typeface="BIZ UDPゴシック" panose="020B0400000000000000" pitchFamily="50" charset="-128"/>
            </a:endParaRPr>
          </a:p>
          <a:p>
            <a:pPr marL="914400" lvl="1" indent="-457200">
              <a:buFont typeface="Arial" panose="020B0604020202020204" pitchFamily="34" charset="0"/>
              <a:buChar char="•"/>
            </a:pPr>
            <a:r>
              <a:rPr lang="ja-JP" altLang="en-US" dirty="0">
                <a:solidFill>
                  <a:schemeClr val="tx1"/>
                </a:solidFill>
                <a:latin typeface="BIZ UDPゴシック" panose="020B0400000000000000" pitchFamily="50" charset="-128"/>
                <a:ea typeface="BIZ UDPゴシック" panose="020B0400000000000000" pitchFamily="50" charset="-128"/>
              </a:rPr>
              <a:t>ジョブ評価への加算について</a:t>
            </a:r>
            <a:endParaRPr lang="en-US" altLang="ja-JP" dirty="0">
              <a:solidFill>
                <a:schemeClr val="tx1"/>
              </a:solidFill>
              <a:latin typeface="BIZ UDPゴシック" panose="020B0400000000000000" pitchFamily="50" charset="-128"/>
              <a:ea typeface="BIZ UDPゴシック" panose="020B0400000000000000" pitchFamily="50" charset="-128"/>
            </a:endParaRPr>
          </a:p>
          <a:p>
            <a:pPr marL="914400" lvl="1" indent="-457200">
              <a:buFont typeface="Arial" panose="020B0604020202020204" pitchFamily="34" charset="0"/>
              <a:buChar char="•"/>
            </a:pPr>
            <a:endParaRPr lang="en-US" altLang="ja-JP" dirty="0">
              <a:solidFill>
                <a:schemeClr val="tx1"/>
              </a:solidFill>
              <a:latin typeface="BIZ UDPゴシック" panose="020B0400000000000000" pitchFamily="50" charset="-128"/>
              <a:ea typeface="BIZ UDPゴシック" panose="020B0400000000000000" pitchFamily="50" charset="-128"/>
            </a:endParaRPr>
          </a:p>
          <a:p>
            <a:pPr marL="457200" indent="-457200">
              <a:buFont typeface="Arial" panose="020B0604020202020204" pitchFamily="34" charset="0"/>
              <a:buChar char="•"/>
            </a:pPr>
            <a:r>
              <a:rPr lang="ja-JP" altLang="en-US" dirty="0">
                <a:solidFill>
                  <a:schemeClr val="tx1"/>
                </a:solidFill>
                <a:latin typeface="BIZ UDPゴシック" panose="020B0400000000000000" pitchFamily="50" charset="-128"/>
                <a:ea typeface="BIZ UDPゴシック" panose="020B0400000000000000" pitchFamily="50" charset="-128"/>
              </a:rPr>
              <a:t>総合職 のみ</a:t>
            </a:r>
            <a:endParaRPr lang="en-US" altLang="ja-JP" dirty="0">
              <a:solidFill>
                <a:schemeClr val="tx1"/>
              </a:solidFill>
              <a:latin typeface="BIZ UDPゴシック" panose="020B0400000000000000" pitchFamily="50" charset="-128"/>
              <a:ea typeface="BIZ UDPゴシック" panose="020B0400000000000000" pitchFamily="50" charset="-128"/>
            </a:endParaRPr>
          </a:p>
          <a:p>
            <a:pPr marL="914400" lvl="1" indent="-457200">
              <a:buFont typeface="Arial" panose="020B0604020202020204" pitchFamily="34" charset="0"/>
              <a:buChar char="•"/>
            </a:pPr>
            <a:r>
              <a:rPr lang="ja-JP" altLang="en-US" dirty="0">
                <a:solidFill>
                  <a:schemeClr val="tx1"/>
                </a:solidFill>
                <a:latin typeface="BIZ UDPゴシック" panose="020B0400000000000000" pitchFamily="50" charset="-128"/>
                <a:ea typeface="BIZ UDPゴシック" panose="020B0400000000000000" pitchFamily="50" charset="-128"/>
              </a:rPr>
              <a:t>「格付と役職」及び「公的資格と役職」について</a:t>
            </a:r>
            <a:endParaRPr lang="en-US" altLang="ja-JP" dirty="0">
              <a:solidFill>
                <a:schemeClr val="tx1"/>
              </a:solidFill>
              <a:latin typeface="BIZ UDPゴシック" panose="020B0400000000000000" pitchFamily="50" charset="-128"/>
              <a:ea typeface="BIZ UDPゴシック" panose="020B0400000000000000" pitchFamily="50" charset="-128"/>
            </a:endParaRPr>
          </a:p>
          <a:p>
            <a:pPr marL="914400" lvl="1" indent="-457200">
              <a:buFont typeface="Arial" panose="020B0604020202020204" pitchFamily="34" charset="0"/>
              <a:buChar char="•"/>
            </a:pPr>
            <a:r>
              <a:rPr lang="ja-JP" altLang="en-US" dirty="0">
                <a:solidFill>
                  <a:schemeClr val="tx1"/>
                </a:solidFill>
                <a:latin typeface="BIZ UDPゴシック" panose="020B0400000000000000" pitchFamily="50" charset="-128"/>
                <a:ea typeface="BIZ UDPゴシック" panose="020B0400000000000000" pitchFamily="50" charset="-128"/>
              </a:rPr>
              <a:t>昇格試験について</a:t>
            </a:r>
            <a:endParaRPr lang="en-US" altLang="ja-JP" dirty="0">
              <a:solidFill>
                <a:schemeClr val="tx1"/>
              </a:solidFill>
              <a:latin typeface="BIZ UDPゴシック" panose="020B0400000000000000" pitchFamily="50" charset="-128"/>
              <a:ea typeface="BIZ UDPゴシック" panose="020B0400000000000000" pitchFamily="50" charset="-128"/>
            </a:endParaRPr>
          </a:p>
          <a:p>
            <a:pPr marL="914400" lvl="1" indent="-457200">
              <a:buFont typeface="Arial" panose="020B0604020202020204" pitchFamily="34" charset="0"/>
              <a:buChar char="•"/>
            </a:pPr>
            <a:endParaRPr lang="en-US" altLang="ja-JP" dirty="0">
              <a:solidFill>
                <a:schemeClr val="tx1"/>
              </a:solidFill>
              <a:latin typeface="BIZ UDPゴシック" panose="020B0400000000000000" pitchFamily="50" charset="-128"/>
              <a:ea typeface="BIZ UDPゴシック" panose="020B0400000000000000" pitchFamily="50" charset="-128"/>
            </a:endParaRPr>
          </a:p>
          <a:p>
            <a:pPr marL="457200" indent="-457200">
              <a:buFont typeface="Arial" panose="020B0604020202020204" pitchFamily="34" charset="0"/>
              <a:buChar char="•"/>
            </a:pPr>
            <a:r>
              <a:rPr lang="ja-JP" altLang="en-US" dirty="0">
                <a:solidFill>
                  <a:schemeClr val="tx1"/>
                </a:solidFill>
                <a:latin typeface="BIZ UDPゴシック" panose="020B0400000000000000" pitchFamily="50" charset="-128"/>
                <a:ea typeface="BIZ UDPゴシック" panose="020B0400000000000000" pitchFamily="50" charset="-128"/>
              </a:rPr>
              <a:t>専門職　のみ</a:t>
            </a:r>
            <a:endParaRPr lang="en-US" altLang="ja-JP" dirty="0">
              <a:solidFill>
                <a:schemeClr val="tx1"/>
              </a:solidFill>
              <a:latin typeface="BIZ UDPゴシック" panose="020B0400000000000000" pitchFamily="50" charset="-128"/>
              <a:ea typeface="BIZ UDPゴシック" panose="020B0400000000000000" pitchFamily="50" charset="-128"/>
            </a:endParaRPr>
          </a:p>
          <a:p>
            <a:pPr marL="914400" lvl="1" indent="-457200">
              <a:buFont typeface="Arial" panose="020B0604020202020204" pitchFamily="34" charset="0"/>
              <a:buChar char="•"/>
            </a:pPr>
            <a:r>
              <a:rPr lang="ja-JP" altLang="en-US" dirty="0">
                <a:solidFill>
                  <a:schemeClr val="tx1"/>
                </a:solidFill>
                <a:latin typeface="BIZ UDPゴシック" panose="020B0400000000000000" pitchFamily="50" charset="-128"/>
                <a:ea typeface="BIZ UDPゴシック" panose="020B0400000000000000" pitchFamily="50" charset="-128"/>
              </a:rPr>
              <a:t>求める人物像について</a:t>
            </a:r>
            <a:endParaRPr lang="en-US" altLang="ja-JP" dirty="0">
              <a:solidFill>
                <a:schemeClr val="tx1"/>
              </a:solidFill>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2BB6AC23-6E78-26C2-A7D5-4F28BDCC3A39}"/>
              </a:ext>
            </a:extLst>
          </p:cNvPr>
          <p:cNvSpPr/>
          <p:nvPr/>
        </p:nvSpPr>
        <p:spPr>
          <a:xfrm>
            <a:off x="606252" y="1772816"/>
            <a:ext cx="7881466" cy="1368152"/>
          </a:xfrm>
          <a:prstGeom prst="rect">
            <a:avLst/>
          </a:prstGeom>
          <a:solidFill>
            <a:schemeClr val="accent3">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dirty="0">
                <a:latin typeface="BIZ UDPゴシック" panose="020B0400000000000000" pitchFamily="50" charset="-128"/>
                <a:ea typeface="BIZ UDPゴシック" panose="020B0400000000000000" pitchFamily="50" charset="-128"/>
              </a:rPr>
              <a:t>その他　トピックスについての説明</a:t>
            </a:r>
            <a:endParaRPr lang="en-US" altLang="ja-JP" sz="36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478454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Box 9"/>
          <p:cNvSpPr txBox="1">
            <a:spLocks noChangeArrowheads="1"/>
          </p:cNvSpPr>
          <p:nvPr/>
        </p:nvSpPr>
        <p:spPr bwMode="auto">
          <a:xfrm>
            <a:off x="251520" y="1268760"/>
            <a:ext cx="8712968" cy="3114352"/>
          </a:xfrm>
          <a:prstGeom prst="rect">
            <a:avLst/>
          </a:prstGeom>
          <a:solidFill>
            <a:srgbClr val="FFFFCC"/>
          </a:solidFill>
          <a:ln w="9525" algn="ctr">
            <a:solidFill>
              <a:schemeClr val="tx1"/>
            </a:solidFill>
            <a:miter lim="800000"/>
            <a:headEnd/>
            <a:tailEnd/>
          </a:ln>
        </p:spPr>
        <p:txBody>
          <a:bodyPr wrap="square" anchor="ctr">
            <a:noAutofit/>
          </a:bodyPr>
          <a:lstStyle>
            <a:lvl1pPr eaLnBrk="0" hangingPunct="0">
              <a:defRPr kumimoji="1" sz="2000">
                <a:solidFill>
                  <a:schemeClr val="tx1"/>
                </a:solidFill>
                <a:latin typeface="Arial" charset="0"/>
                <a:ea typeface="ＭＳ Ｐゴシック" charset="-128"/>
              </a:defRPr>
            </a:lvl1pPr>
            <a:lvl2pPr marL="742950" indent="-285750" eaLnBrk="0" hangingPunct="0">
              <a:defRPr kumimoji="1" sz="2000">
                <a:solidFill>
                  <a:schemeClr val="tx1"/>
                </a:solidFill>
                <a:latin typeface="Arial" charset="0"/>
                <a:ea typeface="ＭＳ Ｐゴシック" charset="-128"/>
              </a:defRPr>
            </a:lvl2pPr>
            <a:lvl3pPr marL="1143000" indent="-228600" eaLnBrk="0" hangingPunct="0">
              <a:defRPr kumimoji="1" sz="2000">
                <a:solidFill>
                  <a:schemeClr val="tx1"/>
                </a:solidFill>
                <a:latin typeface="Arial" charset="0"/>
                <a:ea typeface="ＭＳ Ｐゴシック" charset="-128"/>
              </a:defRPr>
            </a:lvl3pPr>
            <a:lvl4pPr marL="1600200" indent="-228600" eaLnBrk="0" hangingPunct="0">
              <a:defRPr kumimoji="1" sz="2000">
                <a:solidFill>
                  <a:schemeClr val="tx1"/>
                </a:solidFill>
                <a:latin typeface="Arial" charset="0"/>
                <a:ea typeface="ＭＳ Ｐゴシック" charset="-128"/>
              </a:defRPr>
            </a:lvl4pPr>
            <a:lvl5pPr marL="2057400" indent="-228600" eaLnBrk="0" hangingPunct="0">
              <a:defRPr kumimoji="1" sz="2000">
                <a:solidFill>
                  <a:schemeClr val="tx1"/>
                </a:solidFill>
                <a:latin typeface="Arial" charset="0"/>
                <a:ea typeface="ＭＳ Ｐゴシック" charset="-128"/>
              </a:defRPr>
            </a:lvl5pPr>
            <a:lvl6pPr marL="2514600" indent="-228600" algn="ctr" eaLnBrk="0" fontAlgn="base" hangingPunct="0">
              <a:lnSpc>
                <a:spcPct val="80000"/>
              </a:lnSpc>
              <a:spcBef>
                <a:spcPct val="20000"/>
              </a:spcBef>
              <a:spcAft>
                <a:spcPct val="0"/>
              </a:spcAft>
              <a:defRPr kumimoji="1" sz="2000">
                <a:solidFill>
                  <a:schemeClr val="tx1"/>
                </a:solidFill>
                <a:latin typeface="Arial" charset="0"/>
                <a:ea typeface="ＭＳ Ｐゴシック" charset="-128"/>
              </a:defRPr>
            </a:lvl6pPr>
            <a:lvl7pPr marL="2971800" indent="-228600" algn="ctr" eaLnBrk="0" fontAlgn="base" hangingPunct="0">
              <a:lnSpc>
                <a:spcPct val="80000"/>
              </a:lnSpc>
              <a:spcBef>
                <a:spcPct val="20000"/>
              </a:spcBef>
              <a:spcAft>
                <a:spcPct val="0"/>
              </a:spcAft>
              <a:defRPr kumimoji="1" sz="2000">
                <a:solidFill>
                  <a:schemeClr val="tx1"/>
                </a:solidFill>
                <a:latin typeface="Arial" charset="0"/>
                <a:ea typeface="ＭＳ Ｐゴシック" charset="-128"/>
              </a:defRPr>
            </a:lvl7pPr>
            <a:lvl8pPr marL="3429000" indent="-228600" algn="ctr" eaLnBrk="0" fontAlgn="base" hangingPunct="0">
              <a:lnSpc>
                <a:spcPct val="80000"/>
              </a:lnSpc>
              <a:spcBef>
                <a:spcPct val="20000"/>
              </a:spcBef>
              <a:spcAft>
                <a:spcPct val="0"/>
              </a:spcAft>
              <a:defRPr kumimoji="1" sz="2000">
                <a:solidFill>
                  <a:schemeClr val="tx1"/>
                </a:solidFill>
                <a:latin typeface="Arial" charset="0"/>
                <a:ea typeface="ＭＳ Ｐゴシック" charset="-128"/>
              </a:defRPr>
            </a:lvl8pPr>
            <a:lvl9pPr marL="3886200" indent="-228600" algn="ctr" eaLnBrk="0" fontAlgn="base" hangingPunct="0">
              <a:lnSpc>
                <a:spcPct val="80000"/>
              </a:lnSpc>
              <a:spcBef>
                <a:spcPct val="20000"/>
              </a:spcBef>
              <a:spcAft>
                <a:spcPct val="0"/>
              </a:spcAft>
              <a:defRPr kumimoji="1" sz="2000">
                <a:solidFill>
                  <a:schemeClr val="tx1"/>
                </a:solidFill>
                <a:latin typeface="Arial" charset="0"/>
                <a:ea typeface="ＭＳ Ｐゴシック" charset="-128"/>
              </a:defRPr>
            </a:lvl9pPr>
          </a:lstStyle>
          <a:p>
            <a:pPr marL="342900" indent="-342900" eaLnBrk="1" hangingPunct="1">
              <a:buFont typeface="+mj-lt"/>
              <a:buAutoNum type="arabicPeriod"/>
            </a:pPr>
            <a:r>
              <a:rPr lang="ja-JP" altLang="en-US" sz="1400" b="1" dirty="0">
                <a:latin typeface="BIZ UDPゴシック" panose="020B0400000000000000" pitchFamily="50" charset="-128"/>
                <a:ea typeface="BIZ UDPゴシック" panose="020B0400000000000000" pitchFamily="50" charset="-128"/>
              </a:rPr>
              <a:t>評価基準</a:t>
            </a:r>
            <a:endParaRPr lang="en-US" altLang="ja-JP" sz="1400" b="1" dirty="0">
              <a:latin typeface="BIZ UDPゴシック" panose="020B0400000000000000" pitchFamily="50" charset="-128"/>
              <a:ea typeface="BIZ UDPゴシック" panose="020B0400000000000000" pitchFamily="50" charset="-128"/>
            </a:endParaRPr>
          </a:p>
          <a:p>
            <a:pPr marL="914400" lvl="1" indent="-171450" eaLnBrk="1" hangingPunct="1">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公的資格一覧アプリに資格ごとのポイントが定義されている。</a:t>
            </a:r>
            <a:endParaRPr lang="en-US" altLang="ja-JP" sz="1200" dirty="0">
              <a:latin typeface="BIZ UDPゴシック" panose="020B0400000000000000" pitchFamily="50" charset="-128"/>
              <a:ea typeface="BIZ UDPゴシック" panose="020B0400000000000000" pitchFamily="50" charset="-128"/>
            </a:endParaRPr>
          </a:p>
          <a:p>
            <a:pPr marL="914400" lvl="1" indent="-171450" eaLnBrk="1" hangingPunct="1">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総合職は、半期ごとの「ジョブ評価シート」へ加点する。</a:t>
            </a:r>
            <a:r>
              <a:rPr lang="ja-JP" altLang="en-US" sz="1400" u="sng" dirty="0">
                <a:solidFill>
                  <a:srgbClr val="FF0000"/>
                </a:solidFill>
                <a:latin typeface="BIZ UDPゴシック" panose="020B0400000000000000" pitchFamily="50" charset="-128"/>
                <a:ea typeface="BIZ UDPゴシック" panose="020B0400000000000000" pitchFamily="50" charset="-128"/>
              </a:rPr>
              <a:t>専門職は、年度ごと「事業構想シート」へ加点する。</a:t>
            </a:r>
            <a:endParaRPr lang="en-US" altLang="ja-JP" sz="1400" u="sng" dirty="0">
              <a:solidFill>
                <a:srgbClr val="FF0000"/>
              </a:solidFill>
              <a:latin typeface="BIZ UDPゴシック" panose="020B0400000000000000" pitchFamily="50" charset="-128"/>
              <a:ea typeface="BIZ UDPゴシック" panose="020B0400000000000000" pitchFamily="50" charset="-128"/>
            </a:endParaRPr>
          </a:p>
          <a:p>
            <a:pPr lvl="1" indent="0" eaLnBrk="1" hangingPunct="1"/>
            <a:endParaRPr lang="en-US" altLang="ja-JP" sz="1200" dirty="0">
              <a:latin typeface="BIZ UDPゴシック" panose="020B0400000000000000" pitchFamily="50" charset="-128"/>
              <a:ea typeface="BIZ UDPゴシック" panose="020B0400000000000000" pitchFamily="50" charset="-128"/>
            </a:endParaRPr>
          </a:p>
          <a:p>
            <a:pPr marL="342900" indent="-342900" eaLnBrk="1" hangingPunct="1">
              <a:buFont typeface="+mj-lt"/>
              <a:buAutoNum type="arabicPeriod"/>
            </a:pPr>
            <a:r>
              <a:rPr lang="ja-JP" altLang="en-US" sz="1400" b="1" dirty="0">
                <a:latin typeface="BIZ UDPゴシック" panose="020B0400000000000000" pitchFamily="50" charset="-128"/>
                <a:ea typeface="BIZ UDPゴシック" panose="020B0400000000000000" pitchFamily="50" charset="-128"/>
              </a:rPr>
              <a:t>ポイントに応じた評価への加点</a:t>
            </a:r>
            <a:endParaRPr lang="en-US" altLang="ja-JP" sz="1400" b="1" dirty="0">
              <a:latin typeface="BIZ UDPゴシック" panose="020B0400000000000000" pitchFamily="50" charset="-128"/>
              <a:ea typeface="BIZ UDPゴシック" panose="020B0400000000000000" pitchFamily="50" charset="-128"/>
            </a:endParaRPr>
          </a:p>
          <a:p>
            <a:pPr marL="914400" lvl="1" indent="-171450">
              <a:buFont typeface="Arial" panose="020B0604020202020204" pitchFamily="34" charset="0"/>
              <a:buChar char="•"/>
            </a:pPr>
            <a:r>
              <a:rPr lang="en-US" altLang="ja-JP" sz="1200" i="0" dirty="0">
                <a:solidFill>
                  <a:srgbClr val="333333"/>
                </a:solidFill>
                <a:effectLst/>
                <a:latin typeface="BIZ UDPゴシック" panose="020B0400000000000000" pitchFamily="50" charset="-128"/>
                <a:ea typeface="BIZ UDPゴシック" panose="020B0400000000000000" pitchFamily="50" charset="-128"/>
              </a:rPr>
              <a:t>20P </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以上　</a:t>
            </a:r>
            <a:r>
              <a:rPr lang="en-US" altLang="ja-JP" sz="1200" dirty="0">
                <a:solidFill>
                  <a:srgbClr val="333333"/>
                </a:solidFill>
                <a:latin typeface="BIZ UDPゴシック" panose="020B0400000000000000" pitchFamily="50" charset="-128"/>
                <a:ea typeface="BIZ UDPゴシック" panose="020B0400000000000000" pitchFamily="50" charset="-128"/>
              </a:rPr>
              <a:t>		</a:t>
            </a:r>
            <a:r>
              <a:rPr lang="ja-JP" altLang="en-US" sz="1200" dirty="0">
                <a:solidFill>
                  <a:srgbClr val="333333"/>
                </a:solidFill>
                <a:latin typeface="BIZ UDPゴシック" panose="020B0400000000000000" pitchFamily="50" charset="-128"/>
                <a:ea typeface="BIZ UDPゴシック" panose="020B0400000000000000" pitchFamily="50" charset="-128"/>
              </a:rPr>
              <a:t>→　</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0.5</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点を評価へ加点</a:t>
            </a:r>
            <a:endParaRPr lang="en-US" altLang="ja-JP" sz="1200" i="0" dirty="0">
              <a:solidFill>
                <a:srgbClr val="333333"/>
              </a:solidFill>
              <a:effectLst/>
              <a:latin typeface="BIZ UDPゴシック" panose="020B0400000000000000" pitchFamily="50" charset="-128"/>
              <a:ea typeface="BIZ UDPゴシック" panose="020B0400000000000000" pitchFamily="50" charset="-128"/>
            </a:endParaRPr>
          </a:p>
          <a:p>
            <a:pPr marL="914400" lvl="1" indent="-171450">
              <a:buFont typeface="Arial" panose="020B0604020202020204" pitchFamily="34" charset="0"/>
              <a:buChar char="•"/>
            </a:pPr>
            <a:r>
              <a:rPr lang="en-US" altLang="ja-JP" sz="1200" i="0" dirty="0">
                <a:solidFill>
                  <a:srgbClr val="333333"/>
                </a:solidFill>
                <a:effectLst/>
                <a:latin typeface="BIZ UDPゴシック" panose="020B0400000000000000" pitchFamily="50" charset="-128"/>
                <a:ea typeface="BIZ UDPゴシック" panose="020B0400000000000000" pitchFamily="50" charset="-128"/>
              </a:rPr>
              <a:t>15P </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以上</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	20P </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未満　</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	</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　</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0.4</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点を評価へ加点</a:t>
            </a:r>
            <a:endParaRPr lang="en-US" altLang="ja-JP" sz="1200" i="0" dirty="0">
              <a:solidFill>
                <a:srgbClr val="333333"/>
              </a:solidFill>
              <a:effectLst/>
              <a:latin typeface="BIZ UDPゴシック" panose="020B0400000000000000" pitchFamily="50" charset="-128"/>
              <a:ea typeface="BIZ UDPゴシック" panose="020B0400000000000000" pitchFamily="50" charset="-128"/>
            </a:endParaRPr>
          </a:p>
          <a:p>
            <a:pPr marL="914400" lvl="1" indent="-171450">
              <a:buFont typeface="Arial" panose="020B0604020202020204" pitchFamily="34" charset="0"/>
              <a:buChar char="•"/>
            </a:pPr>
            <a:r>
              <a:rPr lang="en-US" altLang="ja-JP" sz="1200" i="0" dirty="0">
                <a:solidFill>
                  <a:srgbClr val="333333"/>
                </a:solidFill>
                <a:effectLst/>
                <a:latin typeface="BIZ UDPゴシック" panose="020B0400000000000000" pitchFamily="50" charset="-128"/>
                <a:ea typeface="BIZ UDPゴシック" panose="020B0400000000000000" pitchFamily="50" charset="-128"/>
              </a:rPr>
              <a:t>10P </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以上</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	15P </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未満　</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	</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　</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0.3</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点を評価へ加点</a:t>
            </a:r>
            <a:endParaRPr lang="en-US" altLang="ja-JP" sz="1200" i="0" dirty="0">
              <a:solidFill>
                <a:srgbClr val="333333"/>
              </a:solidFill>
              <a:effectLst/>
              <a:latin typeface="BIZ UDPゴシック" panose="020B0400000000000000" pitchFamily="50" charset="-128"/>
              <a:ea typeface="BIZ UDPゴシック" panose="020B0400000000000000" pitchFamily="50" charset="-128"/>
            </a:endParaRPr>
          </a:p>
          <a:p>
            <a:pPr marL="914400" lvl="1" indent="-171450">
              <a:buFont typeface="Arial" panose="020B0604020202020204" pitchFamily="34" charset="0"/>
              <a:buChar char="•"/>
            </a:pPr>
            <a:r>
              <a:rPr lang="en-US" altLang="ja-JP" sz="1200" i="0" dirty="0">
                <a:solidFill>
                  <a:srgbClr val="333333"/>
                </a:solidFill>
                <a:effectLst/>
                <a:latin typeface="BIZ UDPゴシック" panose="020B0400000000000000" pitchFamily="50" charset="-128"/>
                <a:ea typeface="BIZ UDPゴシック" panose="020B0400000000000000" pitchFamily="50" charset="-128"/>
              </a:rPr>
              <a:t>5P </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以上</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	10P </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未満</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	</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　</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0.2</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点を評価へ加点</a:t>
            </a:r>
            <a:endParaRPr lang="en-US" altLang="ja-JP" sz="1200" i="0" dirty="0">
              <a:solidFill>
                <a:srgbClr val="333333"/>
              </a:solidFill>
              <a:effectLst/>
              <a:latin typeface="BIZ UDPゴシック" panose="020B0400000000000000" pitchFamily="50" charset="-128"/>
              <a:ea typeface="BIZ UDPゴシック" panose="020B0400000000000000" pitchFamily="50" charset="-128"/>
            </a:endParaRPr>
          </a:p>
          <a:p>
            <a:pPr marL="914400" lvl="1" indent="-171450">
              <a:buFont typeface="Arial" panose="020B0604020202020204" pitchFamily="34" charset="0"/>
              <a:buChar char="•"/>
            </a:pPr>
            <a:r>
              <a:rPr lang="en-US" altLang="ja-JP" sz="1200" i="0" dirty="0">
                <a:solidFill>
                  <a:srgbClr val="333333"/>
                </a:solidFill>
                <a:effectLst/>
                <a:latin typeface="BIZ UDPゴシック" panose="020B0400000000000000" pitchFamily="50" charset="-128"/>
                <a:ea typeface="BIZ UDPゴシック" panose="020B0400000000000000" pitchFamily="50" charset="-128"/>
              </a:rPr>
              <a:t>1P </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以上</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	5P </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未満　</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	</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　</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0.1</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点を評価へ加点</a:t>
            </a:r>
            <a:endParaRPr lang="en-US" altLang="ja-JP" sz="1200" i="0" dirty="0">
              <a:solidFill>
                <a:srgbClr val="333333"/>
              </a:solidFill>
              <a:effectLst/>
              <a:latin typeface="BIZ UDPゴシック" panose="020B0400000000000000" pitchFamily="50" charset="-128"/>
              <a:ea typeface="BIZ UDPゴシック" panose="020B0400000000000000" pitchFamily="50" charset="-128"/>
            </a:endParaRPr>
          </a:p>
          <a:p>
            <a:pPr marL="914400" lvl="1" indent="-171450">
              <a:buFont typeface="Arial" panose="020B0604020202020204" pitchFamily="34" charset="0"/>
              <a:buChar char="•"/>
            </a:pPr>
            <a:endParaRPr lang="en-US" altLang="ja-JP" sz="1200" i="0" dirty="0">
              <a:solidFill>
                <a:srgbClr val="333333"/>
              </a:solidFill>
              <a:effectLst/>
              <a:latin typeface="BIZ UDPゴシック" panose="020B0400000000000000" pitchFamily="50" charset="-128"/>
              <a:ea typeface="BIZ UDPゴシック" panose="020B0400000000000000" pitchFamily="50" charset="-128"/>
            </a:endParaRPr>
          </a:p>
          <a:p>
            <a:pPr marL="342900" indent="-342900" algn="l">
              <a:buFont typeface="+mj-lt"/>
              <a:buAutoNum type="arabicPeriod" startAt="3"/>
            </a:pPr>
            <a:r>
              <a:rPr lang="ja-JP" altLang="en-US" sz="1400" b="1" dirty="0">
                <a:latin typeface="BIZ UDPゴシック" panose="020B0400000000000000" pitchFamily="50" charset="-128"/>
                <a:ea typeface="BIZ UDPゴシック" panose="020B0400000000000000" pitchFamily="50" charset="-128"/>
              </a:rPr>
              <a:t>評価への反映時期</a:t>
            </a:r>
            <a:endParaRPr lang="en-US" altLang="ja-JP" sz="1400" b="1" dirty="0">
              <a:latin typeface="BIZ UDPゴシック" panose="020B0400000000000000" pitchFamily="50" charset="-128"/>
              <a:ea typeface="BIZ UDPゴシック" panose="020B0400000000000000" pitchFamily="50" charset="-128"/>
            </a:endParaRPr>
          </a:p>
          <a:p>
            <a:pPr marL="1028700" lvl="1">
              <a:buFont typeface="Arial" panose="020B0604020202020204" pitchFamily="34" charset="0"/>
              <a:buChar char="•"/>
            </a:pPr>
            <a:r>
              <a:rPr lang="ja-JP" altLang="en-US" sz="1200" dirty="0">
                <a:solidFill>
                  <a:srgbClr val="333333"/>
                </a:solidFill>
                <a:latin typeface="BIZ UDPゴシック" panose="020B0400000000000000" pitchFamily="50" charset="-128"/>
                <a:ea typeface="BIZ UDPゴシック" panose="020B0400000000000000" pitchFamily="50" charset="-128"/>
              </a:rPr>
              <a:t>資格に関する</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管理アプリへ登録した「免状等」に記された日を交付日とする。交付日がある</a:t>
            </a:r>
            <a:r>
              <a:rPr lang="ja-JP" altLang="en-US" sz="1200" dirty="0">
                <a:solidFill>
                  <a:srgbClr val="333333"/>
                </a:solidFill>
                <a:latin typeface="BIZ UDPゴシック" panose="020B0400000000000000" pitchFamily="50" charset="-128"/>
                <a:ea typeface="BIZ UDPゴシック" panose="020B0400000000000000" pitchFamily="50" charset="-128"/>
              </a:rPr>
              <a:t>評価期間</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内</a:t>
            </a:r>
            <a:r>
              <a:rPr lang="ja-JP" altLang="en-US" sz="1200" dirty="0">
                <a:solidFill>
                  <a:srgbClr val="333333"/>
                </a:solidFill>
                <a:latin typeface="BIZ UDPゴシック" panose="020B0400000000000000" pitchFamily="50" charset="-128"/>
                <a:ea typeface="BIZ UDPゴシック" panose="020B0400000000000000" pitchFamily="50" charset="-128"/>
              </a:rPr>
              <a:t>に</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加点する。</a:t>
            </a:r>
            <a:endParaRPr lang="en-US" altLang="ja-JP" sz="1200" dirty="0">
              <a:solidFill>
                <a:srgbClr val="333333"/>
              </a:solidFill>
              <a:latin typeface="BIZ UDPゴシック" panose="020B0400000000000000" pitchFamily="50" charset="-128"/>
              <a:ea typeface="BIZ UDPゴシック" panose="020B0400000000000000" pitchFamily="50" charset="-128"/>
            </a:endParaRPr>
          </a:p>
          <a:p>
            <a:pPr marL="1028700" lvl="1">
              <a:buFont typeface="Arial" panose="020B0604020202020204" pitchFamily="34" charset="0"/>
              <a:buChar char="•"/>
            </a:pPr>
            <a:r>
              <a:rPr lang="ja-JP" altLang="en-US" sz="1200" i="0" dirty="0">
                <a:solidFill>
                  <a:srgbClr val="333333"/>
                </a:solidFill>
                <a:effectLst/>
                <a:latin typeface="BIZ UDPゴシック" panose="020B0400000000000000" pitchFamily="50" charset="-128"/>
                <a:ea typeface="BIZ UDPゴシック" panose="020B0400000000000000" pitchFamily="50" charset="-128"/>
              </a:rPr>
              <a:t>（例）　</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2023</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年</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3</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月</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23</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日が交付日　→　評価期間</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2022</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年</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10</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月</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1</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日～</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2023</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年</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3</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月</a:t>
            </a:r>
            <a:r>
              <a:rPr lang="en-US" altLang="ja-JP" sz="1200" i="0" dirty="0">
                <a:solidFill>
                  <a:srgbClr val="333333"/>
                </a:solidFill>
                <a:effectLst/>
                <a:latin typeface="BIZ UDPゴシック" panose="020B0400000000000000" pitchFamily="50" charset="-128"/>
                <a:ea typeface="BIZ UDPゴシック" panose="020B0400000000000000" pitchFamily="50" charset="-128"/>
              </a:rPr>
              <a:t>31</a:t>
            </a:r>
            <a:r>
              <a:rPr lang="ja-JP" altLang="en-US" sz="1200" i="0" dirty="0">
                <a:solidFill>
                  <a:srgbClr val="333333"/>
                </a:solidFill>
                <a:effectLst/>
                <a:latin typeface="BIZ UDPゴシック" panose="020B0400000000000000" pitchFamily="50" charset="-128"/>
                <a:ea typeface="BIZ UDPゴシック" panose="020B0400000000000000" pitchFamily="50" charset="-128"/>
              </a:rPr>
              <a:t>日の評価へ加算する。</a:t>
            </a:r>
            <a:endParaRPr lang="en-US" altLang="ja-JP" sz="1200" i="0" dirty="0">
              <a:solidFill>
                <a:srgbClr val="333333"/>
              </a:solidFill>
              <a:effectLst/>
              <a:latin typeface="BIZ UDPゴシック" panose="020B0400000000000000" pitchFamily="50" charset="-128"/>
              <a:ea typeface="BIZ UDPゴシック" panose="020B0400000000000000" pitchFamily="50" charset="-128"/>
            </a:endParaRPr>
          </a:p>
        </p:txBody>
      </p:sp>
      <p:sp>
        <p:nvSpPr>
          <p:cNvPr id="11" name="タイトル 2">
            <a:extLst>
              <a:ext uri="{FF2B5EF4-FFF2-40B4-BE49-F238E27FC236}">
                <a16:creationId xmlns:a16="http://schemas.microsoft.com/office/drawing/2014/main" id="{FFAE56F0-B955-44ED-88E6-C42A9D3B5803}"/>
              </a:ext>
            </a:extLst>
          </p:cNvPr>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総合職・専門職共通　ジョブ評価への加算について</a:t>
            </a:r>
          </a:p>
        </p:txBody>
      </p:sp>
      <p:sp>
        <p:nvSpPr>
          <p:cNvPr id="13" name="Text Box 31">
            <a:extLst>
              <a:ext uri="{FF2B5EF4-FFF2-40B4-BE49-F238E27FC236}">
                <a16:creationId xmlns:a16="http://schemas.microsoft.com/office/drawing/2014/main" id="{8FAB6423-CC67-4217-9729-97B5A249D6B4}"/>
              </a:ext>
            </a:extLst>
          </p:cNvPr>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j-ea"/>
                <a:ea typeface="+mj-ea"/>
              </a:rPr>
              <a:t>－</a:t>
            </a:r>
            <a:fld id="{B0F819B3-9E8F-4282-8AF7-A5F025A1BD25}" type="slidenum">
              <a:rPr lang="ja-JP" altLang="en-US" sz="1050">
                <a:latin typeface="+mj-ea"/>
                <a:ea typeface="+mj-ea"/>
              </a:rPr>
              <a:pPr algn="ctr" eaLnBrk="0" hangingPunct="0">
                <a:lnSpc>
                  <a:spcPct val="100000"/>
                </a:lnSpc>
                <a:buClrTx/>
                <a:buSzTx/>
                <a:buFontTx/>
                <a:buNone/>
              </a:pPr>
              <a:t>30</a:t>
            </a:fld>
            <a:r>
              <a:rPr lang="ja-JP" altLang="en-US" sz="1050" dirty="0">
                <a:latin typeface="+mj-ea"/>
                <a:ea typeface="+mj-ea"/>
              </a:rPr>
              <a:t>－</a:t>
            </a:r>
          </a:p>
        </p:txBody>
      </p:sp>
      <p:sp>
        <p:nvSpPr>
          <p:cNvPr id="7" name="テキスト ボックス 6">
            <a:extLst>
              <a:ext uri="{FF2B5EF4-FFF2-40B4-BE49-F238E27FC236}">
                <a16:creationId xmlns:a16="http://schemas.microsoft.com/office/drawing/2014/main" id="{1F05D6EE-6DBA-553C-2BE0-D923339FF3D5}"/>
              </a:ext>
            </a:extLst>
          </p:cNvPr>
          <p:cNvSpPr txBox="1"/>
          <p:nvPr/>
        </p:nvSpPr>
        <p:spPr>
          <a:xfrm>
            <a:off x="251520" y="945594"/>
            <a:ext cx="6768752" cy="307777"/>
          </a:xfrm>
          <a:prstGeom prst="rect">
            <a:avLst/>
          </a:prstGeom>
          <a:noFill/>
        </p:spPr>
        <p:txBody>
          <a:bodyPr wrap="square">
            <a:spAutoFit/>
          </a:bodyPr>
          <a:lstStyle/>
          <a:p>
            <a:r>
              <a:rPr lang="ja-JP" altLang="en-US" sz="1400" dirty="0">
                <a:latin typeface="BIZ UDPゴシック" panose="020B0400000000000000" pitchFamily="50" charset="-128"/>
                <a:ea typeface="BIZ UDPゴシック" panose="020B0400000000000000" pitchFamily="50" charset="-128"/>
              </a:rPr>
              <a:t>①公的資格取得加算について</a:t>
            </a:r>
          </a:p>
        </p:txBody>
      </p:sp>
      <p:sp>
        <p:nvSpPr>
          <p:cNvPr id="8" name="Text Box 9">
            <a:extLst>
              <a:ext uri="{FF2B5EF4-FFF2-40B4-BE49-F238E27FC236}">
                <a16:creationId xmlns:a16="http://schemas.microsoft.com/office/drawing/2014/main" id="{DBF54E3D-9B42-6233-4426-C6BCFEA8D612}"/>
              </a:ext>
            </a:extLst>
          </p:cNvPr>
          <p:cNvSpPr txBox="1">
            <a:spLocks noChangeArrowheads="1"/>
          </p:cNvSpPr>
          <p:nvPr/>
        </p:nvSpPr>
        <p:spPr bwMode="auto">
          <a:xfrm>
            <a:off x="282761" y="4976302"/>
            <a:ext cx="8681727" cy="1477034"/>
          </a:xfrm>
          <a:prstGeom prst="rect">
            <a:avLst/>
          </a:prstGeom>
          <a:solidFill>
            <a:srgbClr val="FFFFCC"/>
          </a:solidFill>
          <a:ln w="9525" algn="ctr">
            <a:solidFill>
              <a:schemeClr val="tx1"/>
            </a:solidFill>
            <a:miter lim="800000"/>
            <a:headEnd/>
            <a:tailEnd/>
          </a:ln>
        </p:spPr>
        <p:txBody>
          <a:bodyPr wrap="square" anchor="ctr">
            <a:noAutofit/>
          </a:bodyPr>
          <a:lstStyle>
            <a:lvl1pPr eaLnBrk="0" hangingPunct="0">
              <a:defRPr kumimoji="1" sz="2000">
                <a:solidFill>
                  <a:schemeClr val="tx1"/>
                </a:solidFill>
                <a:latin typeface="Arial" charset="0"/>
                <a:ea typeface="ＭＳ Ｐゴシック" charset="-128"/>
              </a:defRPr>
            </a:lvl1pPr>
            <a:lvl2pPr marL="742950" indent="-285750" eaLnBrk="0" hangingPunct="0">
              <a:defRPr kumimoji="1" sz="2000">
                <a:solidFill>
                  <a:schemeClr val="tx1"/>
                </a:solidFill>
                <a:latin typeface="Arial" charset="0"/>
                <a:ea typeface="ＭＳ Ｐゴシック" charset="-128"/>
              </a:defRPr>
            </a:lvl2pPr>
            <a:lvl3pPr marL="1143000" indent="-228600" eaLnBrk="0" hangingPunct="0">
              <a:defRPr kumimoji="1" sz="2000">
                <a:solidFill>
                  <a:schemeClr val="tx1"/>
                </a:solidFill>
                <a:latin typeface="Arial" charset="0"/>
                <a:ea typeface="ＭＳ Ｐゴシック" charset="-128"/>
              </a:defRPr>
            </a:lvl3pPr>
            <a:lvl4pPr marL="1600200" indent="-228600" eaLnBrk="0" hangingPunct="0">
              <a:defRPr kumimoji="1" sz="2000">
                <a:solidFill>
                  <a:schemeClr val="tx1"/>
                </a:solidFill>
                <a:latin typeface="Arial" charset="0"/>
                <a:ea typeface="ＭＳ Ｐゴシック" charset="-128"/>
              </a:defRPr>
            </a:lvl4pPr>
            <a:lvl5pPr marL="2057400" indent="-228600" eaLnBrk="0" hangingPunct="0">
              <a:defRPr kumimoji="1" sz="2000">
                <a:solidFill>
                  <a:schemeClr val="tx1"/>
                </a:solidFill>
                <a:latin typeface="Arial" charset="0"/>
                <a:ea typeface="ＭＳ Ｐゴシック" charset="-128"/>
              </a:defRPr>
            </a:lvl5pPr>
            <a:lvl6pPr marL="2514600" indent="-228600" algn="ctr" eaLnBrk="0" fontAlgn="base" hangingPunct="0">
              <a:lnSpc>
                <a:spcPct val="80000"/>
              </a:lnSpc>
              <a:spcBef>
                <a:spcPct val="20000"/>
              </a:spcBef>
              <a:spcAft>
                <a:spcPct val="0"/>
              </a:spcAft>
              <a:defRPr kumimoji="1" sz="2000">
                <a:solidFill>
                  <a:schemeClr val="tx1"/>
                </a:solidFill>
                <a:latin typeface="Arial" charset="0"/>
                <a:ea typeface="ＭＳ Ｐゴシック" charset="-128"/>
              </a:defRPr>
            </a:lvl6pPr>
            <a:lvl7pPr marL="2971800" indent="-228600" algn="ctr" eaLnBrk="0" fontAlgn="base" hangingPunct="0">
              <a:lnSpc>
                <a:spcPct val="80000"/>
              </a:lnSpc>
              <a:spcBef>
                <a:spcPct val="20000"/>
              </a:spcBef>
              <a:spcAft>
                <a:spcPct val="0"/>
              </a:spcAft>
              <a:defRPr kumimoji="1" sz="2000">
                <a:solidFill>
                  <a:schemeClr val="tx1"/>
                </a:solidFill>
                <a:latin typeface="Arial" charset="0"/>
                <a:ea typeface="ＭＳ Ｐゴシック" charset="-128"/>
              </a:defRPr>
            </a:lvl7pPr>
            <a:lvl8pPr marL="3429000" indent="-228600" algn="ctr" eaLnBrk="0" fontAlgn="base" hangingPunct="0">
              <a:lnSpc>
                <a:spcPct val="80000"/>
              </a:lnSpc>
              <a:spcBef>
                <a:spcPct val="20000"/>
              </a:spcBef>
              <a:spcAft>
                <a:spcPct val="0"/>
              </a:spcAft>
              <a:defRPr kumimoji="1" sz="2000">
                <a:solidFill>
                  <a:schemeClr val="tx1"/>
                </a:solidFill>
                <a:latin typeface="Arial" charset="0"/>
                <a:ea typeface="ＭＳ Ｐゴシック" charset="-128"/>
              </a:defRPr>
            </a:lvl8pPr>
            <a:lvl9pPr marL="3886200" indent="-228600" algn="ctr" eaLnBrk="0" fontAlgn="base" hangingPunct="0">
              <a:lnSpc>
                <a:spcPct val="80000"/>
              </a:lnSpc>
              <a:spcBef>
                <a:spcPct val="20000"/>
              </a:spcBef>
              <a:spcAft>
                <a:spcPct val="0"/>
              </a:spcAft>
              <a:defRPr kumimoji="1" sz="2000">
                <a:solidFill>
                  <a:schemeClr val="tx1"/>
                </a:solidFill>
                <a:latin typeface="Arial" charset="0"/>
                <a:ea typeface="ＭＳ Ｐゴシック" charset="-128"/>
              </a:defRPr>
            </a:lvl9pPr>
          </a:lstStyle>
          <a:p>
            <a:pPr marL="342900" indent="-342900" eaLnBrk="1" hangingPunct="1">
              <a:buFont typeface="+mj-lt"/>
              <a:buAutoNum type="arabicPeriod"/>
            </a:pPr>
            <a:r>
              <a:rPr lang="ja-JP" altLang="en-US" sz="1400" b="1" dirty="0">
                <a:latin typeface="BIZ UDPゴシック" panose="020B0400000000000000" pitchFamily="50" charset="-128"/>
                <a:ea typeface="BIZ UDPゴシック" panose="020B0400000000000000" pitchFamily="50" charset="-128"/>
              </a:rPr>
              <a:t>評価基準</a:t>
            </a:r>
            <a:endParaRPr lang="en-US" altLang="ja-JP" sz="1400" b="1" dirty="0">
              <a:latin typeface="BIZ UDPゴシック" panose="020B0400000000000000" pitchFamily="50" charset="-128"/>
              <a:ea typeface="BIZ UDPゴシック" panose="020B0400000000000000" pitchFamily="50" charset="-128"/>
            </a:endParaRPr>
          </a:p>
          <a:p>
            <a:pPr marL="1085850" lvl="1" indent="-342900" eaLnBrk="1" hangingPunct="1">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特別貢献加算」は、総合職は半期ごとに、また専門職は通期ごとに、評価シート上に記載はないものの、特に会社に対して高い貢献度があったと思われる者を対象として、評価シート上の点数を加点することである。</a:t>
            </a:r>
            <a:endParaRPr lang="en-US" altLang="ja-JP" sz="1200" dirty="0">
              <a:latin typeface="BIZ UDPゴシック" panose="020B0400000000000000" pitchFamily="50" charset="-128"/>
              <a:ea typeface="BIZ UDPゴシック" panose="020B0400000000000000" pitchFamily="50" charset="-128"/>
            </a:endParaRPr>
          </a:p>
          <a:p>
            <a:pPr marL="1085850" lvl="1" indent="-342900" eaLnBrk="1" hangingPunct="1">
              <a:buFont typeface="Arial" panose="020B0604020202020204" pitchFamily="34" charset="0"/>
              <a:buChar char="•"/>
            </a:pPr>
            <a:endParaRPr lang="en-US" altLang="ja-JP" sz="1200" dirty="0">
              <a:latin typeface="BIZ UDPゴシック" panose="020B0400000000000000" pitchFamily="50" charset="-128"/>
              <a:ea typeface="BIZ UDPゴシック" panose="020B0400000000000000" pitchFamily="50" charset="-128"/>
            </a:endParaRPr>
          </a:p>
          <a:p>
            <a:pPr marL="1085850" lvl="1" indent="-342900" eaLnBrk="1" hangingPunct="1">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特別貢献加算が為される対象者及び加点される点数は、半期に一度開催される評価会議の場において、参加者間の合議により決定される。</a:t>
            </a:r>
            <a:endParaRPr lang="en-US" altLang="ja-JP" sz="1200" dirty="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E9FE73B1-BFAB-AA3D-2E02-A177C43B663B}"/>
              </a:ext>
            </a:extLst>
          </p:cNvPr>
          <p:cNvSpPr txBox="1"/>
          <p:nvPr/>
        </p:nvSpPr>
        <p:spPr>
          <a:xfrm>
            <a:off x="282761" y="4653136"/>
            <a:ext cx="6768752" cy="307777"/>
          </a:xfrm>
          <a:prstGeom prst="rect">
            <a:avLst/>
          </a:prstGeom>
          <a:noFill/>
        </p:spPr>
        <p:txBody>
          <a:bodyPr wrap="square">
            <a:spAutoFit/>
          </a:bodyPr>
          <a:lstStyle/>
          <a:p>
            <a:r>
              <a:rPr lang="ja-JP" altLang="en-US" sz="1400" dirty="0">
                <a:latin typeface="BIZ UDPゴシック" panose="020B0400000000000000" pitchFamily="50" charset="-128"/>
                <a:ea typeface="BIZ UDPゴシック" panose="020B0400000000000000" pitchFamily="50" charset="-128"/>
              </a:rPr>
              <a:t>②特別貢献加算　（現制度から変更なし）</a:t>
            </a:r>
          </a:p>
        </p:txBody>
      </p:sp>
      <p:sp>
        <p:nvSpPr>
          <p:cNvPr id="4" name="吹き出し: 線 3">
            <a:extLst>
              <a:ext uri="{FF2B5EF4-FFF2-40B4-BE49-F238E27FC236}">
                <a16:creationId xmlns:a16="http://schemas.microsoft.com/office/drawing/2014/main" id="{C3C961B2-14A5-8B4F-2105-2C20F6C75D48}"/>
              </a:ext>
            </a:extLst>
          </p:cNvPr>
          <p:cNvSpPr/>
          <p:nvPr/>
        </p:nvSpPr>
        <p:spPr>
          <a:xfrm>
            <a:off x="7397512" y="1340768"/>
            <a:ext cx="1008112" cy="436787"/>
          </a:xfrm>
          <a:prstGeom prst="borderCallout1">
            <a:avLst>
              <a:gd name="adj1" fmla="val 98746"/>
              <a:gd name="adj2" fmla="val 2450"/>
              <a:gd name="adj3" fmla="val 126507"/>
              <a:gd name="adj4" fmla="val -44850"/>
            </a:avLst>
          </a:prstGeom>
          <a:solidFill>
            <a:srgbClr val="FF0000"/>
          </a:solidFill>
          <a:ln w="12700">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lumMod val="95000"/>
                  </a:schemeClr>
                </a:solidFill>
                <a:latin typeface="BIZ UDPゴシック" panose="020B0400000000000000" pitchFamily="50" charset="-128"/>
                <a:ea typeface="BIZ UDPゴシック" panose="020B0400000000000000" pitchFamily="50" charset="-128"/>
                <a:cs typeface="メイリオ" panose="020B0604030504040204" pitchFamily="50" charset="-128"/>
              </a:rPr>
              <a:t>ポイント</a:t>
            </a:r>
          </a:p>
        </p:txBody>
      </p:sp>
    </p:spTree>
    <p:extLst>
      <p:ext uri="{BB962C8B-B14F-4D97-AF65-F5344CB8AC3E}">
        <p14:creationId xmlns:p14="http://schemas.microsoft.com/office/powerpoint/2010/main" val="2702492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31</a:t>
            </a:fld>
            <a:r>
              <a:rPr lang="ja-JP" altLang="en-US" sz="1050" dirty="0">
                <a:latin typeface="+mn-ea"/>
              </a:rPr>
              <a:t>－</a:t>
            </a:r>
          </a:p>
        </p:txBody>
      </p:sp>
      <p:sp>
        <p:nvSpPr>
          <p:cNvPr id="12" name="タイトル 2"/>
          <p:cNvSpPr txBox="1">
            <a:spLocks/>
          </p:cNvSpPr>
          <p:nvPr/>
        </p:nvSpPr>
        <p:spPr>
          <a:xfrm>
            <a:off x="0" y="147043"/>
            <a:ext cx="4716016"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総合職　昇格試験について</a:t>
            </a:r>
          </a:p>
        </p:txBody>
      </p:sp>
      <p:sp>
        <p:nvSpPr>
          <p:cNvPr id="10" name="正方形/長方形 9">
            <a:extLst>
              <a:ext uri="{FF2B5EF4-FFF2-40B4-BE49-F238E27FC236}">
                <a16:creationId xmlns:a16="http://schemas.microsoft.com/office/drawing/2014/main" id="{92365C7A-BEFF-63DE-A69D-5B8F606DF415}"/>
              </a:ext>
            </a:extLst>
          </p:cNvPr>
          <p:cNvSpPr/>
          <p:nvPr/>
        </p:nvSpPr>
        <p:spPr>
          <a:xfrm>
            <a:off x="134949" y="5445223"/>
            <a:ext cx="8841160" cy="1190307"/>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buFont typeface="Arial" panose="020B0604020202020204" pitchFamily="34" charset="0"/>
              <a:buChar char="•"/>
            </a:pPr>
            <a:r>
              <a:rPr lang="en-US" altLang="ja-JP"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G6</a:t>
            </a:r>
            <a:r>
              <a:rPr lang="ja-JP" altLang="en-US"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en-US" altLang="ja-JP"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G7</a:t>
            </a:r>
            <a:r>
              <a:rPr lang="ja-JP" altLang="en-US"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へ昇格する段階から、「事業構想力・マネジメント力」テストとして、社内レポートを課す。</a:t>
            </a:r>
            <a:endParaRPr lang="en-US" altLang="ja-JP"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228600" indent="-22860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一次試験合格者は、二次試験として経営層との面接試験を行い、総合考課により昇格者を決定する。</a:t>
            </a:r>
            <a:endParaRPr lang="en-US" altLang="ja-JP"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228600" indent="-22860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昇格試験の内容は、年度によって変更することがある。</a:t>
            </a:r>
            <a:endParaRPr lang="en-US" altLang="ja-JP"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endParaRPr lang="en-US" altLang="ja-JP"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r>
              <a:rPr lang="en-US" altLang="ja-JP"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a:t>
            </a:r>
            <a:r>
              <a:rPr lang="ja-JP" altLang="en-US"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専門職の昇格については、前述の「専門職の定義」ページを参照</a:t>
            </a:r>
            <a:endParaRPr lang="ja-JP" altLang="en-US" sz="1400" dirty="0">
              <a:latin typeface="BIZ UDPゴシック" panose="020B0400000000000000" pitchFamily="50" charset="-128"/>
              <a:ea typeface="BIZ UDPゴシック" panose="020B0400000000000000" pitchFamily="50" charset="-128"/>
            </a:endParaRPr>
          </a:p>
        </p:txBody>
      </p:sp>
      <p:graphicFrame>
        <p:nvGraphicFramePr>
          <p:cNvPr id="2" name="表 1">
            <a:extLst>
              <a:ext uri="{FF2B5EF4-FFF2-40B4-BE49-F238E27FC236}">
                <a16:creationId xmlns:a16="http://schemas.microsoft.com/office/drawing/2014/main" id="{3455DE7F-AD56-9A78-2606-0FE74C8A62B2}"/>
              </a:ext>
            </a:extLst>
          </p:cNvPr>
          <p:cNvGraphicFramePr>
            <a:graphicFrameLocks noGrp="1"/>
          </p:cNvGraphicFramePr>
          <p:nvPr>
            <p:extLst>
              <p:ext uri="{D42A27DB-BD31-4B8C-83A1-F6EECF244321}">
                <p14:modId xmlns:p14="http://schemas.microsoft.com/office/powerpoint/2010/main" val="387259115"/>
              </p:ext>
            </p:extLst>
          </p:nvPr>
        </p:nvGraphicFramePr>
        <p:xfrm>
          <a:off x="134948" y="1389115"/>
          <a:ext cx="7029340" cy="3467487"/>
        </p:xfrm>
        <a:graphic>
          <a:graphicData uri="http://schemas.openxmlformats.org/drawingml/2006/table">
            <a:tbl>
              <a:tblPr/>
              <a:tblGrid>
                <a:gridCol w="417393">
                  <a:extLst>
                    <a:ext uri="{9D8B030D-6E8A-4147-A177-3AD203B41FA5}">
                      <a16:colId xmlns:a16="http://schemas.microsoft.com/office/drawing/2014/main" val="1242548182"/>
                    </a:ext>
                  </a:extLst>
                </a:gridCol>
                <a:gridCol w="826734">
                  <a:extLst>
                    <a:ext uri="{9D8B030D-6E8A-4147-A177-3AD203B41FA5}">
                      <a16:colId xmlns:a16="http://schemas.microsoft.com/office/drawing/2014/main" val="3653065960"/>
                    </a:ext>
                  </a:extLst>
                </a:gridCol>
                <a:gridCol w="424561">
                  <a:extLst>
                    <a:ext uri="{9D8B030D-6E8A-4147-A177-3AD203B41FA5}">
                      <a16:colId xmlns:a16="http://schemas.microsoft.com/office/drawing/2014/main" val="2942108371"/>
                    </a:ext>
                  </a:extLst>
                </a:gridCol>
                <a:gridCol w="2405844">
                  <a:extLst>
                    <a:ext uri="{9D8B030D-6E8A-4147-A177-3AD203B41FA5}">
                      <a16:colId xmlns:a16="http://schemas.microsoft.com/office/drawing/2014/main" val="455060156"/>
                    </a:ext>
                  </a:extLst>
                </a:gridCol>
                <a:gridCol w="1273682">
                  <a:extLst>
                    <a:ext uri="{9D8B030D-6E8A-4147-A177-3AD203B41FA5}">
                      <a16:colId xmlns:a16="http://schemas.microsoft.com/office/drawing/2014/main" val="1633190309"/>
                    </a:ext>
                  </a:extLst>
                </a:gridCol>
                <a:gridCol w="1681126">
                  <a:extLst>
                    <a:ext uri="{9D8B030D-6E8A-4147-A177-3AD203B41FA5}">
                      <a16:colId xmlns:a16="http://schemas.microsoft.com/office/drawing/2014/main" val="3501444250"/>
                    </a:ext>
                  </a:extLst>
                </a:gridCol>
              </a:tblGrid>
              <a:tr h="325492">
                <a:tc>
                  <a:txBody>
                    <a:bodyPr/>
                    <a:lstStyle/>
                    <a:p>
                      <a:pPr algn="ctr" rtl="0" fontAlgn="ctr"/>
                      <a:r>
                        <a:rPr lang="en-US" altLang="ja-JP" sz="1100" b="0" i="0" u="none" strike="noStrike">
                          <a:solidFill>
                            <a:srgbClr val="F2F2F2"/>
                          </a:solidFill>
                          <a:effectLst/>
                          <a:latin typeface="BIZ UDPゴシック" panose="020B0400000000000000" pitchFamily="50" charset="-128"/>
                          <a:ea typeface="BIZ UDP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gridSpan="2">
                  <a:txBody>
                    <a:bodyPr/>
                    <a:lstStyle/>
                    <a:p>
                      <a:pPr algn="ctr" rtl="0"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何を問う？</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9CDE5"/>
                    </a:solidFill>
                  </a:tcPr>
                </a:tc>
                <a:tc hMerge="1">
                  <a:txBody>
                    <a:bodyPr/>
                    <a:lstStyle/>
                    <a:p>
                      <a:endParaRPr kumimoji="1" lang="ja-JP" altLang="en-US"/>
                    </a:p>
                  </a:txBody>
                  <a:tcPr/>
                </a:tc>
                <a:tc>
                  <a:txBody>
                    <a:bodyPr/>
                    <a:lstStyle/>
                    <a:p>
                      <a:pPr algn="ctr" rtl="0"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①事業構想力・マネジメント力</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rtl="0"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②ビジネススキル</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761598460"/>
                  </a:ext>
                </a:extLst>
              </a:tr>
              <a:tr h="325492">
                <a:tc>
                  <a:txBody>
                    <a:bodyPr/>
                    <a:lstStyle/>
                    <a:p>
                      <a:pPr algn="ctr" rtl="0" fontAlgn="ctr"/>
                      <a:r>
                        <a:rPr lang="en-US" altLang="ja-JP" sz="1100" b="0" i="0" u="none" strike="noStrike">
                          <a:solidFill>
                            <a:srgbClr val="F2F2F2"/>
                          </a:solidFill>
                          <a:effectLst/>
                          <a:latin typeface="BIZ UDPゴシック" panose="020B0400000000000000" pitchFamily="50" charset="-128"/>
                          <a:ea typeface="BIZ UDP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gridSpan="2">
                  <a:txBody>
                    <a:bodyPr/>
                    <a:lstStyle/>
                    <a:p>
                      <a:pPr algn="ctr" rtl="0"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何で問う？</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9CDE5"/>
                    </a:solidFill>
                  </a:tcPr>
                </a:tc>
                <a:tc hMerge="1">
                  <a:txBody>
                    <a:bodyPr/>
                    <a:lstStyle/>
                    <a:p>
                      <a:endParaRPr kumimoji="1" lang="ja-JP" altLang="en-US"/>
                    </a:p>
                  </a:txBody>
                  <a:tcPr/>
                </a:tc>
                <a:tc>
                  <a:txBody>
                    <a:bodyPr/>
                    <a:lstStyle/>
                    <a:p>
                      <a:pPr algn="ctr" rtl="0"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事業構想・マネジメント　</a:t>
                      </a:r>
                      <a:endPar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rtl="0"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社内レポートの提出</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rtl="0" fontAlgn="ctr"/>
                      <a:r>
                        <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rPr>
                        <a:t>GMAP6</a:t>
                      </a: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科目（グロービス社）　テスト受験</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617829863"/>
                  </a:ext>
                </a:extLst>
              </a:tr>
              <a:tr h="254290">
                <a:tc rowSpan="11">
                  <a:txBody>
                    <a:bodyPr/>
                    <a:lstStyle/>
                    <a:p>
                      <a:pPr algn="ctr" rtl="0" fontAlgn="ctr"/>
                      <a:r>
                        <a:rPr lang="en-US" altLang="ja-JP" sz="1100" b="0" i="0" u="none" strike="noStrike">
                          <a:solidFill>
                            <a:srgbClr val="F2F2F2"/>
                          </a:solidFill>
                          <a:effectLst/>
                          <a:latin typeface="BIZ UDPゴシック" panose="020B0400000000000000" pitchFamily="50" charset="-128"/>
                          <a:ea typeface="BIZ UDP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54061"/>
                    </a:solidFill>
                  </a:tcPr>
                </a:tc>
                <a:tc rowSpan="11">
                  <a:txBody>
                    <a:bodyPr/>
                    <a:lstStyle/>
                    <a:p>
                      <a:pPr algn="ctr" rtl="0"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どのように</a:t>
                      </a:r>
                      <a:endPar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endParaRPr>
                    </a:p>
                    <a:p>
                      <a:pPr algn="ctr" rtl="0"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問う？</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G11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8862163"/>
                  </a:ext>
                </a:extLst>
              </a:tr>
              <a:tr h="254290">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G10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rowSpan="5">
                  <a:txBody>
                    <a:bodyPr/>
                    <a:lstStyle/>
                    <a:p>
                      <a:pPr algn="ctr" rtl="0"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社内レポートの提出と</a:t>
                      </a:r>
                      <a:b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経営ボードによるレポートの評価</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総合</a:t>
                      </a:r>
                      <a:r>
                        <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rPr>
                        <a:t>630</a:t>
                      </a:r>
                      <a:r>
                        <a:rPr 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P</a:t>
                      </a: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以上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10">
                  <a:txBody>
                    <a:bodyPr/>
                    <a:lstStyle/>
                    <a:p>
                      <a:pPr algn="ctr" rtl="0" fontAlgn="ctr"/>
                      <a:r>
                        <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rPr>
                        <a:t>BF</a:t>
                      </a:r>
                      <a:br>
                        <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rPr>
                      </a:b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（ビジネスフレームワーク）</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5845462"/>
                  </a:ext>
                </a:extLst>
              </a:tr>
              <a:tr h="254290">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G9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vMerge="1">
                  <a:txBody>
                    <a:bodyPr/>
                    <a:lstStyle/>
                    <a:p>
                      <a:endParaRPr kumimoji="1" lang="ja-JP" altLang="en-US"/>
                    </a:p>
                  </a:txBody>
                  <a:tcPr/>
                </a:tc>
                <a:tc>
                  <a:txBody>
                    <a:bodyPr/>
                    <a:lstStyle/>
                    <a:p>
                      <a:pPr algn="ctr" rtl="0"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総合</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600</a:t>
                      </a: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P</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以上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432473514"/>
                  </a:ext>
                </a:extLst>
              </a:tr>
              <a:tr h="254290">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G8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vMerge="1">
                  <a:txBody>
                    <a:bodyPr/>
                    <a:lstStyle/>
                    <a:p>
                      <a:endParaRPr kumimoji="1" lang="ja-JP" altLang="en-US"/>
                    </a:p>
                  </a:txBody>
                  <a:tcPr/>
                </a:tc>
                <a:tc>
                  <a:txBody>
                    <a:bodyPr/>
                    <a:lstStyle/>
                    <a:p>
                      <a:pPr algn="ctr" rtl="0"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総合</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570</a:t>
                      </a: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P</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以上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3553408130"/>
                  </a:ext>
                </a:extLst>
              </a:tr>
              <a:tr h="254290">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G7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vMerge="1">
                  <a:txBody>
                    <a:bodyPr/>
                    <a:lstStyle/>
                    <a:p>
                      <a:endParaRPr kumimoji="1" lang="ja-JP" altLang="en-US"/>
                    </a:p>
                  </a:txBody>
                  <a:tcPr/>
                </a:tc>
                <a:tc>
                  <a:txBody>
                    <a:bodyPr/>
                    <a:lstStyle/>
                    <a:p>
                      <a:pPr algn="ctr" rtl="0"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総合</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540</a:t>
                      </a: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P</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以上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800996904"/>
                  </a:ext>
                </a:extLst>
              </a:tr>
              <a:tr h="254290">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G6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vMerge="1">
                  <a:txBody>
                    <a:bodyPr/>
                    <a:lstStyle/>
                    <a:p>
                      <a:endParaRPr kumimoji="1" lang="ja-JP" altLang="en-US"/>
                    </a:p>
                  </a:txBody>
                  <a:tcPr/>
                </a:tc>
                <a:tc>
                  <a:txBody>
                    <a:bodyPr/>
                    <a:lstStyle/>
                    <a:p>
                      <a:pPr algn="ctr" rtl="0"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総合</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500</a:t>
                      </a: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P</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以上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1995937815"/>
                  </a:ext>
                </a:extLst>
              </a:tr>
              <a:tr h="254290">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G5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rowSpan="5">
                  <a:txBody>
                    <a:bodyPr/>
                    <a:lstStyle/>
                    <a:p>
                      <a:pPr algn="ctr" rtl="0"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テストなし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総合</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470</a:t>
                      </a: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P</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以上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897028436"/>
                  </a:ext>
                </a:extLst>
              </a:tr>
              <a:tr h="254290">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G4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vMerge="1">
                  <a:txBody>
                    <a:bodyPr/>
                    <a:lstStyle/>
                    <a:p>
                      <a:endParaRPr kumimoji="1" lang="ja-JP" altLang="en-US"/>
                    </a:p>
                  </a:txBody>
                  <a:tcPr/>
                </a:tc>
                <a:tc>
                  <a:txBody>
                    <a:bodyPr/>
                    <a:lstStyle/>
                    <a:p>
                      <a:pPr algn="ctr" rtl="0"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総合</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440</a:t>
                      </a: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P</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以上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1525577859"/>
                  </a:ext>
                </a:extLst>
              </a:tr>
              <a:tr h="254290">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G3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vMerge="1">
                  <a:txBody>
                    <a:bodyPr/>
                    <a:lstStyle/>
                    <a:p>
                      <a:endParaRPr kumimoji="1" lang="ja-JP" altLang="en-US"/>
                    </a:p>
                  </a:txBody>
                  <a:tcPr/>
                </a:tc>
                <a:tc>
                  <a:txBody>
                    <a:bodyPr/>
                    <a:lstStyle/>
                    <a:p>
                      <a:pPr algn="ctr" rtl="0"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総合</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400</a:t>
                      </a: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P</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以上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3307873985"/>
                  </a:ext>
                </a:extLst>
              </a:tr>
              <a:tr h="254290">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G2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vMerge="1">
                  <a:txBody>
                    <a:bodyPr/>
                    <a:lstStyle/>
                    <a:p>
                      <a:endParaRPr kumimoji="1" lang="ja-JP" altLang="en-US"/>
                    </a:p>
                  </a:txBody>
                  <a:tcPr/>
                </a:tc>
                <a:tc>
                  <a:txBody>
                    <a:bodyPr/>
                    <a:lstStyle/>
                    <a:p>
                      <a:pPr algn="ctr" rtl="0" fontAlgn="ct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総合</a:t>
                      </a:r>
                      <a:r>
                        <a:rPr lang="en-US" altLang="ja-JP" sz="1100" b="0" i="0" u="none" strike="noStrike">
                          <a:solidFill>
                            <a:srgbClr val="000000"/>
                          </a:solidFill>
                          <a:effectLst/>
                          <a:latin typeface="BIZ UDPゴシック" panose="020B0400000000000000" pitchFamily="50" charset="-128"/>
                          <a:ea typeface="BIZ UDPゴシック" panose="020B0400000000000000" pitchFamily="50" charset="-128"/>
                        </a:rPr>
                        <a:t>370</a:t>
                      </a: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P</a:t>
                      </a:r>
                      <a:r>
                        <a:rPr lang="ja-JP" altLang="en-US" sz="1100" b="0" i="0" u="none" strike="noStrike">
                          <a:solidFill>
                            <a:srgbClr val="000000"/>
                          </a:solidFill>
                          <a:effectLst/>
                          <a:latin typeface="BIZ UDPゴシック" panose="020B0400000000000000" pitchFamily="50" charset="-128"/>
                          <a:ea typeface="BIZ UDPゴシック" panose="020B0400000000000000" pitchFamily="50" charset="-128"/>
                        </a:rPr>
                        <a:t>以上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2326542648"/>
                  </a:ext>
                </a:extLst>
              </a:tr>
              <a:tr h="254290">
                <a:tc vMerge="1">
                  <a:txBody>
                    <a:bodyPr/>
                    <a:lstStyle/>
                    <a:p>
                      <a:endParaRPr kumimoji="1" lang="ja-JP" altLang="en-US"/>
                    </a:p>
                  </a:txBody>
                  <a:tcPr/>
                </a:tc>
                <a:tc vMerge="1">
                  <a:txBody>
                    <a:bodyPr/>
                    <a:lstStyle/>
                    <a:p>
                      <a:endParaRPr kumimoji="1" lang="ja-JP" altLang="en-US"/>
                    </a:p>
                  </a:txBody>
                  <a:tcPr/>
                </a:tc>
                <a:tc>
                  <a:txBody>
                    <a:bodyPr/>
                    <a:lstStyle/>
                    <a:p>
                      <a:pPr algn="ctr" rtl="0" fontAlgn="ctr"/>
                      <a:r>
                        <a:rPr lang="en-US" sz="1100" b="0" i="0" u="none" strike="noStrike">
                          <a:solidFill>
                            <a:srgbClr val="000000"/>
                          </a:solidFill>
                          <a:effectLst/>
                          <a:latin typeface="BIZ UDPゴシック" panose="020B0400000000000000" pitchFamily="50" charset="-128"/>
                          <a:ea typeface="BIZ UDPゴシック" panose="020B0400000000000000" pitchFamily="50" charset="-128"/>
                        </a:rPr>
                        <a:t>G1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2"/>
                    </a:solidFill>
                  </a:tcPr>
                </a:tc>
                <a:tc vMerge="1">
                  <a:txBody>
                    <a:bodyPr/>
                    <a:lstStyle/>
                    <a:p>
                      <a:endParaRPr kumimoji="1" lang="ja-JP" altLang="en-US"/>
                    </a:p>
                  </a:txBody>
                  <a:tcPr/>
                </a:tc>
                <a:tc>
                  <a:txBody>
                    <a:bodyPr/>
                    <a:lstStyle/>
                    <a:p>
                      <a:pPr algn="ctr" rtl="0" fontAlgn="ct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総合</a:t>
                      </a:r>
                      <a:r>
                        <a:rPr lang="en-US" altLang="ja-JP" sz="1100" b="0" i="0" u="none" strike="noStrike" dirty="0">
                          <a:solidFill>
                            <a:srgbClr val="000000"/>
                          </a:solidFill>
                          <a:effectLst/>
                          <a:latin typeface="BIZ UDPゴシック" panose="020B0400000000000000" pitchFamily="50" charset="-128"/>
                          <a:ea typeface="BIZ UDPゴシック" panose="020B0400000000000000" pitchFamily="50" charset="-128"/>
                        </a:rPr>
                        <a:t>340</a:t>
                      </a:r>
                      <a:r>
                        <a:rPr 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P</a:t>
                      </a:r>
                      <a:r>
                        <a:rPr lang="ja-JP" altLang="en-US" sz="1100" b="0" i="0" u="none" strike="noStrike" dirty="0">
                          <a:solidFill>
                            <a:srgbClr val="000000"/>
                          </a:solidFill>
                          <a:effectLst/>
                          <a:latin typeface="BIZ UDPゴシック" panose="020B0400000000000000" pitchFamily="50" charset="-128"/>
                          <a:ea typeface="BIZ UDPゴシック" panose="020B0400000000000000" pitchFamily="50" charset="-128"/>
                        </a:rPr>
                        <a:t>以上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kumimoji="1" lang="ja-JP" altLang="en-US"/>
                    </a:p>
                  </a:txBody>
                  <a:tcPr/>
                </a:tc>
                <a:extLst>
                  <a:ext uri="{0D108BD9-81ED-4DB2-BD59-A6C34878D82A}">
                    <a16:rowId xmlns:a16="http://schemas.microsoft.com/office/drawing/2014/main" val="204614421"/>
                  </a:ext>
                </a:extLst>
              </a:tr>
            </a:tbl>
          </a:graphicData>
        </a:graphic>
      </p:graphicFrame>
      <p:sp>
        <p:nvSpPr>
          <p:cNvPr id="3" name="タイトル 2">
            <a:extLst>
              <a:ext uri="{FF2B5EF4-FFF2-40B4-BE49-F238E27FC236}">
                <a16:creationId xmlns:a16="http://schemas.microsoft.com/office/drawing/2014/main" id="{6BF859C2-1CE5-36D3-49B2-A8A22F489CAF}"/>
              </a:ext>
            </a:extLst>
          </p:cNvPr>
          <p:cNvSpPr txBox="1">
            <a:spLocks/>
          </p:cNvSpPr>
          <p:nvPr/>
        </p:nvSpPr>
        <p:spPr>
          <a:xfrm>
            <a:off x="50116" y="4694373"/>
            <a:ext cx="727280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100" dirty="0">
                <a:latin typeface="BIZ UDPゴシック" panose="020B0400000000000000" pitchFamily="50" charset="-128"/>
                <a:ea typeface="BIZ UDPゴシック" panose="020B0400000000000000" pitchFamily="50" charset="-128"/>
              </a:rPr>
              <a:t>※</a:t>
            </a:r>
            <a:r>
              <a:rPr lang="ja-JP" altLang="en-US" sz="1100" dirty="0">
                <a:latin typeface="BIZ UDPゴシック" panose="020B0400000000000000" pitchFamily="50" charset="-128"/>
                <a:ea typeface="BIZ UDPゴシック" panose="020B0400000000000000" pitchFamily="50" charset="-128"/>
              </a:rPr>
              <a:t>現格付から上位格付になる要件である。　（例）</a:t>
            </a:r>
            <a:r>
              <a:rPr lang="en-US" altLang="ja-JP" sz="1100" dirty="0">
                <a:latin typeface="BIZ UDPゴシック" panose="020B0400000000000000" pitchFamily="50" charset="-128"/>
                <a:ea typeface="BIZ UDPゴシック" panose="020B0400000000000000" pitchFamily="50" charset="-128"/>
              </a:rPr>
              <a:t>G1</a:t>
            </a:r>
            <a:r>
              <a:rPr lang="ja-JP" altLang="en-US" sz="1100" dirty="0">
                <a:latin typeface="BIZ UDPゴシック" panose="020B0400000000000000" pitchFamily="50" charset="-128"/>
                <a:ea typeface="BIZ UDPゴシック" panose="020B0400000000000000" pitchFamily="50" charset="-128"/>
              </a:rPr>
              <a:t>→</a:t>
            </a:r>
            <a:r>
              <a:rPr lang="en-US" altLang="ja-JP" sz="1100" dirty="0">
                <a:latin typeface="BIZ UDPゴシック" panose="020B0400000000000000" pitchFamily="50" charset="-128"/>
                <a:ea typeface="BIZ UDPゴシック" panose="020B0400000000000000" pitchFamily="50" charset="-128"/>
              </a:rPr>
              <a:t>G2</a:t>
            </a:r>
            <a:r>
              <a:rPr lang="ja-JP" altLang="en-US" sz="1100" dirty="0">
                <a:latin typeface="BIZ UDPゴシック" panose="020B0400000000000000" pitchFamily="50" charset="-128"/>
                <a:ea typeface="BIZ UDPゴシック" panose="020B0400000000000000" pitchFamily="50" charset="-128"/>
              </a:rPr>
              <a:t>へ昇格する際の要件は、</a:t>
            </a:r>
            <a:r>
              <a:rPr lang="en-US" altLang="ja-JP" sz="1100" dirty="0">
                <a:latin typeface="BIZ UDPゴシック" panose="020B0400000000000000" pitchFamily="50" charset="-128"/>
                <a:ea typeface="BIZ UDPゴシック" panose="020B0400000000000000" pitchFamily="50" charset="-128"/>
              </a:rPr>
              <a:t>GMAP340P</a:t>
            </a:r>
            <a:r>
              <a:rPr lang="ja-JP" altLang="en-US" sz="1100" dirty="0">
                <a:latin typeface="BIZ UDPゴシック" panose="020B0400000000000000" pitchFamily="50" charset="-128"/>
                <a:ea typeface="BIZ UDPゴシック" panose="020B0400000000000000" pitchFamily="50" charset="-128"/>
              </a:rPr>
              <a:t>以上とする</a:t>
            </a:r>
            <a:endParaRPr lang="en-US" altLang="ja-JP" sz="1100" dirty="0">
              <a:latin typeface="BIZ UDPゴシック" panose="020B0400000000000000" pitchFamily="50" charset="-128"/>
              <a:ea typeface="BIZ UDPゴシック" panose="020B0400000000000000" pitchFamily="50" charset="-128"/>
            </a:endParaRPr>
          </a:p>
        </p:txBody>
      </p:sp>
      <p:sp>
        <p:nvSpPr>
          <p:cNvPr id="7" name="タイトル 2">
            <a:extLst>
              <a:ext uri="{FF2B5EF4-FFF2-40B4-BE49-F238E27FC236}">
                <a16:creationId xmlns:a16="http://schemas.microsoft.com/office/drawing/2014/main" id="{DB5746A6-0B8F-0AC1-585D-D6BFAB2301F7}"/>
              </a:ext>
            </a:extLst>
          </p:cNvPr>
          <p:cNvSpPr txBox="1">
            <a:spLocks/>
          </p:cNvSpPr>
          <p:nvPr/>
        </p:nvSpPr>
        <p:spPr>
          <a:xfrm>
            <a:off x="142008" y="5001288"/>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200" dirty="0">
                <a:latin typeface="BIZ UDPゴシック" panose="020B0400000000000000" pitchFamily="50" charset="-128"/>
                <a:ea typeface="BIZ UDPゴシック" panose="020B0400000000000000" pitchFamily="50" charset="-128"/>
              </a:rPr>
              <a:t>特徴</a:t>
            </a:r>
          </a:p>
        </p:txBody>
      </p:sp>
      <p:sp>
        <p:nvSpPr>
          <p:cNvPr id="6" name="正方形/長方形 5">
            <a:extLst>
              <a:ext uri="{FF2B5EF4-FFF2-40B4-BE49-F238E27FC236}">
                <a16:creationId xmlns:a16="http://schemas.microsoft.com/office/drawing/2014/main" id="{89C5CA58-C810-91BA-9696-4E0B4CD26AC7}"/>
              </a:ext>
            </a:extLst>
          </p:cNvPr>
          <p:cNvSpPr/>
          <p:nvPr/>
        </p:nvSpPr>
        <p:spPr>
          <a:xfrm>
            <a:off x="8062887" y="1389115"/>
            <a:ext cx="913222" cy="3449675"/>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面接試験</a:t>
            </a:r>
            <a:endParaRPr kumimoji="1" lang="ja-JP" altLang="en-US"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9" name="正方形/長方形 8">
            <a:extLst>
              <a:ext uri="{FF2B5EF4-FFF2-40B4-BE49-F238E27FC236}">
                <a16:creationId xmlns:a16="http://schemas.microsoft.com/office/drawing/2014/main" id="{FFC73AB5-9960-B3D4-5E9D-93BCBC96BE43}"/>
              </a:ext>
            </a:extLst>
          </p:cNvPr>
          <p:cNvSpPr/>
          <p:nvPr/>
        </p:nvSpPr>
        <p:spPr>
          <a:xfrm>
            <a:off x="134948" y="938880"/>
            <a:ext cx="7029340" cy="391976"/>
          </a:xfrm>
          <a:prstGeom prst="rect">
            <a:avLst/>
          </a:prstGeom>
          <a:solidFill>
            <a:schemeClr val="tx2">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BIZ UDPゴシック" panose="020B0400000000000000" pitchFamily="50" charset="-128"/>
                <a:ea typeface="BIZ UDPゴシック" panose="020B0400000000000000" pitchFamily="50" charset="-128"/>
                <a:cs typeface="メイリオ" panose="020B0604030504040204" pitchFamily="50" charset="-128"/>
              </a:rPr>
              <a:t>一次試験</a:t>
            </a:r>
          </a:p>
        </p:txBody>
      </p:sp>
      <p:sp>
        <p:nvSpPr>
          <p:cNvPr id="11" name="正方形/長方形 10">
            <a:extLst>
              <a:ext uri="{FF2B5EF4-FFF2-40B4-BE49-F238E27FC236}">
                <a16:creationId xmlns:a16="http://schemas.microsoft.com/office/drawing/2014/main" id="{373E4681-52E4-E409-FF40-B0FF42411CA0}"/>
              </a:ext>
            </a:extLst>
          </p:cNvPr>
          <p:cNvSpPr/>
          <p:nvPr/>
        </p:nvSpPr>
        <p:spPr>
          <a:xfrm>
            <a:off x="8062889" y="945957"/>
            <a:ext cx="913221" cy="391976"/>
          </a:xfrm>
          <a:prstGeom prst="rect">
            <a:avLst/>
          </a:prstGeom>
          <a:solidFill>
            <a:schemeClr val="tx2">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BIZ UDPゴシック" panose="020B0400000000000000" pitchFamily="50" charset="-128"/>
                <a:ea typeface="BIZ UDPゴシック" panose="020B0400000000000000" pitchFamily="50" charset="-128"/>
                <a:cs typeface="メイリオ" panose="020B0604030504040204" pitchFamily="50" charset="-128"/>
              </a:rPr>
              <a:t>二次</a:t>
            </a:r>
            <a:r>
              <a:rPr kumimoji="1" lang="ja-JP" altLang="en-US" sz="1200" b="1" dirty="0">
                <a:solidFill>
                  <a:schemeClr val="bg1"/>
                </a:solidFill>
                <a:latin typeface="BIZ UDPゴシック" panose="020B0400000000000000" pitchFamily="50" charset="-128"/>
                <a:ea typeface="BIZ UDPゴシック" panose="020B0400000000000000" pitchFamily="50" charset="-128"/>
                <a:cs typeface="メイリオ" panose="020B0604030504040204" pitchFamily="50" charset="-128"/>
              </a:rPr>
              <a:t>試験</a:t>
            </a:r>
          </a:p>
        </p:txBody>
      </p:sp>
      <p:sp>
        <p:nvSpPr>
          <p:cNvPr id="13" name="矢印: 右 12">
            <a:extLst>
              <a:ext uri="{FF2B5EF4-FFF2-40B4-BE49-F238E27FC236}">
                <a16:creationId xmlns:a16="http://schemas.microsoft.com/office/drawing/2014/main" id="{6B5CCEBA-1161-2B31-7D89-8E16978A60D9}"/>
              </a:ext>
            </a:extLst>
          </p:cNvPr>
          <p:cNvSpPr/>
          <p:nvPr/>
        </p:nvSpPr>
        <p:spPr>
          <a:xfrm>
            <a:off x="7297045" y="2642473"/>
            <a:ext cx="667957" cy="562074"/>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合格</a:t>
            </a:r>
          </a:p>
        </p:txBody>
      </p:sp>
    </p:spTree>
    <p:extLst>
      <p:ext uri="{BB962C8B-B14F-4D97-AF65-F5344CB8AC3E}">
        <p14:creationId xmlns:p14="http://schemas.microsoft.com/office/powerpoint/2010/main" val="1421596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32</a:t>
            </a:fld>
            <a:r>
              <a:rPr lang="ja-JP" altLang="en-US" sz="1050" dirty="0">
                <a:latin typeface="+mn-ea"/>
              </a:rPr>
              <a:t>－</a:t>
            </a:r>
          </a:p>
        </p:txBody>
      </p:sp>
      <p:sp>
        <p:nvSpPr>
          <p:cNvPr id="12" name="タイトル 2"/>
          <p:cNvSpPr txBox="1">
            <a:spLocks/>
          </p:cNvSpPr>
          <p:nvPr/>
        </p:nvSpPr>
        <p:spPr>
          <a:xfrm>
            <a:off x="0" y="147043"/>
            <a:ext cx="4211960"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専門職　求める人物像について</a:t>
            </a:r>
          </a:p>
        </p:txBody>
      </p:sp>
      <p:graphicFrame>
        <p:nvGraphicFramePr>
          <p:cNvPr id="2" name="表 1">
            <a:extLst>
              <a:ext uri="{FF2B5EF4-FFF2-40B4-BE49-F238E27FC236}">
                <a16:creationId xmlns:a16="http://schemas.microsoft.com/office/drawing/2014/main" id="{CFBEB5F1-4A97-96DC-0A53-3B5B0C734E6C}"/>
              </a:ext>
            </a:extLst>
          </p:cNvPr>
          <p:cNvGraphicFramePr>
            <a:graphicFrameLocks noGrp="1"/>
          </p:cNvGraphicFramePr>
          <p:nvPr>
            <p:extLst>
              <p:ext uri="{D42A27DB-BD31-4B8C-83A1-F6EECF244321}">
                <p14:modId xmlns:p14="http://schemas.microsoft.com/office/powerpoint/2010/main" val="1398391532"/>
              </p:ext>
            </p:extLst>
          </p:nvPr>
        </p:nvGraphicFramePr>
        <p:xfrm>
          <a:off x="251521" y="1052736"/>
          <a:ext cx="8613284" cy="3312370"/>
        </p:xfrm>
        <a:graphic>
          <a:graphicData uri="http://schemas.openxmlformats.org/drawingml/2006/table">
            <a:tbl>
              <a:tblPr/>
              <a:tblGrid>
                <a:gridCol w="328244">
                  <a:extLst>
                    <a:ext uri="{9D8B030D-6E8A-4147-A177-3AD203B41FA5}">
                      <a16:colId xmlns:a16="http://schemas.microsoft.com/office/drawing/2014/main" val="3466891059"/>
                    </a:ext>
                  </a:extLst>
                </a:gridCol>
                <a:gridCol w="681741">
                  <a:extLst>
                    <a:ext uri="{9D8B030D-6E8A-4147-A177-3AD203B41FA5}">
                      <a16:colId xmlns:a16="http://schemas.microsoft.com/office/drawing/2014/main" val="516988309"/>
                    </a:ext>
                  </a:extLst>
                </a:gridCol>
                <a:gridCol w="7603299">
                  <a:extLst>
                    <a:ext uri="{9D8B030D-6E8A-4147-A177-3AD203B41FA5}">
                      <a16:colId xmlns:a16="http://schemas.microsoft.com/office/drawing/2014/main" val="2207704279"/>
                    </a:ext>
                  </a:extLst>
                </a:gridCol>
              </a:tblGrid>
              <a:tr h="662474">
                <a:tc>
                  <a:txBody>
                    <a:bodyPr/>
                    <a:lstStyle/>
                    <a:p>
                      <a:pPr algn="ctr" fontAlgn="ctr"/>
                      <a:r>
                        <a:rPr lang="en-US" sz="12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NO</a:t>
                      </a:r>
                    </a:p>
                  </a:txBody>
                  <a:tcPr marL="9050" marR="9050" marT="9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200" b="0" i="0" u="none" strike="noStrike">
                          <a:solidFill>
                            <a:schemeClr val="bg1">
                              <a:lumMod val="95000"/>
                            </a:schemeClr>
                          </a:solidFill>
                          <a:effectLst/>
                          <a:latin typeface="BIZ UDPゴシック" panose="020B0400000000000000" pitchFamily="50" charset="-128"/>
                          <a:ea typeface="BIZ UDPゴシック" panose="020B0400000000000000" pitchFamily="50" charset="-128"/>
                        </a:rPr>
                        <a:t>項目</a:t>
                      </a:r>
                    </a:p>
                  </a:txBody>
                  <a:tcPr marL="9050" marR="9050" marT="9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2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専門職に求める人物像</a:t>
                      </a:r>
                    </a:p>
                  </a:txBody>
                  <a:tcPr marL="9050" marR="9050" marT="9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384348890"/>
                  </a:ext>
                </a:extLst>
              </a:tr>
              <a:tr h="662474">
                <a:tc>
                  <a:txBody>
                    <a:bodyPr/>
                    <a:lstStyle/>
                    <a:p>
                      <a:pPr algn="ctr" fontAlgn="ctr"/>
                      <a:r>
                        <a:rPr lang="en-US" altLang="ja-JP" sz="12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1</a:t>
                      </a:r>
                    </a:p>
                  </a:txBody>
                  <a:tcPr marL="9050" marR="9050" marT="9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rowSpan="2">
                  <a:txBody>
                    <a:bodyPr/>
                    <a:lstStyle/>
                    <a:p>
                      <a:pPr algn="ctr"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姿勢</a:t>
                      </a:r>
                    </a:p>
                  </a:txBody>
                  <a:tcPr marL="9050" marR="9050" marT="9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マルハングループだけではなく、グループ外の外販営業に向けて</a:t>
                      </a:r>
                      <a:r>
                        <a:rPr lang="ja-JP" altLang="en-US" sz="1200" b="0" i="0" u="sng" strike="noStrike" dirty="0">
                          <a:solidFill>
                            <a:srgbClr val="FF0000"/>
                          </a:solidFill>
                          <a:effectLst/>
                          <a:latin typeface="BIZ UDPゴシック" panose="020B0400000000000000" pitchFamily="50" charset="-128"/>
                          <a:ea typeface="BIZ UDPゴシック" panose="020B0400000000000000" pitchFamily="50" charset="-128"/>
                        </a:rPr>
                        <a:t>売上高を確保</a:t>
                      </a: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しようという積極的な姿勢を有する</a:t>
                      </a:r>
                    </a:p>
                  </a:txBody>
                  <a:tcPr marL="9050" marR="9050" marT="9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06787526"/>
                  </a:ext>
                </a:extLst>
              </a:tr>
              <a:tr h="662474">
                <a:tc>
                  <a:txBody>
                    <a:bodyPr/>
                    <a:lstStyle/>
                    <a:p>
                      <a:pPr algn="ctr" fontAlgn="ctr"/>
                      <a:r>
                        <a:rPr lang="en-US" altLang="ja-JP" sz="12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2</a:t>
                      </a:r>
                    </a:p>
                  </a:txBody>
                  <a:tcPr marL="9050" marR="9050" marT="9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vMerge="1">
                  <a:txBody>
                    <a:bodyPr/>
                    <a:lstStyle/>
                    <a:p>
                      <a:endParaRPr kumimoji="1" lang="ja-JP" altLang="en-US"/>
                    </a:p>
                  </a:txBody>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暗黙知を形式知とするために、自身に蓄積された多様な</a:t>
                      </a:r>
                      <a:r>
                        <a:rPr lang="ja-JP" altLang="en-US" sz="1200" b="0" i="0" u="sng" strike="noStrike" dirty="0">
                          <a:solidFill>
                            <a:srgbClr val="FF0000"/>
                          </a:solidFill>
                          <a:effectLst/>
                          <a:latin typeface="BIZ UDPゴシック" panose="020B0400000000000000" pitchFamily="50" charset="-128"/>
                          <a:ea typeface="BIZ UDPゴシック" panose="020B0400000000000000" pitchFamily="50" charset="-128"/>
                        </a:rPr>
                        <a:t>ノウハウを見える化</a:t>
                      </a: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して広く社内共有する姿勢を有する</a:t>
                      </a:r>
                    </a:p>
                  </a:txBody>
                  <a:tcPr marL="9050" marR="9050" marT="9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7262626"/>
                  </a:ext>
                </a:extLst>
              </a:tr>
              <a:tr h="662474">
                <a:tc>
                  <a:txBody>
                    <a:bodyPr/>
                    <a:lstStyle/>
                    <a:p>
                      <a:pPr algn="ctr" fontAlgn="ctr"/>
                      <a:r>
                        <a:rPr lang="en-US" altLang="ja-JP" sz="12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3</a:t>
                      </a:r>
                    </a:p>
                  </a:txBody>
                  <a:tcPr marL="9050" marR="9050" marT="9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知識</a:t>
                      </a:r>
                    </a:p>
                  </a:txBody>
                  <a:tcPr marL="9050" marR="9050" marT="9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200" b="0" i="0" u="sng" strike="noStrike" dirty="0">
                          <a:solidFill>
                            <a:srgbClr val="FF0000"/>
                          </a:solidFill>
                          <a:effectLst/>
                          <a:latin typeface="BIZ UDPゴシック" panose="020B0400000000000000" pitchFamily="50" charset="-128"/>
                          <a:ea typeface="BIZ UDPゴシック" panose="020B0400000000000000" pitchFamily="50" charset="-128"/>
                        </a:rPr>
                        <a:t>公的に認められた資格</a:t>
                      </a:r>
                      <a:r>
                        <a:rPr lang="ja-JP" altLang="en-US" sz="1200" b="0" i="0" u="none" strike="noStrike" dirty="0">
                          <a:solidFill>
                            <a:schemeClr val="tx1"/>
                          </a:solidFill>
                          <a:effectLst/>
                          <a:latin typeface="BIZ UDPゴシック" panose="020B0400000000000000" pitchFamily="50" charset="-128"/>
                          <a:ea typeface="BIZ UDPゴシック" panose="020B0400000000000000" pitchFamily="50" charset="-128"/>
                        </a:rPr>
                        <a:t>を有する</a:t>
                      </a: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など、売上高の獲得の寄与する専門性の高い知識を有する</a:t>
                      </a:r>
                    </a:p>
                  </a:txBody>
                  <a:tcPr marL="9050" marR="9050" marT="9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0068003"/>
                  </a:ext>
                </a:extLst>
              </a:tr>
              <a:tr h="662474">
                <a:tc>
                  <a:txBody>
                    <a:bodyPr/>
                    <a:lstStyle/>
                    <a:p>
                      <a:pPr algn="ctr" fontAlgn="ctr"/>
                      <a:r>
                        <a:rPr lang="en-US" altLang="ja-JP" sz="1200" b="0" i="0" u="none" strike="noStrike" dirty="0">
                          <a:solidFill>
                            <a:schemeClr val="bg1">
                              <a:lumMod val="95000"/>
                            </a:schemeClr>
                          </a:solidFill>
                          <a:effectLst/>
                          <a:latin typeface="BIZ UDPゴシック" panose="020B0400000000000000" pitchFamily="50" charset="-128"/>
                          <a:ea typeface="BIZ UDPゴシック" panose="020B0400000000000000" pitchFamily="50" charset="-128"/>
                        </a:rPr>
                        <a:t>4</a:t>
                      </a:r>
                    </a:p>
                  </a:txBody>
                  <a:tcPr marL="9050" marR="9050" marT="9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50000"/>
                      </a:schemeClr>
                    </a:solidFill>
                  </a:tcPr>
                </a:tc>
                <a:tc>
                  <a:txBody>
                    <a:bodyPr/>
                    <a:lstStyle/>
                    <a:p>
                      <a:pPr algn="ctr"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経験</a:t>
                      </a:r>
                    </a:p>
                  </a:txBody>
                  <a:tcPr marL="9050" marR="9050" marT="9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顧客と友好的な関係性を構築するための専門性の高い助言を行うことができる</a:t>
                      </a:r>
                      <a:r>
                        <a:rPr lang="ja-JP" altLang="en-US" sz="1200" b="0" i="0" u="sng" strike="noStrike" dirty="0">
                          <a:solidFill>
                            <a:srgbClr val="FF0000"/>
                          </a:solidFill>
                          <a:effectLst/>
                          <a:latin typeface="BIZ UDPゴシック" panose="020B0400000000000000" pitchFamily="50" charset="-128"/>
                          <a:ea typeface="BIZ UDPゴシック" panose="020B0400000000000000" pitchFamily="50" charset="-128"/>
                        </a:rPr>
                        <a:t>実務経験・スキル</a:t>
                      </a: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を有する</a:t>
                      </a:r>
                    </a:p>
                  </a:txBody>
                  <a:tcPr marL="9050" marR="9050" marT="9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2270942"/>
                  </a:ext>
                </a:extLst>
              </a:tr>
            </a:tbl>
          </a:graphicData>
        </a:graphic>
      </p:graphicFrame>
      <p:sp>
        <p:nvSpPr>
          <p:cNvPr id="6" name="正方形/長方形 5">
            <a:extLst>
              <a:ext uri="{FF2B5EF4-FFF2-40B4-BE49-F238E27FC236}">
                <a16:creationId xmlns:a16="http://schemas.microsoft.com/office/drawing/2014/main" id="{AAD13842-0C5C-03A5-F985-7753F8AA3B04}"/>
              </a:ext>
            </a:extLst>
          </p:cNvPr>
          <p:cNvSpPr/>
          <p:nvPr/>
        </p:nvSpPr>
        <p:spPr>
          <a:xfrm>
            <a:off x="232470" y="4581128"/>
            <a:ext cx="8632334" cy="792088"/>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上記についての要件を踏まえ、総合評価により、専門職への指名する人物を定める予定である。</a:t>
            </a:r>
            <a:endParaRPr lang="en-US" altLang="ja-JP"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228600" indent="-228600">
              <a:buFont typeface="Arial" panose="020B0604020202020204" pitchFamily="34" charset="0"/>
              <a:buChar char="•"/>
            </a:pPr>
            <a:r>
              <a:rPr lang="ja-JP" altLang="en-US"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rPr>
              <a:t>求める人物像は、年度によって変更することがある。</a:t>
            </a:r>
            <a:endParaRPr lang="en-US" altLang="ja-JP" sz="1400" dirty="0">
              <a:solidFill>
                <a:schemeClr val="tx1"/>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Tree>
    <p:extLst>
      <p:ext uri="{BB962C8B-B14F-4D97-AF65-F5344CB8AC3E}">
        <p14:creationId xmlns:p14="http://schemas.microsoft.com/office/powerpoint/2010/main" val="23249186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33</a:t>
            </a:fld>
            <a:r>
              <a:rPr lang="ja-JP" altLang="en-US" sz="1050" dirty="0">
                <a:latin typeface="+mn-ea"/>
              </a:rPr>
              <a:t>－</a:t>
            </a:r>
          </a:p>
        </p:txBody>
      </p:sp>
      <p:sp>
        <p:nvSpPr>
          <p:cNvPr id="12" name="タイトル 2"/>
          <p:cNvSpPr txBox="1">
            <a:spLocks/>
          </p:cNvSpPr>
          <p:nvPr/>
        </p:nvSpPr>
        <p:spPr>
          <a:xfrm>
            <a:off x="107504" y="97876"/>
            <a:ext cx="6588224"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600" dirty="0">
                <a:latin typeface="BIZ UDPゴシック" panose="020B0400000000000000" pitchFamily="50" charset="-128"/>
                <a:ea typeface="BIZ UDPゴシック" panose="020B0400000000000000" pitchFamily="50" charset="-128"/>
              </a:rPr>
              <a:t>2022</a:t>
            </a:r>
            <a:r>
              <a:rPr lang="ja-JP" altLang="en-US" sz="1600" dirty="0">
                <a:latin typeface="BIZ UDPゴシック" panose="020B0400000000000000" pitchFamily="50" charset="-128"/>
                <a:ea typeface="BIZ UDPゴシック" panose="020B0400000000000000" pitchFamily="50" charset="-128"/>
              </a:rPr>
              <a:t>年度までの旧人事制度から</a:t>
            </a:r>
          </a:p>
          <a:p>
            <a:r>
              <a:rPr lang="en-US" altLang="ja-JP" sz="1600" dirty="0">
                <a:latin typeface="BIZ UDPゴシック" panose="020B0400000000000000" pitchFamily="50" charset="-128"/>
                <a:ea typeface="BIZ UDPゴシック" panose="020B0400000000000000" pitchFamily="50" charset="-128"/>
              </a:rPr>
              <a:t>2023</a:t>
            </a:r>
            <a:r>
              <a:rPr lang="ja-JP" altLang="en-US" sz="1600" dirty="0">
                <a:latin typeface="BIZ UDPゴシック" panose="020B0400000000000000" pitchFamily="50" charset="-128"/>
                <a:ea typeface="BIZ UDPゴシック" panose="020B0400000000000000" pitchFamily="50" charset="-128"/>
              </a:rPr>
              <a:t>年度以降の人事制度へ変更時の</a:t>
            </a:r>
            <a:r>
              <a:rPr lang="en-US" altLang="ja-JP" sz="1600" dirty="0">
                <a:latin typeface="BIZ UDPゴシック" panose="020B0400000000000000" pitchFamily="50" charset="-128"/>
                <a:ea typeface="BIZ UDPゴシック" panose="020B0400000000000000" pitchFamily="50" charset="-128"/>
              </a:rPr>
              <a:t>FAQ</a:t>
            </a:r>
            <a:r>
              <a:rPr lang="ja-JP" altLang="en-US" sz="1600" dirty="0">
                <a:latin typeface="BIZ UDPゴシック" panose="020B0400000000000000" pitchFamily="50" charset="-128"/>
                <a:ea typeface="BIZ UDPゴシック" panose="020B0400000000000000" pitchFamily="50" charset="-128"/>
              </a:rPr>
              <a:t>について①</a:t>
            </a:r>
          </a:p>
        </p:txBody>
      </p:sp>
      <p:sp>
        <p:nvSpPr>
          <p:cNvPr id="2" name="正方形/長方形 1">
            <a:extLst>
              <a:ext uri="{FF2B5EF4-FFF2-40B4-BE49-F238E27FC236}">
                <a16:creationId xmlns:a16="http://schemas.microsoft.com/office/drawing/2014/main" id="{EBEEED4D-8572-E55C-587B-FE15976DD397}"/>
              </a:ext>
            </a:extLst>
          </p:cNvPr>
          <p:cNvSpPr/>
          <p:nvPr/>
        </p:nvSpPr>
        <p:spPr>
          <a:xfrm>
            <a:off x="232470" y="881642"/>
            <a:ext cx="8632334" cy="5747665"/>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buFont typeface="Arial" panose="020B0604020202020204" pitchFamily="34" charset="0"/>
              <a:buChar char="•"/>
            </a:pPr>
            <a:r>
              <a:rPr lang="en-US" altLang="ja-JP"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2023</a:t>
            </a:r>
            <a:r>
              <a:rPr lang="ja-JP" altLang="en-US"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年度の格付けはどのようにするのか？</a:t>
            </a:r>
            <a:endParaRPr lang="en-US" altLang="ja-JP"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228600" indent="-228600">
              <a:buFont typeface="Arial" panose="020B0604020202020204" pitchFamily="34" charset="0"/>
              <a:buChar char="•"/>
            </a:pPr>
            <a:endParaRPr lang="en-US" altLang="ja-JP" sz="140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r>
              <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2023</a:t>
            </a:r>
            <a:r>
              <a:rPr lang="ja-JP" altLang="en-US"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年度の格付けは、現在の人事制度おいて決定する。新人事制度に基づく格付けプロセスは、</a:t>
            </a:r>
            <a:r>
              <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2024</a:t>
            </a:r>
            <a:r>
              <a:rPr lang="ja-JP" altLang="en-US"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年度から適用させます。</a:t>
            </a:r>
            <a:endPar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endPar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228600" indent="-228600">
              <a:buFont typeface="Arial" panose="020B0604020202020204" pitchFamily="34" charset="0"/>
              <a:buChar char="•"/>
            </a:pPr>
            <a:r>
              <a:rPr lang="ja-JP" altLang="en-US"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降格などにより、給与手当が</a:t>
            </a:r>
            <a:r>
              <a:rPr lang="en-US" altLang="ja-JP"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90</a:t>
            </a:r>
            <a:r>
              <a:rPr lang="ja-JP" altLang="en-US"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％未満となった場合の補償はあるのか？</a:t>
            </a:r>
            <a:endParaRPr lang="en-US" altLang="ja-JP"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228600" indent="-228600">
              <a:buFont typeface="Arial" panose="020B0604020202020204" pitchFamily="34" charset="0"/>
              <a:buChar char="•"/>
            </a:pPr>
            <a:endParaRPr lang="en-US" altLang="ja-JP"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r>
              <a:rPr lang="ja-JP" altLang="en-US"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仮に、格付が</a:t>
            </a:r>
            <a:r>
              <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2</a:t>
            </a:r>
            <a:r>
              <a:rPr lang="ja-JP" altLang="en-US"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段階以上の降格となり、給与手当が前年度の</a:t>
            </a:r>
            <a:r>
              <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90</a:t>
            </a:r>
            <a:r>
              <a:rPr lang="ja-JP" altLang="en-US"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％未満となった場合でも、前年度の「</a:t>
            </a:r>
            <a:r>
              <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90</a:t>
            </a:r>
            <a:r>
              <a:rPr lang="ja-JP" altLang="en-US"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％」の給与手当を補償します。</a:t>
            </a:r>
            <a:endPar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例えば、</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2022</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年度の給与手当が</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100</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万円であれば、</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2023</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年度の格付による給与手当が</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80</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万円であったとしても、</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90</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万円の給与手当は補償する。さらに、</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2024</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年度の格付による給与手当が</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2023</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年度と同様の</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80</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万円であった場合は、</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2024</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年度の給与手当は</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81</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万円（＝</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2023</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年度年収の</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90</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万円</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×90</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％）を補償します。さらに、</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2025</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年度の格付による給与手当が</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80</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万円であった場合、</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2025</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年度は本来格付と同額の</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80</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万円が支給されます。（マルハンも「</a:t>
            </a:r>
            <a:r>
              <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90</a:t>
            </a: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％ルール」を行っている）</a:t>
            </a:r>
            <a:endPar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228600" indent="-228600">
              <a:buFont typeface="+mj-lt"/>
              <a:buAutoNum type="arabicPeriod"/>
            </a:pPr>
            <a:endPar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228600" indent="-228600">
              <a:buFont typeface="Arial" panose="020B0604020202020204" pitchFamily="34" charset="0"/>
              <a:buChar char="•"/>
            </a:pPr>
            <a:r>
              <a:rPr lang="ja-JP" altLang="en-US"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専門職の人材はどの組織に所属するのか？</a:t>
            </a:r>
            <a:endParaRPr lang="en-US" altLang="ja-JP"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228600" indent="-228600">
              <a:buFont typeface="Arial" panose="020B0604020202020204" pitchFamily="34" charset="0"/>
              <a:buChar char="•"/>
            </a:pPr>
            <a:endParaRPr lang="en-US" altLang="ja-JP"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r>
              <a:rPr lang="ja-JP" altLang="en-US"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専門職の人材が所属する組織は、本人の専門分野を担当する組織とします。</a:t>
            </a:r>
            <a:endPar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r>
              <a:rPr lang="ja-JP" altLang="en-US"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例えば、施設・設備の専門職であれば、営業部の施設チームへ所属します。ただし、専門職の指示命令や人材評価は経営幹部が行うことから、専門職の方が施設チームリーダーを担当することはありません。</a:t>
            </a:r>
            <a:endPar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endPar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228600" indent="-228600">
              <a:buFont typeface="Arial" panose="020B0604020202020204" pitchFamily="34" charset="0"/>
              <a:buChar char="•"/>
            </a:pPr>
            <a:r>
              <a:rPr lang="ja-JP" altLang="en-US"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総合職の中途入社者は、どのように格付の評価がなされるのか？</a:t>
            </a:r>
            <a:endParaRPr lang="en-US" altLang="ja-JP"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228600" indent="-228600">
              <a:buFont typeface="Arial" panose="020B0604020202020204" pitchFamily="34" charset="0"/>
              <a:buChar char="•"/>
            </a:pPr>
            <a:endParaRPr lang="en-US" altLang="ja-JP"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r>
              <a:rPr lang="ja-JP" altLang="en-US" sz="1050" strike="sngStrike"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中途入社者は過去</a:t>
            </a:r>
            <a:r>
              <a:rPr lang="en-US" altLang="ja-JP" sz="1050" strike="sngStrike"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4</a:t>
            </a:r>
            <a:r>
              <a:rPr lang="ja-JP" altLang="en-US" sz="1050" strike="sngStrike"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回の半期ごとの評価がないうちは、昇格及び降格の候補とはなりません。</a:t>
            </a:r>
            <a:endParaRPr lang="en-US" altLang="ja-JP" sz="1050" strike="sngStrike"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endPar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endPar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endPar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endPar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endPar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endPar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228600" indent="-228600">
              <a:buFont typeface="Arial" panose="020B0604020202020204" pitchFamily="34" charset="0"/>
              <a:buChar char="•"/>
            </a:pPr>
            <a:r>
              <a:rPr lang="ja-JP" altLang="en-US"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専門職の人材は、時間外手当（残業代）は支給されるのか？</a:t>
            </a:r>
            <a:endParaRPr lang="en-US" altLang="ja-JP"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r>
              <a:rPr lang="ja-JP" altLang="en-US"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支給されます。</a:t>
            </a:r>
            <a:endPar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228600" indent="-228600">
              <a:buFont typeface="Arial" panose="020B0604020202020204" pitchFamily="34" charset="0"/>
              <a:buChar char="•"/>
            </a:pPr>
            <a:endPar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228600" indent="-228600">
              <a:buFont typeface="Arial" panose="020B0604020202020204" pitchFamily="34" charset="0"/>
              <a:buChar char="•"/>
            </a:pPr>
            <a:r>
              <a:rPr lang="ja-JP" altLang="en-US" sz="120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rPr>
              <a:t>契約社員の評価はどうするのか？</a:t>
            </a:r>
            <a:endParaRPr lang="en-US" altLang="ja-JP" sz="1050" dirty="0">
              <a:solidFill>
                <a:sysClr val="windowText" lastClr="000000"/>
              </a:solidFill>
              <a:latin typeface="BIZ UDPゴシック" panose="020B0400000000000000" pitchFamily="50" charset="-128"/>
              <a:ea typeface="BIZ UDPゴシック" panose="020B0400000000000000" pitchFamily="50" charset="-128"/>
              <a:cs typeface="メイリオ" panose="020B0604030504040204" pitchFamily="50" charset="-128"/>
            </a:endParaRPr>
          </a:p>
          <a:p>
            <a:pPr marL="685800" lvl="1" indent="-228600">
              <a:buFont typeface="Arial" panose="020B0604020202020204" pitchFamily="34" charset="0"/>
              <a:buChar char="•"/>
            </a:pPr>
            <a:r>
              <a:rPr lang="ja-JP" altLang="en-US"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契約社員の皆さんの処遇は個別の契約に基づきますので、基本的には今回の人事制度の対象外となります。ただし、賞与が支給される方へは、総合職のグレード</a:t>
            </a:r>
            <a:r>
              <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1</a:t>
            </a:r>
            <a:r>
              <a:rPr lang="ja-JP" altLang="en-US"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rPr>
              <a:t>と同一のジョブ評価シートを用いて目標管理を行います。</a:t>
            </a:r>
            <a:endParaRPr lang="en-US" altLang="ja-JP" sz="1050" dirty="0">
              <a:solidFill>
                <a:srgbClr val="FF0000"/>
              </a:solidFill>
              <a:latin typeface="BIZ UDPゴシック" panose="020B0400000000000000" pitchFamily="50" charset="-128"/>
              <a:ea typeface="BIZ UDPゴシック" panose="020B0400000000000000" pitchFamily="50" charset="-128"/>
              <a:cs typeface="メイリオ" panose="020B0604030504040204" pitchFamily="50" charset="-128"/>
            </a:endParaRPr>
          </a:p>
        </p:txBody>
      </p:sp>
      <p:sp>
        <p:nvSpPr>
          <p:cNvPr id="7" name="テキスト ボックス 6">
            <a:extLst>
              <a:ext uri="{FF2B5EF4-FFF2-40B4-BE49-F238E27FC236}">
                <a16:creationId xmlns:a16="http://schemas.microsoft.com/office/drawing/2014/main" id="{D6CE52D6-479D-CA2A-7196-66185CBD6324}"/>
              </a:ext>
            </a:extLst>
          </p:cNvPr>
          <p:cNvSpPr txBox="1"/>
          <p:nvPr/>
        </p:nvSpPr>
        <p:spPr>
          <a:xfrm>
            <a:off x="755576" y="4581128"/>
            <a:ext cx="8025482" cy="830997"/>
          </a:xfrm>
          <a:prstGeom prst="rect">
            <a:avLst/>
          </a:prstGeom>
          <a:solidFill>
            <a:schemeClr val="accent2"/>
          </a:solidFill>
          <a:ln w="28575">
            <a:solidFill>
              <a:schemeClr val="tx1"/>
            </a:solidFill>
          </a:ln>
        </p:spPr>
        <p:style>
          <a:lnRef idx="0">
            <a:scrgbClr r="0" g="0" b="0"/>
          </a:lnRef>
          <a:fillRef idx="0">
            <a:scrgbClr r="0" g="0" b="0"/>
          </a:fillRef>
          <a:effectRef idx="0">
            <a:scrgbClr r="0" g="0" b="0"/>
          </a:effectRef>
          <a:fontRef idx="minor">
            <a:schemeClr val="lt1"/>
          </a:fontRef>
        </p:style>
        <p:txBody>
          <a:bodyPr wrap="square">
            <a:spAutoFit/>
          </a:bodyPr>
          <a:lstStyle/>
          <a:p>
            <a:r>
              <a:rPr lang="en-US" altLang="ja-JP" sz="1200" dirty="0">
                <a:solidFill>
                  <a:schemeClr val="bg1"/>
                </a:solidFill>
                <a:latin typeface="BIZ UDPゴシック" panose="020B0400000000000000" pitchFamily="50" charset="-128"/>
                <a:ea typeface="BIZ UDPゴシック" panose="020B0400000000000000" pitchFamily="50" charset="-128"/>
              </a:rPr>
              <a:t>※2024</a:t>
            </a:r>
            <a:r>
              <a:rPr lang="ja-JP" altLang="en-US" sz="1200" dirty="0">
                <a:solidFill>
                  <a:schemeClr val="bg1"/>
                </a:solidFill>
                <a:latin typeface="BIZ UDPゴシック" panose="020B0400000000000000" pitchFamily="50" charset="-128"/>
                <a:ea typeface="BIZ UDPゴシック" panose="020B0400000000000000" pitchFamily="50" charset="-128"/>
              </a:rPr>
              <a:t>年</a:t>
            </a:r>
            <a:r>
              <a:rPr lang="en-US" altLang="ja-JP" sz="1200" dirty="0">
                <a:solidFill>
                  <a:schemeClr val="bg1"/>
                </a:solidFill>
                <a:latin typeface="BIZ UDPゴシック" panose="020B0400000000000000" pitchFamily="50" charset="-128"/>
                <a:ea typeface="BIZ UDPゴシック" panose="020B0400000000000000" pitchFamily="50" charset="-128"/>
              </a:rPr>
              <a:t>3</a:t>
            </a:r>
            <a:r>
              <a:rPr lang="ja-JP" altLang="en-US" sz="1200" dirty="0">
                <a:solidFill>
                  <a:schemeClr val="bg1"/>
                </a:solidFill>
                <a:latin typeface="BIZ UDPゴシック" panose="020B0400000000000000" pitchFamily="50" charset="-128"/>
                <a:ea typeface="BIZ UDPゴシック" panose="020B0400000000000000" pitchFamily="50" charset="-128"/>
              </a:rPr>
              <a:t>月改訂</a:t>
            </a:r>
            <a:endParaRPr lang="en-US" altLang="ja-JP" sz="1200" dirty="0">
              <a:solidFill>
                <a:schemeClr val="bg1"/>
              </a:solidFill>
              <a:latin typeface="BIZ UDPゴシック" panose="020B0400000000000000" pitchFamily="50" charset="-128"/>
              <a:ea typeface="BIZ UDPゴシック" panose="020B0400000000000000" pitchFamily="50" charset="-128"/>
            </a:endParaRPr>
          </a:p>
          <a:p>
            <a:r>
              <a:rPr lang="ja-JP" altLang="en-US" sz="1200" dirty="0">
                <a:solidFill>
                  <a:schemeClr val="bg1"/>
                </a:solidFill>
                <a:latin typeface="BIZ UDPゴシック" panose="020B0400000000000000" pitchFamily="50" charset="-128"/>
                <a:ea typeface="BIZ UDPゴシック" panose="020B0400000000000000" pitchFamily="50" charset="-128"/>
              </a:rPr>
              <a:t>・　一次試験（ペーパー試験）と二次試験（経営層との面接等）を実施し、最終的に昇格を決定する。</a:t>
            </a:r>
            <a:endParaRPr lang="en-US" altLang="ja-JP" sz="1200" dirty="0">
              <a:solidFill>
                <a:schemeClr val="bg1"/>
              </a:solidFill>
              <a:latin typeface="BIZ UDPゴシック" panose="020B0400000000000000" pitchFamily="50" charset="-128"/>
              <a:ea typeface="BIZ UDPゴシック" panose="020B0400000000000000" pitchFamily="50" charset="-128"/>
            </a:endParaRPr>
          </a:p>
          <a:p>
            <a:r>
              <a:rPr lang="ja-JP" altLang="en-US" sz="1200" dirty="0">
                <a:solidFill>
                  <a:schemeClr val="bg1"/>
                </a:solidFill>
                <a:latin typeface="BIZ UDPゴシック" panose="020B0400000000000000" pitchFamily="50" charset="-128"/>
                <a:ea typeface="BIZ UDPゴシック" panose="020B0400000000000000" pitchFamily="50" charset="-128"/>
              </a:rPr>
              <a:t>・　ただし、連続して</a:t>
            </a:r>
            <a:r>
              <a:rPr lang="en-US" altLang="ja-JP" sz="1200" dirty="0">
                <a:solidFill>
                  <a:schemeClr val="bg1"/>
                </a:solidFill>
                <a:latin typeface="BIZ UDPゴシック" panose="020B0400000000000000" pitchFamily="50" charset="-128"/>
                <a:ea typeface="BIZ UDPゴシック" panose="020B0400000000000000" pitchFamily="50" charset="-128"/>
              </a:rPr>
              <a:t>S</a:t>
            </a:r>
            <a:r>
              <a:rPr lang="ja-JP" altLang="en-US" sz="1200" dirty="0">
                <a:solidFill>
                  <a:schemeClr val="bg1"/>
                </a:solidFill>
                <a:latin typeface="BIZ UDPゴシック" panose="020B0400000000000000" pitchFamily="50" charset="-128"/>
                <a:ea typeface="BIZ UDPゴシック" panose="020B0400000000000000" pitchFamily="50" charset="-128"/>
              </a:rPr>
              <a:t>評価を</a:t>
            </a:r>
            <a:r>
              <a:rPr lang="en-US" altLang="ja-JP" sz="1200" dirty="0">
                <a:solidFill>
                  <a:schemeClr val="bg1"/>
                </a:solidFill>
                <a:latin typeface="BIZ UDPゴシック" panose="020B0400000000000000" pitchFamily="50" charset="-128"/>
                <a:ea typeface="BIZ UDPゴシック" panose="020B0400000000000000" pitchFamily="50" charset="-128"/>
              </a:rPr>
              <a:t>2</a:t>
            </a:r>
            <a:r>
              <a:rPr lang="ja-JP" altLang="en-US" sz="1200" dirty="0">
                <a:solidFill>
                  <a:schemeClr val="bg1"/>
                </a:solidFill>
                <a:latin typeface="BIZ UDPゴシック" panose="020B0400000000000000" pitchFamily="50" charset="-128"/>
                <a:ea typeface="BIZ UDPゴシック" panose="020B0400000000000000" pitchFamily="50" charset="-128"/>
              </a:rPr>
              <a:t>回獲得するなど、特に優秀な成績を収めた人は、上記の基準に関わらず、</a:t>
            </a:r>
            <a:endParaRPr lang="en-US" altLang="ja-JP" sz="1200" dirty="0">
              <a:solidFill>
                <a:schemeClr val="bg1"/>
              </a:solidFill>
              <a:latin typeface="BIZ UDPゴシック" panose="020B0400000000000000" pitchFamily="50" charset="-128"/>
              <a:ea typeface="BIZ UDPゴシック" panose="020B0400000000000000" pitchFamily="50" charset="-128"/>
            </a:endParaRPr>
          </a:p>
          <a:p>
            <a:r>
              <a:rPr lang="ja-JP" altLang="en-US" sz="1200" dirty="0">
                <a:solidFill>
                  <a:schemeClr val="bg1"/>
                </a:solidFill>
                <a:latin typeface="BIZ UDPゴシック" panose="020B0400000000000000" pitchFamily="50" charset="-128"/>
                <a:ea typeface="BIZ UDPゴシック" panose="020B0400000000000000" pitchFamily="50" charset="-128"/>
              </a:rPr>
              <a:t>　 昇格試験の対象者として推薦されることがある。</a:t>
            </a:r>
            <a:endParaRPr lang="ja-JP" altLang="en-US" sz="1200" dirty="0">
              <a:solidFill>
                <a:schemeClr val="bg1"/>
              </a:solidFill>
            </a:endParaRPr>
          </a:p>
        </p:txBody>
      </p:sp>
    </p:spTree>
    <p:extLst>
      <p:ext uri="{BB962C8B-B14F-4D97-AF65-F5344CB8AC3E}">
        <p14:creationId xmlns:p14="http://schemas.microsoft.com/office/powerpoint/2010/main" val="39039111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34</a:t>
            </a:fld>
            <a:r>
              <a:rPr lang="ja-JP" altLang="en-US" sz="1050" dirty="0">
                <a:latin typeface="+mn-ea"/>
              </a:rPr>
              <a:t>－</a:t>
            </a:r>
          </a:p>
        </p:txBody>
      </p:sp>
      <p:sp>
        <p:nvSpPr>
          <p:cNvPr id="3" name="正方形/長方形 2">
            <a:extLst>
              <a:ext uri="{FF2B5EF4-FFF2-40B4-BE49-F238E27FC236}">
                <a16:creationId xmlns:a16="http://schemas.microsoft.com/office/drawing/2014/main" id="{164A023A-B9A6-A546-EB66-F8127FF70DA1}"/>
              </a:ext>
            </a:extLst>
          </p:cNvPr>
          <p:cNvSpPr/>
          <p:nvPr/>
        </p:nvSpPr>
        <p:spPr>
          <a:xfrm>
            <a:off x="232470" y="881642"/>
            <a:ext cx="8632334" cy="5747665"/>
          </a:xfrm>
          <a:prstGeom prst="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a:buFont typeface="Arial" panose="020B0604020202020204" pitchFamily="34" charset="0"/>
              <a:buChar char="•"/>
            </a:pPr>
            <a:r>
              <a:rPr lang="ja-JP" altLang="en-US" sz="1200" b="0" i="0" dirty="0">
                <a:solidFill>
                  <a:srgbClr val="333333"/>
                </a:solidFill>
                <a:effectLst/>
                <a:latin typeface="BIZ UDPゴシック" panose="020B0400000000000000" pitchFamily="50" charset="-128"/>
                <a:ea typeface="BIZ UDPゴシック" panose="020B0400000000000000" pitchFamily="50" charset="-128"/>
              </a:rPr>
              <a:t>総合職の格付変更の昇格試験はどのような内容か？</a:t>
            </a:r>
            <a:endParaRPr lang="en-US" altLang="ja-JP" sz="1200" b="0" i="0" dirty="0">
              <a:solidFill>
                <a:srgbClr val="333333"/>
              </a:solidFill>
              <a:effectLst/>
              <a:latin typeface="BIZ UDPゴシック" panose="020B0400000000000000" pitchFamily="50" charset="-128"/>
              <a:ea typeface="BIZ UDPゴシック" panose="020B0400000000000000" pitchFamily="50" charset="-128"/>
            </a:endParaRPr>
          </a:p>
          <a:p>
            <a:pPr marL="171450" indent="-171450" algn="l">
              <a:buFont typeface="Arial" panose="020B0604020202020204" pitchFamily="34" charset="0"/>
              <a:buChar char="•"/>
            </a:pPr>
            <a:endParaRPr lang="en-US" altLang="ja-JP" sz="1050" b="0" i="0" dirty="0">
              <a:solidFill>
                <a:srgbClr val="333333"/>
              </a:solidFill>
              <a:effectLst/>
              <a:latin typeface="BIZ UDPゴシック" panose="020B0400000000000000" pitchFamily="50" charset="-128"/>
              <a:ea typeface="BIZ UDPゴシック" panose="020B0400000000000000" pitchFamily="50" charset="-128"/>
            </a:endParaRPr>
          </a:p>
          <a:p>
            <a:pPr marL="628650" lvl="1" indent="-171450">
              <a:buFont typeface="Arial" panose="020B0604020202020204" pitchFamily="34" charset="0"/>
              <a:buChar char="•"/>
            </a:pP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総合職の昇格試験は「ペーパー試験」</a:t>
            </a:r>
            <a:r>
              <a:rPr lang="en-US" altLang="ja-JP" sz="1050" b="0" i="0" dirty="0">
                <a:solidFill>
                  <a:srgbClr val="333333"/>
                </a:solidFill>
                <a:effectLst/>
                <a:latin typeface="BIZ UDPゴシック" panose="020B0400000000000000" pitchFamily="50" charset="-128"/>
                <a:ea typeface="BIZ UDPゴシック" panose="020B0400000000000000" pitchFamily="50" charset="-128"/>
              </a:rPr>
              <a:t>+</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「役員面接」を予定してます。ペーパー試験合格者について役員面接を行う予定です。</a:t>
            </a:r>
            <a:endParaRPr lang="en-US" altLang="ja-JP" sz="1050" b="0" i="0" dirty="0">
              <a:solidFill>
                <a:srgbClr val="333333"/>
              </a:solidFill>
              <a:effectLst/>
              <a:latin typeface="BIZ UDPゴシック" panose="020B0400000000000000" pitchFamily="50" charset="-128"/>
              <a:ea typeface="BIZ UDPゴシック" panose="020B0400000000000000" pitchFamily="50" charset="-128"/>
            </a:endParaRPr>
          </a:p>
          <a:p>
            <a:pPr marL="628650" lvl="1" indent="-171450">
              <a:buFont typeface="Arial" panose="020B0604020202020204" pitchFamily="34" charset="0"/>
              <a:buChar char="•"/>
            </a:pPr>
            <a:endParaRPr lang="en-US" altLang="ja-JP" sz="1050" dirty="0">
              <a:solidFill>
                <a:srgbClr val="333333"/>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b="0" i="0" dirty="0">
                <a:solidFill>
                  <a:srgbClr val="333333"/>
                </a:solidFill>
                <a:effectLst/>
                <a:latin typeface="BIZ UDPゴシック" panose="020B0400000000000000" pitchFamily="50" charset="-128"/>
                <a:ea typeface="BIZ UDPゴシック" panose="020B0400000000000000" pitchFamily="50" charset="-128"/>
              </a:rPr>
              <a:t>新人事制度は、いつからスタートさせるのか？</a:t>
            </a:r>
            <a:endParaRPr lang="en-US" altLang="ja-JP" sz="1200" b="0" i="0" dirty="0">
              <a:solidFill>
                <a:srgbClr val="333333"/>
              </a:solidFill>
              <a:effectLst/>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endParaRPr lang="en-US" altLang="ja-JP" sz="1200" b="0" i="0" dirty="0">
              <a:solidFill>
                <a:srgbClr val="333333"/>
              </a:solidFill>
              <a:effectLst/>
              <a:latin typeface="BIZ UDPゴシック" panose="020B0400000000000000" pitchFamily="50" charset="-128"/>
              <a:ea typeface="BIZ UDPゴシック" panose="020B0400000000000000" pitchFamily="50" charset="-128"/>
            </a:endParaRPr>
          </a:p>
          <a:p>
            <a:pPr marL="628650" lvl="1" indent="-171450">
              <a:buFont typeface="Arial" panose="020B0604020202020204" pitchFamily="34" charset="0"/>
              <a:buChar char="•"/>
            </a:pP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新人事制度は、総合職、専門職共に、</a:t>
            </a:r>
            <a:r>
              <a:rPr lang="en-US" altLang="ja-JP" sz="1050" b="0" i="0" dirty="0">
                <a:solidFill>
                  <a:srgbClr val="333333"/>
                </a:solidFill>
                <a:effectLst/>
                <a:latin typeface="BIZ UDPゴシック" panose="020B0400000000000000" pitchFamily="50" charset="-128"/>
                <a:ea typeface="BIZ UDPゴシック" panose="020B0400000000000000" pitchFamily="50" charset="-128"/>
              </a:rPr>
              <a:t>2023</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年度から運用を開始します。したがって、総合職においては、新人事制度の運営によって格付けが変動する方がでてくるのは、</a:t>
            </a:r>
            <a:r>
              <a:rPr lang="en-US" altLang="ja-JP" sz="1050" b="0" i="0" dirty="0">
                <a:solidFill>
                  <a:srgbClr val="333333"/>
                </a:solidFill>
                <a:effectLst/>
                <a:latin typeface="BIZ UDPゴシック" panose="020B0400000000000000" pitchFamily="50" charset="-128"/>
                <a:ea typeface="BIZ UDPゴシック" panose="020B0400000000000000" pitchFamily="50" charset="-128"/>
              </a:rPr>
              <a:t>2024</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年度からとなります。来期</a:t>
            </a:r>
            <a:r>
              <a:rPr lang="en-US" altLang="ja-JP" sz="1050" b="0" i="0" dirty="0">
                <a:solidFill>
                  <a:srgbClr val="333333"/>
                </a:solidFill>
                <a:effectLst/>
                <a:latin typeface="BIZ UDPゴシック" panose="020B0400000000000000" pitchFamily="50" charset="-128"/>
                <a:ea typeface="BIZ UDPゴシック" panose="020B0400000000000000" pitchFamily="50" charset="-128"/>
              </a:rPr>
              <a:t>2023</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年度の格付けまでは、現人事制度の運用により格付します。</a:t>
            </a:r>
            <a:endParaRPr lang="en-US" altLang="ja-JP" sz="1050" b="0" i="0" dirty="0">
              <a:solidFill>
                <a:srgbClr val="333333"/>
              </a:solidFill>
              <a:effectLst/>
              <a:latin typeface="BIZ UDPゴシック" panose="020B0400000000000000" pitchFamily="50" charset="-128"/>
              <a:ea typeface="BIZ UDPゴシック" panose="020B0400000000000000" pitchFamily="50" charset="-128"/>
            </a:endParaRPr>
          </a:p>
          <a:p>
            <a:pPr lvl="1"/>
            <a:endParaRPr lang="en-US" altLang="ja-JP" sz="1050" dirty="0">
              <a:solidFill>
                <a:srgbClr val="333333"/>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b="0" i="0" dirty="0">
                <a:solidFill>
                  <a:srgbClr val="333333"/>
                </a:solidFill>
                <a:effectLst/>
                <a:latin typeface="BIZ UDPゴシック" panose="020B0400000000000000" pitchFamily="50" charset="-128"/>
                <a:ea typeface="BIZ UDPゴシック" panose="020B0400000000000000" pitchFamily="50" charset="-128"/>
              </a:rPr>
              <a:t>昇格試験の対象を選定する際には、過去のジョブ評価を採用するのか？</a:t>
            </a:r>
            <a:endParaRPr lang="en-US" altLang="ja-JP" sz="1200" b="0" i="0" dirty="0">
              <a:solidFill>
                <a:srgbClr val="333333"/>
              </a:solidFill>
              <a:effectLst/>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endParaRPr lang="en-US" altLang="ja-JP" sz="1200" b="0" i="0" dirty="0">
              <a:solidFill>
                <a:srgbClr val="333333"/>
              </a:solidFill>
              <a:effectLst/>
              <a:latin typeface="BIZ UDPゴシック" panose="020B0400000000000000" pitchFamily="50" charset="-128"/>
              <a:ea typeface="BIZ UDPゴシック" panose="020B0400000000000000" pitchFamily="50" charset="-128"/>
            </a:endParaRPr>
          </a:p>
          <a:p>
            <a:pPr marL="628650" lvl="1" indent="-171450">
              <a:buFont typeface="Arial" panose="020B0604020202020204" pitchFamily="34" charset="0"/>
              <a:buChar char="•"/>
            </a:pP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総合職の新人事制度において、昇格試験の対象を選定する際には、直近</a:t>
            </a:r>
            <a:r>
              <a:rPr lang="en-US" altLang="ja-JP" sz="1050" b="0" i="0" dirty="0">
                <a:solidFill>
                  <a:srgbClr val="333333"/>
                </a:solidFill>
                <a:effectLst/>
                <a:latin typeface="BIZ UDPゴシック" panose="020B0400000000000000" pitchFamily="50" charset="-128"/>
                <a:ea typeface="BIZ UDPゴシック" panose="020B0400000000000000" pitchFamily="50" charset="-128"/>
              </a:rPr>
              <a:t>2</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年の</a:t>
            </a:r>
            <a:r>
              <a:rPr lang="en-US" altLang="ja-JP" sz="1050" b="0" i="0" dirty="0">
                <a:solidFill>
                  <a:srgbClr val="333333"/>
                </a:solidFill>
                <a:effectLst/>
                <a:latin typeface="BIZ UDPゴシック" panose="020B0400000000000000" pitchFamily="50" charset="-128"/>
                <a:ea typeface="BIZ UDPゴシック" panose="020B0400000000000000" pitchFamily="50" charset="-128"/>
              </a:rPr>
              <a:t>4</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回のジョブ評価を参照します。</a:t>
            </a:r>
            <a:endParaRPr lang="en-US" altLang="ja-JP" sz="1050" dirty="0">
              <a:solidFill>
                <a:srgbClr val="333333"/>
              </a:solidFill>
              <a:latin typeface="BIZ UDPゴシック" panose="020B0400000000000000" pitchFamily="50" charset="-128"/>
              <a:ea typeface="BIZ UDPゴシック" panose="020B0400000000000000" pitchFamily="50" charset="-128"/>
            </a:endParaRPr>
          </a:p>
          <a:p>
            <a:pPr marL="628650" lvl="1" indent="-171450">
              <a:buFont typeface="Arial" panose="020B0604020202020204" pitchFamily="34" charset="0"/>
              <a:buChar char="•"/>
            </a:pPr>
            <a:endParaRPr lang="en-US" altLang="ja-JP" sz="1050" b="0" i="0" dirty="0">
              <a:solidFill>
                <a:srgbClr val="333333"/>
              </a:solidFill>
              <a:effectLst/>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b="0" i="0" dirty="0">
                <a:solidFill>
                  <a:srgbClr val="333333"/>
                </a:solidFill>
                <a:effectLst/>
                <a:latin typeface="BIZ UDPゴシック" panose="020B0400000000000000" pitchFamily="50" charset="-128"/>
                <a:ea typeface="BIZ UDPゴシック" panose="020B0400000000000000" pitchFamily="50" charset="-128"/>
              </a:rPr>
              <a:t>ジョブ評価・行動評価共に上長により判断基準が明確ではないのではないか？</a:t>
            </a:r>
            <a:endParaRPr lang="en-US" altLang="ja-JP" sz="1200" b="0" i="0" dirty="0">
              <a:solidFill>
                <a:srgbClr val="333333"/>
              </a:solidFill>
              <a:effectLst/>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endParaRPr lang="en-US" altLang="ja-JP" sz="1200" b="0" i="0" dirty="0">
              <a:solidFill>
                <a:srgbClr val="333333"/>
              </a:solidFill>
              <a:effectLst/>
              <a:latin typeface="BIZ UDPゴシック" panose="020B0400000000000000" pitchFamily="50" charset="-128"/>
              <a:ea typeface="BIZ UDPゴシック" panose="020B0400000000000000" pitchFamily="50" charset="-128"/>
            </a:endParaRPr>
          </a:p>
          <a:p>
            <a:pPr marL="628650" lvl="1" indent="-171450">
              <a:buFont typeface="Arial" panose="020B0604020202020204" pitchFamily="34" charset="0"/>
              <a:buChar char="•"/>
            </a:pP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ジョブ評価・行動評価共に上長により判断基準が明確性についてですが、成果評価は、目標管理制度を採用し、個人の目標値を明確にする手法を採用しております。この成果評価の妥当性は、上司の方と部下の方でのすり合わせが重要です。来期においては、この点を強調してまります。</a:t>
            </a:r>
            <a:endParaRPr lang="en-US" altLang="ja-JP" sz="1050" b="0" i="0" dirty="0">
              <a:solidFill>
                <a:srgbClr val="333333"/>
              </a:solidFill>
              <a:effectLst/>
              <a:latin typeface="BIZ UDPゴシック" panose="020B0400000000000000" pitchFamily="50" charset="-128"/>
              <a:ea typeface="BIZ UDPゴシック" panose="020B0400000000000000" pitchFamily="50" charset="-128"/>
            </a:endParaRPr>
          </a:p>
          <a:p>
            <a:pPr marL="628650" lvl="1" indent="-171450">
              <a:buFont typeface="Arial" panose="020B0604020202020204" pitchFamily="34" charset="0"/>
              <a:buChar char="•"/>
            </a:pP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また、行動評価面ですが、これまでは基準となる行動目標数が多すぎた可能性があります。そのため、新制度では行動評価基準を絞りこみを行っています。いずれにしても、判断基準については人が人を評価する以上、誰もが</a:t>
            </a:r>
            <a:r>
              <a:rPr lang="en-US" altLang="ja-JP" sz="1050" b="0" i="0" dirty="0">
                <a:solidFill>
                  <a:srgbClr val="333333"/>
                </a:solidFill>
                <a:effectLst/>
                <a:latin typeface="BIZ UDPゴシック" panose="020B0400000000000000" pitchFamily="50" charset="-128"/>
                <a:ea typeface="BIZ UDPゴシック" panose="020B0400000000000000" pitchFamily="50" charset="-128"/>
              </a:rPr>
              <a:t>100</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納得するな回答をすることは難しいという側面があります。しかし、人事制度の肝心な点は、「公平性」「透明性」であることから、誰か個人による評価だけではなく、一次評価、二次評価、幹部にやる評価会議など、多重層的に評価をすることにより、より</a:t>
            </a:r>
            <a:r>
              <a:rPr lang="en-US" altLang="ja-JP" sz="1050" b="0" i="0" dirty="0">
                <a:solidFill>
                  <a:srgbClr val="333333"/>
                </a:solidFill>
                <a:effectLst/>
                <a:latin typeface="BIZ UDPゴシック" panose="020B0400000000000000" pitchFamily="50" charset="-128"/>
                <a:ea typeface="BIZ UDPゴシック" panose="020B0400000000000000" pitchFamily="50" charset="-128"/>
              </a:rPr>
              <a:t>100</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％に近づけてまいります。</a:t>
            </a:r>
            <a:endParaRPr lang="en-US" altLang="ja-JP" sz="1050" dirty="0">
              <a:solidFill>
                <a:srgbClr val="333333"/>
              </a:solidFill>
              <a:latin typeface="BIZ UDPゴシック" panose="020B0400000000000000" pitchFamily="50" charset="-128"/>
              <a:ea typeface="BIZ UDPゴシック" panose="020B0400000000000000" pitchFamily="50" charset="-128"/>
            </a:endParaRPr>
          </a:p>
          <a:p>
            <a:pPr marL="628650" lvl="1" indent="-171450">
              <a:buFont typeface="Arial" panose="020B0604020202020204" pitchFamily="34" charset="0"/>
              <a:buChar char="•"/>
            </a:pPr>
            <a:endParaRPr lang="en-US" altLang="ja-JP" sz="1050" b="0" i="0" dirty="0">
              <a:solidFill>
                <a:srgbClr val="333333"/>
              </a:solidFill>
              <a:effectLst/>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b="0" i="0" dirty="0">
                <a:solidFill>
                  <a:srgbClr val="333333"/>
                </a:solidFill>
                <a:effectLst/>
                <a:latin typeface="BIZ UDPゴシック" panose="020B0400000000000000" pitchFamily="50" charset="-128"/>
                <a:ea typeface="BIZ UDPゴシック" panose="020B0400000000000000" pitchFamily="50" charset="-128"/>
              </a:rPr>
              <a:t>試験の結果＝会社の売上に貢献しているとは言えないのではないか？また、新人事制度は、成果を上げている方や会社の利益に貢献している方が報われるような制度となっているのか？</a:t>
            </a:r>
            <a:endParaRPr lang="en-US" altLang="ja-JP" sz="1200" b="0" i="0" dirty="0">
              <a:solidFill>
                <a:srgbClr val="333333"/>
              </a:solidFill>
              <a:effectLst/>
              <a:latin typeface="BIZ UDPゴシック" panose="020B0400000000000000" pitchFamily="50" charset="-128"/>
              <a:ea typeface="BIZ UDPゴシック" panose="020B0400000000000000" pitchFamily="50" charset="-128"/>
            </a:endParaRPr>
          </a:p>
          <a:p>
            <a:pPr marL="628650" lvl="1" indent="-171450">
              <a:buFont typeface="Arial" panose="020B0604020202020204" pitchFamily="34" charset="0"/>
              <a:buChar char="•"/>
            </a:pPr>
            <a:endParaRPr lang="en-US" altLang="ja-JP" sz="1050" b="0" i="0" dirty="0">
              <a:solidFill>
                <a:srgbClr val="333333"/>
              </a:solidFill>
              <a:effectLst/>
              <a:latin typeface="BIZ UDPゴシック" panose="020B0400000000000000" pitchFamily="50" charset="-128"/>
              <a:ea typeface="BIZ UDPゴシック" panose="020B0400000000000000" pitchFamily="50" charset="-128"/>
            </a:endParaRPr>
          </a:p>
          <a:p>
            <a:pPr marL="628650" lvl="1" indent="-171450">
              <a:buFont typeface="Arial" panose="020B0604020202020204" pitchFamily="34" charset="0"/>
              <a:buChar char="•"/>
            </a:pP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試験の結果＝売上貢献ではないです。しかし、試験の結果＝問題解決能力の高さ　とは、ある程度は言えると思っています。新人事制度では、これまでのテスト評価</a:t>
            </a:r>
            <a:r>
              <a:rPr lang="en-US" altLang="ja-JP" sz="1050" b="0" i="0" dirty="0">
                <a:solidFill>
                  <a:srgbClr val="333333"/>
                </a:solidFill>
                <a:effectLst/>
                <a:latin typeface="BIZ UDPゴシック" panose="020B0400000000000000" pitchFamily="50" charset="-128"/>
                <a:ea typeface="BIZ UDPゴシック" panose="020B0400000000000000" pitchFamily="50" charset="-128"/>
              </a:rPr>
              <a:t>+α</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と、イズム評価（チャレンジ評価）の</a:t>
            </a:r>
            <a:r>
              <a:rPr lang="en-US" altLang="ja-JP" sz="1050" b="0" i="0" dirty="0">
                <a:solidFill>
                  <a:srgbClr val="333333"/>
                </a:solidFill>
                <a:effectLst/>
                <a:latin typeface="BIZ UDPゴシック" panose="020B0400000000000000" pitchFamily="50" charset="-128"/>
                <a:ea typeface="BIZ UDPゴシック" panose="020B0400000000000000" pitchFamily="50" charset="-128"/>
              </a:rPr>
              <a:t>2</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軸による評価を撤廃します。そもそも、この</a:t>
            </a:r>
            <a:r>
              <a:rPr lang="en-US" altLang="ja-JP" sz="1050" b="0" i="0" dirty="0">
                <a:solidFill>
                  <a:srgbClr val="333333"/>
                </a:solidFill>
                <a:effectLst/>
                <a:latin typeface="BIZ UDPゴシック" panose="020B0400000000000000" pitchFamily="50" charset="-128"/>
                <a:ea typeface="BIZ UDPゴシック" panose="020B0400000000000000" pitchFamily="50" charset="-128"/>
              </a:rPr>
              <a:t>2</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軸での評価制度を策定した背景には、「問題解決能力が高いこと」「イズム体現度が高いこと」を重視する必要性がありました。この理由は、会社としては比較的業績面で安定運営を行うことができていた外部環境であったため、既存事業の問題点を解決すること（＝問題解決能力の高さ</a:t>
            </a:r>
            <a:r>
              <a:rPr lang="en-US" altLang="ja-JP" sz="1050" b="0" i="0" dirty="0">
                <a:solidFill>
                  <a:srgbClr val="333333"/>
                </a:solidFill>
                <a:effectLst/>
                <a:latin typeface="BIZ UDPゴシック" panose="020B0400000000000000" pitchFamily="50" charset="-128"/>
                <a:ea typeface="BIZ UDPゴシック" panose="020B0400000000000000" pitchFamily="50" charset="-128"/>
              </a:rPr>
              <a:t>&amp;</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マルハンに寄り添うイズム体現度の高さ）を重要視する経営の意向があったためです。しかし、</a:t>
            </a:r>
            <a:r>
              <a:rPr lang="en-US" altLang="ja-JP" sz="1050" b="0" i="0" dirty="0">
                <a:solidFill>
                  <a:srgbClr val="333333"/>
                </a:solidFill>
                <a:effectLst/>
                <a:latin typeface="BIZ UDPゴシック" panose="020B0400000000000000" pitchFamily="50" charset="-128"/>
                <a:ea typeface="BIZ UDPゴシック" panose="020B0400000000000000" pitchFamily="50" charset="-128"/>
              </a:rPr>
              <a:t>2023</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年度より、外部環境の変化</a:t>
            </a:r>
            <a:r>
              <a:rPr lang="ja-JP" altLang="en-US" sz="1050" dirty="0">
                <a:solidFill>
                  <a:srgbClr val="333333"/>
                </a:solidFill>
                <a:latin typeface="BIZ UDPゴシック" panose="020B0400000000000000" pitchFamily="50" charset="-128"/>
                <a:ea typeface="BIZ UDPゴシック" panose="020B0400000000000000" pitchFamily="50" charset="-128"/>
              </a:rPr>
              <a:t>に対応するため</a:t>
            </a:r>
            <a:r>
              <a:rPr lang="ja-JP" altLang="en-US" sz="1050" b="0" i="0" dirty="0">
                <a:solidFill>
                  <a:srgbClr val="333333"/>
                </a:solidFill>
                <a:effectLst/>
                <a:latin typeface="BIZ UDPゴシック" panose="020B0400000000000000" pitchFamily="50" charset="-128"/>
                <a:ea typeface="BIZ UDPゴシック" panose="020B0400000000000000" pitchFamily="50" charset="-128"/>
              </a:rPr>
              <a:t>、半期ごとのジョブ評価に重きを置く評価制度へ変更します。これにより、ジョブ評価を通じて、これまでよりも会社への貢献度が高い従業員への評価を手厚くすることができると思っています。</a:t>
            </a:r>
          </a:p>
        </p:txBody>
      </p:sp>
      <p:sp>
        <p:nvSpPr>
          <p:cNvPr id="2" name="タイトル 2">
            <a:extLst>
              <a:ext uri="{FF2B5EF4-FFF2-40B4-BE49-F238E27FC236}">
                <a16:creationId xmlns:a16="http://schemas.microsoft.com/office/drawing/2014/main" id="{DF3993B5-B80D-3E66-2D96-0827425EB21C}"/>
              </a:ext>
            </a:extLst>
          </p:cNvPr>
          <p:cNvSpPr txBox="1">
            <a:spLocks/>
          </p:cNvSpPr>
          <p:nvPr/>
        </p:nvSpPr>
        <p:spPr>
          <a:xfrm>
            <a:off x="0" y="147043"/>
            <a:ext cx="89644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en-US" altLang="ja-JP" sz="1600" dirty="0">
                <a:latin typeface="BIZ UDPゴシック" panose="020B0400000000000000" pitchFamily="50" charset="-128"/>
                <a:ea typeface="BIZ UDPゴシック" panose="020B0400000000000000" pitchFamily="50" charset="-128"/>
              </a:rPr>
              <a:t>2022</a:t>
            </a:r>
            <a:r>
              <a:rPr lang="ja-JP" altLang="en-US" sz="1600" dirty="0">
                <a:latin typeface="BIZ UDPゴシック" panose="020B0400000000000000" pitchFamily="50" charset="-128"/>
                <a:ea typeface="BIZ UDPゴシック" panose="020B0400000000000000" pitchFamily="50" charset="-128"/>
              </a:rPr>
              <a:t>年度までの旧人事制度から</a:t>
            </a:r>
          </a:p>
          <a:p>
            <a:r>
              <a:rPr lang="en-US" altLang="ja-JP" sz="1600" dirty="0">
                <a:latin typeface="BIZ UDPゴシック" panose="020B0400000000000000" pitchFamily="50" charset="-128"/>
                <a:ea typeface="BIZ UDPゴシック" panose="020B0400000000000000" pitchFamily="50" charset="-128"/>
              </a:rPr>
              <a:t>2023</a:t>
            </a:r>
            <a:r>
              <a:rPr lang="ja-JP" altLang="en-US" sz="1600" dirty="0">
                <a:latin typeface="BIZ UDPゴシック" panose="020B0400000000000000" pitchFamily="50" charset="-128"/>
                <a:ea typeface="BIZ UDPゴシック" panose="020B0400000000000000" pitchFamily="50" charset="-128"/>
              </a:rPr>
              <a:t>年度以降の人事制度へ変更時の</a:t>
            </a:r>
            <a:r>
              <a:rPr lang="en-US" altLang="ja-JP" sz="1600" dirty="0">
                <a:latin typeface="BIZ UDPゴシック" panose="020B0400000000000000" pitchFamily="50" charset="-128"/>
                <a:ea typeface="BIZ UDPゴシック" panose="020B0400000000000000" pitchFamily="50" charset="-128"/>
              </a:rPr>
              <a:t>FAQ</a:t>
            </a:r>
            <a:r>
              <a:rPr lang="ja-JP" altLang="en-US" sz="1600" dirty="0">
                <a:latin typeface="BIZ UDPゴシック" panose="020B0400000000000000" pitchFamily="50" charset="-128"/>
                <a:ea typeface="BIZ UDPゴシック" panose="020B0400000000000000" pitchFamily="50" charset="-128"/>
              </a:rPr>
              <a:t>について②　（制度の説明後に質問された内容）</a:t>
            </a:r>
          </a:p>
        </p:txBody>
      </p:sp>
    </p:spTree>
    <p:extLst>
      <p:ext uri="{BB962C8B-B14F-4D97-AF65-F5344CB8AC3E}">
        <p14:creationId xmlns:p14="http://schemas.microsoft.com/office/powerpoint/2010/main" val="19074067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35</a:t>
            </a:fld>
            <a:r>
              <a:rPr lang="ja-JP" altLang="en-US" sz="1050" dirty="0">
                <a:latin typeface="+mn-ea"/>
              </a:rPr>
              <a:t>－</a:t>
            </a:r>
          </a:p>
        </p:txBody>
      </p:sp>
      <p:sp>
        <p:nvSpPr>
          <p:cNvPr id="5" name="正方形/長方形 4">
            <a:extLst>
              <a:ext uri="{FF2B5EF4-FFF2-40B4-BE49-F238E27FC236}">
                <a16:creationId xmlns:a16="http://schemas.microsoft.com/office/drawing/2014/main" id="{1449DB6C-B1C4-7ADB-7418-DF78B8D793F8}"/>
              </a:ext>
            </a:extLst>
          </p:cNvPr>
          <p:cNvSpPr/>
          <p:nvPr/>
        </p:nvSpPr>
        <p:spPr>
          <a:xfrm>
            <a:off x="606252" y="1772816"/>
            <a:ext cx="7881466" cy="1368152"/>
          </a:xfrm>
          <a:prstGeom prst="rect">
            <a:avLst/>
          </a:prstGeom>
          <a:solidFill>
            <a:schemeClr val="accent4">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600" dirty="0">
                <a:latin typeface="BIZ UDPゴシック" panose="020B0400000000000000" pitchFamily="50" charset="-128"/>
                <a:ea typeface="BIZ UDPゴシック" panose="020B0400000000000000" pitchFamily="50" charset="-128"/>
              </a:rPr>
              <a:t>人事制度　参考資料</a:t>
            </a:r>
            <a:endParaRPr lang="en-US" altLang="ja-JP" sz="36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844204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36</a:t>
            </a:fld>
            <a:r>
              <a:rPr lang="ja-JP" altLang="en-US" sz="1050" dirty="0">
                <a:latin typeface="+mn-ea"/>
              </a:rPr>
              <a:t>－</a:t>
            </a:r>
          </a:p>
        </p:txBody>
      </p:sp>
      <p:sp>
        <p:nvSpPr>
          <p:cNvPr id="12" name="タイトル 2"/>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（参考）ビル施設管理の給与水準について</a:t>
            </a:r>
            <a:endParaRPr lang="en-US" altLang="ja-JP" sz="1600" dirty="0">
              <a:latin typeface="BIZ UDPゴシック" panose="020B0400000000000000" pitchFamily="50" charset="-128"/>
              <a:ea typeface="BIZ UDPゴシック" panose="020B0400000000000000" pitchFamily="50" charset="-128"/>
            </a:endParaRPr>
          </a:p>
        </p:txBody>
      </p:sp>
      <p:sp>
        <p:nvSpPr>
          <p:cNvPr id="5" name="タイトル 2">
            <a:extLst>
              <a:ext uri="{FF2B5EF4-FFF2-40B4-BE49-F238E27FC236}">
                <a16:creationId xmlns:a16="http://schemas.microsoft.com/office/drawing/2014/main" id="{EE7B3C20-F7F7-54A2-CDD3-80F754995C7E}"/>
              </a:ext>
            </a:extLst>
          </p:cNvPr>
          <p:cNvSpPr txBox="1">
            <a:spLocks/>
          </p:cNvSpPr>
          <p:nvPr/>
        </p:nvSpPr>
        <p:spPr>
          <a:xfrm>
            <a:off x="171450" y="967532"/>
            <a:ext cx="5994666" cy="421556"/>
          </a:xfrm>
          <a:prstGeom prst="rect">
            <a:avLst/>
          </a:prstGeom>
        </p:spPr>
        <p:txBody>
          <a:bodyPr vert="horz" lIns="68574" tIns="34288" rIns="68574" bIns="34288"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endParaRPr lang="en-US" altLang="ja-JP" sz="1200" dirty="0">
              <a:latin typeface="BIZ UDPゴシック" panose="020B0400000000000000" pitchFamily="50" charset="-128"/>
              <a:ea typeface="BIZ UDPゴシック" panose="020B0400000000000000" pitchFamily="50" charset="-128"/>
            </a:endParaRPr>
          </a:p>
        </p:txBody>
      </p:sp>
      <p:pic>
        <p:nvPicPr>
          <p:cNvPr id="7" name="図 6">
            <a:extLst>
              <a:ext uri="{FF2B5EF4-FFF2-40B4-BE49-F238E27FC236}">
                <a16:creationId xmlns:a16="http://schemas.microsoft.com/office/drawing/2014/main" id="{15EB8570-D0B1-B454-0F0A-ECC717EDF562}"/>
              </a:ext>
            </a:extLst>
          </p:cNvPr>
          <p:cNvPicPr>
            <a:picLocks noChangeAspect="1"/>
          </p:cNvPicPr>
          <p:nvPr/>
        </p:nvPicPr>
        <p:blipFill rotWithShape="1">
          <a:blip r:embed="rId3"/>
          <a:srcRect l="26958" t="21837" r="41698" b="10821"/>
          <a:stretch/>
        </p:blipFill>
        <p:spPr>
          <a:xfrm>
            <a:off x="427194" y="1196752"/>
            <a:ext cx="4158960" cy="5026179"/>
          </a:xfrm>
          <a:prstGeom prst="rect">
            <a:avLst/>
          </a:prstGeom>
          <a:ln>
            <a:solidFill>
              <a:schemeClr val="tx1"/>
            </a:solidFill>
          </a:ln>
        </p:spPr>
      </p:pic>
      <p:pic>
        <p:nvPicPr>
          <p:cNvPr id="8" name="図 7">
            <a:extLst>
              <a:ext uri="{FF2B5EF4-FFF2-40B4-BE49-F238E27FC236}">
                <a16:creationId xmlns:a16="http://schemas.microsoft.com/office/drawing/2014/main" id="{6338A888-A50B-FE1D-021A-67BE18A84CC2}"/>
              </a:ext>
            </a:extLst>
          </p:cNvPr>
          <p:cNvPicPr>
            <a:picLocks noChangeAspect="1"/>
          </p:cNvPicPr>
          <p:nvPr/>
        </p:nvPicPr>
        <p:blipFill rotWithShape="1">
          <a:blip r:embed="rId4"/>
          <a:srcRect l="24127" t="9309" r="40779" b="9057"/>
          <a:stretch/>
        </p:blipFill>
        <p:spPr>
          <a:xfrm>
            <a:off x="4772025" y="1189876"/>
            <a:ext cx="3852022" cy="5040248"/>
          </a:xfrm>
          <a:prstGeom prst="rect">
            <a:avLst/>
          </a:prstGeom>
          <a:ln>
            <a:solidFill>
              <a:schemeClr val="tx1"/>
            </a:solidFill>
          </a:ln>
        </p:spPr>
      </p:pic>
      <p:sp>
        <p:nvSpPr>
          <p:cNvPr id="9" name="テキスト ボックス 8">
            <a:extLst>
              <a:ext uri="{FF2B5EF4-FFF2-40B4-BE49-F238E27FC236}">
                <a16:creationId xmlns:a16="http://schemas.microsoft.com/office/drawing/2014/main" id="{721A8974-C34B-FFC4-0A2E-469F3A0C65D7}"/>
              </a:ext>
            </a:extLst>
          </p:cNvPr>
          <p:cNvSpPr txBox="1"/>
          <p:nvPr/>
        </p:nvSpPr>
        <p:spPr>
          <a:xfrm>
            <a:off x="385483" y="6317994"/>
            <a:ext cx="4762775" cy="300082"/>
          </a:xfrm>
          <a:prstGeom prst="rect">
            <a:avLst/>
          </a:prstGeom>
          <a:noFill/>
        </p:spPr>
        <p:txBody>
          <a:bodyPr wrap="square">
            <a:spAutoFit/>
          </a:bodyPr>
          <a:lstStyle/>
          <a:p>
            <a:r>
              <a:rPr lang="ja-JP" altLang="en-US" sz="675" dirty="0">
                <a:latin typeface="BIZ UDPゴシック" panose="020B0400000000000000" pitchFamily="50" charset="-128"/>
                <a:ea typeface="BIZ UDPゴシック" panose="020B0400000000000000" pitchFamily="50" charset="-128"/>
              </a:rPr>
              <a:t>（参考）転職会議　</a:t>
            </a:r>
            <a:r>
              <a:rPr lang="ja-JP" altLang="en-US" sz="675" b="1" dirty="0">
                <a:solidFill>
                  <a:srgbClr val="4A4A4A"/>
                </a:solidFill>
                <a:latin typeface="BIZ UDPゴシック" panose="020B0400000000000000" pitchFamily="50" charset="-128"/>
                <a:ea typeface="BIZ UDPゴシック" panose="020B0400000000000000" pitchFamily="50" charset="-128"/>
              </a:rPr>
              <a:t>ビル施設管理</a:t>
            </a:r>
            <a:r>
              <a:rPr lang="en-US" altLang="ja-JP" sz="675" b="1" dirty="0">
                <a:solidFill>
                  <a:srgbClr val="4A4A4A"/>
                </a:solidFill>
                <a:latin typeface="BIZ UDPゴシック" panose="020B0400000000000000" pitchFamily="50" charset="-128"/>
                <a:ea typeface="BIZ UDPゴシック" panose="020B0400000000000000" pitchFamily="50" charset="-128"/>
              </a:rPr>
              <a:t>&lt;40</a:t>
            </a:r>
            <a:r>
              <a:rPr lang="ja-JP" altLang="en-US" sz="675" b="1" dirty="0">
                <a:solidFill>
                  <a:srgbClr val="4A4A4A"/>
                </a:solidFill>
                <a:latin typeface="BIZ UDPゴシック" panose="020B0400000000000000" pitchFamily="50" charset="-128"/>
                <a:ea typeface="BIZ UDPゴシック" panose="020B0400000000000000" pitchFamily="50" charset="-128"/>
              </a:rPr>
              <a:t>代以上</a:t>
            </a:r>
            <a:r>
              <a:rPr lang="en-US" altLang="ja-JP" sz="675" b="1" dirty="0">
                <a:solidFill>
                  <a:srgbClr val="4A4A4A"/>
                </a:solidFill>
                <a:latin typeface="BIZ UDPゴシック" panose="020B0400000000000000" pitchFamily="50" charset="-128"/>
                <a:ea typeface="BIZ UDPゴシック" panose="020B0400000000000000" pitchFamily="50" charset="-128"/>
              </a:rPr>
              <a:t>&gt;</a:t>
            </a:r>
            <a:r>
              <a:rPr lang="ja-JP" altLang="en-US" sz="675" b="1" dirty="0">
                <a:solidFill>
                  <a:srgbClr val="4A4A4A"/>
                </a:solidFill>
                <a:latin typeface="BIZ UDPゴシック" panose="020B0400000000000000" pitchFamily="50" charset="-128"/>
                <a:ea typeface="BIZ UDPゴシック" panose="020B0400000000000000" pitchFamily="50" charset="-128"/>
              </a:rPr>
              <a:t>の年収まとめ </a:t>
            </a:r>
            <a:r>
              <a:rPr lang="en-US" altLang="ja-JP" sz="675" b="1" dirty="0">
                <a:solidFill>
                  <a:srgbClr val="4A4A4A"/>
                </a:solidFill>
                <a:latin typeface="BIZ UDPゴシック" panose="020B0400000000000000" pitchFamily="50" charset="-128"/>
                <a:ea typeface="BIZ UDPゴシック" panose="020B0400000000000000" pitchFamily="50" charset="-128"/>
              </a:rPr>
              <a:t>(</a:t>
            </a:r>
            <a:r>
              <a:rPr lang="ja-JP" altLang="en-US" sz="675" b="1" dirty="0">
                <a:solidFill>
                  <a:srgbClr val="4A4A4A"/>
                </a:solidFill>
                <a:latin typeface="BIZ UDPゴシック" panose="020B0400000000000000" pitchFamily="50" charset="-128"/>
                <a:ea typeface="BIZ UDPゴシック" panose="020B0400000000000000" pitchFamily="50" charset="-128"/>
              </a:rPr>
              <a:t>給料</a:t>
            </a:r>
            <a:r>
              <a:rPr lang="en-US" altLang="ja-JP" sz="675" b="1" dirty="0">
                <a:solidFill>
                  <a:srgbClr val="4A4A4A"/>
                </a:solidFill>
                <a:latin typeface="BIZ UDPゴシック" panose="020B0400000000000000" pitchFamily="50" charset="-128"/>
                <a:ea typeface="BIZ UDPゴシック" panose="020B0400000000000000" pitchFamily="50" charset="-128"/>
              </a:rPr>
              <a:t>/</a:t>
            </a:r>
            <a:r>
              <a:rPr lang="ja-JP" altLang="en-US" sz="675" b="1" dirty="0">
                <a:solidFill>
                  <a:srgbClr val="4A4A4A"/>
                </a:solidFill>
                <a:latin typeface="BIZ UDPゴシック" panose="020B0400000000000000" pitchFamily="50" charset="-128"/>
                <a:ea typeface="BIZ UDPゴシック" panose="020B0400000000000000" pitchFamily="50" charset="-128"/>
              </a:rPr>
              <a:t>平均年収</a:t>
            </a:r>
            <a:r>
              <a:rPr lang="en-US" altLang="ja-JP" sz="675" b="1" dirty="0">
                <a:solidFill>
                  <a:srgbClr val="4A4A4A"/>
                </a:solidFill>
                <a:latin typeface="BIZ UDPゴシック" panose="020B0400000000000000" pitchFamily="50" charset="-128"/>
                <a:ea typeface="BIZ UDPゴシック" panose="020B0400000000000000" pitchFamily="50" charset="-128"/>
              </a:rPr>
              <a:t>/</a:t>
            </a:r>
            <a:r>
              <a:rPr lang="ja-JP" altLang="en-US" sz="675" b="1" dirty="0">
                <a:solidFill>
                  <a:srgbClr val="4A4A4A"/>
                </a:solidFill>
                <a:latin typeface="BIZ UDPゴシック" panose="020B0400000000000000" pitchFamily="50" charset="-128"/>
                <a:ea typeface="BIZ UDPゴシック" panose="020B0400000000000000" pitchFamily="50" charset="-128"/>
              </a:rPr>
              <a:t>企業名などを集計</a:t>
            </a:r>
            <a:r>
              <a:rPr lang="en-US" altLang="ja-JP" sz="675" b="1" dirty="0">
                <a:solidFill>
                  <a:srgbClr val="4A4A4A"/>
                </a:solidFill>
                <a:latin typeface="BIZ UDPゴシック" panose="020B0400000000000000" pitchFamily="50" charset="-128"/>
                <a:ea typeface="BIZ UDPゴシック" panose="020B0400000000000000" pitchFamily="50" charset="-128"/>
              </a:rPr>
              <a:t>)</a:t>
            </a:r>
          </a:p>
          <a:p>
            <a:r>
              <a:rPr lang="ja-JP" altLang="en-US" sz="675" dirty="0">
                <a:latin typeface="BIZ UDPゴシック" panose="020B0400000000000000" pitchFamily="50" charset="-128"/>
                <a:ea typeface="BIZ UDPゴシック" panose="020B0400000000000000" pitchFamily="50" charset="-128"/>
              </a:rPr>
              <a:t>　　　　 </a:t>
            </a:r>
            <a:r>
              <a:rPr lang="en-US" altLang="ja-JP" sz="675" dirty="0">
                <a:latin typeface="BIZ UDPゴシック" panose="020B0400000000000000" pitchFamily="50" charset="-128"/>
                <a:ea typeface="BIZ UDPゴシック" panose="020B0400000000000000" pitchFamily="50" charset="-128"/>
              </a:rPr>
              <a:t>https://jobtalk.jp/salary_matome/jobs/70?age_min=40&amp;age_max=60&amp;sort=salary-desc</a:t>
            </a:r>
            <a:endParaRPr lang="ja-JP" altLang="en-US" sz="675" dirty="0">
              <a:latin typeface="BIZ UDPゴシック" panose="020B0400000000000000" pitchFamily="50" charset="-128"/>
              <a:ea typeface="BIZ UDPゴシック" panose="020B0400000000000000" pitchFamily="50" charset="-128"/>
            </a:endParaRPr>
          </a:p>
        </p:txBody>
      </p:sp>
      <p:sp>
        <p:nvSpPr>
          <p:cNvPr id="10" name="吹き出し: 四角形 9">
            <a:extLst>
              <a:ext uri="{FF2B5EF4-FFF2-40B4-BE49-F238E27FC236}">
                <a16:creationId xmlns:a16="http://schemas.microsoft.com/office/drawing/2014/main" id="{E5AE2F48-22E5-2B85-5F6D-F9BBBBAB78CD}"/>
              </a:ext>
            </a:extLst>
          </p:cNvPr>
          <p:cNvSpPr/>
          <p:nvPr/>
        </p:nvSpPr>
        <p:spPr>
          <a:xfrm>
            <a:off x="6853671" y="931889"/>
            <a:ext cx="778669" cy="457199"/>
          </a:xfrm>
          <a:prstGeom prst="wedgeRectCallout">
            <a:avLst>
              <a:gd name="adj1" fmla="val -94264"/>
              <a:gd name="adj2" fmla="val 23744"/>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BIZ UDPゴシック" panose="020B0400000000000000" pitchFamily="50" charset="-128"/>
                <a:ea typeface="BIZ UDPゴシック" panose="020B0400000000000000" pitchFamily="50" charset="-128"/>
              </a:rPr>
              <a:t>最高額</a:t>
            </a:r>
            <a:endParaRPr lang="en-US" altLang="ja-JP" sz="1050" b="1" dirty="0">
              <a:latin typeface="BIZ UDPゴシック" panose="020B0400000000000000" pitchFamily="50" charset="-128"/>
              <a:ea typeface="BIZ UDPゴシック" panose="020B0400000000000000" pitchFamily="50" charset="-128"/>
            </a:endParaRPr>
          </a:p>
          <a:p>
            <a:pPr algn="ctr"/>
            <a:r>
              <a:rPr lang="en-US" altLang="ja-JP" sz="1050" b="1" dirty="0">
                <a:latin typeface="BIZ UDPゴシック" panose="020B0400000000000000" pitchFamily="50" charset="-128"/>
                <a:ea typeface="BIZ UDPゴシック" panose="020B0400000000000000" pitchFamily="50" charset="-128"/>
              </a:rPr>
              <a:t>800</a:t>
            </a:r>
            <a:r>
              <a:rPr lang="ja-JP" altLang="en-US" sz="1050" b="1" dirty="0">
                <a:latin typeface="BIZ UDPゴシック" panose="020B0400000000000000" pitchFamily="50" charset="-128"/>
                <a:ea typeface="BIZ UDPゴシック" panose="020B0400000000000000" pitchFamily="50" charset="-128"/>
              </a:rPr>
              <a:t>万円</a:t>
            </a:r>
            <a:endParaRPr lang="en-US" altLang="ja-JP" sz="1050" b="1"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1847751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37</a:t>
            </a:fld>
            <a:r>
              <a:rPr lang="ja-JP" altLang="en-US" sz="1050" dirty="0">
                <a:latin typeface="+mn-ea"/>
              </a:rPr>
              <a:t>－</a:t>
            </a:r>
          </a:p>
        </p:txBody>
      </p:sp>
      <p:sp>
        <p:nvSpPr>
          <p:cNvPr id="12" name="タイトル 2"/>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（参考）専門職制度のメリット</a:t>
            </a:r>
          </a:p>
        </p:txBody>
      </p:sp>
      <p:graphicFrame>
        <p:nvGraphicFramePr>
          <p:cNvPr id="2" name="表 1">
            <a:extLst>
              <a:ext uri="{FF2B5EF4-FFF2-40B4-BE49-F238E27FC236}">
                <a16:creationId xmlns:a16="http://schemas.microsoft.com/office/drawing/2014/main" id="{0F8A93E7-D743-1134-7A1A-590D0B1AF529}"/>
              </a:ext>
            </a:extLst>
          </p:cNvPr>
          <p:cNvGraphicFramePr>
            <a:graphicFrameLocks noGrp="1"/>
          </p:cNvGraphicFramePr>
          <p:nvPr>
            <p:extLst>
              <p:ext uri="{D42A27DB-BD31-4B8C-83A1-F6EECF244321}">
                <p14:modId xmlns:p14="http://schemas.microsoft.com/office/powerpoint/2010/main" val="824385740"/>
              </p:ext>
            </p:extLst>
          </p:nvPr>
        </p:nvGraphicFramePr>
        <p:xfrm>
          <a:off x="251520" y="1196752"/>
          <a:ext cx="8712968" cy="5328590"/>
        </p:xfrm>
        <a:graphic>
          <a:graphicData uri="http://schemas.openxmlformats.org/drawingml/2006/table">
            <a:tbl>
              <a:tblPr/>
              <a:tblGrid>
                <a:gridCol w="864096">
                  <a:extLst>
                    <a:ext uri="{9D8B030D-6E8A-4147-A177-3AD203B41FA5}">
                      <a16:colId xmlns:a16="http://schemas.microsoft.com/office/drawing/2014/main" val="3356406196"/>
                    </a:ext>
                  </a:extLst>
                </a:gridCol>
                <a:gridCol w="2297838">
                  <a:extLst>
                    <a:ext uri="{9D8B030D-6E8A-4147-A177-3AD203B41FA5}">
                      <a16:colId xmlns:a16="http://schemas.microsoft.com/office/drawing/2014/main" val="4222806179"/>
                    </a:ext>
                  </a:extLst>
                </a:gridCol>
                <a:gridCol w="5551034">
                  <a:extLst>
                    <a:ext uri="{9D8B030D-6E8A-4147-A177-3AD203B41FA5}">
                      <a16:colId xmlns:a16="http://schemas.microsoft.com/office/drawing/2014/main" val="1915702470"/>
                    </a:ext>
                  </a:extLst>
                </a:gridCol>
              </a:tblGrid>
              <a:tr h="941868">
                <a:tc rowSpan="5">
                  <a:txBody>
                    <a:bodyPr/>
                    <a:lstStyle/>
                    <a:p>
                      <a:pPr algn="ctr"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メリット</a:t>
                      </a: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社員が求めるライフスタイルに適したキャリアを選べる</a:t>
                      </a: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複線型人事制度を導入している企業では、社員は個人的な事情にあわせてキャリアを選択できる。社員自身が望む働き方を実現しやすくなるため、仕事に対する満足感も得やすい。ライフスタイルにあわせてキャリアを選択できれば、プライベートを優先するために離職を考える社員も減る可能性がある。</a:t>
                      </a: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6781359"/>
                  </a:ext>
                </a:extLst>
              </a:tr>
              <a:tr h="1251493">
                <a:tc vMerge="1">
                  <a:txBody>
                    <a:bodyPr/>
                    <a:lstStyle/>
                    <a:p>
                      <a:endParaRPr kumimoji="1" lang="ja-JP" altLang="en-US"/>
                    </a:p>
                  </a:txBody>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マネジメントが苦手でも出世できる可能性がある</a:t>
                      </a: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単線型人事制度で昇進や昇格を目指す場合、管理職になるしかない。しかし、企業にはさまざまなスキルをもつ人材が必要であり、人によってはマネジメントが不得意な場合もある。単線型人事制度では、マネジメントが不得意な人は出世においても不利になります。複線型人事制度では管理職以外も目指せるため、それぞれの得意分野を活かして出世することが可能となる。</a:t>
                      </a: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9558284"/>
                  </a:ext>
                </a:extLst>
              </a:tr>
              <a:tr h="941868">
                <a:tc vMerge="1">
                  <a:txBody>
                    <a:bodyPr/>
                    <a:lstStyle/>
                    <a:p>
                      <a:endParaRPr kumimoji="1" lang="ja-JP" altLang="en-US"/>
                    </a:p>
                  </a:txBody>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社員のモチベーションを高めやすい</a:t>
                      </a: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それぞれの社員の希望をキャリアに反映しやすくなるため、仕事に対するモチベーションも高まりやすくなる。社員のモチベーションが高まると、企業全体の業務効率化や生産性の向上にもつながる可能性がある。社員のやる気を引き出したいなら、複線型人事制度の導入は効果的である。</a:t>
                      </a: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6572230"/>
                  </a:ext>
                </a:extLst>
              </a:tr>
              <a:tr h="941868">
                <a:tc vMerge="1">
                  <a:txBody>
                    <a:bodyPr/>
                    <a:lstStyle/>
                    <a:p>
                      <a:endParaRPr kumimoji="1" lang="ja-JP" altLang="en-US"/>
                    </a:p>
                  </a:txBody>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専門的なスキルや知識を効率的に蓄積できる</a:t>
                      </a: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複線型人事制度の場合、専門的なスキルや知識をもつスペシャリストは、それを活かしながら出世できる。社員は在籍する限り、ひとつの分野に関する専門的なスキルや知識をしっかり蓄積でき、自分の市場価値を高めることが可能です。企業にとっては質の高い人材が業務に携わることで、高い貢献度が期待できる。</a:t>
                      </a: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499323"/>
                  </a:ext>
                </a:extLst>
              </a:tr>
              <a:tr h="1251493">
                <a:tc vMerge="1">
                  <a:txBody>
                    <a:bodyPr/>
                    <a:lstStyle/>
                    <a:p>
                      <a:endParaRPr kumimoji="1" lang="ja-JP" altLang="en-US"/>
                    </a:p>
                  </a:txBody>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ポスト不足の問題を解決できる</a:t>
                      </a: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単線型人事制度における出世とは、管理職になることである。多くの人が管理職を目指すため、候補者が多くなりすぎてポストが不足する場合も多くある。能力があるにもかかわらずポストが不足しているせいで出世できない場合、社員のやる気を下げる原因になり、企業全体の雰囲気が悪くなる恐れもあるため、注意が必要である。複線型人事制度なら管理職への希望が集中しにくくなり、ポスト不足の問題も解決しやすくなる。</a:t>
                      </a: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0622294"/>
                  </a:ext>
                </a:extLst>
              </a:tr>
            </a:tbl>
          </a:graphicData>
        </a:graphic>
      </p:graphicFrame>
    </p:spTree>
    <p:extLst>
      <p:ext uri="{BB962C8B-B14F-4D97-AF65-F5344CB8AC3E}">
        <p14:creationId xmlns:p14="http://schemas.microsoft.com/office/powerpoint/2010/main" val="18262158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1"/>
          <p:cNvSpPr txBox="1">
            <a:spLocks noChangeArrowheads="1"/>
          </p:cNvSpPr>
          <p:nvPr/>
        </p:nvSpPr>
        <p:spPr bwMode="auto">
          <a:xfrm>
            <a:off x="8781058" y="6689416"/>
            <a:ext cx="344646" cy="161583"/>
          </a:xfrm>
          <a:prstGeom prst="rect">
            <a:avLst/>
          </a:prstGeom>
          <a:noFill/>
          <a:ln w="9525">
            <a:noFill/>
            <a:miter lim="800000"/>
            <a:headEnd/>
            <a:tailEnd/>
          </a:ln>
          <a:effectLst/>
        </p:spPr>
        <p:txBody>
          <a:bodyPr wrap="none" lIns="0" tIns="0" rIns="0" bIns="0">
            <a:spAutoFit/>
          </a:bodyPr>
          <a:lstStyle/>
          <a:p>
            <a:pPr algn="ctr" eaLnBrk="0" hangingPunct="0">
              <a:lnSpc>
                <a:spcPct val="100000"/>
              </a:lnSpc>
              <a:buClrTx/>
              <a:buSzTx/>
              <a:buFontTx/>
              <a:buNone/>
            </a:pPr>
            <a:r>
              <a:rPr lang="ja-JP" altLang="en-US" sz="1050" dirty="0">
                <a:latin typeface="+mn-ea"/>
              </a:rPr>
              <a:t>－</a:t>
            </a:r>
            <a:fld id="{B0F819B3-9E8F-4282-8AF7-A5F025A1BD25}" type="slidenum">
              <a:rPr lang="ja-JP" altLang="en-US" sz="1050">
                <a:latin typeface="+mn-ea"/>
              </a:rPr>
              <a:pPr algn="ctr" eaLnBrk="0" hangingPunct="0">
                <a:lnSpc>
                  <a:spcPct val="100000"/>
                </a:lnSpc>
                <a:buClrTx/>
                <a:buSzTx/>
                <a:buFontTx/>
                <a:buNone/>
              </a:pPr>
              <a:t>38</a:t>
            </a:fld>
            <a:r>
              <a:rPr lang="ja-JP" altLang="en-US" sz="1050" dirty="0">
                <a:latin typeface="+mn-ea"/>
              </a:rPr>
              <a:t>－</a:t>
            </a:r>
          </a:p>
        </p:txBody>
      </p:sp>
      <p:sp>
        <p:nvSpPr>
          <p:cNvPr id="12" name="タイトル 2"/>
          <p:cNvSpPr txBox="1">
            <a:spLocks/>
          </p:cNvSpPr>
          <p:nvPr/>
        </p:nvSpPr>
        <p:spPr>
          <a:xfrm>
            <a:off x="0" y="147043"/>
            <a:ext cx="7992888" cy="562074"/>
          </a:xfrm>
          <a:prstGeom prst="rect">
            <a:avLst/>
          </a:prstGeom>
        </p:spPr>
        <p:txBody>
          <a:bodyPr vert="horz" lIns="91432" tIns="45717" rIns="91432" bIns="45717" rtlCol="0" anchor="ctr">
            <a:noAutofit/>
          </a:bodyPr>
          <a:lstStyle>
            <a:lvl1pPr algn="l" defTabSz="914325" rtl="0" eaLnBrk="1" latinLnBrk="0" hangingPunct="1">
              <a:spcBef>
                <a:spcPct val="0"/>
              </a:spcBef>
              <a:buNone/>
              <a:defRPr kumimoji="1" sz="4000" kern="1200">
                <a:solidFill>
                  <a:schemeClr val="tx1"/>
                </a:solidFill>
                <a:latin typeface="メイリオ" pitchFamily="50" charset="-128"/>
                <a:ea typeface="メイリオ" pitchFamily="50" charset="-128"/>
                <a:cs typeface="メイリオ" pitchFamily="50" charset="-128"/>
              </a:defRPr>
            </a:lvl1pPr>
          </a:lstStyle>
          <a:p>
            <a:r>
              <a:rPr lang="ja-JP" altLang="en-US" sz="1600" dirty="0">
                <a:latin typeface="BIZ UDPゴシック" panose="020B0400000000000000" pitchFamily="50" charset="-128"/>
                <a:ea typeface="BIZ UDPゴシック" panose="020B0400000000000000" pitchFamily="50" charset="-128"/>
              </a:rPr>
              <a:t>（参考）専門職制度のデメリット</a:t>
            </a:r>
          </a:p>
        </p:txBody>
      </p:sp>
      <p:graphicFrame>
        <p:nvGraphicFramePr>
          <p:cNvPr id="3" name="表 2">
            <a:extLst>
              <a:ext uri="{FF2B5EF4-FFF2-40B4-BE49-F238E27FC236}">
                <a16:creationId xmlns:a16="http://schemas.microsoft.com/office/drawing/2014/main" id="{DE9CAAEF-9F05-C8B2-B712-92359F994C20}"/>
              </a:ext>
            </a:extLst>
          </p:cNvPr>
          <p:cNvGraphicFramePr>
            <a:graphicFrameLocks noGrp="1"/>
          </p:cNvGraphicFramePr>
          <p:nvPr>
            <p:extLst>
              <p:ext uri="{D42A27DB-BD31-4B8C-83A1-F6EECF244321}">
                <p14:modId xmlns:p14="http://schemas.microsoft.com/office/powerpoint/2010/main" val="1681726753"/>
              </p:ext>
            </p:extLst>
          </p:nvPr>
        </p:nvGraphicFramePr>
        <p:xfrm>
          <a:off x="251520" y="1196752"/>
          <a:ext cx="8712968" cy="4090056"/>
        </p:xfrm>
        <a:graphic>
          <a:graphicData uri="http://schemas.openxmlformats.org/drawingml/2006/table">
            <a:tbl>
              <a:tblPr/>
              <a:tblGrid>
                <a:gridCol w="864096">
                  <a:extLst>
                    <a:ext uri="{9D8B030D-6E8A-4147-A177-3AD203B41FA5}">
                      <a16:colId xmlns:a16="http://schemas.microsoft.com/office/drawing/2014/main" val="3356406196"/>
                    </a:ext>
                  </a:extLst>
                </a:gridCol>
                <a:gridCol w="2297838">
                  <a:extLst>
                    <a:ext uri="{9D8B030D-6E8A-4147-A177-3AD203B41FA5}">
                      <a16:colId xmlns:a16="http://schemas.microsoft.com/office/drawing/2014/main" val="4222806179"/>
                    </a:ext>
                  </a:extLst>
                </a:gridCol>
                <a:gridCol w="5551034">
                  <a:extLst>
                    <a:ext uri="{9D8B030D-6E8A-4147-A177-3AD203B41FA5}">
                      <a16:colId xmlns:a16="http://schemas.microsoft.com/office/drawing/2014/main" val="1915702470"/>
                    </a:ext>
                  </a:extLst>
                </a:gridCol>
              </a:tblGrid>
              <a:tr h="1022514">
                <a:tc rowSpan="4">
                  <a:txBody>
                    <a:bodyPr/>
                    <a:lstStyle/>
                    <a:p>
                      <a:pPr algn="ctr"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デメリット</a:t>
                      </a: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導入にはさまざまな手間がかかる</a:t>
                      </a: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複線型人事制度を導入するためには、さまざまな準備が必要である。たとえば、新しいキャリアコースを設定するだけでなく、それにあわせた給与体系や評価システムも構築しなければならない。業務プロセスについても再検討が必要。すべてを整備するには、たくさんの手間と時間を要する可能性がある。</a:t>
                      </a: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6781359"/>
                  </a:ext>
                </a:extLst>
              </a:tr>
              <a:tr h="1022514">
                <a:tc vMerge="1">
                  <a:txBody>
                    <a:bodyPr/>
                    <a:lstStyle/>
                    <a:p>
                      <a:pPr algn="ctr" fontAlgn="ctr"/>
                      <a:endPar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導入する際にコストがかかる</a:t>
                      </a: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まったく異なる人事制度を導入するとなると、従来の制度を抜本的に改革しなければならない。そのためには、現状を把握したうえで、新しい制度としてどのような内容を取り入れるべきか検討する必要がある。検討を行う人材に対する人件費やシステムの導入費用など、さまざまなコストを要する可能性がある。</a:t>
                      </a: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9558284"/>
                  </a:ext>
                </a:extLst>
              </a:tr>
              <a:tr h="1022514">
                <a:tc vMerge="1">
                  <a:txBody>
                    <a:bodyPr/>
                    <a:lstStyle/>
                    <a:p>
                      <a:pPr algn="ctr" fontAlgn="ctr"/>
                      <a:endPar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評価のルールが複雑になる</a:t>
                      </a: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複線型人事制度ではキャリアアップの選択肢が複数になり、それぞれにまったく異なる評価基準を設けるため複雑になる。キャリアが</a:t>
                      </a:r>
                      <a:r>
                        <a:rPr lang="en-US" altLang="ja-JP" sz="1200" b="0" i="0" u="none" strike="noStrike" dirty="0">
                          <a:solidFill>
                            <a:srgbClr val="000000"/>
                          </a:solidFill>
                          <a:effectLst/>
                          <a:latin typeface="BIZ UDPゴシック" panose="020B0400000000000000" pitchFamily="50" charset="-128"/>
                          <a:ea typeface="BIZ UDPゴシック" panose="020B0400000000000000" pitchFamily="50" charset="-128"/>
                        </a:rPr>
                        <a:t>1</a:t>
                      </a: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つだった単線型人事制度に比べて、コースごとの評価制度を把握する手間も増える。公平性を保ちながら、コース別、専門分野ごとに能力評価するルールを定める必要がある。</a:t>
                      </a: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6572230"/>
                  </a:ext>
                </a:extLst>
              </a:tr>
              <a:tr h="1022514">
                <a:tc vMerge="1">
                  <a:txBody>
                    <a:bodyPr/>
                    <a:lstStyle/>
                    <a:p>
                      <a:pPr algn="ctr" fontAlgn="ctr"/>
                      <a:endPar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endParaRPr>
                    </a:p>
                  </a:txBody>
                  <a:tcPr marL="5754" marR="5754" marT="57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社員が不満をもつ場合もある</a:t>
                      </a: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r>
                        <a:rPr lang="ja-JP" altLang="en-US" sz="1200" b="0" i="0" u="none" strike="noStrike" dirty="0">
                          <a:solidFill>
                            <a:srgbClr val="000000"/>
                          </a:solidFill>
                          <a:effectLst/>
                          <a:latin typeface="BIZ UDPゴシック" panose="020B0400000000000000" pitchFamily="50" charset="-128"/>
                          <a:ea typeface="BIZ UDPゴシック" panose="020B0400000000000000" pitchFamily="50" charset="-128"/>
                        </a:rPr>
                        <a:t>さまざまなキャリアを選べるようになれば、基本的には社員の満足度は向上する。しかし、それぞれのコースで評価方法が異なるため、社員によっては不平等だと感じる可能性もある。複線型人事制度を導入する際は、それぞれの業務の役割や責任を明確に定めたうえで、社員にもきちんと理解してもらうことが必要となる。</a:t>
                      </a:r>
                    </a:p>
                  </a:txBody>
                  <a:tcPr marL="7144" marR="7144" marT="7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499323"/>
                  </a:ext>
                </a:extLst>
              </a:tr>
            </a:tbl>
          </a:graphicData>
        </a:graphic>
      </p:graphicFrame>
    </p:spTree>
    <p:extLst>
      <p:ext uri="{BB962C8B-B14F-4D97-AF65-F5344CB8AC3E}">
        <p14:creationId xmlns:p14="http://schemas.microsoft.com/office/powerpoint/2010/main" val="1072245338"/>
      </p:ext>
    </p:extLst>
  </p:cSld>
  <p:clrMapOvr>
    <a:masterClrMapping/>
  </p:clrMapOvr>
</p:sld>
</file>

<file path=ppt/theme/theme1.xml><?xml version="1.0" encoding="utf-8"?>
<a:theme xmlns:a="http://schemas.openxmlformats.org/drawingml/2006/main" name="5_MMI">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CC"/>
        </a:solidFill>
        <a:ln>
          <a:solidFill>
            <a:srgbClr val="FFC000"/>
          </a:solidFill>
        </a:ln>
      </a:spPr>
      <a:bodyPr rtlCol="0" anchor="ctr"/>
      <a:lstStyle>
        <a:defPPr algn="ctr">
          <a:defRPr kumimoji="1" sz="1200" b="1" dirty="0" smtClean="0">
            <a:solidFill>
              <a:sysClr val="windowText" lastClr="000000"/>
            </a:solidFill>
            <a:latin typeface="メイリオ" panose="020B0604030504040204" pitchFamily="50" charset="-128"/>
            <a:ea typeface="メイリオ" panose="020B0604030504040204" pitchFamily="50" charset="-128"/>
            <a:cs typeface="メイリオ"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1_デザインの設定">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デザインの設定">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16767</TotalTime>
  <Words>10489</Words>
  <Application>Microsoft Office PowerPoint</Application>
  <PresentationFormat>画面に合わせる (4:3)</PresentationFormat>
  <Paragraphs>1634</Paragraphs>
  <Slides>38</Slides>
  <Notes>37</Notes>
  <HiddenSlides>0</HiddenSlides>
  <MMClips>0</MMClips>
  <ScaleCrop>false</ScaleCrop>
  <HeadingPairs>
    <vt:vector size="6" baseType="variant">
      <vt:variant>
        <vt:lpstr>使用されているフォント</vt:lpstr>
      </vt:variant>
      <vt:variant>
        <vt:i4>6</vt:i4>
      </vt:variant>
      <vt:variant>
        <vt:lpstr>テーマ</vt:lpstr>
      </vt:variant>
      <vt:variant>
        <vt:i4>3</vt:i4>
      </vt:variant>
      <vt:variant>
        <vt:lpstr>スライド タイトル</vt:lpstr>
      </vt:variant>
      <vt:variant>
        <vt:i4>38</vt:i4>
      </vt:variant>
    </vt:vector>
  </HeadingPairs>
  <TitlesOfParts>
    <vt:vector size="47" baseType="lpstr">
      <vt:lpstr>BIZ UDPゴシック</vt:lpstr>
      <vt:lpstr>メイリオ</vt:lpstr>
      <vt:lpstr>游ゴシック</vt:lpstr>
      <vt:lpstr>Arial</vt:lpstr>
      <vt:lpstr>Calibri</vt:lpstr>
      <vt:lpstr>Helvetica</vt:lpstr>
      <vt:lpstr>5_MMI</vt:lpstr>
      <vt:lpstr>1_デザインの設定</vt:lpstr>
      <vt:lpstr>デザインの設定</vt:lpstr>
      <vt:lpstr>人事評価制度の変更について （「格付と役職及び公的資格と役職」等について）</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Tokyo22</dc:creator>
  <cp:lastModifiedBy>mmi119</cp:lastModifiedBy>
  <cp:revision>1742</cp:revision>
  <cp:lastPrinted>2025-09-19T04:12:10Z</cp:lastPrinted>
  <dcterms:created xsi:type="dcterms:W3CDTF">2017-04-17T23:59:25Z</dcterms:created>
  <dcterms:modified xsi:type="dcterms:W3CDTF">2025-09-19T06:41:36Z</dcterms:modified>
</cp:coreProperties>
</file>