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handoutMasterIdLst>
    <p:handoutMasterId r:id="rId40"/>
  </p:handoutMasterIdLst>
  <p:sldIdLst>
    <p:sldId id="274" r:id="rId2"/>
    <p:sldId id="275" r:id="rId3"/>
    <p:sldId id="289" r:id="rId4"/>
    <p:sldId id="305" r:id="rId5"/>
    <p:sldId id="292" r:id="rId6"/>
    <p:sldId id="257" r:id="rId7"/>
    <p:sldId id="276" r:id="rId8"/>
    <p:sldId id="258" r:id="rId9"/>
    <p:sldId id="259" r:id="rId10"/>
    <p:sldId id="278" r:id="rId11"/>
    <p:sldId id="260" r:id="rId12"/>
    <p:sldId id="291" r:id="rId13"/>
    <p:sldId id="299" r:id="rId14"/>
    <p:sldId id="264" r:id="rId15"/>
    <p:sldId id="301" r:id="rId16"/>
    <p:sldId id="302" r:id="rId17"/>
    <p:sldId id="280" r:id="rId18"/>
    <p:sldId id="300" r:id="rId19"/>
    <p:sldId id="319" r:id="rId20"/>
    <p:sldId id="320" r:id="rId21"/>
    <p:sldId id="265" r:id="rId22"/>
    <p:sldId id="321" r:id="rId23"/>
    <p:sldId id="322" r:id="rId24"/>
    <p:sldId id="323" r:id="rId25"/>
    <p:sldId id="266" r:id="rId26"/>
    <p:sldId id="324" r:id="rId27"/>
    <p:sldId id="325" r:id="rId28"/>
    <p:sldId id="326" r:id="rId29"/>
    <p:sldId id="327" r:id="rId30"/>
    <p:sldId id="267" r:id="rId31"/>
    <p:sldId id="328" r:id="rId32"/>
    <p:sldId id="329" r:id="rId33"/>
    <p:sldId id="268" r:id="rId34"/>
    <p:sldId id="269" r:id="rId35"/>
    <p:sldId id="270" r:id="rId36"/>
    <p:sldId id="318" r:id="rId37"/>
    <p:sldId id="285" r:id="rId38"/>
  </p:sldIdLst>
  <p:sldSz cx="6858000" cy="9144000" type="screen4x3"/>
  <p:notesSz cx="6735763" cy="9866313"/>
  <p:defaultTextStyle>
    <a:defPPr>
      <a:defRPr lang="ja-JP"/>
    </a:defPPr>
    <a:lvl1pPr algn="l" rtl="0" eaLnBrk="0" fontAlgn="base" hangingPunct="0">
      <a:spcBef>
        <a:spcPct val="0"/>
      </a:spcBef>
      <a:spcAft>
        <a:spcPct val="0"/>
      </a:spcAft>
      <a:defRPr kumimoji="1" sz="36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eaLnBrk="0" fontAlgn="base" hangingPunct="0">
      <a:spcBef>
        <a:spcPct val="0"/>
      </a:spcBef>
      <a:spcAft>
        <a:spcPct val="0"/>
      </a:spcAft>
      <a:defRPr kumimoji="1" sz="36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eaLnBrk="0" fontAlgn="base" hangingPunct="0">
      <a:spcBef>
        <a:spcPct val="0"/>
      </a:spcBef>
      <a:spcAft>
        <a:spcPct val="0"/>
      </a:spcAft>
      <a:defRPr kumimoji="1" sz="36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eaLnBrk="0" fontAlgn="base" hangingPunct="0">
      <a:spcBef>
        <a:spcPct val="0"/>
      </a:spcBef>
      <a:spcAft>
        <a:spcPct val="0"/>
      </a:spcAft>
      <a:defRPr kumimoji="1" sz="36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eaLnBrk="0" fontAlgn="base" hangingPunct="0">
      <a:spcBef>
        <a:spcPct val="0"/>
      </a:spcBef>
      <a:spcAft>
        <a:spcPct val="0"/>
      </a:spcAft>
      <a:defRPr kumimoji="1" sz="36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36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36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36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3600" kern="1200">
        <a:solidFill>
          <a:schemeClr val="tx1"/>
        </a:solidFill>
        <a:latin typeface="Times New Roman" panose="02020603050405020304" pitchFamily="18"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1066">
          <p15:clr>
            <a:srgbClr val="A4A3A4"/>
          </p15:clr>
        </p15:guide>
        <p15:guide id="2" pos="4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tokyo013" initials="" lastIdx="3" clrIdx="0"/>
  <p:cmAuthor id="2" name="ユーザー名不明1" initials="ユーザー名不明1" lastIdx="3" clrIdx="1"/>
  <p:cmAuthor id="3" name="mtokyo013" initials="m" lastIdx="1" clrIdx="2">
    <p:extLst>
      <p:ext uri="{19B8F6BF-5375-455C-9EA6-DF929625EA0E}">
        <p15:presenceInfo xmlns:p15="http://schemas.microsoft.com/office/powerpoint/2012/main" userId="mtokyo013"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E6E6E6"/>
    <a:srgbClr val="B2B2B2"/>
    <a:srgbClr val="EAEAEA"/>
    <a:srgbClr val="969696"/>
    <a:srgbClr val="003300"/>
    <a:srgbClr val="CC3300"/>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32" autoAdjust="0"/>
    <p:restoredTop sz="99391" autoAdjust="0"/>
  </p:normalViewPr>
  <p:slideViewPr>
    <p:cSldViewPr>
      <p:cViewPr varScale="1">
        <p:scale>
          <a:sx n="84" d="100"/>
          <a:sy n="84" d="100"/>
        </p:scale>
        <p:origin x="3198" y="102"/>
      </p:cViewPr>
      <p:guideLst>
        <p:guide orient="horz" pos="1066"/>
        <p:guide pos="436"/>
      </p:guideLst>
    </p:cSldViewPr>
  </p:slideViewPr>
  <p:outlineViewPr>
    <p:cViewPr>
      <p:scale>
        <a:sx n="50" d="100"/>
        <a:sy n="50"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15FF71BD-3572-437F-932D-C5BC7D111DDD}"/>
              </a:ext>
            </a:extLst>
          </p:cNvPr>
          <p:cNvSpPr>
            <a:spLocks noGrp="1" noChangeArrowheads="1"/>
          </p:cNvSpPr>
          <p:nvPr>
            <p:ph type="hdr" sz="quarter"/>
          </p:nvPr>
        </p:nvSpPr>
        <p:spPr bwMode="auto">
          <a:xfrm>
            <a:off x="3" y="2"/>
            <a:ext cx="2917960" cy="494338"/>
          </a:xfrm>
          <a:prstGeom prst="rect">
            <a:avLst/>
          </a:prstGeom>
          <a:noFill/>
          <a:ln w="9525">
            <a:noFill/>
            <a:miter lim="800000"/>
            <a:headEnd/>
            <a:tailEnd/>
          </a:ln>
          <a:effectLst/>
        </p:spPr>
        <p:txBody>
          <a:bodyPr vert="horz" wrap="square" lIns="93496" tIns="46748" rIns="93496" bIns="46748" numCol="1" anchor="t" anchorCtr="0" compatLnSpc="1">
            <a:prstTxWarp prst="textNoShape">
              <a:avLst/>
            </a:prstTxWarp>
          </a:bodyPr>
          <a:lstStyle>
            <a:lvl1pPr defTabSz="934520" eaLnBrk="1" hangingPunct="1">
              <a:defRPr sz="1200">
                <a:ea typeface="ＭＳ Ｐゴシック" pitchFamily="50" charset="-128"/>
              </a:defRPr>
            </a:lvl1pPr>
          </a:lstStyle>
          <a:p>
            <a:pPr>
              <a:defRPr/>
            </a:pPr>
            <a:endParaRPr lang="en-US" altLang="ja-JP"/>
          </a:p>
        </p:txBody>
      </p:sp>
      <p:sp>
        <p:nvSpPr>
          <p:cNvPr id="23555" name="Rectangle 3">
            <a:extLst>
              <a:ext uri="{FF2B5EF4-FFF2-40B4-BE49-F238E27FC236}">
                <a16:creationId xmlns:a16="http://schemas.microsoft.com/office/drawing/2014/main" id="{68476626-E054-4EAD-B4CB-3BD5B09ACBC0}"/>
              </a:ext>
            </a:extLst>
          </p:cNvPr>
          <p:cNvSpPr>
            <a:spLocks noGrp="1" noChangeArrowheads="1"/>
          </p:cNvSpPr>
          <p:nvPr>
            <p:ph type="dt" sz="quarter" idx="1"/>
          </p:nvPr>
        </p:nvSpPr>
        <p:spPr bwMode="auto">
          <a:xfrm>
            <a:off x="3817804" y="2"/>
            <a:ext cx="2917959" cy="494338"/>
          </a:xfrm>
          <a:prstGeom prst="rect">
            <a:avLst/>
          </a:prstGeom>
          <a:noFill/>
          <a:ln w="9525">
            <a:noFill/>
            <a:miter lim="800000"/>
            <a:headEnd/>
            <a:tailEnd/>
          </a:ln>
          <a:effectLst/>
        </p:spPr>
        <p:txBody>
          <a:bodyPr vert="horz" wrap="square" lIns="93496" tIns="46748" rIns="93496" bIns="46748" numCol="1" anchor="t" anchorCtr="0" compatLnSpc="1">
            <a:prstTxWarp prst="textNoShape">
              <a:avLst/>
            </a:prstTxWarp>
          </a:bodyPr>
          <a:lstStyle>
            <a:lvl1pPr algn="r" defTabSz="934520" eaLnBrk="1" hangingPunct="1">
              <a:defRPr sz="1200">
                <a:ea typeface="ＭＳ Ｐゴシック" pitchFamily="50" charset="-128"/>
              </a:defRPr>
            </a:lvl1pPr>
          </a:lstStyle>
          <a:p>
            <a:pPr>
              <a:defRPr/>
            </a:pPr>
            <a:endParaRPr lang="en-US" altLang="ja-JP"/>
          </a:p>
        </p:txBody>
      </p:sp>
      <p:sp>
        <p:nvSpPr>
          <p:cNvPr id="23556" name="Rectangle 4">
            <a:extLst>
              <a:ext uri="{FF2B5EF4-FFF2-40B4-BE49-F238E27FC236}">
                <a16:creationId xmlns:a16="http://schemas.microsoft.com/office/drawing/2014/main" id="{25A00538-885B-4840-A2B4-284DC7353C92}"/>
              </a:ext>
            </a:extLst>
          </p:cNvPr>
          <p:cNvSpPr>
            <a:spLocks noGrp="1" noChangeArrowheads="1"/>
          </p:cNvSpPr>
          <p:nvPr>
            <p:ph type="ftr" sz="quarter" idx="2"/>
          </p:nvPr>
        </p:nvSpPr>
        <p:spPr bwMode="auto">
          <a:xfrm>
            <a:off x="3" y="9371978"/>
            <a:ext cx="2917960" cy="494338"/>
          </a:xfrm>
          <a:prstGeom prst="rect">
            <a:avLst/>
          </a:prstGeom>
          <a:noFill/>
          <a:ln w="9525">
            <a:noFill/>
            <a:miter lim="800000"/>
            <a:headEnd/>
            <a:tailEnd/>
          </a:ln>
          <a:effectLst/>
        </p:spPr>
        <p:txBody>
          <a:bodyPr vert="horz" wrap="square" lIns="93496" tIns="46748" rIns="93496" bIns="46748" numCol="1" anchor="b" anchorCtr="0" compatLnSpc="1">
            <a:prstTxWarp prst="textNoShape">
              <a:avLst/>
            </a:prstTxWarp>
          </a:bodyPr>
          <a:lstStyle>
            <a:lvl1pPr defTabSz="934520" eaLnBrk="1" hangingPunct="1">
              <a:defRPr sz="1200">
                <a:ea typeface="ＭＳ Ｐゴシック" pitchFamily="50" charset="-128"/>
              </a:defRPr>
            </a:lvl1pPr>
          </a:lstStyle>
          <a:p>
            <a:pPr>
              <a:defRPr/>
            </a:pPr>
            <a:endParaRPr lang="en-US" altLang="ja-JP"/>
          </a:p>
        </p:txBody>
      </p:sp>
      <p:sp>
        <p:nvSpPr>
          <p:cNvPr id="23557" name="Rectangle 5">
            <a:extLst>
              <a:ext uri="{FF2B5EF4-FFF2-40B4-BE49-F238E27FC236}">
                <a16:creationId xmlns:a16="http://schemas.microsoft.com/office/drawing/2014/main" id="{7A4AAD67-A1E9-4450-8CC3-F73845D6106D}"/>
              </a:ext>
            </a:extLst>
          </p:cNvPr>
          <p:cNvSpPr>
            <a:spLocks noGrp="1" noChangeArrowheads="1"/>
          </p:cNvSpPr>
          <p:nvPr>
            <p:ph type="sldNum" sz="quarter" idx="3"/>
          </p:nvPr>
        </p:nvSpPr>
        <p:spPr bwMode="auto">
          <a:xfrm>
            <a:off x="3817804" y="9371978"/>
            <a:ext cx="2917959" cy="494338"/>
          </a:xfrm>
          <a:prstGeom prst="rect">
            <a:avLst/>
          </a:prstGeom>
          <a:noFill/>
          <a:ln w="9525">
            <a:noFill/>
            <a:miter lim="800000"/>
            <a:headEnd/>
            <a:tailEnd/>
          </a:ln>
          <a:effectLst/>
        </p:spPr>
        <p:txBody>
          <a:bodyPr vert="horz" wrap="square" lIns="93496" tIns="46748" rIns="93496" bIns="46748" numCol="1" anchor="b" anchorCtr="0" compatLnSpc="1">
            <a:prstTxWarp prst="textNoShape">
              <a:avLst/>
            </a:prstTxWarp>
          </a:bodyPr>
          <a:lstStyle>
            <a:lvl1pPr algn="r" defTabSz="934520" eaLnBrk="1" hangingPunct="1">
              <a:defRPr sz="1200"/>
            </a:lvl1pPr>
          </a:lstStyle>
          <a:p>
            <a:pPr>
              <a:defRPr/>
            </a:pPr>
            <a:fld id="{DA2A3911-3BF4-43EF-9059-D3E3F293D778}" type="slidenum">
              <a:rPr lang="en-US" altLang="ja-JP"/>
              <a:pPr>
                <a:defRPr/>
              </a:pPr>
              <a:t>‹#›</a:t>
            </a:fld>
            <a:endParaRPr lang="en-US" altLang="ja-JP"/>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19A30218-1F75-44F8-BA49-B5C16C87076B}"/>
              </a:ext>
            </a:extLst>
          </p:cNvPr>
          <p:cNvSpPr>
            <a:spLocks noGrp="1" noChangeArrowheads="1"/>
          </p:cNvSpPr>
          <p:nvPr>
            <p:ph type="hdr" sz="quarter"/>
          </p:nvPr>
        </p:nvSpPr>
        <p:spPr bwMode="auto">
          <a:xfrm>
            <a:off x="1" y="0"/>
            <a:ext cx="2906759" cy="468320"/>
          </a:xfrm>
          <a:prstGeom prst="rect">
            <a:avLst/>
          </a:prstGeom>
          <a:noFill/>
          <a:ln w="9525">
            <a:noFill/>
            <a:miter lim="800000"/>
            <a:headEnd/>
            <a:tailEnd/>
          </a:ln>
          <a:effectLst/>
        </p:spPr>
        <p:txBody>
          <a:bodyPr vert="horz" wrap="square" lIns="90614" tIns="45308" rIns="90614" bIns="45308" numCol="1" anchor="t" anchorCtr="0" compatLnSpc="1">
            <a:prstTxWarp prst="textNoShape">
              <a:avLst/>
            </a:prstTxWarp>
          </a:bodyPr>
          <a:lstStyle>
            <a:lvl1pPr eaLnBrk="1" hangingPunct="1">
              <a:defRPr sz="1200">
                <a:ea typeface="ＭＳ Ｐゴシック" pitchFamily="50" charset="-128"/>
              </a:defRPr>
            </a:lvl1pPr>
          </a:lstStyle>
          <a:p>
            <a:pPr>
              <a:defRPr/>
            </a:pPr>
            <a:endParaRPr lang="en-US" altLang="ja-JP"/>
          </a:p>
        </p:txBody>
      </p:sp>
      <p:sp>
        <p:nvSpPr>
          <p:cNvPr id="51203" name="Rectangle 3">
            <a:extLst>
              <a:ext uri="{FF2B5EF4-FFF2-40B4-BE49-F238E27FC236}">
                <a16:creationId xmlns:a16="http://schemas.microsoft.com/office/drawing/2014/main" id="{55F75D05-7BA0-4746-81A7-4647E37A742F}"/>
              </a:ext>
            </a:extLst>
          </p:cNvPr>
          <p:cNvSpPr>
            <a:spLocks noGrp="1" noChangeArrowheads="1"/>
          </p:cNvSpPr>
          <p:nvPr>
            <p:ph type="dt" idx="1"/>
          </p:nvPr>
        </p:nvSpPr>
        <p:spPr bwMode="auto">
          <a:xfrm>
            <a:off x="3801003" y="0"/>
            <a:ext cx="2904891" cy="468320"/>
          </a:xfrm>
          <a:prstGeom prst="rect">
            <a:avLst/>
          </a:prstGeom>
          <a:noFill/>
          <a:ln w="9525">
            <a:noFill/>
            <a:miter lim="800000"/>
            <a:headEnd/>
            <a:tailEnd/>
          </a:ln>
          <a:effectLst/>
        </p:spPr>
        <p:txBody>
          <a:bodyPr vert="horz" wrap="square" lIns="90614" tIns="45308" rIns="90614" bIns="45308" numCol="1" anchor="t" anchorCtr="0" compatLnSpc="1">
            <a:prstTxWarp prst="textNoShape">
              <a:avLst/>
            </a:prstTxWarp>
          </a:bodyPr>
          <a:lstStyle>
            <a:lvl1pPr algn="r" eaLnBrk="1" hangingPunct="1">
              <a:defRPr sz="1200">
                <a:ea typeface="ＭＳ Ｐゴシック" pitchFamily="50" charset="-128"/>
              </a:defRPr>
            </a:lvl1pPr>
          </a:lstStyle>
          <a:p>
            <a:pPr>
              <a:defRPr/>
            </a:pPr>
            <a:endParaRPr lang="en-US" altLang="ja-JP"/>
          </a:p>
        </p:txBody>
      </p:sp>
      <p:sp>
        <p:nvSpPr>
          <p:cNvPr id="2052" name="Rectangle 4">
            <a:extLst>
              <a:ext uri="{FF2B5EF4-FFF2-40B4-BE49-F238E27FC236}">
                <a16:creationId xmlns:a16="http://schemas.microsoft.com/office/drawing/2014/main" id="{19415BC6-B377-44E7-A374-8E213787ED1D}"/>
              </a:ext>
            </a:extLst>
          </p:cNvPr>
          <p:cNvSpPr>
            <a:spLocks noGrp="1" noRot="1" noChangeAspect="1" noChangeArrowheads="1" noTextEdit="1"/>
          </p:cNvSpPr>
          <p:nvPr>
            <p:ph type="sldImg" idx="2"/>
          </p:nvPr>
        </p:nvSpPr>
        <p:spPr bwMode="auto">
          <a:xfrm>
            <a:off x="1946275" y="703263"/>
            <a:ext cx="2813050" cy="37496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5" name="Rectangle 5">
            <a:extLst>
              <a:ext uri="{FF2B5EF4-FFF2-40B4-BE49-F238E27FC236}">
                <a16:creationId xmlns:a16="http://schemas.microsoft.com/office/drawing/2014/main" id="{9DD2E446-CADD-4940-B0E8-047DAAE2C91D}"/>
              </a:ext>
            </a:extLst>
          </p:cNvPr>
          <p:cNvSpPr>
            <a:spLocks noGrp="1" noChangeArrowheads="1"/>
          </p:cNvSpPr>
          <p:nvPr>
            <p:ph type="body" sz="quarter" idx="3"/>
          </p:nvPr>
        </p:nvSpPr>
        <p:spPr bwMode="auto">
          <a:xfrm>
            <a:off x="894246" y="4688775"/>
            <a:ext cx="4917406" cy="4450898"/>
          </a:xfrm>
          <a:prstGeom prst="rect">
            <a:avLst/>
          </a:prstGeom>
          <a:noFill/>
          <a:ln w="9525">
            <a:noFill/>
            <a:miter lim="800000"/>
            <a:headEnd/>
            <a:tailEnd/>
          </a:ln>
          <a:effectLst/>
        </p:spPr>
        <p:txBody>
          <a:bodyPr vert="horz" wrap="square" lIns="90614" tIns="45308" rIns="90614" bIns="45308"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51206" name="Rectangle 6">
            <a:extLst>
              <a:ext uri="{FF2B5EF4-FFF2-40B4-BE49-F238E27FC236}">
                <a16:creationId xmlns:a16="http://schemas.microsoft.com/office/drawing/2014/main" id="{A86658FE-DAF3-4402-A029-4F2430A90097}"/>
              </a:ext>
            </a:extLst>
          </p:cNvPr>
          <p:cNvSpPr>
            <a:spLocks noGrp="1" noChangeArrowheads="1"/>
          </p:cNvSpPr>
          <p:nvPr>
            <p:ph type="ftr" sz="quarter" idx="4"/>
          </p:nvPr>
        </p:nvSpPr>
        <p:spPr bwMode="auto">
          <a:xfrm>
            <a:off x="1" y="9373833"/>
            <a:ext cx="2906759" cy="470179"/>
          </a:xfrm>
          <a:prstGeom prst="rect">
            <a:avLst/>
          </a:prstGeom>
          <a:noFill/>
          <a:ln w="9525">
            <a:noFill/>
            <a:miter lim="800000"/>
            <a:headEnd/>
            <a:tailEnd/>
          </a:ln>
          <a:effectLst/>
        </p:spPr>
        <p:txBody>
          <a:bodyPr vert="horz" wrap="square" lIns="90614" tIns="45308" rIns="90614" bIns="45308" numCol="1" anchor="b" anchorCtr="0" compatLnSpc="1">
            <a:prstTxWarp prst="textNoShape">
              <a:avLst/>
            </a:prstTxWarp>
          </a:bodyPr>
          <a:lstStyle>
            <a:lvl1pPr eaLnBrk="1" hangingPunct="1">
              <a:defRPr sz="1200">
                <a:ea typeface="ＭＳ Ｐゴシック" pitchFamily="50" charset="-128"/>
              </a:defRPr>
            </a:lvl1pPr>
          </a:lstStyle>
          <a:p>
            <a:pPr>
              <a:defRPr/>
            </a:pPr>
            <a:endParaRPr lang="en-US" altLang="ja-JP"/>
          </a:p>
        </p:txBody>
      </p:sp>
      <p:sp>
        <p:nvSpPr>
          <p:cNvPr id="51207" name="Rectangle 7">
            <a:extLst>
              <a:ext uri="{FF2B5EF4-FFF2-40B4-BE49-F238E27FC236}">
                <a16:creationId xmlns:a16="http://schemas.microsoft.com/office/drawing/2014/main" id="{4673CC0F-46CB-4B4F-94CA-653D82B89786}"/>
              </a:ext>
            </a:extLst>
          </p:cNvPr>
          <p:cNvSpPr>
            <a:spLocks noGrp="1" noChangeArrowheads="1"/>
          </p:cNvSpPr>
          <p:nvPr>
            <p:ph type="sldNum" sz="quarter" idx="5"/>
          </p:nvPr>
        </p:nvSpPr>
        <p:spPr bwMode="auto">
          <a:xfrm>
            <a:off x="3801003" y="9373833"/>
            <a:ext cx="2904891" cy="470179"/>
          </a:xfrm>
          <a:prstGeom prst="rect">
            <a:avLst/>
          </a:prstGeom>
          <a:noFill/>
          <a:ln w="9525">
            <a:noFill/>
            <a:miter lim="800000"/>
            <a:headEnd/>
            <a:tailEnd/>
          </a:ln>
          <a:effectLst/>
        </p:spPr>
        <p:txBody>
          <a:bodyPr vert="horz" wrap="square" lIns="90614" tIns="45308" rIns="90614" bIns="45308" numCol="1" anchor="b" anchorCtr="0" compatLnSpc="1">
            <a:prstTxWarp prst="textNoShape">
              <a:avLst/>
            </a:prstTxWarp>
          </a:bodyPr>
          <a:lstStyle>
            <a:lvl1pPr algn="r" eaLnBrk="1" hangingPunct="1">
              <a:defRPr sz="1200"/>
            </a:lvl1pPr>
          </a:lstStyle>
          <a:p>
            <a:pPr>
              <a:defRPr/>
            </a:pPr>
            <a:fld id="{7E4EBEE1-E9A6-4CA0-A2A6-CDC3BEE9D07B}" type="slidenum">
              <a:rPr lang="en-US" altLang="ja-JP"/>
              <a:pPr>
                <a:defRPr/>
              </a:pPr>
              <a:t>‹#›</a:t>
            </a:fld>
            <a:endParaRPr lang="en-US" altLang="ja-JP"/>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ＭＳ Ｐ明朝" pitchFamily="18" charset="-128"/>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ＭＳ Ｐ明朝" pitchFamily="18"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ＭＳ Ｐ明朝" pitchFamily="18"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ＭＳ Ｐ明朝" pitchFamily="18"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ＭＳ Ｐ明朝" pitchFamily="1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514350" y="2840038"/>
            <a:ext cx="5829300" cy="1960562"/>
          </a:xfrm>
        </p:spPr>
        <p:txBody>
          <a:bodyPr/>
          <a:lstStyle/>
          <a:p>
            <a:r>
              <a:rPr lang="ja-JP" altLang="en-US"/>
              <a:t>マスタ タイトルの書式設定</a:t>
            </a:r>
          </a:p>
        </p:txBody>
      </p:sp>
      <p:sp>
        <p:nvSpPr>
          <p:cNvPr id="3" name="サブタイトル 2"/>
          <p:cNvSpPr>
            <a:spLocks noGrp="1"/>
          </p:cNvSpPr>
          <p:nvPr>
            <p:ph type="subTitle" idx="1"/>
          </p:nvPr>
        </p:nvSpPr>
        <p:spPr>
          <a:xfrm>
            <a:off x="1028700" y="5181600"/>
            <a:ext cx="4800600" cy="23368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a:t>マスタ サブタイトルの書式設定</a:t>
            </a:r>
          </a:p>
        </p:txBody>
      </p:sp>
      <p:sp>
        <p:nvSpPr>
          <p:cNvPr id="4" name="Rectangle 4">
            <a:extLst>
              <a:ext uri="{FF2B5EF4-FFF2-40B4-BE49-F238E27FC236}">
                <a16:creationId xmlns:a16="http://schemas.microsoft.com/office/drawing/2014/main" id="{2E9CC53C-2C1F-4DE0-8551-0E7857DC1539}"/>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DF93D14D-B102-4408-9308-2F90A22475E9}"/>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A6A1FC5A-C8A8-40C6-8204-17F5D59BFD6C}"/>
              </a:ext>
            </a:extLst>
          </p:cNvPr>
          <p:cNvSpPr>
            <a:spLocks noGrp="1" noChangeArrowheads="1"/>
          </p:cNvSpPr>
          <p:nvPr>
            <p:ph type="sldNum" sz="quarter" idx="12"/>
          </p:nvPr>
        </p:nvSpPr>
        <p:spPr>
          <a:ln/>
        </p:spPr>
        <p:txBody>
          <a:bodyPr/>
          <a:lstStyle>
            <a:lvl1pPr>
              <a:defRPr/>
            </a:lvl1pPr>
          </a:lstStyle>
          <a:p>
            <a:pPr>
              <a:defRPr/>
            </a:pPr>
            <a:fld id="{DA0532F2-3479-488C-8AE6-D1C9EE08F89B}" type="slidenum">
              <a:rPr lang="en-US" altLang="ja-JP"/>
              <a:pPr>
                <a:defRPr/>
              </a:pPr>
              <a:t>‹#›</a:t>
            </a:fld>
            <a:endParaRPr lang="en-US" altLang="ja-JP"/>
          </a:p>
        </p:txBody>
      </p:sp>
    </p:spTree>
    <p:extLst>
      <p:ext uri="{BB962C8B-B14F-4D97-AF65-F5344CB8AC3E}">
        <p14:creationId xmlns:p14="http://schemas.microsoft.com/office/powerpoint/2010/main" val="2834869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a:extLst>
              <a:ext uri="{FF2B5EF4-FFF2-40B4-BE49-F238E27FC236}">
                <a16:creationId xmlns:a16="http://schemas.microsoft.com/office/drawing/2014/main" id="{8E1E5336-EAB1-4F89-903C-CF9749474EC3}"/>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828C18B8-F520-4B78-95C6-AD410BDD557C}"/>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9DF34EF7-388E-474A-8F1A-F6D6B3CCC372}"/>
              </a:ext>
            </a:extLst>
          </p:cNvPr>
          <p:cNvSpPr>
            <a:spLocks noGrp="1" noChangeArrowheads="1"/>
          </p:cNvSpPr>
          <p:nvPr>
            <p:ph type="sldNum" sz="quarter" idx="12"/>
          </p:nvPr>
        </p:nvSpPr>
        <p:spPr>
          <a:ln/>
        </p:spPr>
        <p:txBody>
          <a:bodyPr/>
          <a:lstStyle>
            <a:lvl1pPr>
              <a:defRPr/>
            </a:lvl1pPr>
          </a:lstStyle>
          <a:p>
            <a:pPr>
              <a:defRPr/>
            </a:pPr>
            <a:fld id="{2CA2CC50-1DDA-4E3A-AD97-09644FB1D321}" type="slidenum">
              <a:rPr lang="en-US" altLang="ja-JP"/>
              <a:pPr>
                <a:defRPr/>
              </a:pPr>
              <a:t>‹#›</a:t>
            </a:fld>
            <a:endParaRPr lang="en-US" altLang="ja-JP"/>
          </a:p>
        </p:txBody>
      </p:sp>
    </p:spTree>
    <p:extLst>
      <p:ext uri="{BB962C8B-B14F-4D97-AF65-F5344CB8AC3E}">
        <p14:creationId xmlns:p14="http://schemas.microsoft.com/office/powerpoint/2010/main" val="3782887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541338" y="5875338"/>
            <a:ext cx="5829300" cy="1816100"/>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541338" y="3875088"/>
            <a:ext cx="5829300" cy="20002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 テキストの書式設定</a:t>
            </a:r>
          </a:p>
        </p:txBody>
      </p:sp>
      <p:sp>
        <p:nvSpPr>
          <p:cNvPr id="4" name="Rectangle 4">
            <a:extLst>
              <a:ext uri="{FF2B5EF4-FFF2-40B4-BE49-F238E27FC236}">
                <a16:creationId xmlns:a16="http://schemas.microsoft.com/office/drawing/2014/main" id="{D18D1868-D95C-4CD5-8182-03570BB76EBD}"/>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6B96EC6E-EE62-4D80-B99A-77B0250E46B1}"/>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B986F816-E552-4AD7-BE68-096A9EA597B4}"/>
              </a:ext>
            </a:extLst>
          </p:cNvPr>
          <p:cNvSpPr>
            <a:spLocks noGrp="1" noChangeArrowheads="1"/>
          </p:cNvSpPr>
          <p:nvPr>
            <p:ph type="sldNum" sz="quarter" idx="12"/>
          </p:nvPr>
        </p:nvSpPr>
        <p:spPr>
          <a:ln/>
        </p:spPr>
        <p:txBody>
          <a:bodyPr/>
          <a:lstStyle>
            <a:lvl1pPr>
              <a:defRPr/>
            </a:lvl1pPr>
          </a:lstStyle>
          <a:p>
            <a:pPr>
              <a:defRPr/>
            </a:pPr>
            <a:fld id="{5F7AC409-69FD-43F1-BABB-520C4312A4AC}" type="slidenum">
              <a:rPr lang="en-US" altLang="ja-JP"/>
              <a:pPr>
                <a:defRPr/>
              </a:pPr>
              <a:t>‹#›</a:t>
            </a:fld>
            <a:endParaRPr lang="en-US" altLang="ja-JP"/>
          </a:p>
        </p:txBody>
      </p:sp>
    </p:spTree>
    <p:extLst>
      <p:ext uri="{BB962C8B-B14F-4D97-AF65-F5344CB8AC3E}">
        <p14:creationId xmlns:p14="http://schemas.microsoft.com/office/powerpoint/2010/main" val="3167029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514350" y="2641600"/>
            <a:ext cx="283845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3505200" y="2641600"/>
            <a:ext cx="283845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4">
            <a:extLst>
              <a:ext uri="{FF2B5EF4-FFF2-40B4-BE49-F238E27FC236}">
                <a16:creationId xmlns:a16="http://schemas.microsoft.com/office/drawing/2014/main" id="{FA1B1FCE-B159-49F1-BCA5-D101A8CF2AE8}"/>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a:extLst>
              <a:ext uri="{FF2B5EF4-FFF2-40B4-BE49-F238E27FC236}">
                <a16:creationId xmlns:a16="http://schemas.microsoft.com/office/drawing/2014/main" id="{AA6AA6C0-F359-43DF-B6BA-AFC8F5013DA3}"/>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a:extLst>
              <a:ext uri="{FF2B5EF4-FFF2-40B4-BE49-F238E27FC236}">
                <a16:creationId xmlns:a16="http://schemas.microsoft.com/office/drawing/2014/main" id="{C3724B18-E1F9-412D-A329-1A89F300746C}"/>
              </a:ext>
            </a:extLst>
          </p:cNvPr>
          <p:cNvSpPr>
            <a:spLocks noGrp="1" noChangeArrowheads="1"/>
          </p:cNvSpPr>
          <p:nvPr>
            <p:ph type="sldNum" sz="quarter" idx="12"/>
          </p:nvPr>
        </p:nvSpPr>
        <p:spPr>
          <a:ln/>
        </p:spPr>
        <p:txBody>
          <a:bodyPr/>
          <a:lstStyle>
            <a:lvl1pPr>
              <a:defRPr/>
            </a:lvl1pPr>
          </a:lstStyle>
          <a:p>
            <a:pPr>
              <a:defRPr/>
            </a:pPr>
            <a:fld id="{7BAD2B88-5CF6-40E5-85A0-CE0913E793A1}" type="slidenum">
              <a:rPr lang="en-US" altLang="ja-JP"/>
              <a:pPr>
                <a:defRPr/>
              </a:pPr>
              <a:t>‹#›</a:t>
            </a:fld>
            <a:endParaRPr lang="en-US" altLang="ja-JP"/>
          </a:p>
        </p:txBody>
      </p:sp>
    </p:spTree>
    <p:extLst>
      <p:ext uri="{BB962C8B-B14F-4D97-AF65-F5344CB8AC3E}">
        <p14:creationId xmlns:p14="http://schemas.microsoft.com/office/powerpoint/2010/main" val="25946408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342900" y="366713"/>
            <a:ext cx="6172200" cy="1524000"/>
          </a:xfr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342900" y="2046288"/>
            <a:ext cx="3030538"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342900" y="2900363"/>
            <a:ext cx="3030538"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3484563" y="2046288"/>
            <a:ext cx="3030537"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3484563" y="2900363"/>
            <a:ext cx="3030537"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4">
            <a:extLst>
              <a:ext uri="{FF2B5EF4-FFF2-40B4-BE49-F238E27FC236}">
                <a16:creationId xmlns:a16="http://schemas.microsoft.com/office/drawing/2014/main" id="{3AB74179-1ECD-496C-AEDD-BB03AE190C2F}"/>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8" name="Rectangle 5">
            <a:extLst>
              <a:ext uri="{FF2B5EF4-FFF2-40B4-BE49-F238E27FC236}">
                <a16:creationId xmlns:a16="http://schemas.microsoft.com/office/drawing/2014/main" id="{664387AA-65AE-4834-9882-AB044CA0282D}"/>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9" name="Rectangle 6">
            <a:extLst>
              <a:ext uri="{FF2B5EF4-FFF2-40B4-BE49-F238E27FC236}">
                <a16:creationId xmlns:a16="http://schemas.microsoft.com/office/drawing/2014/main" id="{147CDF79-6714-4B7E-9513-8BB20CD197F8}"/>
              </a:ext>
            </a:extLst>
          </p:cNvPr>
          <p:cNvSpPr>
            <a:spLocks noGrp="1" noChangeArrowheads="1"/>
          </p:cNvSpPr>
          <p:nvPr>
            <p:ph type="sldNum" sz="quarter" idx="12"/>
          </p:nvPr>
        </p:nvSpPr>
        <p:spPr>
          <a:ln/>
        </p:spPr>
        <p:txBody>
          <a:bodyPr/>
          <a:lstStyle>
            <a:lvl1pPr>
              <a:defRPr/>
            </a:lvl1pPr>
          </a:lstStyle>
          <a:p>
            <a:pPr>
              <a:defRPr/>
            </a:pPr>
            <a:fld id="{58805081-F052-4E77-91EB-C2DB7E59E6F6}" type="slidenum">
              <a:rPr lang="en-US" altLang="ja-JP"/>
              <a:pPr>
                <a:defRPr/>
              </a:pPr>
              <a:t>‹#›</a:t>
            </a:fld>
            <a:endParaRPr lang="en-US" altLang="ja-JP"/>
          </a:p>
        </p:txBody>
      </p:sp>
    </p:spTree>
    <p:extLst>
      <p:ext uri="{BB962C8B-B14F-4D97-AF65-F5344CB8AC3E}">
        <p14:creationId xmlns:p14="http://schemas.microsoft.com/office/powerpoint/2010/main" val="2107541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Rectangle 4">
            <a:extLst>
              <a:ext uri="{FF2B5EF4-FFF2-40B4-BE49-F238E27FC236}">
                <a16:creationId xmlns:a16="http://schemas.microsoft.com/office/drawing/2014/main" id="{FC80ED35-8EFF-48F4-A135-C7A86366C283}"/>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4" name="Rectangle 5">
            <a:extLst>
              <a:ext uri="{FF2B5EF4-FFF2-40B4-BE49-F238E27FC236}">
                <a16:creationId xmlns:a16="http://schemas.microsoft.com/office/drawing/2014/main" id="{C4FEF7DC-76F4-48CB-8841-2106054E6978}"/>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5" name="Rectangle 6">
            <a:extLst>
              <a:ext uri="{FF2B5EF4-FFF2-40B4-BE49-F238E27FC236}">
                <a16:creationId xmlns:a16="http://schemas.microsoft.com/office/drawing/2014/main" id="{F6890EAE-2956-40E0-B1D7-74EB4C0EA159}"/>
              </a:ext>
            </a:extLst>
          </p:cNvPr>
          <p:cNvSpPr>
            <a:spLocks noGrp="1" noChangeArrowheads="1"/>
          </p:cNvSpPr>
          <p:nvPr>
            <p:ph type="sldNum" sz="quarter" idx="12"/>
          </p:nvPr>
        </p:nvSpPr>
        <p:spPr>
          <a:ln/>
        </p:spPr>
        <p:txBody>
          <a:bodyPr/>
          <a:lstStyle>
            <a:lvl1pPr>
              <a:defRPr/>
            </a:lvl1pPr>
          </a:lstStyle>
          <a:p>
            <a:pPr>
              <a:defRPr/>
            </a:pPr>
            <a:fld id="{7838D393-5E66-4A86-9F28-58946833C6DD}" type="slidenum">
              <a:rPr lang="en-US" altLang="ja-JP"/>
              <a:pPr>
                <a:defRPr/>
              </a:pPr>
              <a:t>‹#›</a:t>
            </a:fld>
            <a:endParaRPr lang="en-US" altLang="ja-JP"/>
          </a:p>
        </p:txBody>
      </p:sp>
    </p:spTree>
    <p:extLst>
      <p:ext uri="{BB962C8B-B14F-4D97-AF65-F5344CB8AC3E}">
        <p14:creationId xmlns:p14="http://schemas.microsoft.com/office/powerpoint/2010/main" val="273131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E54D4063-237E-491A-A749-D435137B27C5}"/>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3" name="Rectangle 5">
            <a:extLst>
              <a:ext uri="{FF2B5EF4-FFF2-40B4-BE49-F238E27FC236}">
                <a16:creationId xmlns:a16="http://schemas.microsoft.com/office/drawing/2014/main" id="{06B8A570-4FE1-46A8-BF92-0771D10CFBE0}"/>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4" name="Rectangle 6">
            <a:extLst>
              <a:ext uri="{FF2B5EF4-FFF2-40B4-BE49-F238E27FC236}">
                <a16:creationId xmlns:a16="http://schemas.microsoft.com/office/drawing/2014/main" id="{10D1272C-AF74-4FB1-BC1F-D694713558EB}"/>
              </a:ext>
            </a:extLst>
          </p:cNvPr>
          <p:cNvSpPr>
            <a:spLocks noGrp="1" noChangeArrowheads="1"/>
          </p:cNvSpPr>
          <p:nvPr>
            <p:ph type="sldNum" sz="quarter" idx="12"/>
          </p:nvPr>
        </p:nvSpPr>
        <p:spPr>
          <a:ln/>
        </p:spPr>
        <p:txBody>
          <a:bodyPr/>
          <a:lstStyle>
            <a:lvl1pPr>
              <a:defRPr/>
            </a:lvl1pPr>
          </a:lstStyle>
          <a:p>
            <a:pPr>
              <a:defRPr/>
            </a:pPr>
            <a:fld id="{727E5902-7EB8-43EA-8C97-6B1FFEBA6788}" type="slidenum">
              <a:rPr lang="en-US" altLang="ja-JP"/>
              <a:pPr>
                <a:defRPr/>
              </a:pPr>
              <a:t>‹#›</a:t>
            </a:fld>
            <a:endParaRPr lang="en-US" altLang="ja-JP"/>
          </a:p>
        </p:txBody>
      </p:sp>
    </p:spTree>
    <p:extLst>
      <p:ext uri="{BB962C8B-B14F-4D97-AF65-F5344CB8AC3E}">
        <p14:creationId xmlns:p14="http://schemas.microsoft.com/office/powerpoint/2010/main" val="1197231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342900" y="363538"/>
            <a:ext cx="2255838" cy="154940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2681288" y="363538"/>
            <a:ext cx="3833812" cy="78041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342900" y="1912938"/>
            <a:ext cx="2255838" cy="6254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4">
            <a:extLst>
              <a:ext uri="{FF2B5EF4-FFF2-40B4-BE49-F238E27FC236}">
                <a16:creationId xmlns:a16="http://schemas.microsoft.com/office/drawing/2014/main" id="{EA3CF418-B331-49ED-B446-9840DFF43CD7}"/>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a:extLst>
              <a:ext uri="{FF2B5EF4-FFF2-40B4-BE49-F238E27FC236}">
                <a16:creationId xmlns:a16="http://schemas.microsoft.com/office/drawing/2014/main" id="{F9141BF9-ACBB-4C78-9438-E69D14FD0DBF}"/>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a:extLst>
              <a:ext uri="{FF2B5EF4-FFF2-40B4-BE49-F238E27FC236}">
                <a16:creationId xmlns:a16="http://schemas.microsoft.com/office/drawing/2014/main" id="{BAEB916C-44E4-46CF-BE6B-B65D78182F44}"/>
              </a:ext>
            </a:extLst>
          </p:cNvPr>
          <p:cNvSpPr>
            <a:spLocks noGrp="1" noChangeArrowheads="1"/>
          </p:cNvSpPr>
          <p:nvPr>
            <p:ph type="sldNum" sz="quarter" idx="12"/>
          </p:nvPr>
        </p:nvSpPr>
        <p:spPr>
          <a:ln/>
        </p:spPr>
        <p:txBody>
          <a:bodyPr/>
          <a:lstStyle>
            <a:lvl1pPr>
              <a:defRPr/>
            </a:lvl1pPr>
          </a:lstStyle>
          <a:p>
            <a:pPr>
              <a:defRPr/>
            </a:pPr>
            <a:fld id="{49582325-FEEB-410C-91A2-A27CF594FF42}" type="slidenum">
              <a:rPr lang="en-US" altLang="ja-JP"/>
              <a:pPr>
                <a:defRPr/>
              </a:pPr>
              <a:t>‹#›</a:t>
            </a:fld>
            <a:endParaRPr lang="en-US" altLang="ja-JP"/>
          </a:p>
        </p:txBody>
      </p:sp>
    </p:spTree>
    <p:extLst>
      <p:ext uri="{BB962C8B-B14F-4D97-AF65-F5344CB8AC3E}">
        <p14:creationId xmlns:p14="http://schemas.microsoft.com/office/powerpoint/2010/main" val="13303589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344613" y="6400800"/>
            <a:ext cx="4114800" cy="755650"/>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344613" y="81756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a:p>
        </p:txBody>
      </p:sp>
      <p:sp>
        <p:nvSpPr>
          <p:cNvPr id="4" name="テキスト プレースホルダ 3"/>
          <p:cNvSpPr>
            <a:spLocks noGrp="1"/>
          </p:cNvSpPr>
          <p:nvPr>
            <p:ph type="body" sz="half" idx="2"/>
          </p:nvPr>
        </p:nvSpPr>
        <p:spPr>
          <a:xfrm>
            <a:off x="1344613" y="7156450"/>
            <a:ext cx="4114800" cy="10731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4">
            <a:extLst>
              <a:ext uri="{FF2B5EF4-FFF2-40B4-BE49-F238E27FC236}">
                <a16:creationId xmlns:a16="http://schemas.microsoft.com/office/drawing/2014/main" id="{FB9BCA92-431A-449C-8D2B-30ECCC1F1382}"/>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a:extLst>
              <a:ext uri="{FF2B5EF4-FFF2-40B4-BE49-F238E27FC236}">
                <a16:creationId xmlns:a16="http://schemas.microsoft.com/office/drawing/2014/main" id="{82DF7606-8569-4566-B343-6B45716555BE}"/>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a:extLst>
              <a:ext uri="{FF2B5EF4-FFF2-40B4-BE49-F238E27FC236}">
                <a16:creationId xmlns:a16="http://schemas.microsoft.com/office/drawing/2014/main" id="{AD3AD28E-8F6E-4E3C-9856-1DBD1C482F26}"/>
              </a:ext>
            </a:extLst>
          </p:cNvPr>
          <p:cNvSpPr>
            <a:spLocks noGrp="1" noChangeArrowheads="1"/>
          </p:cNvSpPr>
          <p:nvPr>
            <p:ph type="sldNum" sz="quarter" idx="12"/>
          </p:nvPr>
        </p:nvSpPr>
        <p:spPr>
          <a:ln/>
        </p:spPr>
        <p:txBody>
          <a:bodyPr/>
          <a:lstStyle>
            <a:lvl1pPr>
              <a:defRPr/>
            </a:lvl1pPr>
          </a:lstStyle>
          <a:p>
            <a:pPr>
              <a:defRPr/>
            </a:pPr>
            <a:fld id="{F741C66F-360F-4850-8585-EB0C5D9A00F4}" type="slidenum">
              <a:rPr lang="en-US" altLang="ja-JP"/>
              <a:pPr>
                <a:defRPr/>
              </a:pPr>
              <a:t>‹#›</a:t>
            </a:fld>
            <a:endParaRPr lang="en-US" altLang="ja-JP"/>
          </a:p>
        </p:txBody>
      </p:sp>
    </p:spTree>
    <p:extLst>
      <p:ext uri="{BB962C8B-B14F-4D97-AF65-F5344CB8AC3E}">
        <p14:creationId xmlns:p14="http://schemas.microsoft.com/office/powerpoint/2010/main" val="3661287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a:extLst>
              <a:ext uri="{FF2B5EF4-FFF2-40B4-BE49-F238E27FC236}">
                <a16:creationId xmlns:a16="http://schemas.microsoft.com/office/drawing/2014/main" id="{44751DCA-4D87-4A76-A507-06D92E72299B}"/>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9403276E-EA89-42F8-AD82-B4626D28A36A}"/>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04C28077-4648-4A6E-9EE9-5E4B63AF61EC}"/>
              </a:ext>
            </a:extLst>
          </p:cNvPr>
          <p:cNvSpPr>
            <a:spLocks noGrp="1" noChangeArrowheads="1"/>
          </p:cNvSpPr>
          <p:nvPr>
            <p:ph type="sldNum" sz="quarter" idx="12"/>
          </p:nvPr>
        </p:nvSpPr>
        <p:spPr>
          <a:ln/>
        </p:spPr>
        <p:txBody>
          <a:bodyPr/>
          <a:lstStyle>
            <a:lvl1pPr>
              <a:defRPr/>
            </a:lvl1pPr>
          </a:lstStyle>
          <a:p>
            <a:pPr>
              <a:defRPr/>
            </a:pPr>
            <a:fld id="{C593ADE9-7F7A-4FCC-8CB7-8E5C2397C8C0}" type="slidenum">
              <a:rPr lang="en-US" altLang="ja-JP"/>
              <a:pPr>
                <a:defRPr/>
              </a:pPr>
              <a:t>‹#›</a:t>
            </a:fld>
            <a:endParaRPr lang="en-US" altLang="ja-JP"/>
          </a:p>
        </p:txBody>
      </p:sp>
    </p:spTree>
    <p:extLst>
      <p:ext uri="{BB962C8B-B14F-4D97-AF65-F5344CB8AC3E}">
        <p14:creationId xmlns:p14="http://schemas.microsoft.com/office/powerpoint/2010/main" val="2848464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4886325" y="812800"/>
            <a:ext cx="1457325" cy="7315200"/>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514350" y="812800"/>
            <a:ext cx="4219575" cy="7315200"/>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a:extLst>
              <a:ext uri="{FF2B5EF4-FFF2-40B4-BE49-F238E27FC236}">
                <a16:creationId xmlns:a16="http://schemas.microsoft.com/office/drawing/2014/main" id="{BB940865-A164-4D60-BE51-11773E736B30}"/>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31C1696B-DE27-449D-9F40-9FBDB3140512}"/>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C720503C-02A2-476E-ABD6-8C9BA7625585}"/>
              </a:ext>
            </a:extLst>
          </p:cNvPr>
          <p:cNvSpPr>
            <a:spLocks noGrp="1" noChangeArrowheads="1"/>
          </p:cNvSpPr>
          <p:nvPr>
            <p:ph type="sldNum" sz="quarter" idx="12"/>
          </p:nvPr>
        </p:nvSpPr>
        <p:spPr>
          <a:ln/>
        </p:spPr>
        <p:txBody>
          <a:bodyPr/>
          <a:lstStyle>
            <a:lvl1pPr>
              <a:defRPr/>
            </a:lvl1pPr>
          </a:lstStyle>
          <a:p>
            <a:pPr>
              <a:defRPr/>
            </a:pPr>
            <a:fld id="{3235A054-8D90-4E6E-A52E-D5765C18975D}" type="slidenum">
              <a:rPr lang="en-US" altLang="ja-JP"/>
              <a:pPr>
                <a:defRPr/>
              </a:pPr>
              <a:t>‹#›</a:t>
            </a:fld>
            <a:endParaRPr lang="en-US" altLang="ja-JP"/>
          </a:p>
        </p:txBody>
      </p:sp>
    </p:spTree>
    <p:extLst>
      <p:ext uri="{BB962C8B-B14F-4D97-AF65-F5344CB8AC3E}">
        <p14:creationId xmlns:p14="http://schemas.microsoft.com/office/powerpoint/2010/main" val="514345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4D05003-B207-44DF-8761-A107C91AC6B2}"/>
              </a:ext>
            </a:extLst>
          </p:cNvPr>
          <p:cNvSpPr>
            <a:spLocks noGrp="1" noChangeArrowheads="1"/>
          </p:cNvSpPr>
          <p:nvPr>
            <p:ph type="title"/>
          </p:nvPr>
        </p:nvSpPr>
        <p:spPr bwMode="auto">
          <a:xfrm>
            <a:off x="514350" y="812800"/>
            <a:ext cx="58293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7" name="Rectangle 3">
            <a:extLst>
              <a:ext uri="{FF2B5EF4-FFF2-40B4-BE49-F238E27FC236}">
                <a16:creationId xmlns:a16="http://schemas.microsoft.com/office/drawing/2014/main" id="{3B6F7978-E45C-4958-987C-F7BDF6D63C81}"/>
              </a:ext>
            </a:extLst>
          </p:cNvPr>
          <p:cNvSpPr>
            <a:spLocks noGrp="1" noChangeArrowheads="1"/>
          </p:cNvSpPr>
          <p:nvPr>
            <p:ph type="body" idx="1"/>
          </p:nvPr>
        </p:nvSpPr>
        <p:spPr bwMode="auto">
          <a:xfrm>
            <a:off x="514350" y="2641600"/>
            <a:ext cx="58293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1028" name="Rectangle 4">
            <a:extLst>
              <a:ext uri="{FF2B5EF4-FFF2-40B4-BE49-F238E27FC236}">
                <a16:creationId xmlns:a16="http://schemas.microsoft.com/office/drawing/2014/main" id="{F19F1B58-A851-47C5-A96D-B3ED3DD8BE95}"/>
              </a:ext>
            </a:extLst>
          </p:cNvPr>
          <p:cNvSpPr>
            <a:spLocks noGrp="1" noChangeArrowheads="1"/>
          </p:cNvSpPr>
          <p:nvPr>
            <p:ph type="dt" sz="half" idx="2"/>
          </p:nvPr>
        </p:nvSpPr>
        <p:spPr bwMode="auto">
          <a:xfrm>
            <a:off x="514350" y="8331200"/>
            <a:ext cx="1428750" cy="609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ea typeface="ＭＳ Ｐゴシック" pitchFamily="50" charset="-128"/>
              </a:defRPr>
            </a:lvl1pPr>
          </a:lstStyle>
          <a:p>
            <a:pPr>
              <a:defRPr/>
            </a:pPr>
            <a:endParaRPr lang="en-US" altLang="ja-JP"/>
          </a:p>
        </p:txBody>
      </p:sp>
      <p:sp>
        <p:nvSpPr>
          <p:cNvPr id="1029" name="Rectangle 5">
            <a:extLst>
              <a:ext uri="{FF2B5EF4-FFF2-40B4-BE49-F238E27FC236}">
                <a16:creationId xmlns:a16="http://schemas.microsoft.com/office/drawing/2014/main" id="{64B7257F-5D8B-4808-BE7D-4ECB572286A1}"/>
              </a:ext>
            </a:extLst>
          </p:cNvPr>
          <p:cNvSpPr>
            <a:spLocks noGrp="1" noChangeArrowheads="1"/>
          </p:cNvSpPr>
          <p:nvPr>
            <p:ph type="ftr" sz="quarter" idx="3"/>
          </p:nvPr>
        </p:nvSpPr>
        <p:spPr bwMode="auto">
          <a:xfrm>
            <a:off x="2343150" y="8331200"/>
            <a:ext cx="2171700" cy="609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ea typeface="ＭＳ Ｐゴシック" pitchFamily="50" charset="-128"/>
              </a:defRPr>
            </a:lvl1pPr>
          </a:lstStyle>
          <a:p>
            <a:pPr>
              <a:defRPr/>
            </a:pPr>
            <a:endParaRPr lang="en-US" altLang="ja-JP"/>
          </a:p>
        </p:txBody>
      </p:sp>
      <p:sp>
        <p:nvSpPr>
          <p:cNvPr id="1030" name="Rectangle 6">
            <a:extLst>
              <a:ext uri="{FF2B5EF4-FFF2-40B4-BE49-F238E27FC236}">
                <a16:creationId xmlns:a16="http://schemas.microsoft.com/office/drawing/2014/main" id="{5023EF3E-BCE4-4BFA-8C7D-4D15AEDD6388}"/>
              </a:ext>
            </a:extLst>
          </p:cNvPr>
          <p:cNvSpPr>
            <a:spLocks noGrp="1" noChangeArrowheads="1"/>
          </p:cNvSpPr>
          <p:nvPr>
            <p:ph type="sldNum" sz="quarter" idx="4"/>
          </p:nvPr>
        </p:nvSpPr>
        <p:spPr bwMode="auto">
          <a:xfrm>
            <a:off x="4914900" y="8331200"/>
            <a:ext cx="1428750" cy="609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97F74089-79BB-4CC6-B1A7-92480858D59B}" type="slidenum">
              <a:rPr lang="en-US" altLang="ja-JP"/>
              <a:pPr>
                <a:defRPr/>
              </a:pPr>
              <a:t>‹#›</a:t>
            </a:fld>
            <a:endParaRPr lang="en-US" altLang="ja-JP"/>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pitchFamily="18" charset="0"/>
          <a:ea typeface="ＭＳ Ｐゴシック" pitchFamily="50" charset="-128"/>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028">
            <a:extLst>
              <a:ext uri="{FF2B5EF4-FFF2-40B4-BE49-F238E27FC236}">
                <a16:creationId xmlns:a16="http://schemas.microsoft.com/office/drawing/2014/main" id="{6879E487-E121-44FA-BE52-13B66696E628}"/>
              </a:ext>
            </a:extLst>
          </p:cNvPr>
          <p:cNvSpPr>
            <a:spLocks noChangeArrowheads="1"/>
          </p:cNvSpPr>
          <p:nvPr/>
        </p:nvSpPr>
        <p:spPr bwMode="auto">
          <a:xfrm>
            <a:off x="2276475" y="4270375"/>
            <a:ext cx="2260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dist" eaLnBrk="1" hangingPunct="1">
              <a:spcBef>
                <a:spcPct val="0"/>
              </a:spcBef>
              <a:buFontTx/>
              <a:buNone/>
            </a:pPr>
            <a:r>
              <a:rPr lang="ja-JP" altLang="en-US" sz="4400" b="1">
                <a:latin typeface="メイリオ" panose="020B0604030504040204" pitchFamily="50" charset="-128"/>
                <a:ea typeface="メイリオ" panose="020B0604030504040204" pitchFamily="50" charset="-128"/>
              </a:rPr>
              <a:t>副読本</a:t>
            </a:r>
          </a:p>
        </p:txBody>
      </p:sp>
      <p:sp>
        <p:nvSpPr>
          <p:cNvPr id="4099" name="Rectangle 1030">
            <a:extLst>
              <a:ext uri="{FF2B5EF4-FFF2-40B4-BE49-F238E27FC236}">
                <a16:creationId xmlns:a16="http://schemas.microsoft.com/office/drawing/2014/main" id="{5ED69CCB-C9B2-414E-90C4-C033ACA0F589}"/>
              </a:ext>
            </a:extLst>
          </p:cNvPr>
          <p:cNvSpPr>
            <a:spLocks noChangeArrowheads="1"/>
          </p:cNvSpPr>
          <p:nvPr/>
        </p:nvSpPr>
        <p:spPr bwMode="auto">
          <a:xfrm>
            <a:off x="590550" y="2700338"/>
            <a:ext cx="5784850" cy="1200329"/>
          </a:xfrm>
          <a:prstGeom prst="rect">
            <a:avLst/>
          </a:prstGeom>
          <a:noFill/>
          <a:ln>
            <a:noFill/>
          </a:ln>
          <a:effectLst>
            <a:outerShdw dist="81320" dir="2319588" algn="ctr" rotWithShape="0">
              <a:schemeClr val="folHlink"/>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dist" eaLnBrk="1" hangingPunct="1">
              <a:spcBef>
                <a:spcPct val="0"/>
              </a:spcBef>
              <a:buFontTx/>
              <a:buNone/>
            </a:pPr>
            <a:r>
              <a:rPr lang="en-US" altLang="ja-JP" sz="7200" b="1">
                <a:solidFill>
                  <a:srgbClr val="FF0000"/>
                </a:solidFill>
                <a:latin typeface="メイリオ" panose="020B0604030504040204" pitchFamily="50" charset="-128"/>
                <a:ea typeface="メイリオ" panose="020B0604030504040204" pitchFamily="50" charset="-128"/>
              </a:rPr>
              <a:t>MMI</a:t>
            </a:r>
            <a:r>
              <a:rPr lang="ja-JP" altLang="en-US" sz="7200" b="1" dirty="0">
                <a:solidFill>
                  <a:srgbClr val="FF0000"/>
                </a:solidFill>
                <a:latin typeface="メイリオ" panose="020B0604030504040204" pitchFamily="50" charset="-128"/>
                <a:ea typeface="メイリオ" panose="020B0604030504040204" pitchFamily="50" charset="-128"/>
              </a:rPr>
              <a:t>イズム</a:t>
            </a:r>
          </a:p>
        </p:txBody>
      </p:sp>
      <p:sp>
        <p:nvSpPr>
          <p:cNvPr id="4100" name="Rectangle 4543">
            <a:extLst>
              <a:ext uri="{FF2B5EF4-FFF2-40B4-BE49-F238E27FC236}">
                <a16:creationId xmlns:a16="http://schemas.microsoft.com/office/drawing/2014/main" id="{E68EA48F-B2C1-4F22-8FA7-04B0B72A1348}"/>
              </a:ext>
            </a:extLst>
          </p:cNvPr>
          <p:cNvSpPr>
            <a:spLocks noChangeArrowheads="1"/>
          </p:cNvSpPr>
          <p:nvPr/>
        </p:nvSpPr>
        <p:spPr bwMode="auto">
          <a:xfrm>
            <a:off x="0" y="3851275"/>
            <a:ext cx="6858000" cy="288925"/>
          </a:xfrm>
          <a:prstGeom prst="rect">
            <a:avLst/>
          </a:prstGeom>
          <a:solidFill>
            <a:schemeClr val="bg1">
              <a:lumMod val="75000"/>
            </a:schemeClr>
          </a:solidFill>
          <a:ln>
            <a:noFill/>
          </a:ln>
        </p:spPr>
        <p:txBody>
          <a:bodyPr wrap="none"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defRPr/>
            </a:pPr>
            <a:endParaRPr lang="ja-JP" altLang="en-US" sz="3600"/>
          </a:p>
        </p:txBody>
      </p:sp>
      <p:sp>
        <p:nvSpPr>
          <p:cNvPr id="4101" name="Rectangle 4544">
            <a:extLst>
              <a:ext uri="{FF2B5EF4-FFF2-40B4-BE49-F238E27FC236}">
                <a16:creationId xmlns:a16="http://schemas.microsoft.com/office/drawing/2014/main" id="{B9443C2A-1FA5-4E7C-BDFC-3FAC26C8DD2C}"/>
              </a:ext>
            </a:extLst>
          </p:cNvPr>
          <p:cNvSpPr>
            <a:spLocks noChangeArrowheads="1"/>
          </p:cNvSpPr>
          <p:nvPr/>
        </p:nvSpPr>
        <p:spPr bwMode="auto">
          <a:xfrm>
            <a:off x="0" y="2255838"/>
            <a:ext cx="6858000" cy="288925"/>
          </a:xfrm>
          <a:prstGeom prst="rect">
            <a:avLst/>
          </a:prstGeom>
          <a:solidFill>
            <a:schemeClr val="bg1">
              <a:lumMod val="75000"/>
            </a:schemeClr>
          </a:solidFill>
          <a:ln>
            <a:noFill/>
          </a:ln>
        </p:spPr>
        <p:txBody>
          <a:bodyPr wrap="none"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defRPr/>
            </a:pPr>
            <a:endParaRPr lang="ja-JP" altLang="en-US" sz="3600"/>
          </a:p>
        </p:txBody>
      </p:sp>
      <p:pic>
        <p:nvPicPr>
          <p:cNvPr id="4102" name="図 4">
            <a:extLst>
              <a:ext uri="{FF2B5EF4-FFF2-40B4-BE49-F238E27FC236}">
                <a16:creationId xmlns:a16="http://schemas.microsoft.com/office/drawing/2014/main" id="{EC3E2894-843B-4D1B-8FC6-43FDA670BE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41583"/>
          <a:stretch>
            <a:fillRect/>
          </a:stretch>
        </p:blipFill>
        <p:spPr bwMode="auto">
          <a:xfrm>
            <a:off x="2133600" y="7812088"/>
            <a:ext cx="25908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AutoShape 5">
            <a:extLst>
              <a:ext uri="{FF2B5EF4-FFF2-40B4-BE49-F238E27FC236}">
                <a16:creationId xmlns:a16="http://schemas.microsoft.com/office/drawing/2014/main" id="{2C31449F-C946-4CB4-8905-9B1CCB5842E9}"/>
              </a:ext>
            </a:extLst>
          </p:cNvPr>
          <p:cNvSpPr>
            <a:spLocks noChangeArrowheads="1"/>
          </p:cNvSpPr>
          <p:nvPr/>
        </p:nvSpPr>
        <p:spPr bwMode="auto">
          <a:xfrm>
            <a:off x="304800" y="304800"/>
            <a:ext cx="762000" cy="304800"/>
          </a:xfrm>
          <a:prstGeom prst="roundRect">
            <a:avLst>
              <a:gd name="adj" fmla="val 16667"/>
            </a:avLst>
          </a:prstGeom>
          <a:solidFill>
            <a:schemeClr val="bg1">
              <a:lumMod val="75000"/>
            </a:schemeClr>
          </a:solidFill>
          <a:ln>
            <a:noFill/>
          </a:ln>
        </p:spPr>
        <p:txBody>
          <a:bodyPr wrap="none"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defRPr/>
            </a:pPr>
            <a:endParaRPr lang="ja-JP" altLang="en-US" sz="3600"/>
          </a:p>
        </p:txBody>
      </p:sp>
      <p:sp>
        <p:nvSpPr>
          <p:cNvPr id="5123" name="Text Box 2">
            <a:extLst>
              <a:ext uri="{FF2B5EF4-FFF2-40B4-BE49-F238E27FC236}">
                <a16:creationId xmlns:a16="http://schemas.microsoft.com/office/drawing/2014/main" id="{CAEA20D9-5751-4C63-A530-5AAC2A957803}"/>
              </a:ext>
            </a:extLst>
          </p:cNvPr>
          <p:cNvSpPr txBox="1">
            <a:spLocks noChangeArrowheads="1"/>
          </p:cNvSpPr>
          <p:nvPr/>
        </p:nvSpPr>
        <p:spPr bwMode="auto">
          <a:xfrm>
            <a:off x="304800" y="611560"/>
            <a:ext cx="6219825" cy="8980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30000"/>
              </a:spcBef>
              <a:buFontTx/>
              <a:buNone/>
            </a:pPr>
            <a:r>
              <a:rPr lang="ja-JP" altLang="en-US" sz="1600" b="1" dirty="0">
                <a:latin typeface="メイリオ" panose="020B0604030504040204" pitchFamily="50" charset="-128"/>
                <a:ea typeface="メイリオ" panose="020B0604030504040204" pitchFamily="50" charset="-128"/>
              </a:rPr>
              <a:t>■　副読本・巻頭言（</a:t>
            </a:r>
            <a:r>
              <a:rPr lang="en-US" altLang="ja-JP" sz="1600" b="1" dirty="0">
                <a:latin typeface="メイリオ" panose="020B0604030504040204" pitchFamily="50" charset="-128"/>
                <a:ea typeface="メイリオ" panose="020B0604030504040204" pitchFamily="50" charset="-128"/>
              </a:rPr>
              <a:t>2021</a:t>
            </a:r>
            <a:r>
              <a:rPr lang="ja-JP" altLang="en-US" sz="1600" b="1" dirty="0">
                <a:latin typeface="メイリオ" panose="020B0604030504040204" pitchFamily="50" charset="-128"/>
                <a:ea typeface="メイリオ" panose="020B0604030504040204" pitchFamily="50" charset="-128"/>
              </a:rPr>
              <a:t>年</a:t>
            </a:r>
            <a:r>
              <a:rPr lang="en-US" altLang="ja-JP" sz="1600" b="1" dirty="0">
                <a:latin typeface="メイリオ" panose="020B0604030504040204" pitchFamily="50" charset="-128"/>
                <a:ea typeface="メイリオ" panose="020B0604030504040204" pitchFamily="50" charset="-128"/>
              </a:rPr>
              <a:t>4</a:t>
            </a:r>
            <a:r>
              <a:rPr lang="ja-JP" altLang="en-US" sz="1600" b="1" dirty="0">
                <a:latin typeface="メイリオ" panose="020B0604030504040204" pitchFamily="50" charset="-128"/>
                <a:ea typeface="メイリオ" panose="020B0604030504040204" pitchFamily="50" charset="-128"/>
              </a:rPr>
              <a:t>月）</a:t>
            </a:r>
          </a:p>
          <a:p>
            <a:pPr eaLnBrk="1" hangingPunct="1">
              <a:spcBef>
                <a:spcPct val="30000"/>
              </a:spcBef>
              <a:buFontTx/>
              <a:buNone/>
            </a:pPr>
            <a:r>
              <a:rPr lang="ja-JP" altLang="en-US" sz="1600" b="1" dirty="0">
                <a:latin typeface="メイリオ" panose="020B0604030504040204" pitchFamily="50" charset="-128"/>
                <a:ea typeface="メイリオ" panose="020B0604030504040204" pitchFamily="50" charset="-128"/>
              </a:rPr>
              <a:t>　　代表取締役社長　橋本　修一</a:t>
            </a:r>
            <a:endParaRPr lang="en-US" altLang="ja-JP" sz="1600" b="1" dirty="0">
              <a:latin typeface="メイリオ" panose="020B0604030504040204" pitchFamily="50" charset="-128"/>
              <a:ea typeface="メイリオ" panose="020B0604030504040204" pitchFamily="50" charset="-128"/>
            </a:endParaRPr>
          </a:p>
          <a:p>
            <a:pPr eaLnBrk="1" hangingPunct="1">
              <a:spcBef>
                <a:spcPct val="30000"/>
              </a:spcBef>
              <a:buFontTx/>
              <a:buNone/>
            </a:pPr>
            <a:endParaRPr lang="ja-JP" altLang="en-US" sz="1600" b="1" dirty="0">
              <a:latin typeface="メイリオ" panose="020B0604030504040204" pitchFamily="50" charset="-128"/>
              <a:ea typeface="メイリオ" panose="020B0604030504040204" pitchFamily="50" charset="-128"/>
            </a:endParaRPr>
          </a:p>
          <a:p>
            <a:pPr eaLnBrk="1" hangingPunct="1">
              <a:spcBef>
                <a:spcPct val="30000"/>
              </a:spcBef>
              <a:buFontTx/>
              <a:buNone/>
            </a:pPr>
            <a:r>
              <a:rPr lang="ja-JP" altLang="en-US" sz="1600" b="1" dirty="0">
                <a:latin typeface="メイリオ" panose="020B0604030504040204" pitchFamily="50" charset="-128"/>
                <a:ea typeface="メイリオ" panose="020B0604030504040204" pitchFamily="50" charset="-128"/>
              </a:rPr>
              <a:t>■　</a:t>
            </a:r>
            <a:r>
              <a:rPr lang="en-US" altLang="ja-JP" sz="1600" b="1" dirty="0">
                <a:latin typeface="メイリオ" panose="020B0604030504040204" pitchFamily="50" charset="-128"/>
                <a:ea typeface="メイリオ" panose="020B0604030504040204" pitchFamily="50" charset="-128"/>
              </a:rPr>
              <a:t>MMI</a:t>
            </a:r>
            <a:r>
              <a:rPr lang="ja-JP" altLang="en-US" sz="1600" b="1" dirty="0">
                <a:latin typeface="メイリオ" panose="020B0604030504040204" pitchFamily="50" charset="-128"/>
                <a:ea typeface="メイリオ" panose="020B0604030504040204" pitchFamily="50" charset="-128"/>
              </a:rPr>
              <a:t>イズムの全体図</a:t>
            </a:r>
            <a:endParaRPr lang="en-US" altLang="ja-JP" sz="1600" b="1" dirty="0">
              <a:latin typeface="メイリオ" panose="020B0604030504040204" pitchFamily="50" charset="-128"/>
              <a:ea typeface="メイリオ" panose="020B0604030504040204" pitchFamily="50" charset="-128"/>
            </a:endParaRPr>
          </a:p>
          <a:p>
            <a:pPr eaLnBrk="1" hangingPunct="1">
              <a:spcBef>
                <a:spcPct val="30000"/>
              </a:spcBef>
              <a:buFontTx/>
              <a:buNone/>
            </a:pPr>
            <a:r>
              <a:rPr lang="ja-JP" altLang="en-US" sz="1600" b="1" dirty="0">
                <a:latin typeface="メイリオ" panose="020B0604030504040204" pitchFamily="50" charset="-128"/>
                <a:ea typeface="メイリオ" panose="020B0604030504040204" pitchFamily="50" charset="-128"/>
              </a:rPr>
              <a:t>■　創業の精神</a:t>
            </a:r>
            <a:endParaRPr lang="en-US" altLang="ja-JP" sz="1600" b="1" dirty="0">
              <a:latin typeface="メイリオ" panose="020B0604030504040204" pitchFamily="50" charset="-128"/>
              <a:ea typeface="メイリオ" panose="020B0604030504040204" pitchFamily="50" charset="-128"/>
            </a:endParaRPr>
          </a:p>
          <a:p>
            <a:pPr eaLnBrk="1" hangingPunct="1">
              <a:spcBef>
                <a:spcPct val="30000"/>
              </a:spcBef>
              <a:buFontTx/>
              <a:buNone/>
            </a:pPr>
            <a:r>
              <a:rPr lang="ja-JP" altLang="en-US" sz="1600" b="1" dirty="0">
                <a:latin typeface="メイリオ" panose="020B0604030504040204" pitchFamily="50" charset="-128"/>
                <a:ea typeface="メイリオ" panose="020B0604030504040204" pitchFamily="50" charset="-128"/>
              </a:rPr>
              <a:t>■　経営理念・社訓</a:t>
            </a:r>
          </a:p>
          <a:p>
            <a:pPr eaLnBrk="1" hangingPunct="1">
              <a:spcBef>
                <a:spcPct val="30000"/>
              </a:spcBef>
              <a:buFontTx/>
              <a:buNone/>
            </a:pPr>
            <a:r>
              <a:rPr lang="ja-JP" altLang="en-US" sz="1600" b="1" dirty="0">
                <a:latin typeface="メイリオ" panose="020B0604030504040204" pitchFamily="50" charset="-128"/>
                <a:ea typeface="メイリオ" panose="020B0604030504040204" pitchFamily="50" charset="-128"/>
              </a:rPr>
              <a:t>■　企業姿勢</a:t>
            </a:r>
          </a:p>
          <a:p>
            <a:pPr eaLnBrk="1" hangingPunct="1">
              <a:spcBef>
                <a:spcPct val="30000"/>
              </a:spcBef>
              <a:buFontTx/>
              <a:buNone/>
            </a:pPr>
            <a:r>
              <a:rPr lang="ja-JP" altLang="en-US" sz="1600" b="1" dirty="0">
                <a:latin typeface="メイリオ" panose="020B0604030504040204" pitchFamily="50" charset="-128"/>
                <a:ea typeface="メイリオ" panose="020B0604030504040204" pitchFamily="50" charset="-128"/>
              </a:rPr>
              <a:t>・企業責任と社会貢献</a:t>
            </a:r>
            <a:endParaRPr lang="en-US" altLang="ja-JP" sz="1600" b="1" dirty="0">
              <a:latin typeface="メイリオ" panose="020B0604030504040204" pitchFamily="50" charset="-128"/>
              <a:ea typeface="メイリオ" panose="020B0604030504040204" pitchFamily="50" charset="-128"/>
            </a:endParaRPr>
          </a:p>
          <a:p>
            <a:pPr eaLnBrk="1" hangingPunct="1">
              <a:spcBef>
                <a:spcPct val="30000"/>
              </a:spcBef>
              <a:buFontTx/>
              <a:buNone/>
            </a:pPr>
            <a:r>
              <a:rPr lang="ja-JP" altLang="en-US" sz="1600" b="1" dirty="0">
                <a:latin typeface="メイリオ" panose="020B0604030504040204" pitchFamily="50" charset="-128"/>
                <a:ea typeface="メイリオ" panose="020B0604030504040204" pitchFamily="50" charset="-128"/>
              </a:rPr>
              <a:t>・業界を変える</a:t>
            </a:r>
          </a:p>
          <a:p>
            <a:pPr eaLnBrk="1" hangingPunct="1">
              <a:spcBef>
                <a:spcPct val="30000"/>
              </a:spcBef>
              <a:buFontTx/>
              <a:buNone/>
            </a:pPr>
            <a:r>
              <a:rPr lang="ja-JP" altLang="en-US" sz="1600" b="1" dirty="0">
                <a:latin typeface="メイリオ" panose="020B0604030504040204" pitchFamily="50" charset="-128"/>
                <a:ea typeface="メイリオ" panose="020B0604030504040204" pitchFamily="50" charset="-128"/>
              </a:rPr>
              <a:t>■   提供価値</a:t>
            </a:r>
          </a:p>
          <a:p>
            <a:pPr eaLnBrk="1" hangingPunct="1">
              <a:spcBef>
                <a:spcPct val="30000"/>
              </a:spcBef>
              <a:buFontTx/>
              <a:buNone/>
            </a:pPr>
            <a:r>
              <a:rPr lang="ja-JP" altLang="en-US" sz="1600" b="1" dirty="0">
                <a:latin typeface="メイリオ" panose="020B0604030504040204" pitchFamily="50" charset="-128"/>
                <a:ea typeface="メイリオ" panose="020B0604030504040204" pitchFamily="50" charset="-128"/>
              </a:rPr>
              <a:t>・快適空間の創造　小さな感動の積み重ね</a:t>
            </a:r>
          </a:p>
          <a:p>
            <a:pPr eaLnBrk="1" hangingPunct="1">
              <a:spcBef>
                <a:spcPct val="30000"/>
              </a:spcBef>
              <a:buFontTx/>
              <a:buNone/>
            </a:pPr>
            <a:r>
              <a:rPr lang="ja-JP" altLang="en-US" sz="1600" b="1" dirty="0">
                <a:latin typeface="メイリオ" panose="020B0604030504040204" pitchFamily="50" charset="-128"/>
                <a:ea typeface="メイリオ" panose="020B0604030504040204" pitchFamily="50" charset="-128"/>
              </a:rPr>
              <a:t>　「人財」とは</a:t>
            </a:r>
          </a:p>
          <a:p>
            <a:pPr eaLnBrk="1" hangingPunct="1">
              <a:spcBef>
                <a:spcPct val="30000"/>
              </a:spcBef>
              <a:buFontTx/>
              <a:buNone/>
            </a:pPr>
            <a:r>
              <a:rPr lang="ja-JP" altLang="en-US" sz="1600" b="1" dirty="0">
                <a:latin typeface="メイリオ" panose="020B0604030504040204" pitchFamily="50" charset="-128"/>
                <a:ea typeface="メイリオ" panose="020B0604030504040204" pitchFamily="50" charset="-128"/>
              </a:rPr>
              <a:t>　「先見性あるサービス」　とは</a:t>
            </a:r>
          </a:p>
          <a:p>
            <a:pPr eaLnBrk="1" hangingPunct="1">
              <a:spcBef>
                <a:spcPct val="30000"/>
              </a:spcBef>
              <a:buFontTx/>
              <a:buNone/>
            </a:pPr>
            <a:r>
              <a:rPr lang="ja-JP" altLang="en-US" sz="1600" b="1" dirty="0">
                <a:latin typeface="メイリオ" panose="020B0604030504040204" pitchFamily="50" charset="-128"/>
                <a:ea typeface="メイリオ" panose="020B0604030504040204" pitchFamily="50" charset="-128"/>
              </a:rPr>
              <a:t>　「優れた技術力」　とは</a:t>
            </a:r>
          </a:p>
          <a:p>
            <a:pPr eaLnBrk="1" hangingPunct="1">
              <a:spcBef>
                <a:spcPct val="30000"/>
              </a:spcBef>
              <a:buFontTx/>
              <a:buNone/>
            </a:pPr>
            <a:r>
              <a:rPr lang="ja-JP" altLang="en-US" sz="1600" b="1" dirty="0">
                <a:latin typeface="メイリオ" panose="020B0604030504040204" pitchFamily="50" charset="-128"/>
                <a:ea typeface="メイリオ" panose="020B0604030504040204" pitchFamily="50" charset="-128"/>
              </a:rPr>
              <a:t>■　組織理念</a:t>
            </a:r>
          </a:p>
          <a:p>
            <a:pPr eaLnBrk="1" hangingPunct="1">
              <a:spcBef>
                <a:spcPct val="30000"/>
              </a:spcBef>
              <a:buFontTx/>
              <a:buNone/>
            </a:pPr>
            <a:r>
              <a:rPr lang="ja-JP" altLang="en-US" sz="1600" b="1" dirty="0">
                <a:latin typeface="メイリオ" panose="020B0604030504040204" pitchFamily="50" charset="-128"/>
                <a:ea typeface="メイリオ" panose="020B0604030504040204" pitchFamily="50" charset="-128"/>
              </a:rPr>
              <a:t>・共感参画型組織～夢を語り、自ら参画せよ～</a:t>
            </a:r>
            <a:endParaRPr lang="en-US" altLang="ja-JP" sz="1600" b="1" dirty="0">
              <a:latin typeface="メイリオ" panose="020B0604030504040204" pitchFamily="50" charset="-128"/>
              <a:ea typeface="メイリオ" panose="020B0604030504040204" pitchFamily="50" charset="-128"/>
            </a:endParaRPr>
          </a:p>
          <a:p>
            <a:pPr eaLnBrk="1" hangingPunct="1">
              <a:spcBef>
                <a:spcPct val="30000"/>
              </a:spcBef>
              <a:buFontTx/>
              <a:buNone/>
            </a:pPr>
            <a:r>
              <a:rPr lang="ja-JP" altLang="en-US" sz="1600" b="1" dirty="0">
                <a:latin typeface="メイリオ" panose="020B0604030504040204" pitchFamily="50" charset="-128"/>
                <a:ea typeface="メイリオ" panose="020B0604030504040204" pitchFamily="50" charset="-128"/>
              </a:rPr>
              <a:t>・挑戦し続ける組織～失敗や変化を恐れず挑戦せよ～</a:t>
            </a:r>
          </a:p>
          <a:p>
            <a:pPr eaLnBrk="1" hangingPunct="1">
              <a:spcBef>
                <a:spcPct val="30000"/>
              </a:spcBef>
              <a:buFontTx/>
              <a:buNone/>
            </a:pPr>
            <a:r>
              <a:rPr lang="ja-JP" altLang="en-US" sz="1600" b="1" dirty="0">
                <a:latin typeface="メイリオ" panose="020B0604030504040204" pitchFamily="50" charset="-128"/>
                <a:ea typeface="メイリオ" panose="020B0604030504040204" pitchFamily="50" charset="-128"/>
              </a:rPr>
              <a:t>・チームマルハン～</a:t>
            </a:r>
            <a:r>
              <a:rPr lang="en-US" altLang="ja-JP" sz="1600" b="1" dirty="0">
                <a:latin typeface="メイリオ" panose="020B0604030504040204" pitchFamily="50" charset="-128"/>
                <a:ea typeface="メイリオ" panose="020B0604030504040204" pitchFamily="50" charset="-128"/>
              </a:rPr>
              <a:t>I</a:t>
            </a:r>
            <a:r>
              <a:rPr lang="ja-JP" altLang="en-US" sz="1600" b="1" dirty="0">
                <a:latin typeface="メイリオ" panose="020B0604030504040204" pitchFamily="50" charset="-128"/>
                <a:ea typeface="メイリオ" panose="020B0604030504040204" pitchFamily="50" charset="-128"/>
              </a:rPr>
              <a:t>ではなく</a:t>
            </a:r>
            <a:r>
              <a:rPr lang="en-US" altLang="ja-JP" sz="1600" b="1" dirty="0">
                <a:latin typeface="メイリオ" panose="020B0604030504040204" pitchFamily="50" charset="-128"/>
                <a:ea typeface="メイリオ" panose="020B0604030504040204" pitchFamily="50" charset="-128"/>
              </a:rPr>
              <a:t>We</a:t>
            </a:r>
            <a:r>
              <a:rPr lang="ja-JP" altLang="en-US" sz="1600" b="1" dirty="0">
                <a:latin typeface="メイリオ" panose="020B0604030504040204" pitchFamily="50" charset="-128"/>
                <a:ea typeface="メイリオ" panose="020B0604030504040204" pitchFamily="50" charset="-128"/>
              </a:rPr>
              <a:t>で考えよ～</a:t>
            </a:r>
          </a:p>
          <a:p>
            <a:pPr eaLnBrk="1" hangingPunct="1">
              <a:spcBef>
                <a:spcPct val="30000"/>
              </a:spcBef>
              <a:buFontTx/>
              <a:buNone/>
            </a:pPr>
            <a:r>
              <a:rPr lang="ja-JP" altLang="en-US" sz="1600" b="1" dirty="0">
                <a:latin typeface="メイリオ" panose="020B0604030504040204" pitchFamily="50" charset="-128"/>
                <a:ea typeface="メイリオ" panose="020B0604030504040204" pitchFamily="50" charset="-128"/>
              </a:rPr>
              <a:t>■   行動指針</a:t>
            </a:r>
          </a:p>
          <a:p>
            <a:pPr eaLnBrk="1" hangingPunct="1">
              <a:spcBef>
                <a:spcPct val="30000"/>
              </a:spcBef>
              <a:buFontTx/>
              <a:buNone/>
            </a:pPr>
            <a:r>
              <a:rPr lang="ja-JP" altLang="en-US" sz="1600" b="1" dirty="0">
                <a:latin typeface="メイリオ" panose="020B0604030504040204" pitchFamily="50" charset="-128"/>
                <a:ea typeface="メイリオ" panose="020B0604030504040204" pitchFamily="50" charset="-128"/>
              </a:rPr>
              <a:t>・判断基準はお客様</a:t>
            </a:r>
          </a:p>
          <a:p>
            <a:pPr eaLnBrk="1" hangingPunct="1">
              <a:spcBef>
                <a:spcPct val="30000"/>
              </a:spcBef>
              <a:buFontTx/>
              <a:buNone/>
            </a:pPr>
            <a:r>
              <a:rPr lang="ja-JP" altLang="en-US" sz="1600" b="1" dirty="0">
                <a:latin typeface="メイリオ" panose="020B0604030504040204" pitchFamily="50" charset="-128"/>
                <a:ea typeface="メイリオ" panose="020B0604030504040204" pitchFamily="50" charset="-128"/>
              </a:rPr>
              <a:t>・マルハンファンの創造</a:t>
            </a:r>
          </a:p>
          <a:p>
            <a:pPr eaLnBrk="1" hangingPunct="1">
              <a:spcBef>
                <a:spcPct val="30000"/>
              </a:spcBef>
              <a:buFontTx/>
              <a:buNone/>
            </a:pPr>
            <a:r>
              <a:rPr lang="ja-JP" altLang="en-US" sz="1600" b="1" dirty="0">
                <a:latin typeface="メイリオ" panose="020B0604030504040204" pitchFamily="50" charset="-128"/>
                <a:ea typeface="メイリオ" panose="020B0604030504040204" pitchFamily="50" charset="-128"/>
              </a:rPr>
              <a:t>・ベストの追求～感動創造～</a:t>
            </a:r>
          </a:p>
          <a:p>
            <a:pPr eaLnBrk="1" hangingPunct="1">
              <a:spcBef>
                <a:spcPct val="30000"/>
              </a:spcBef>
              <a:buFontTx/>
              <a:buNone/>
            </a:pPr>
            <a:r>
              <a:rPr lang="ja-JP" altLang="en-US" sz="1600" b="1" dirty="0">
                <a:latin typeface="メイリオ" panose="020B0604030504040204" pitchFamily="50" charset="-128"/>
                <a:ea typeface="メイリオ" panose="020B0604030504040204" pitchFamily="50" charset="-128"/>
              </a:rPr>
              <a:t>・依存ではなく自立</a:t>
            </a:r>
          </a:p>
          <a:p>
            <a:pPr eaLnBrk="1" hangingPunct="1">
              <a:spcBef>
                <a:spcPct val="30000"/>
              </a:spcBef>
              <a:buFontTx/>
              <a:buNone/>
            </a:pPr>
            <a:r>
              <a:rPr lang="ja-JP" altLang="en-US" sz="1600" b="1" dirty="0">
                <a:latin typeface="メイリオ" panose="020B0604030504040204" pitchFamily="50" charset="-128"/>
                <a:ea typeface="メイリオ" panose="020B0604030504040204" pitchFamily="50" charset="-128"/>
              </a:rPr>
              <a:t>・１＋１＝３以上</a:t>
            </a:r>
          </a:p>
          <a:p>
            <a:pPr eaLnBrk="1" hangingPunct="1">
              <a:spcBef>
                <a:spcPct val="30000"/>
              </a:spcBef>
              <a:buFontTx/>
              <a:buNone/>
            </a:pPr>
            <a:r>
              <a:rPr lang="ja-JP" altLang="en-US" sz="1600" b="1" dirty="0">
                <a:latin typeface="メイリオ" panose="020B0604030504040204" pitchFamily="50" charset="-128"/>
                <a:ea typeface="メイリオ" panose="020B0604030504040204" pitchFamily="50" charset="-128"/>
              </a:rPr>
              <a:t>・プラスのストローク</a:t>
            </a:r>
          </a:p>
          <a:p>
            <a:pPr eaLnBrk="1" hangingPunct="1">
              <a:spcBef>
                <a:spcPct val="30000"/>
              </a:spcBef>
              <a:buFontTx/>
              <a:buNone/>
            </a:pPr>
            <a:r>
              <a:rPr lang="ja-JP" altLang="en-US" sz="1600" b="1" dirty="0">
                <a:latin typeface="メイリオ" panose="020B0604030504040204" pitchFamily="50" charset="-128"/>
                <a:ea typeface="メイリオ" panose="020B0604030504040204" pitchFamily="50" charset="-128"/>
              </a:rPr>
              <a:t>・正しいことは正しい</a:t>
            </a:r>
            <a:endParaRPr lang="en-US" altLang="ja-JP" sz="1600" b="1" dirty="0">
              <a:latin typeface="メイリオ" panose="020B0604030504040204" pitchFamily="50" charset="-128"/>
              <a:ea typeface="メイリオ" panose="020B0604030504040204" pitchFamily="50" charset="-128"/>
            </a:endParaRPr>
          </a:p>
          <a:p>
            <a:pPr eaLnBrk="1" hangingPunct="1">
              <a:spcBef>
                <a:spcPct val="30000"/>
              </a:spcBef>
              <a:buNone/>
            </a:pPr>
            <a:r>
              <a:rPr lang="ja-JP" altLang="en-US" sz="1600" b="1" dirty="0">
                <a:latin typeface="メイリオ" panose="020B0604030504040204" pitchFamily="50" charset="-128"/>
                <a:ea typeface="メイリオ" panose="020B0604030504040204" pitchFamily="50" charset="-128"/>
              </a:rPr>
              <a:t>■   中期経営方針</a:t>
            </a:r>
          </a:p>
          <a:p>
            <a:pPr eaLnBrk="1" hangingPunct="1">
              <a:spcBef>
                <a:spcPct val="30000"/>
              </a:spcBef>
              <a:buFontTx/>
              <a:buNone/>
            </a:pPr>
            <a:endParaRPr lang="ja-JP" altLang="en-US" sz="1600" b="1" dirty="0">
              <a:latin typeface="メイリオ" panose="020B0604030504040204" pitchFamily="50" charset="-128"/>
              <a:ea typeface="メイリオ" panose="020B0604030504040204" pitchFamily="50" charset="-128"/>
            </a:endParaRPr>
          </a:p>
        </p:txBody>
      </p:sp>
      <p:sp>
        <p:nvSpPr>
          <p:cNvPr id="5124" name="Text Box 7">
            <a:extLst>
              <a:ext uri="{FF2B5EF4-FFF2-40B4-BE49-F238E27FC236}">
                <a16:creationId xmlns:a16="http://schemas.microsoft.com/office/drawing/2014/main" id="{A17B5A3B-63CB-468B-B1F1-B53778EA9717}"/>
              </a:ext>
            </a:extLst>
          </p:cNvPr>
          <p:cNvSpPr txBox="1">
            <a:spLocks noChangeArrowheads="1"/>
          </p:cNvSpPr>
          <p:nvPr/>
        </p:nvSpPr>
        <p:spPr bwMode="auto">
          <a:xfrm>
            <a:off x="381000" y="304800"/>
            <a:ext cx="609600" cy="304800"/>
          </a:xfrm>
          <a:prstGeom prst="rect">
            <a:avLst/>
          </a:prstGeom>
          <a:noFill/>
          <a:ln>
            <a:noFill/>
          </a:ln>
          <a:effectLst>
            <a:outerShdw dist="28398" dir="1593903" algn="ctr" rotWithShape="0">
              <a:srgbClr val="B2B2B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50000"/>
              </a:spcBef>
              <a:buFontTx/>
              <a:buNone/>
            </a:pPr>
            <a:r>
              <a:rPr lang="ja-JP" altLang="en-US" sz="1400" b="1">
                <a:solidFill>
                  <a:srgbClr val="FF0000"/>
                </a:solidFill>
                <a:latin typeface="メイリオ" panose="020B0604030504040204" pitchFamily="50" charset="-128"/>
                <a:ea typeface="メイリオ" panose="020B0604030504040204" pitchFamily="50" charset="-128"/>
              </a:rPr>
              <a:t>目次</a:t>
            </a:r>
          </a:p>
        </p:txBody>
      </p:sp>
      <p:sp>
        <p:nvSpPr>
          <p:cNvPr id="5" name="Google Shape;1346;p122">
            <a:extLst>
              <a:ext uri="{FF2B5EF4-FFF2-40B4-BE49-F238E27FC236}">
                <a16:creationId xmlns:a16="http://schemas.microsoft.com/office/drawing/2014/main" id="{34B28239-E9D4-4DBE-8684-59323FA66284}"/>
              </a:ext>
            </a:extLst>
          </p:cNvPr>
          <p:cNvSpPr txBox="1"/>
          <p:nvPr/>
        </p:nvSpPr>
        <p:spPr>
          <a:xfrm>
            <a:off x="6502400" y="8990013"/>
            <a:ext cx="344488" cy="161925"/>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99BF2FB1-F7DF-43F4-A98B-582B9C7C24B4}"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2</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AutoShape 2057">
            <a:extLst>
              <a:ext uri="{FF2B5EF4-FFF2-40B4-BE49-F238E27FC236}">
                <a16:creationId xmlns:a16="http://schemas.microsoft.com/office/drawing/2014/main" id="{14DDF94B-4CE9-41B7-843B-662A3B22CDCB}"/>
              </a:ext>
            </a:extLst>
          </p:cNvPr>
          <p:cNvSpPr>
            <a:spLocks noChangeArrowheads="1"/>
          </p:cNvSpPr>
          <p:nvPr/>
        </p:nvSpPr>
        <p:spPr bwMode="auto">
          <a:xfrm>
            <a:off x="990600" y="76200"/>
            <a:ext cx="4953000" cy="457200"/>
          </a:xfrm>
          <a:prstGeom prst="roundRect">
            <a:avLst>
              <a:gd name="adj" fmla="val 16667"/>
            </a:avLst>
          </a:prstGeom>
          <a:solidFill>
            <a:schemeClr val="bg1">
              <a:lumMod val="75000"/>
            </a:schemeClr>
          </a:solidFill>
          <a:ln>
            <a:noFill/>
          </a:ln>
        </p:spPr>
        <p:txBody>
          <a:bodyPr wrap="none"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defRPr/>
            </a:pPr>
            <a:endParaRPr lang="ja-JP" altLang="en-US" sz="3600"/>
          </a:p>
        </p:txBody>
      </p:sp>
      <p:sp>
        <p:nvSpPr>
          <p:cNvPr id="6147" name="Text Box 2058">
            <a:extLst>
              <a:ext uri="{FF2B5EF4-FFF2-40B4-BE49-F238E27FC236}">
                <a16:creationId xmlns:a16="http://schemas.microsoft.com/office/drawing/2014/main" id="{1D3FCAB3-9DD8-43D3-B4DB-F243ABBDABED}"/>
              </a:ext>
            </a:extLst>
          </p:cNvPr>
          <p:cNvSpPr txBox="1">
            <a:spLocks noChangeArrowheads="1"/>
          </p:cNvSpPr>
          <p:nvPr/>
        </p:nvSpPr>
        <p:spPr bwMode="auto">
          <a:xfrm>
            <a:off x="1371600" y="76200"/>
            <a:ext cx="4191000" cy="457200"/>
          </a:xfrm>
          <a:prstGeom prst="rect">
            <a:avLst/>
          </a:prstGeom>
          <a:noFill/>
          <a:ln>
            <a:noFill/>
          </a:ln>
          <a:effectLst>
            <a:outerShdw dist="40161" dir="1106097" algn="ctr" rotWithShape="0">
              <a:srgbClr val="B2B2B2">
                <a:alpha val="5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50000"/>
              </a:spcBef>
              <a:buFontTx/>
              <a:buNone/>
            </a:pPr>
            <a:r>
              <a:rPr lang="ja-JP" altLang="en-US" sz="2400" b="1">
                <a:solidFill>
                  <a:srgbClr val="FF0000"/>
                </a:solidFill>
                <a:latin typeface="メイリオ" panose="020B0604030504040204" pitchFamily="50" charset="-128"/>
                <a:ea typeface="メイリオ" panose="020B0604030504040204" pitchFamily="50" charset="-128"/>
              </a:rPr>
              <a:t>副読本・巻頭言</a:t>
            </a:r>
          </a:p>
        </p:txBody>
      </p:sp>
      <p:sp>
        <p:nvSpPr>
          <p:cNvPr id="7173" name="Rectangle 2060">
            <a:extLst>
              <a:ext uri="{FF2B5EF4-FFF2-40B4-BE49-F238E27FC236}">
                <a16:creationId xmlns:a16="http://schemas.microsoft.com/office/drawing/2014/main" id="{92DB635A-5294-4103-984D-BD347A563DD6}"/>
              </a:ext>
            </a:extLst>
          </p:cNvPr>
          <p:cNvSpPr>
            <a:spLocks noChangeArrowheads="1"/>
          </p:cNvSpPr>
          <p:nvPr/>
        </p:nvSpPr>
        <p:spPr bwMode="auto">
          <a:xfrm>
            <a:off x="190500" y="971600"/>
            <a:ext cx="6553200" cy="754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eaLnBrk="0" hangingPunct="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eaLnBrk="0" hangingPunct="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eaLnBrk="0" hangingPunct="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eaLnBrk="0" hangingPunct="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r>
              <a:rPr lang="ja-JP" altLang="en-US" sz="2000" dirty="0">
                <a:latin typeface="+mn-lt"/>
              </a:rPr>
              <a:t>　２０２０年度は新型コロナウイルスの影響で、様々な社内外イベントが中止となりました。収益確保のために経費の削減が求められる中において、当初本小冊子の作成自体も見直す声が社内にあがったことも事実です。しかしながら</a:t>
            </a:r>
            <a:r>
              <a:rPr lang="en-US" altLang="ja-JP" sz="2000" dirty="0">
                <a:latin typeface="+mn-lt"/>
              </a:rPr>
              <a:t>MMI</a:t>
            </a:r>
            <a:r>
              <a:rPr lang="ja-JP" altLang="en-US" sz="2000" dirty="0">
                <a:latin typeface="+mn-lt"/>
              </a:rPr>
              <a:t>イズムの灯を消したくないという思いから本年も継続することとしました。</a:t>
            </a:r>
            <a:endParaRPr lang="en-US" altLang="ja-JP" sz="2000" dirty="0">
              <a:latin typeface="+mn-lt"/>
            </a:endParaRPr>
          </a:p>
          <a:p>
            <a:endParaRPr lang="en-US" altLang="ja-JP" sz="2000" dirty="0">
              <a:latin typeface="+mn-lt"/>
            </a:endParaRPr>
          </a:p>
          <a:p>
            <a:r>
              <a:rPr lang="ja-JP" altLang="en-US" sz="2000" dirty="0">
                <a:latin typeface="+mn-lt"/>
              </a:rPr>
              <a:t>　</a:t>
            </a:r>
            <a:r>
              <a:rPr lang="en-US" altLang="ja-JP" sz="2000" dirty="0">
                <a:latin typeface="+mn-lt"/>
              </a:rPr>
              <a:t>MMI</a:t>
            </a:r>
            <a:r>
              <a:rPr lang="ja-JP" altLang="en-US" sz="2000" dirty="0">
                <a:latin typeface="+mn-lt"/>
              </a:rPr>
              <a:t>イズムは、当社の</a:t>
            </a:r>
            <a:r>
              <a:rPr lang="en-US" altLang="ja-JP" sz="2000" dirty="0">
                <a:latin typeface="+mn-lt"/>
              </a:rPr>
              <a:t>DNA</a:t>
            </a:r>
            <a:r>
              <a:rPr lang="ja-JP" altLang="en-US" sz="2000" dirty="0">
                <a:latin typeface="+mn-lt"/>
              </a:rPr>
              <a:t>を凝縮した言葉です。</a:t>
            </a:r>
          </a:p>
          <a:p>
            <a:r>
              <a:rPr lang="ja-JP" altLang="en-US" sz="2000" dirty="0">
                <a:latin typeface="+mn-lt"/>
              </a:rPr>
              <a:t>　私たちは「</a:t>
            </a:r>
            <a:r>
              <a:rPr lang="en-US" altLang="ja-JP" sz="2000" dirty="0">
                <a:latin typeface="+mn-lt"/>
              </a:rPr>
              <a:t>MMI</a:t>
            </a:r>
            <a:r>
              <a:rPr lang="ja-JP" altLang="en-US" sz="2000" dirty="0">
                <a:latin typeface="+mn-lt"/>
              </a:rPr>
              <a:t>イズム」を共有することで結ばれたチームでもあります。</a:t>
            </a:r>
            <a:r>
              <a:rPr lang="en-US" altLang="ja-JP" sz="2000" dirty="0">
                <a:latin typeface="+mn-lt"/>
              </a:rPr>
              <a:t>MMI</a:t>
            </a:r>
            <a:r>
              <a:rPr lang="ja-JP" altLang="en-US" sz="2000" dirty="0">
                <a:latin typeface="+mn-lt"/>
              </a:rPr>
              <a:t>イズムがあるからこそエムエムインターナショナルであって、無ければエムエムインターナショナルではありません。時代がどう変わろうとも大事にすべき核心的な価値は</a:t>
            </a:r>
            <a:r>
              <a:rPr lang="en-US" altLang="ja-JP" sz="2000" dirty="0">
                <a:latin typeface="+mn-lt"/>
              </a:rPr>
              <a:t>MMI</a:t>
            </a:r>
            <a:r>
              <a:rPr lang="ja-JP" altLang="en-US" sz="2000" dirty="0">
                <a:latin typeface="+mn-lt"/>
              </a:rPr>
              <a:t>イズムにあります。日々皆さんがそれぞれの現場で体現し、周囲に良い影響を与え、継承して頂いていることに心より感謝しております。</a:t>
            </a:r>
            <a:endParaRPr lang="en-US" altLang="ja-JP" sz="2000" dirty="0">
              <a:latin typeface="+mn-lt"/>
            </a:endParaRPr>
          </a:p>
          <a:p>
            <a:endParaRPr lang="ja-JP" altLang="en-US" sz="2000" dirty="0">
              <a:latin typeface="+mn-lt"/>
            </a:endParaRPr>
          </a:p>
          <a:p>
            <a:r>
              <a:rPr lang="ja-JP" altLang="en-US" sz="2000" dirty="0">
                <a:latin typeface="+mn-lt"/>
              </a:rPr>
              <a:t>　しばらくは大変な日常が続くことが予想されますが、全国同じ思いを共有し頑張っているメンバーがいます。共に乗り越えていきましょう。</a:t>
            </a:r>
            <a:endParaRPr lang="en-US" altLang="ja-JP" sz="2000" dirty="0">
              <a:latin typeface="+mn-lt"/>
            </a:endParaRPr>
          </a:p>
          <a:p>
            <a:endParaRPr lang="ja-JP" altLang="en-US" sz="2000" dirty="0">
              <a:latin typeface="+mn-lt"/>
            </a:endParaRPr>
          </a:p>
          <a:p>
            <a:r>
              <a:rPr lang="ja-JP" altLang="en-US" sz="2000" dirty="0">
                <a:latin typeface="+mn-lt"/>
              </a:rPr>
              <a:t>　今後ともどうぞよろしくお願い致します。</a:t>
            </a:r>
          </a:p>
          <a:p>
            <a:endParaRPr lang="en-US" altLang="ja-JP" sz="2000" dirty="0">
              <a:latin typeface="+mn-lt"/>
            </a:endParaRPr>
          </a:p>
          <a:p>
            <a:endParaRPr lang="ja-JP" altLang="en-US" sz="2000" dirty="0">
              <a:latin typeface="+mn-lt"/>
            </a:endParaRPr>
          </a:p>
          <a:p>
            <a:pPr algn="r"/>
            <a:r>
              <a:rPr lang="en-US" altLang="ja-JP" sz="2400" b="1" dirty="0">
                <a:latin typeface="+mn-lt"/>
              </a:rPr>
              <a:t>2021</a:t>
            </a:r>
            <a:r>
              <a:rPr lang="ja-JP" altLang="en-US" sz="2400" b="1" dirty="0">
                <a:latin typeface="+mn-lt"/>
              </a:rPr>
              <a:t>年</a:t>
            </a:r>
            <a:r>
              <a:rPr lang="en-US" altLang="ja-JP" sz="2400" b="1" dirty="0">
                <a:latin typeface="+mn-lt"/>
              </a:rPr>
              <a:t>4</a:t>
            </a:r>
            <a:r>
              <a:rPr lang="ja-JP" altLang="en-US" sz="2400" b="1" dirty="0">
                <a:latin typeface="+mn-lt"/>
              </a:rPr>
              <a:t>月　</a:t>
            </a:r>
            <a:r>
              <a:rPr lang="zh-TW" altLang="en-US" sz="2400" b="1" dirty="0">
                <a:latin typeface="+mn-lt"/>
              </a:rPr>
              <a:t>代表取締役社長　橋本 修一</a:t>
            </a:r>
            <a:endParaRPr lang="en-US" altLang="ja-JP" sz="2400" b="1" dirty="0">
              <a:latin typeface="+mn-lt"/>
              <a:ea typeface="+mj-ea"/>
            </a:endParaRPr>
          </a:p>
        </p:txBody>
      </p:sp>
      <p:sp>
        <p:nvSpPr>
          <p:cNvPr id="7" name="Google Shape;1346;p122">
            <a:extLst>
              <a:ext uri="{FF2B5EF4-FFF2-40B4-BE49-F238E27FC236}">
                <a16:creationId xmlns:a16="http://schemas.microsoft.com/office/drawing/2014/main" id="{D1AEDBEF-765B-45AF-A1F2-60C8317B9763}"/>
              </a:ext>
            </a:extLst>
          </p:cNvPr>
          <p:cNvSpPr txBox="1"/>
          <p:nvPr/>
        </p:nvSpPr>
        <p:spPr>
          <a:xfrm>
            <a:off x="6502400" y="8990013"/>
            <a:ext cx="344488" cy="161925"/>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862EF7E2-2281-4231-9EE4-45AA053B5C16}"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3</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AutoShape 2057">
            <a:extLst>
              <a:ext uri="{FF2B5EF4-FFF2-40B4-BE49-F238E27FC236}">
                <a16:creationId xmlns:a16="http://schemas.microsoft.com/office/drawing/2014/main" id="{14DDF94B-4CE9-41B7-843B-662A3B22CDCB}"/>
              </a:ext>
            </a:extLst>
          </p:cNvPr>
          <p:cNvSpPr>
            <a:spLocks noChangeArrowheads="1"/>
          </p:cNvSpPr>
          <p:nvPr/>
        </p:nvSpPr>
        <p:spPr bwMode="auto">
          <a:xfrm>
            <a:off x="990600" y="76200"/>
            <a:ext cx="4953000" cy="457200"/>
          </a:xfrm>
          <a:prstGeom prst="roundRect">
            <a:avLst>
              <a:gd name="adj" fmla="val 16667"/>
            </a:avLst>
          </a:prstGeom>
          <a:solidFill>
            <a:schemeClr val="bg1">
              <a:lumMod val="75000"/>
            </a:schemeClr>
          </a:solidFill>
          <a:ln>
            <a:noFill/>
          </a:ln>
        </p:spPr>
        <p:txBody>
          <a:bodyPr wrap="none"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defRPr/>
            </a:pPr>
            <a:endParaRPr lang="ja-JP" altLang="en-US" sz="3600"/>
          </a:p>
        </p:txBody>
      </p:sp>
      <p:sp>
        <p:nvSpPr>
          <p:cNvPr id="6147" name="Text Box 2058">
            <a:extLst>
              <a:ext uri="{FF2B5EF4-FFF2-40B4-BE49-F238E27FC236}">
                <a16:creationId xmlns:a16="http://schemas.microsoft.com/office/drawing/2014/main" id="{1D3FCAB3-9DD8-43D3-B4DB-F243ABBDABED}"/>
              </a:ext>
            </a:extLst>
          </p:cNvPr>
          <p:cNvSpPr txBox="1">
            <a:spLocks noChangeArrowheads="1"/>
          </p:cNvSpPr>
          <p:nvPr/>
        </p:nvSpPr>
        <p:spPr bwMode="auto">
          <a:xfrm>
            <a:off x="1371600" y="76200"/>
            <a:ext cx="4191000" cy="457200"/>
          </a:xfrm>
          <a:prstGeom prst="rect">
            <a:avLst/>
          </a:prstGeom>
          <a:noFill/>
          <a:ln>
            <a:noFill/>
          </a:ln>
          <a:effectLst>
            <a:outerShdw dist="40161" dir="1106097" algn="ctr" rotWithShape="0">
              <a:srgbClr val="B2B2B2">
                <a:alpha val="5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50000"/>
              </a:spcBef>
              <a:buFontTx/>
              <a:buNone/>
            </a:pPr>
            <a:r>
              <a:rPr lang="en-US" altLang="ja-JP" sz="2400" b="1" dirty="0">
                <a:solidFill>
                  <a:srgbClr val="FF0000"/>
                </a:solidFill>
                <a:latin typeface="メイリオ" panose="020B0604030504040204" pitchFamily="50" charset="-128"/>
                <a:ea typeface="メイリオ" panose="020B0604030504040204" pitchFamily="50" charset="-128"/>
              </a:rPr>
              <a:t>MMI</a:t>
            </a:r>
            <a:r>
              <a:rPr lang="ja-JP" altLang="en-US" sz="2400" b="1" dirty="0">
                <a:solidFill>
                  <a:srgbClr val="FF0000"/>
                </a:solidFill>
                <a:latin typeface="メイリオ" panose="020B0604030504040204" pitchFamily="50" charset="-128"/>
                <a:ea typeface="メイリオ" panose="020B0604030504040204" pitchFamily="50" charset="-128"/>
              </a:rPr>
              <a:t>イズムの全体図</a:t>
            </a:r>
          </a:p>
        </p:txBody>
      </p:sp>
      <p:sp>
        <p:nvSpPr>
          <p:cNvPr id="7" name="Google Shape;1346;p122">
            <a:extLst>
              <a:ext uri="{FF2B5EF4-FFF2-40B4-BE49-F238E27FC236}">
                <a16:creationId xmlns:a16="http://schemas.microsoft.com/office/drawing/2014/main" id="{D1AEDBEF-765B-45AF-A1F2-60C8317B9763}"/>
              </a:ext>
            </a:extLst>
          </p:cNvPr>
          <p:cNvSpPr txBox="1"/>
          <p:nvPr/>
        </p:nvSpPr>
        <p:spPr>
          <a:xfrm>
            <a:off x="6502400" y="8990013"/>
            <a:ext cx="344488" cy="161925"/>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862EF7E2-2281-4231-9EE4-45AA053B5C16}"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4</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sp>
        <p:nvSpPr>
          <p:cNvPr id="6" name="Rectangle 29">
            <a:extLst>
              <a:ext uri="{FF2B5EF4-FFF2-40B4-BE49-F238E27FC236}">
                <a16:creationId xmlns:a16="http://schemas.microsoft.com/office/drawing/2014/main" id="{3A74E7CF-511F-45F1-9EBA-F6B24BBA4B2A}"/>
              </a:ext>
            </a:extLst>
          </p:cNvPr>
          <p:cNvSpPr>
            <a:spLocks noChangeArrowheads="1"/>
          </p:cNvSpPr>
          <p:nvPr/>
        </p:nvSpPr>
        <p:spPr bwMode="auto">
          <a:xfrm>
            <a:off x="437148" y="588245"/>
            <a:ext cx="5832475" cy="936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35000"/>
              </a:spcBef>
              <a:buFontTx/>
              <a:buNone/>
            </a:pPr>
            <a:r>
              <a:rPr lang="en-US" altLang="ja-JP" sz="1200" dirty="0">
                <a:latin typeface="+mj-ea"/>
                <a:ea typeface="+mj-ea"/>
              </a:rPr>
              <a:t>MMI</a:t>
            </a:r>
            <a:r>
              <a:rPr lang="ja-JP" altLang="en-US" sz="1200" dirty="0">
                <a:latin typeface="+mj-ea"/>
                <a:ea typeface="+mj-ea"/>
              </a:rPr>
              <a:t>イズムを１つ１つの文言だけで捉えるのではなく、「経営理念」「社訓」「企業姿勢」</a:t>
            </a:r>
            <a:endParaRPr lang="en-US" altLang="ja-JP" sz="1200" dirty="0">
              <a:latin typeface="+mj-ea"/>
              <a:ea typeface="+mj-ea"/>
            </a:endParaRPr>
          </a:p>
          <a:p>
            <a:pPr eaLnBrk="1" hangingPunct="1">
              <a:spcBef>
                <a:spcPct val="35000"/>
              </a:spcBef>
              <a:buFontTx/>
              <a:buNone/>
            </a:pPr>
            <a:r>
              <a:rPr lang="ja-JP" altLang="en-US" sz="1200" dirty="0">
                <a:latin typeface="+mj-ea"/>
                <a:ea typeface="+mj-ea"/>
              </a:rPr>
              <a:t>「提供価値」「組織理念」「行動指針」「ビジョン」の大項目がどのような関係にあるのかを</a:t>
            </a:r>
            <a:endParaRPr lang="en-US" altLang="ja-JP" sz="1200" dirty="0">
              <a:latin typeface="+mj-ea"/>
              <a:ea typeface="+mj-ea"/>
            </a:endParaRPr>
          </a:p>
          <a:p>
            <a:pPr eaLnBrk="1" hangingPunct="1">
              <a:spcBef>
                <a:spcPct val="35000"/>
              </a:spcBef>
              <a:buFontTx/>
              <a:buNone/>
            </a:pPr>
            <a:r>
              <a:rPr lang="ja-JP" altLang="en-US" sz="1200" dirty="0">
                <a:latin typeface="+mj-ea"/>
                <a:ea typeface="+mj-ea"/>
              </a:rPr>
              <a:t>イメージする為の全体図を共有します。</a:t>
            </a:r>
          </a:p>
        </p:txBody>
      </p:sp>
      <p:sp>
        <p:nvSpPr>
          <p:cNvPr id="15" name="テキスト ボックス 14">
            <a:extLst>
              <a:ext uri="{FF2B5EF4-FFF2-40B4-BE49-F238E27FC236}">
                <a16:creationId xmlns:a16="http://schemas.microsoft.com/office/drawing/2014/main" id="{29D6C769-A05D-4806-A23F-A2CC2DC8BA6C}"/>
              </a:ext>
            </a:extLst>
          </p:cNvPr>
          <p:cNvSpPr txBox="1"/>
          <p:nvPr/>
        </p:nvSpPr>
        <p:spPr>
          <a:xfrm>
            <a:off x="2487631" y="1937827"/>
            <a:ext cx="1914065" cy="307777"/>
          </a:xfrm>
          <a:prstGeom prst="rect">
            <a:avLst/>
          </a:prstGeom>
          <a:solidFill>
            <a:srgbClr val="FF0000"/>
          </a:solidFill>
        </p:spPr>
        <p:txBody>
          <a:bodyPr wrap="square" rtlCol="0">
            <a:spAutoFit/>
          </a:bodyPr>
          <a:lstStyle/>
          <a:p>
            <a:pPr algn="ctr"/>
            <a:r>
              <a:rPr lang="ja-JP" altLang="en-US" sz="1400" b="1" dirty="0">
                <a:solidFill>
                  <a:schemeClr val="bg1"/>
                </a:solidFill>
                <a:latin typeface="メイリオ" panose="020B0604030504040204" pitchFamily="50" charset="-128"/>
                <a:ea typeface="メイリオ" panose="020B0604030504040204" pitchFamily="50" charset="-128"/>
              </a:rPr>
              <a:t>①　経営理念・社訓</a:t>
            </a:r>
            <a:endParaRPr kumimoji="1" lang="ja-JP" altLang="en-US" sz="1400" b="1" dirty="0">
              <a:solidFill>
                <a:schemeClr val="bg1"/>
              </a:solidFill>
              <a:latin typeface="メイリオ" panose="020B0604030504040204" pitchFamily="50" charset="-128"/>
              <a:ea typeface="メイリオ" panose="020B0604030504040204" pitchFamily="50" charset="-128"/>
            </a:endParaRPr>
          </a:p>
        </p:txBody>
      </p:sp>
      <p:sp>
        <p:nvSpPr>
          <p:cNvPr id="9" name="二等辺三角形 8">
            <a:extLst>
              <a:ext uri="{FF2B5EF4-FFF2-40B4-BE49-F238E27FC236}">
                <a16:creationId xmlns:a16="http://schemas.microsoft.com/office/drawing/2014/main" id="{930A3FC7-2194-4F02-B920-68D50F32415D}"/>
              </a:ext>
            </a:extLst>
          </p:cNvPr>
          <p:cNvSpPr/>
          <p:nvPr/>
        </p:nvSpPr>
        <p:spPr>
          <a:xfrm>
            <a:off x="888143" y="2434064"/>
            <a:ext cx="5040560" cy="3722111"/>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a:p>
        </p:txBody>
      </p:sp>
      <p:cxnSp>
        <p:nvCxnSpPr>
          <p:cNvPr id="10" name="直線コネクタ 9">
            <a:extLst>
              <a:ext uri="{FF2B5EF4-FFF2-40B4-BE49-F238E27FC236}">
                <a16:creationId xmlns:a16="http://schemas.microsoft.com/office/drawing/2014/main" id="{0839A794-DCA7-48B3-BBB0-39AC921F1448}"/>
              </a:ext>
            </a:extLst>
          </p:cNvPr>
          <p:cNvCxnSpPr>
            <a:cxnSpLocks/>
          </p:cNvCxnSpPr>
          <p:nvPr/>
        </p:nvCxnSpPr>
        <p:spPr>
          <a:xfrm>
            <a:off x="2620096" y="3582220"/>
            <a:ext cx="152777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B506ECD5-C1B3-42B9-B5A7-3E14AB0B1E29}"/>
              </a:ext>
            </a:extLst>
          </p:cNvPr>
          <p:cNvCxnSpPr>
            <a:cxnSpLocks/>
          </p:cNvCxnSpPr>
          <p:nvPr/>
        </p:nvCxnSpPr>
        <p:spPr>
          <a:xfrm>
            <a:off x="2046045" y="4445653"/>
            <a:ext cx="27397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5A89EDE9-5874-4321-B2DD-CC81E55F0772}"/>
              </a:ext>
            </a:extLst>
          </p:cNvPr>
          <p:cNvCxnSpPr>
            <a:cxnSpLocks/>
          </p:cNvCxnSpPr>
          <p:nvPr/>
        </p:nvCxnSpPr>
        <p:spPr>
          <a:xfrm>
            <a:off x="1391964" y="5358840"/>
            <a:ext cx="399994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E7CFDA09-B284-4C9C-A25A-6C7AE566279D}"/>
              </a:ext>
            </a:extLst>
          </p:cNvPr>
          <p:cNvCxnSpPr>
            <a:cxnSpLocks/>
          </p:cNvCxnSpPr>
          <p:nvPr/>
        </p:nvCxnSpPr>
        <p:spPr>
          <a:xfrm>
            <a:off x="963984" y="6156175"/>
            <a:ext cx="48888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2BF00F58-365F-4DB3-9BBD-D61039B77584}"/>
              </a:ext>
            </a:extLst>
          </p:cNvPr>
          <p:cNvSpPr txBox="1"/>
          <p:nvPr/>
        </p:nvSpPr>
        <p:spPr>
          <a:xfrm>
            <a:off x="2007900" y="5820839"/>
            <a:ext cx="2837444" cy="307777"/>
          </a:xfrm>
          <a:prstGeom prst="rect">
            <a:avLst/>
          </a:prstGeom>
          <a:noFill/>
        </p:spPr>
        <p:txBody>
          <a:bodyPr wrap="square" rtlCol="0">
            <a:spAutoFit/>
          </a:bodyPr>
          <a:lstStyle/>
          <a:p>
            <a:pPr algn="ctr"/>
            <a:r>
              <a:rPr lang="ja-JP" altLang="en-US" sz="1400" b="1" dirty="0">
                <a:latin typeface="HGP創英角ｺﾞｼｯｸUB" panose="020B0900000000000000" pitchFamily="50" charset="-128"/>
                <a:ea typeface="HGP創英角ｺﾞｼｯｸUB" panose="020B0900000000000000" pitchFamily="50" charset="-128"/>
              </a:rPr>
              <a:t>具体的に見える行動</a:t>
            </a:r>
            <a:endParaRPr kumimoji="1" lang="ja-JP" altLang="en-US" sz="1400" b="1" dirty="0">
              <a:latin typeface="HGP創英角ｺﾞｼｯｸUB" panose="020B0900000000000000" pitchFamily="50" charset="-128"/>
              <a:ea typeface="HGP創英角ｺﾞｼｯｸUB" panose="020B0900000000000000" pitchFamily="50" charset="-128"/>
            </a:endParaRPr>
          </a:p>
        </p:txBody>
      </p:sp>
      <p:sp>
        <p:nvSpPr>
          <p:cNvPr id="16" name="テキスト ボックス 15">
            <a:extLst>
              <a:ext uri="{FF2B5EF4-FFF2-40B4-BE49-F238E27FC236}">
                <a16:creationId xmlns:a16="http://schemas.microsoft.com/office/drawing/2014/main" id="{EEA21BC9-8C65-4483-A05C-E86C9BA73D80}"/>
              </a:ext>
            </a:extLst>
          </p:cNvPr>
          <p:cNvSpPr txBox="1"/>
          <p:nvPr/>
        </p:nvSpPr>
        <p:spPr>
          <a:xfrm>
            <a:off x="2534338" y="4672711"/>
            <a:ext cx="1820651" cy="307777"/>
          </a:xfrm>
          <a:prstGeom prst="rect">
            <a:avLst/>
          </a:prstGeom>
          <a:solidFill>
            <a:srgbClr val="FF0000"/>
          </a:solidFill>
        </p:spPr>
        <p:txBody>
          <a:bodyPr wrap="square" rtlCol="0">
            <a:spAutoFit/>
          </a:bodyPr>
          <a:lstStyle/>
          <a:p>
            <a:pPr algn="ctr"/>
            <a:r>
              <a:rPr lang="ja-JP" altLang="en-US" sz="1400" b="1" dirty="0">
                <a:solidFill>
                  <a:schemeClr val="bg1"/>
                </a:solidFill>
                <a:latin typeface="メイリオ" panose="020B0604030504040204" pitchFamily="50" charset="-128"/>
                <a:ea typeface="メイリオ" panose="020B0604030504040204" pitchFamily="50" charset="-128"/>
              </a:rPr>
              <a:t>⑤　組織理念</a:t>
            </a:r>
            <a:endParaRPr kumimoji="1" lang="ja-JP" altLang="en-US" sz="1400" b="1" dirty="0">
              <a:solidFill>
                <a:schemeClr val="bg1"/>
              </a:solidFill>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5C2D01D1-40EB-4248-83C2-A47296537001}"/>
              </a:ext>
            </a:extLst>
          </p:cNvPr>
          <p:cNvSpPr txBox="1"/>
          <p:nvPr/>
        </p:nvSpPr>
        <p:spPr>
          <a:xfrm>
            <a:off x="2490431" y="5490674"/>
            <a:ext cx="1908464" cy="307777"/>
          </a:xfrm>
          <a:prstGeom prst="rect">
            <a:avLst/>
          </a:prstGeom>
          <a:solidFill>
            <a:srgbClr val="FF0000"/>
          </a:solidFill>
        </p:spPr>
        <p:txBody>
          <a:bodyPr wrap="square" rtlCol="0">
            <a:spAutoFit/>
          </a:bodyPr>
          <a:lstStyle/>
          <a:p>
            <a:r>
              <a:rPr lang="ja-JP" altLang="en-US" sz="1400" b="1" dirty="0">
                <a:solidFill>
                  <a:schemeClr val="bg1"/>
                </a:solidFill>
                <a:latin typeface="メイリオ" panose="020B0604030504040204" pitchFamily="50" charset="-128"/>
                <a:ea typeface="メイリオ" panose="020B0604030504040204" pitchFamily="50" charset="-128"/>
              </a:rPr>
              <a:t>　⑥　行動指針</a:t>
            </a:r>
            <a:endParaRPr kumimoji="1" lang="ja-JP" altLang="en-US" sz="1400" b="1" dirty="0">
              <a:solidFill>
                <a:schemeClr val="bg1"/>
              </a:solidFill>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30A48D53-3F7A-45E3-B9CD-F2419544328A}"/>
              </a:ext>
            </a:extLst>
          </p:cNvPr>
          <p:cNvSpPr txBox="1"/>
          <p:nvPr/>
        </p:nvSpPr>
        <p:spPr>
          <a:xfrm>
            <a:off x="2020539" y="4970984"/>
            <a:ext cx="2812167" cy="307777"/>
          </a:xfrm>
          <a:prstGeom prst="rect">
            <a:avLst/>
          </a:prstGeom>
          <a:noFill/>
        </p:spPr>
        <p:txBody>
          <a:bodyPr wrap="square" rtlCol="0">
            <a:spAutoFit/>
          </a:bodyPr>
          <a:lstStyle/>
          <a:p>
            <a:pPr algn="ctr"/>
            <a:r>
              <a:rPr kumimoji="1" lang="ja-JP" altLang="en-US" sz="1400" b="1" dirty="0">
                <a:latin typeface="HGP創英角ｺﾞｼｯｸUB" panose="020B0900000000000000" pitchFamily="50" charset="-128"/>
                <a:ea typeface="HGP創英角ｺﾞｼｯｸUB" panose="020B0900000000000000" pitchFamily="50" charset="-128"/>
              </a:rPr>
              <a:t>対組織への在り方</a:t>
            </a:r>
          </a:p>
        </p:txBody>
      </p:sp>
      <p:sp>
        <p:nvSpPr>
          <p:cNvPr id="19" name="テキスト ボックス 18">
            <a:extLst>
              <a:ext uri="{FF2B5EF4-FFF2-40B4-BE49-F238E27FC236}">
                <a16:creationId xmlns:a16="http://schemas.microsoft.com/office/drawing/2014/main" id="{7CD1416C-DA43-4315-81BF-D2F3621E007B}"/>
              </a:ext>
            </a:extLst>
          </p:cNvPr>
          <p:cNvSpPr txBox="1"/>
          <p:nvPr/>
        </p:nvSpPr>
        <p:spPr>
          <a:xfrm>
            <a:off x="2056735" y="4121130"/>
            <a:ext cx="2739775" cy="307777"/>
          </a:xfrm>
          <a:prstGeom prst="rect">
            <a:avLst/>
          </a:prstGeom>
          <a:noFill/>
        </p:spPr>
        <p:txBody>
          <a:bodyPr wrap="square" rtlCol="0">
            <a:spAutoFit/>
          </a:bodyPr>
          <a:lstStyle/>
          <a:p>
            <a:pPr algn="ctr"/>
            <a:r>
              <a:rPr kumimoji="1" lang="ja-JP" altLang="en-US" sz="1400" b="1" dirty="0">
                <a:latin typeface="HGP創英角ｺﾞｼｯｸUB" panose="020B0900000000000000" pitchFamily="50" charset="-128"/>
                <a:ea typeface="HGP創英角ｺﾞｼｯｸUB" panose="020B0900000000000000" pitchFamily="50" charset="-128"/>
              </a:rPr>
              <a:t>対社会への在り方</a:t>
            </a:r>
          </a:p>
        </p:txBody>
      </p:sp>
      <p:sp>
        <p:nvSpPr>
          <p:cNvPr id="20" name="テキスト ボックス 19">
            <a:extLst>
              <a:ext uri="{FF2B5EF4-FFF2-40B4-BE49-F238E27FC236}">
                <a16:creationId xmlns:a16="http://schemas.microsoft.com/office/drawing/2014/main" id="{212A2CC1-0F10-4691-9E12-2BE9277C3E15}"/>
              </a:ext>
            </a:extLst>
          </p:cNvPr>
          <p:cNvSpPr txBox="1"/>
          <p:nvPr/>
        </p:nvSpPr>
        <p:spPr>
          <a:xfrm>
            <a:off x="2435556" y="3271276"/>
            <a:ext cx="1982133" cy="307777"/>
          </a:xfrm>
          <a:prstGeom prst="rect">
            <a:avLst/>
          </a:prstGeom>
          <a:noFill/>
        </p:spPr>
        <p:txBody>
          <a:bodyPr wrap="square" rtlCol="0">
            <a:spAutoFit/>
          </a:bodyPr>
          <a:lstStyle/>
          <a:p>
            <a:pPr algn="ctr"/>
            <a:r>
              <a:rPr lang="ja-JP" altLang="en-US" sz="1400" b="1" dirty="0">
                <a:latin typeface="HGP創英角ｺﾞｼｯｸUB" panose="020B0900000000000000" pitchFamily="50" charset="-128"/>
                <a:ea typeface="HGP創英角ｺﾞｼｯｸUB" panose="020B0900000000000000" pitchFamily="50" charset="-128"/>
              </a:rPr>
              <a:t>会社の未来像</a:t>
            </a:r>
            <a:endParaRPr kumimoji="1" lang="ja-JP" altLang="en-US" sz="1400" b="1" dirty="0">
              <a:latin typeface="HGP創英角ｺﾞｼｯｸUB" panose="020B0900000000000000" pitchFamily="50" charset="-128"/>
              <a:ea typeface="HGP創英角ｺﾞｼｯｸUB" panose="020B0900000000000000" pitchFamily="50" charset="-128"/>
            </a:endParaRPr>
          </a:p>
        </p:txBody>
      </p:sp>
      <p:sp>
        <p:nvSpPr>
          <p:cNvPr id="21" name="テキスト ボックス 20">
            <a:extLst>
              <a:ext uri="{FF2B5EF4-FFF2-40B4-BE49-F238E27FC236}">
                <a16:creationId xmlns:a16="http://schemas.microsoft.com/office/drawing/2014/main" id="{39DE8A31-7CDE-43D2-9703-3BDD0732398C}"/>
              </a:ext>
            </a:extLst>
          </p:cNvPr>
          <p:cNvSpPr txBox="1"/>
          <p:nvPr/>
        </p:nvSpPr>
        <p:spPr>
          <a:xfrm>
            <a:off x="1517838" y="3761049"/>
            <a:ext cx="1820651" cy="307777"/>
          </a:xfrm>
          <a:prstGeom prst="rect">
            <a:avLst/>
          </a:prstGeom>
          <a:solidFill>
            <a:srgbClr val="FF0000"/>
          </a:solidFill>
        </p:spPr>
        <p:txBody>
          <a:bodyPr wrap="square" rtlCol="0">
            <a:spAutoFit/>
          </a:bodyP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rPr>
              <a:t>③　企業姿勢</a:t>
            </a:r>
          </a:p>
        </p:txBody>
      </p:sp>
      <p:sp>
        <p:nvSpPr>
          <p:cNvPr id="22" name="テキスト ボックス 21">
            <a:extLst>
              <a:ext uri="{FF2B5EF4-FFF2-40B4-BE49-F238E27FC236}">
                <a16:creationId xmlns:a16="http://schemas.microsoft.com/office/drawing/2014/main" id="{65AC3F85-EACA-4F07-B59B-1D1B72C5A795}"/>
              </a:ext>
            </a:extLst>
          </p:cNvPr>
          <p:cNvSpPr txBox="1"/>
          <p:nvPr/>
        </p:nvSpPr>
        <p:spPr>
          <a:xfrm>
            <a:off x="3678216" y="3761049"/>
            <a:ext cx="1820651" cy="307777"/>
          </a:xfrm>
          <a:prstGeom prst="rect">
            <a:avLst/>
          </a:prstGeom>
          <a:solidFill>
            <a:srgbClr val="FF0000"/>
          </a:solidFill>
        </p:spPr>
        <p:txBody>
          <a:bodyPr wrap="square" rtlCol="0">
            <a:spAutoFit/>
          </a:bodyPr>
          <a:lstStyle/>
          <a:p>
            <a:pPr algn="ctr"/>
            <a:r>
              <a:rPr lang="ja-JP" altLang="en-US" sz="1400" b="1" dirty="0">
                <a:solidFill>
                  <a:schemeClr val="bg1"/>
                </a:solidFill>
                <a:latin typeface="メイリオ" panose="020B0604030504040204" pitchFamily="50" charset="-128"/>
                <a:ea typeface="メイリオ" panose="020B0604030504040204" pitchFamily="50" charset="-128"/>
              </a:rPr>
              <a:t>④　提供価値</a:t>
            </a:r>
            <a:endParaRPr kumimoji="1" lang="ja-JP" altLang="en-US" sz="1400" b="1" dirty="0">
              <a:solidFill>
                <a:schemeClr val="bg1"/>
              </a:solidFill>
              <a:latin typeface="メイリオ" panose="020B0604030504040204" pitchFamily="50" charset="-128"/>
              <a:ea typeface="メイリオ" panose="020B0604030504040204" pitchFamily="50" charset="-128"/>
            </a:endParaRPr>
          </a:p>
        </p:txBody>
      </p:sp>
      <p:sp>
        <p:nvSpPr>
          <p:cNvPr id="23" name="テキスト ボックス 22">
            <a:extLst>
              <a:ext uri="{FF2B5EF4-FFF2-40B4-BE49-F238E27FC236}">
                <a16:creationId xmlns:a16="http://schemas.microsoft.com/office/drawing/2014/main" id="{06D58C85-885C-40B4-B1E2-FC0289ACF948}"/>
              </a:ext>
            </a:extLst>
          </p:cNvPr>
          <p:cNvSpPr txBox="1"/>
          <p:nvPr/>
        </p:nvSpPr>
        <p:spPr>
          <a:xfrm>
            <a:off x="2534338" y="2832415"/>
            <a:ext cx="1820651" cy="307777"/>
          </a:xfrm>
          <a:prstGeom prst="rect">
            <a:avLst/>
          </a:prstGeom>
          <a:solidFill>
            <a:srgbClr val="FF0000"/>
          </a:solidFill>
        </p:spPr>
        <p:txBody>
          <a:bodyPr wrap="square" rtlCol="0">
            <a:spAutoFit/>
          </a:bodyP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rPr>
              <a:t>②　ビジョン</a:t>
            </a:r>
          </a:p>
        </p:txBody>
      </p:sp>
      <p:sp>
        <p:nvSpPr>
          <p:cNvPr id="27" name="Text Box 28">
            <a:extLst>
              <a:ext uri="{FF2B5EF4-FFF2-40B4-BE49-F238E27FC236}">
                <a16:creationId xmlns:a16="http://schemas.microsoft.com/office/drawing/2014/main" id="{D6218280-77E7-4082-87BA-C506F0584A52}"/>
              </a:ext>
            </a:extLst>
          </p:cNvPr>
          <p:cNvSpPr txBox="1">
            <a:spLocks noChangeArrowheads="1"/>
          </p:cNvSpPr>
          <p:nvPr/>
        </p:nvSpPr>
        <p:spPr bwMode="auto">
          <a:xfrm>
            <a:off x="99037" y="1430862"/>
            <a:ext cx="656989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50000"/>
              </a:spcBef>
              <a:buFontTx/>
              <a:buNone/>
            </a:pPr>
            <a:r>
              <a:rPr lang="en-US" altLang="ja-JP" sz="1400" b="1" dirty="0">
                <a:latin typeface="+mj-ea"/>
                <a:ea typeface="+mj-ea"/>
              </a:rPr>
              <a:t>【</a:t>
            </a:r>
            <a:r>
              <a:rPr lang="ja-JP" altLang="en-US" sz="1400" b="1" dirty="0">
                <a:latin typeface="+mj-ea"/>
                <a:ea typeface="+mj-ea"/>
              </a:rPr>
              <a:t>イズムピラミッド</a:t>
            </a:r>
            <a:r>
              <a:rPr lang="en-US" altLang="ja-JP" sz="1400" b="1" dirty="0">
                <a:latin typeface="+mj-ea"/>
                <a:ea typeface="+mj-ea"/>
              </a:rPr>
              <a:t>】</a:t>
            </a:r>
            <a:r>
              <a:rPr lang="ja-JP" altLang="en-US" sz="1400" b="1" dirty="0">
                <a:latin typeface="+mj-ea"/>
                <a:ea typeface="+mj-ea"/>
              </a:rPr>
              <a:t>　個人・組織・会社全体のレベル　と　未来像（目標とする姿）の関係</a:t>
            </a:r>
          </a:p>
        </p:txBody>
      </p:sp>
      <p:sp>
        <p:nvSpPr>
          <p:cNvPr id="28" name="Rectangle 3">
            <a:extLst>
              <a:ext uri="{FF2B5EF4-FFF2-40B4-BE49-F238E27FC236}">
                <a16:creationId xmlns:a16="http://schemas.microsoft.com/office/drawing/2014/main" id="{58AF0296-050C-4FB1-923B-55DF9D937ABA}"/>
              </a:ext>
            </a:extLst>
          </p:cNvPr>
          <p:cNvSpPr>
            <a:spLocks noChangeArrowheads="1"/>
          </p:cNvSpPr>
          <p:nvPr/>
        </p:nvSpPr>
        <p:spPr bwMode="auto">
          <a:xfrm>
            <a:off x="6229" y="6376888"/>
            <a:ext cx="6867128" cy="2324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lnSpc>
                <a:spcPts val="500"/>
              </a:lnSpc>
              <a:spcBef>
                <a:spcPct val="50000"/>
              </a:spcBef>
              <a:buFontTx/>
              <a:buNone/>
            </a:pPr>
            <a:r>
              <a:rPr lang="en-US" altLang="ja-JP" sz="1200" b="1" dirty="0">
                <a:latin typeface="+mn-ea"/>
                <a:ea typeface="+mn-ea"/>
              </a:rPr>
              <a:t>①</a:t>
            </a:r>
            <a:r>
              <a:rPr lang="ja-JP" altLang="en-US" sz="1200" b="1" dirty="0">
                <a:latin typeface="+mn-ea"/>
                <a:ea typeface="+mn-ea"/>
              </a:rPr>
              <a:t>　経営理念・社訓　：　経営を行う上で確固たる軸となる考え方や心構え。</a:t>
            </a:r>
            <a:r>
              <a:rPr lang="en-US" altLang="ja-JP" sz="1200" b="1" dirty="0">
                <a:latin typeface="+mn-ea"/>
                <a:ea typeface="+mn-ea"/>
              </a:rPr>
              <a:t>MMI</a:t>
            </a:r>
            <a:r>
              <a:rPr lang="ja-JP" altLang="en-US" sz="1200" b="1" dirty="0">
                <a:latin typeface="+mn-ea"/>
                <a:ea typeface="+mn-ea"/>
              </a:rPr>
              <a:t>の存在意義です。</a:t>
            </a:r>
            <a:endParaRPr lang="en-US" altLang="ja-JP" sz="1200" b="1" dirty="0">
              <a:latin typeface="+mn-ea"/>
              <a:ea typeface="+mn-ea"/>
            </a:endParaRPr>
          </a:p>
          <a:p>
            <a:pPr eaLnBrk="1" hangingPunct="1">
              <a:lnSpc>
                <a:spcPts val="500"/>
              </a:lnSpc>
              <a:spcBef>
                <a:spcPct val="50000"/>
              </a:spcBef>
              <a:buFontTx/>
              <a:buNone/>
            </a:pPr>
            <a:endParaRPr lang="ja-JP" altLang="en-US" sz="1200" b="1" dirty="0">
              <a:latin typeface="+mn-ea"/>
              <a:ea typeface="+mn-ea"/>
            </a:endParaRPr>
          </a:p>
          <a:p>
            <a:pPr eaLnBrk="1" hangingPunct="1">
              <a:lnSpc>
                <a:spcPts val="500"/>
              </a:lnSpc>
              <a:spcBef>
                <a:spcPct val="50000"/>
              </a:spcBef>
              <a:buFontTx/>
              <a:buNone/>
            </a:pPr>
            <a:r>
              <a:rPr lang="ja-JP" altLang="en-US" sz="1200" b="1" dirty="0">
                <a:latin typeface="+mn-ea"/>
                <a:ea typeface="+mn-ea"/>
              </a:rPr>
              <a:t>②　ビジョン　　：　経営理念に基づき、私たちが目指す、会社の未来像です。</a:t>
            </a:r>
            <a:endParaRPr lang="en-US" altLang="ja-JP" sz="1200" b="1" dirty="0">
              <a:latin typeface="+mn-ea"/>
              <a:ea typeface="+mn-ea"/>
            </a:endParaRPr>
          </a:p>
          <a:p>
            <a:pPr eaLnBrk="1" hangingPunct="1">
              <a:lnSpc>
                <a:spcPts val="500"/>
              </a:lnSpc>
              <a:spcBef>
                <a:spcPct val="50000"/>
              </a:spcBef>
              <a:buFontTx/>
              <a:buNone/>
            </a:pPr>
            <a:endParaRPr lang="ja-JP" altLang="en-US" sz="1200" b="1" dirty="0">
              <a:latin typeface="+mn-ea"/>
              <a:ea typeface="+mn-ea"/>
            </a:endParaRPr>
          </a:p>
          <a:p>
            <a:pPr eaLnBrk="1" hangingPunct="1">
              <a:lnSpc>
                <a:spcPts val="500"/>
              </a:lnSpc>
              <a:spcBef>
                <a:spcPct val="50000"/>
              </a:spcBef>
              <a:buFontTx/>
              <a:buNone/>
            </a:pPr>
            <a:r>
              <a:rPr lang="ja-JP" altLang="en-US" sz="1200" b="1" dirty="0">
                <a:latin typeface="+mn-ea"/>
                <a:ea typeface="+mn-ea"/>
              </a:rPr>
              <a:t>③　企業姿勢　：　私たちが、企業として地域や業界など、広く社会に対する姿勢を言葉にしたものです。</a:t>
            </a:r>
            <a:endParaRPr lang="en-US" altLang="ja-JP" sz="1200" b="1" dirty="0">
              <a:latin typeface="+mn-ea"/>
              <a:ea typeface="+mn-ea"/>
            </a:endParaRPr>
          </a:p>
          <a:p>
            <a:pPr eaLnBrk="1" hangingPunct="1">
              <a:lnSpc>
                <a:spcPts val="500"/>
              </a:lnSpc>
              <a:spcBef>
                <a:spcPct val="50000"/>
              </a:spcBef>
              <a:buFontTx/>
              <a:buNone/>
            </a:pPr>
            <a:endParaRPr lang="ja-JP" altLang="en-US" sz="1200" b="1" dirty="0">
              <a:latin typeface="+mn-ea"/>
              <a:ea typeface="+mn-ea"/>
            </a:endParaRPr>
          </a:p>
          <a:p>
            <a:pPr eaLnBrk="1" hangingPunct="1">
              <a:lnSpc>
                <a:spcPts val="500"/>
              </a:lnSpc>
              <a:spcBef>
                <a:spcPct val="50000"/>
              </a:spcBef>
              <a:buFontTx/>
              <a:buNone/>
            </a:pPr>
            <a:r>
              <a:rPr lang="ja-JP" altLang="en-US" sz="1200" b="1" dirty="0">
                <a:latin typeface="+mn-ea"/>
                <a:ea typeface="+mn-ea"/>
              </a:rPr>
              <a:t>④　提供価値　：　私たちが、一丸となって、お客様に対して提供する価値です。</a:t>
            </a:r>
            <a:endParaRPr lang="en-US" altLang="ja-JP" sz="1200" b="1" dirty="0">
              <a:latin typeface="+mn-ea"/>
              <a:ea typeface="+mn-ea"/>
            </a:endParaRPr>
          </a:p>
          <a:p>
            <a:pPr eaLnBrk="1" hangingPunct="1">
              <a:lnSpc>
                <a:spcPts val="500"/>
              </a:lnSpc>
              <a:spcBef>
                <a:spcPct val="50000"/>
              </a:spcBef>
              <a:buFontTx/>
              <a:buNone/>
            </a:pPr>
            <a:endParaRPr lang="ja-JP" altLang="en-US" sz="1200" b="1" dirty="0">
              <a:latin typeface="+mn-ea"/>
              <a:ea typeface="+mn-ea"/>
            </a:endParaRPr>
          </a:p>
          <a:p>
            <a:pPr eaLnBrk="1" hangingPunct="1">
              <a:lnSpc>
                <a:spcPts val="500"/>
              </a:lnSpc>
              <a:spcBef>
                <a:spcPct val="50000"/>
              </a:spcBef>
              <a:buFontTx/>
              <a:buNone/>
            </a:pPr>
            <a:r>
              <a:rPr lang="ja-JP" altLang="en-US" sz="1200" b="1" dirty="0">
                <a:latin typeface="+mn-ea"/>
                <a:ea typeface="+mn-ea"/>
              </a:rPr>
              <a:t>⑤　組織理念　：　私たちが、２人以上集まって組織（チーム）をつくる時、また、その組織同士で協力して</a:t>
            </a:r>
            <a:endParaRPr lang="en-US" altLang="ja-JP" sz="1200" b="1" dirty="0">
              <a:latin typeface="+mn-ea"/>
              <a:ea typeface="+mn-ea"/>
            </a:endParaRPr>
          </a:p>
          <a:p>
            <a:pPr eaLnBrk="1" hangingPunct="1">
              <a:lnSpc>
                <a:spcPts val="500"/>
              </a:lnSpc>
              <a:spcBef>
                <a:spcPct val="50000"/>
              </a:spcBef>
              <a:buFontTx/>
              <a:buNone/>
            </a:pPr>
            <a:r>
              <a:rPr lang="ja-JP" altLang="en-US" sz="1200" b="1" dirty="0">
                <a:latin typeface="+mn-ea"/>
                <a:ea typeface="+mn-ea"/>
              </a:rPr>
              <a:t>　　　　　　　　　　　成果を出す時、組織として・組織同士として大切にする考え方です。</a:t>
            </a:r>
            <a:endParaRPr lang="en-US" altLang="ja-JP" sz="1200" b="1" dirty="0">
              <a:latin typeface="+mn-ea"/>
              <a:ea typeface="+mn-ea"/>
            </a:endParaRPr>
          </a:p>
          <a:p>
            <a:pPr eaLnBrk="1" hangingPunct="1">
              <a:lnSpc>
                <a:spcPts val="500"/>
              </a:lnSpc>
              <a:spcBef>
                <a:spcPct val="50000"/>
              </a:spcBef>
              <a:buFontTx/>
              <a:buNone/>
            </a:pPr>
            <a:endParaRPr lang="ja-JP" altLang="en-US" sz="1200" b="1" dirty="0">
              <a:latin typeface="+mn-ea"/>
              <a:ea typeface="+mn-ea"/>
            </a:endParaRPr>
          </a:p>
          <a:p>
            <a:pPr eaLnBrk="1" hangingPunct="1">
              <a:lnSpc>
                <a:spcPts val="500"/>
              </a:lnSpc>
              <a:spcBef>
                <a:spcPct val="50000"/>
              </a:spcBef>
              <a:buFontTx/>
              <a:buNone/>
            </a:pPr>
            <a:r>
              <a:rPr lang="ja-JP" altLang="en-US" sz="1200" b="1" dirty="0">
                <a:latin typeface="+mn-ea"/>
                <a:ea typeface="+mn-ea"/>
              </a:rPr>
              <a:t>⑥　行動指針　：　私たち１人１人が、</a:t>
            </a:r>
            <a:r>
              <a:rPr lang="en-US" altLang="ja-JP" sz="1200" b="1" dirty="0">
                <a:latin typeface="+mn-ea"/>
                <a:ea typeface="+mn-ea"/>
              </a:rPr>
              <a:t>MMI</a:t>
            </a:r>
            <a:r>
              <a:rPr lang="ja-JP" altLang="en-US" sz="1200" b="1" dirty="0">
                <a:latin typeface="+mn-ea"/>
                <a:ea typeface="+mn-ea"/>
              </a:rPr>
              <a:t>メンバーの一員として行動する時に、拠りどころ・大切にする</a:t>
            </a:r>
            <a:endParaRPr lang="en-US" altLang="ja-JP" sz="1200" b="1" dirty="0">
              <a:latin typeface="+mn-ea"/>
              <a:ea typeface="+mn-ea"/>
            </a:endParaRPr>
          </a:p>
          <a:p>
            <a:pPr eaLnBrk="1" hangingPunct="1">
              <a:lnSpc>
                <a:spcPts val="500"/>
              </a:lnSpc>
              <a:spcBef>
                <a:spcPct val="50000"/>
              </a:spcBef>
              <a:buFontTx/>
              <a:buNone/>
            </a:pPr>
            <a:r>
              <a:rPr lang="ja-JP" altLang="en-US" sz="1200" b="1" dirty="0">
                <a:latin typeface="+mn-ea"/>
                <a:ea typeface="+mn-ea"/>
              </a:rPr>
              <a:t>　　　　　　　　　　　考え方です。</a:t>
            </a:r>
            <a:endParaRPr lang="en-US" altLang="ja-JP" sz="1200" b="1" dirty="0">
              <a:latin typeface="+mn-ea"/>
              <a:ea typeface="+mn-ea"/>
            </a:endParaRPr>
          </a:p>
        </p:txBody>
      </p:sp>
    </p:spTree>
    <p:extLst>
      <p:ext uri="{BB962C8B-B14F-4D97-AF65-F5344CB8AC3E}">
        <p14:creationId xmlns:p14="http://schemas.microsoft.com/office/powerpoint/2010/main" val="2023847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70" name="Group 37">
            <a:extLst>
              <a:ext uri="{FF2B5EF4-FFF2-40B4-BE49-F238E27FC236}">
                <a16:creationId xmlns:a16="http://schemas.microsoft.com/office/drawing/2014/main" id="{84442E2F-49F9-4FF2-B97A-1C48B3458571}"/>
              </a:ext>
            </a:extLst>
          </p:cNvPr>
          <p:cNvGrpSpPr>
            <a:grpSpLocks/>
          </p:cNvGrpSpPr>
          <p:nvPr/>
        </p:nvGrpSpPr>
        <p:grpSpPr bwMode="auto">
          <a:xfrm>
            <a:off x="733425" y="1408113"/>
            <a:ext cx="5638800" cy="1939925"/>
            <a:chOff x="567" y="125"/>
            <a:chExt cx="3129" cy="2353"/>
          </a:xfrm>
        </p:grpSpPr>
        <p:sp>
          <p:nvSpPr>
            <p:cNvPr id="7180" name="Rectangle 38">
              <a:extLst>
                <a:ext uri="{FF2B5EF4-FFF2-40B4-BE49-F238E27FC236}">
                  <a16:creationId xmlns:a16="http://schemas.microsoft.com/office/drawing/2014/main" id="{A496CCFD-BFD4-4420-A4FF-31130D6F2BA5}"/>
                </a:ext>
              </a:extLst>
            </p:cNvPr>
            <p:cNvSpPr>
              <a:spLocks noChangeArrowheads="1"/>
            </p:cNvSpPr>
            <p:nvPr/>
          </p:nvSpPr>
          <p:spPr bwMode="auto">
            <a:xfrm>
              <a:off x="593" y="151"/>
              <a:ext cx="3103" cy="2327"/>
            </a:xfrm>
            <a:prstGeom prst="rect">
              <a:avLst/>
            </a:prstGeom>
            <a:solidFill>
              <a:srgbClr val="000000"/>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7181" name="Rectangle 39">
              <a:extLst>
                <a:ext uri="{FF2B5EF4-FFF2-40B4-BE49-F238E27FC236}">
                  <a16:creationId xmlns:a16="http://schemas.microsoft.com/office/drawing/2014/main" id="{A14DA81D-E571-473D-85D9-5D0C0D78B60C}"/>
                </a:ext>
              </a:extLst>
            </p:cNvPr>
            <p:cNvSpPr>
              <a:spLocks noChangeArrowheads="1"/>
            </p:cNvSpPr>
            <p:nvPr/>
          </p:nvSpPr>
          <p:spPr bwMode="auto">
            <a:xfrm>
              <a:off x="567" y="125"/>
              <a:ext cx="3103" cy="2327"/>
            </a:xfrm>
            <a:prstGeom prst="rect">
              <a:avLst/>
            </a:prstGeom>
            <a:solidFill>
              <a:srgbClr val="FFFFFF"/>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grpSp>
      <p:sp>
        <p:nvSpPr>
          <p:cNvPr id="7171" name="Rectangle 17">
            <a:extLst>
              <a:ext uri="{FF2B5EF4-FFF2-40B4-BE49-F238E27FC236}">
                <a16:creationId xmlns:a16="http://schemas.microsoft.com/office/drawing/2014/main" id="{AE424AB2-765E-4EA3-ADE5-EA9D3A9D8A0B}"/>
              </a:ext>
            </a:extLst>
          </p:cNvPr>
          <p:cNvSpPr>
            <a:spLocks noChangeArrowheads="1"/>
          </p:cNvSpPr>
          <p:nvPr/>
        </p:nvSpPr>
        <p:spPr bwMode="auto">
          <a:xfrm>
            <a:off x="1119188" y="2065338"/>
            <a:ext cx="418782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7172" name="Rectangle 20">
            <a:extLst>
              <a:ext uri="{FF2B5EF4-FFF2-40B4-BE49-F238E27FC236}">
                <a16:creationId xmlns:a16="http://schemas.microsoft.com/office/drawing/2014/main" id="{D304AEF3-4B22-46FA-98E7-F55F8485C136}"/>
              </a:ext>
            </a:extLst>
          </p:cNvPr>
          <p:cNvSpPr>
            <a:spLocks noChangeArrowheads="1"/>
          </p:cNvSpPr>
          <p:nvPr/>
        </p:nvSpPr>
        <p:spPr bwMode="auto">
          <a:xfrm>
            <a:off x="914400" y="2224088"/>
            <a:ext cx="5181600"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lnSpc>
                <a:spcPct val="90000"/>
              </a:lnSpc>
              <a:spcBef>
                <a:spcPct val="0"/>
              </a:spcBef>
              <a:buFontTx/>
              <a:buNone/>
            </a:pPr>
            <a:r>
              <a:rPr lang="ja-JP" altLang="en-US" sz="1800" b="1">
                <a:latin typeface="メイリオ" panose="020B0604030504040204" pitchFamily="50" charset="-128"/>
                <a:ea typeface="メイリオ" panose="020B0604030504040204" pitchFamily="50" charset="-128"/>
              </a:rPr>
              <a:t>相手の立場に立って物事を考えること</a:t>
            </a:r>
            <a:endParaRPr lang="en-US" altLang="ja-JP" sz="1800" b="1">
              <a:latin typeface="メイリオ" panose="020B0604030504040204" pitchFamily="50" charset="-128"/>
              <a:ea typeface="メイリオ" panose="020B0604030504040204" pitchFamily="50" charset="-128"/>
            </a:endParaRPr>
          </a:p>
          <a:p>
            <a:pPr eaLnBrk="1" hangingPunct="1">
              <a:lnSpc>
                <a:spcPct val="90000"/>
              </a:lnSpc>
              <a:spcBef>
                <a:spcPct val="0"/>
              </a:spcBef>
              <a:buFontTx/>
              <a:buNone/>
            </a:pPr>
            <a:endParaRPr lang="en-US" altLang="ja-JP" sz="1800" b="1">
              <a:latin typeface="メイリオ" panose="020B0604030504040204" pitchFamily="50" charset="-128"/>
              <a:ea typeface="メイリオ" panose="020B0604030504040204" pitchFamily="50" charset="-128"/>
            </a:endParaRPr>
          </a:p>
          <a:p>
            <a:pPr eaLnBrk="1" hangingPunct="1">
              <a:lnSpc>
                <a:spcPct val="90000"/>
              </a:lnSpc>
              <a:spcBef>
                <a:spcPct val="0"/>
              </a:spcBef>
              <a:buFontTx/>
              <a:buNone/>
            </a:pPr>
            <a:r>
              <a:rPr lang="ja-JP" altLang="en-US" sz="1800" b="1">
                <a:latin typeface="メイリオ" panose="020B0604030504040204" pitchFamily="50" charset="-128"/>
                <a:ea typeface="メイリオ" panose="020B0604030504040204" pitchFamily="50" charset="-128"/>
              </a:rPr>
              <a:t>感謝の気持ちを忘れないこと</a:t>
            </a:r>
          </a:p>
        </p:txBody>
      </p:sp>
      <p:sp>
        <p:nvSpPr>
          <p:cNvPr id="8197" name="Rectangle 9">
            <a:extLst>
              <a:ext uri="{FF2B5EF4-FFF2-40B4-BE49-F238E27FC236}">
                <a16:creationId xmlns:a16="http://schemas.microsoft.com/office/drawing/2014/main" id="{4A412302-A7E8-4983-A9C0-E4A12628CE1B}"/>
              </a:ext>
            </a:extLst>
          </p:cNvPr>
          <p:cNvSpPr>
            <a:spLocks noChangeArrowheads="1"/>
          </p:cNvSpPr>
          <p:nvPr/>
        </p:nvSpPr>
        <p:spPr bwMode="auto">
          <a:xfrm>
            <a:off x="733425" y="3779838"/>
            <a:ext cx="5591175" cy="451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25000"/>
              </a:spcBef>
              <a:buFontTx/>
              <a:buNone/>
              <a:defRPr/>
            </a:pPr>
            <a:r>
              <a:rPr lang="ja-JP" altLang="en-US" sz="1200" dirty="0">
                <a:latin typeface="+mj-ea"/>
                <a:ea typeface="+mj-ea"/>
              </a:rPr>
              <a:t>　マルハングループの創業の精神は、「相手の立場に立って物事を考えること」、「感謝の気持ちを忘れないこと」です。</a:t>
            </a:r>
            <a:endParaRPr lang="en-US" altLang="ja-JP" sz="1200" dirty="0">
              <a:latin typeface="+mj-ea"/>
              <a:ea typeface="+mj-ea"/>
            </a:endParaRPr>
          </a:p>
          <a:p>
            <a:pPr eaLnBrk="1" hangingPunct="1">
              <a:spcBef>
                <a:spcPct val="25000"/>
              </a:spcBef>
              <a:buFontTx/>
              <a:buNone/>
              <a:defRPr/>
            </a:pPr>
            <a:endParaRPr lang="en-US" altLang="ja-JP" sz="1200" dirty="0">
              <a:latin typeface="+mj-ea"/>
              <a:ea typeface="+mj-ea"/>
            </a:endParaRPr>
          </a:p>
          <a:p>
            <a:pPr eaLnBrk="1" hangingPunct="1">
              <a:spcBef>
                <a:spcPct val="25000"/>
              </a:spcBef>
              <a:buFontTx/>
              <a:buNone/>
              <a:defRPr/>
            </a:pPr>
            <a:r>
              <a:rPr lang="ja-JP" altLang="en-US" sz="1200" dirty="0">
                <a:latin typeface="+mj-ea"/>
                <a:ea typeface="+mj-ea"/>
              </a:rPr>
              <a:t>　エムエムインターナショナルの親会社であるマルハンは１９５７年に京都府峰山町で創業しました。創業以来、 「相手の立場に立って物事を考えること」、「感謝の気持ちを忘れないこと」 という創業の精神を胸に、日々その実践を積み重ねてきました。</a:t>
            </a:r>
            <a:endParaRPr lang="en-US" altLang="ja-JP" sz="1200" dirty="0">
              <a:latin typeface="+mj-ea"/>
              <a:ea typeface="+mj-ea"/>
            </a:endParaRPr>
          </a:p>
          <a:p>
            <a:pPr eaLnBrk="1" hangingPunct="1">
              <a:spcBef>
                <a:spcPct val="25000"/>
              </a:spcBef>
              <a:buFontTx/>
              <a:buNone/>
              <a:defRPr/>
            </a:pPr>
            <a:endParaRPr lang="en-US" altLang="ja-JP" sz="1200" dirty="0">
              <a:latin typeface="+mj-ea"/>
              <a:ea typeface="+mj-ea"/>
            </a:endParaRPr>
          </a:p>
          <a:p>
            <a:pPr eaLnBrk="1" hangingPunct="1">
              <a:spcBef>
                <a:spcPct val="25000"/>
              </a:spcBef>
              <a:buFontTx/>
              <a:buNone/>
              <a:defRPr/>
            </a:pPr>
            <a:r>
              <a:rPr lang="ja-JP" altLang="en-US" sz="1200" dirty="0">
                <a:latin typeface="+mj-ea"/>
                <a:ea typeface="+mj-ea"/>
              </a:rPr>
              <a:t>　世界の経済情勢が厳しい様相を増すなか、私たちを取り巻く環境もこれまで以上のスピードで変化し続けています。そして、変化をし続ける環境に対し、私たちも同じスピードで変化していかなくてはなりません。その一方で、変わらないものもあります。それが、創業の精神です。</a:t>
            </a:r>
            <a:endParaRPr lang="en-US" altLang="ja-JP" sz="1200" dirty="0">
              <a:latin typeface="+mj-ea"/>
              <a:ea typeface="+mj-ea"/>
            </a:endParaRPr>
          </a:p>
          <a:p>
            <a:pPr eaLnBrk="1" hangingPunct="1">
              <a:spcBef>
                <a:spcPct val="25000"/>
              </a:spcBef>
              <a:buFontTx/>
              <a:buNone/>
              <a:defRPr/>
            </a:pPr>
            <a:endParaRPr lang="en-US" altLang="ja-JP" sz="1200" dirty="0">
              <a:latin typeface="+mj-ea"/>
              <a:ea typeface="+mj-ea"/>
            </a:endParaRPr>
          </a:p>
          <a:p>
            <a:pPr eaLnBrk="1" hangingPunct="1">
              <a:spcBef>
                <a:spcPct val="25000"/>
              </a:spcBef>
              <a:buFontTx/>
              <a:buNone/>
              <a:defRPr/>
            </a:pPr>
            <a:r>
              <a:rPr lang="ja-JP" altLang="en-US" sz="1200" dirty="0">
                <a:latin typeface="+mj-ea"/>
                <a:ea typeface="+mj-ea"/>
              </a:rPr>
              <a:t>　現在のマルハングループが存在し成長し続けられていることも、創業の精神である「相手の立場に立って物事を考えること」、「感謝の気持ちを忘れないこと」に共感し、共に汗を流してくれているグループの全従業員がいたからです。そして、マルハングループを愛してくださっているお客様、そして常日頃から我々を支えてくださっているお取引様のご尽力やご支援の賜物です。</a:t>
            </a:r>
            <a:endParaRPr lang="en-US" altLang="ja-JP" sz="1200" dirty="0">
              <a:latin typeface="+mj-ea"/>
              <a:ea typeface="+mj-ea"/>
            </a:endParaRPr>
          </a:p>
          <a:p>
            <a:pPr eaLnBrk="1" hangingPunct="1">
              <a:spcBef>
                <a:spcPct val="25000"/>
              </a:spcBef>
              <a:buFontTx/>
              <a:buNone/>
              <a:defRPr/>
            </a:pPr>
            <a:endParaRPr lang="en-US" altLang="ja-JP" sz="1200" dirty="0">
              <a:latin typeface="+mj-ea"/>
              <a:ea typeface="+mj-ea"/>
            </a:endParaRPr>
          </a:p>
          <a:p>
            <a:pPr eaLnBrk="1" hangingPunct="1">
              <a:spcBef>
                <a:spcPct val="25000"/>
              </a:spcBef>
              <a:buFontTx/>
              <a:buNone/>
              <a:defRPr/>
            </a:pPr>
            <a:r>
              <a:rPr lang="ja-JP" altLang="en-US" sz="1200" dirty="0">
                <a:latin typeface="+mj-ea"/>
                <a:ea typeface="+mj-ea"/>
              </a:rPr>
              <a:t>　これまでも、これからも、マルハングループの創業の精神が変わることはありません。創業から今日に至る道のりは決して平坦なものではありませんでした。しかし、この創業の精神を持ち続け、お客様の満足を追求し、現状に甘んじることなく、チャレンジ精神を貫いていきます。</a:t>
            </a:r>
          </a:p>
        </p:txBody>
      </p:sp>
      <p:sp>
        <p:nvSpPr>
          <p:cNvPr id="8199" name="AutoShape 33">
            <a:extLst>
              <a:ext uri="{FF2B5EF4-FFF2-40B4-BE49-F238E27FC236}">
                <a16:creationId xmlns:a16="http://schemas.microsoft.com/office/drawing/2014/main" id="{DAB0B7E6-0E8B-47A4-B4B2-FB4BB8C45B6D}"/>
              </a:ext>
            </a:extLst>
          </p:cNvPr>
          <p:cNvSpPr>
            <a:spLocks noChangeArrowheads="1"/>
          </p:cNvSpPr>
          <p:nvPr/>
        </p:nvSpPr>
        <p:spPr bwMode="auto">
          <a:xfrm>
            <a:off x="990600" y="304800"/>
            <a:ext cx="4953000" cy="838200"/>
          </a:xfrm>
          <a:prstGeom prst="roundRect">
            <a:avLst>
              <a:gd name="adj" fmla="val 16667"/>
            </a:avLst>
          </a:prstGeom>
          <a:solidFill>
            <a:schemeClr val="bg1">
              <a:lumMod val="75000"/>
            </a:schemeClr>
          </a:solidFill>
          <a:ln>
            <a:noFill/>
          </a:ln>
        </p:spPr>
        <p:txBody>
          <a:bodyPr wrap="none"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defRPr/>
            </a:pPr>
            <a:endParaRPr lang="ja-JP" altLang="en-US" sz="3600">
              <a:latin typeface="メイリオ" panose="020B0604030504040204" pitchFamily="50" charset="-128"/>
              <a:ea typeface="メイリオ" panose="020B0604030504040204" pitchFamily="50" charset="-128"/>
            </a:endParaRPr>
          </a:p>
        </p:txBody>
      </p:sp>
      <p:sp>
        <p:nvSpPr>
          <p:cNvPr id="7175" name="Text Box 34">
            <a:extLst>
              <a:ext uri="{FF2B5EF4-FFF2-40B4-BE49-F238E27FC236}">
                <a16:creationId xmlns:a16="http://schemas.microsoft.com/office/drawing/2014/main" id="{CB0449C2-642E-43D2-9E90-D5121F4E23C2}"/>
              </a:ext>
            </a:extLst>
          </p:cNvPr>
          <p:cNvSpPr txBox="1">
            <a:spLocks noChangeArrowheads="1"/>
          </p:cNvSpPr>
          <p:nvPr/>
        </p:nvSpPr>
        <p:spPr bwMode="auto">
          <a:xfrm>
            <a:off x="1143000" y="365125"/>
            <a:ext cx="4648200" cy="708025"/>
          </a:xfrm>
          <a:prstGeom prst="rect">
            <a:avLst/>
          </a:prstGeom>
          <a:noFill/>
          <a:ln>
            <a:noFill/>
          </a:ln>
          <a:effectLst>
            <a:outerShdw dist="45791" dir="2021404" algn="ctr" rotWithShape="0">
              <a:srgbClr val="B2B2B2">
                <a:alpha val="5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50000"/>
              </a:spcBef>
              <a:buFontTx/>
              <a:buNone/>
            </a:pPr>
            <a:r>
              <a:rPr lang="ja-JP" altLang="en-US" sz="4000" b="1">
                <a:solidFill>
                  <a:srgbClr val="FF0000"/>
                </a:solidFill>
                <a:latin typeface="メイリオ" panose="020B0604030504040204" pitchFamily="50" charset="-128"/>
                <a:ea typeface="メイリオ" panose="020B0604030504040204" pitchFamily="50" charset="-128"/>
              </a:rPr>
              <a:t>創業の精神</a:t>
            </a:r>
          </a:p>
        </p:txBody>
      </p:sp>
      <p:sp>
        <p:nvSpPr>
          <p:cNvPr id="7176" name="Text Box 41">
            <a:extLst>
              <a:ext uri="{FF2B5EF4-FFF2-40B4-BE49-F238E27FC236}">
                <a16:creationId xmlns:a16="http://schemas.microsoft.com/office/drawing/2014/main" id="{95E7775C-4FEE-4621-9FB0-01692BA94F40}"/>
              </a:ext>
            </a:extLst>
          </p:cNvPr>
          <p:cNvSpPr txBox="1">
            <a:spLocks noChangeArrowheads="1"/>
          </p:cNvSpPr>
          <p:nvPr/>
        </p:nvSpPr>
        <p:spPr bwMode="auto">
          <a:xfrm>
            <a:off x="838200" y="1484313"/>
            <a:ext cx="167640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50000"/>
              </a:spcBef>
              <a:buFontTx/>
              <a:buNone/>
            </a:pPr>
            <a:r>
              <a:rPr lang="ja-JP" altLang="en-US" sz="2200" b="1">
                <a:latin typeface="メイリオ" panose="020B0604030504040204" pitchFamily="50" charset="-128"/>
                <a:ea typeface="メイリオ" panose="020B0604030504040204" pitchFamily="50" charset="-128"/>
              </a:rPr>
              <a:t>創業の精神</a:t>
            </a:r>
          </a:p>
        </p:txBody>
      </p:sp>
      <p:sp>
        <p:nvSpPr>
          <p:cNvPr id="7177" name="Line 50">
            <a:extLst>
              <a:ext uri="{FF2B5EF4-FFF2-40B4-BE49-F238E27FC236}">
                <a16:creationId xmlns:a16="http://schemas.microsoft.com/office/drawing/2014/main" id="{24B9DAD8-09E9-4ECD-9314-527770E939F0}"/>
              </a:ext>
            </a:extLst>
          </p:cNvPr>
          <p:cNvSpPr>
            <a:spLocks noChangeShapeType="1"/>
          </p:cNvSpPr>
          <p:nvPr/>
        </p:nvSpPr>
        <p:spPr bwMode="auto">
          <a:xfrm>
            <a:off x="914400" y="1865313"/>
            <a:ext cx="1362075" cy="0"/>
          </a:xfrm>
          <a:prstGeom prst="line">
            <a:avLst/>
          </a:prstGeom>
          <a:noFill/>
          <a:ln w="69850" cmpd="thinThick">
            <a:solidFill>
              <a:schemeClr val="bg2"/>
            </a:solidFill>
            <a:round/>
            <a:headEnd/>
            <a:tailEnd/>
          </a:ln>
          <a:effectLst>
            <a:outerShdw dist="148106" dir="1857825" algn="ctr" rotWithShape="0">
              <a:srgbClr val="DDDDDD"/>
            </a:outerShdw>
          </a:effectLst>
          <a:extLst>
            <a:ext uri="{909E8E84-426E-40DD-AFC4-6F175D3DCCD1}">
              <a14:hiddenFill xmlns:a14="http://schemas.microsoft.com/office/drawing/2010/main">
                <a:noFill/>
              </a14:hiddenFill>
            </a:ext>
          </a:extLst>
        </p:spPr>
        <p:txBody>
          <a:bodyPr/>
          <a:lstStyle/>
          <a:p>
            <a:endParaRPr lang="ja-JP" altLang="en-US"/>
          </a:p>
        </p:txBody>
      </p:sp>
      <p:sp>
        <p:nvSpPr>
          <p:cNvPr id="7178" name="Rectangle 1028">
            <a:extLst>
              <a:ext uri="{FF2B5EF4-FFF2-40B4-BE49-F238E27FC236}">
                <a16:creationId xmlns:a16="http://schemas.microsoft.com/office/drawing/2014/main" id="{01520B72-F679-4272-83BF-6388487FB4E6}"/>
              </a:ext>
            </a:extLst>
          </p:cNvPr>
          <p:cNvSpPr>
            <a:spLocks noChangeArrowheads="1"/>
          </p:cNvSpPr>
          <p:nvPr/>
        </p:nvSpPr>
        <p:spPr bwMode="auto">
          <a:xfrm>
            <a:off x="4584700" y="-28575"/>
            <a:ext cx="226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dist" eaLnBrk="1" hangingPunct="1">
              <a:spcBef>
                <a:spcPct val="0"/>
              </a:spcBef>
              <a:buFontTx/>
              <a:buNone/>
            </a:pPr>
            <a:r>
              <a:rPr lang="ja-JP" altLang="en-US" sz="1600">
                <a:latin typeface="メイリオ" panose="020B0604030504040204" pitchFamily="50" charset="-128"/>
                <a:ea typeface="メイリオ" panose="020B0604030504040204" pitchFamily="50" charset="-128"/>
              </a:rPr>
              <a:t>創業の精神</a:t>
            </a:r>
          </a:p>
        </p:txBody>
      </p:sp>
      <p:sp>
        <p:nvSpPr>
          <p:cNvPr id="14" name="Google Shape;1346;p122">
            <a:extLst>
              <a:ext uri="{FF2B5EF4-FFF2-40B4-BE49-F238E27FC236}">
                <a16:creationId xmlns:a16="http://schemas.microsoft.com/office/drawing/2014/main" id="{517ED38F-E072-457F-AAFD-46647578E186}"/>
              </a:ext>
            </a:extLst>
          </p:cNvPr>
          <p:cNvSpPr txBox="1"/>
          <p:nvPr/>
        </p:nvSpPr>
        <p:spPr>
          <a:xfrm>
            <a:off x="6502400" y="8990013"/>
            <a:ext cx="344488" cy="161925"/>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7EA62695-558C-434F-9762-2EE06841E156}"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5</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4" name="Group 42">
            <a:extLst>
              <a:ext uri="{FF2B5EF4-FFF2-40B4-BE49-F238E27FC236}">
                <a16:creationId xmlns:a16="http://schemas.microsoft.com/office/drawing/2014/main" id="{461DFFCD-E032-4049-B210-CAB78833C944}"/>
              </a:ext>
            </a:extLst>
          </p:cNvPr>
          <p:cNvGrpSpPr>
            <a:grpSpLocks/>
          </p:cNvGrpSpPr>
          <p:nvPr/>
        </p:nvGrpSpPr>
        <p:grpSpPr bwMode="auto">
          <a:xfrm>
            <a:off x="685800" y="3856038"/>
            <a:ext cx="5638800" cy="1196975"/>
            <a:chOff x="567" y="125"/>
            <a:chExt cx="3129" cy="2353"/>
          </a:xfrm>
        </p:grpSpPr>
        <p:sp>
          <p:nvSpPr>
            <p:cNvPr id="8211" name="Rectangle 43">
              <a:extLst>
                <a:ext uri="{FF2B5EF4-FFF2-40B4-BE49-F238E27FC236}">
                  <a16:creationId xmlns:a16="http://schemas.microsoft.com/office/drawing/2014/main" id="{EFFB2B64-0530-42E1-BAA6-022DA37F68E1}"/>
                </a:ext>
              </a:extLst>
            </p:cNvPr>
            <p:cNvSpPr>
              <a:spLocks noChangeArrowheads="1"/>
            </p:cNvSpPr>
            <p:nvPr/>
          </p:nvSpPr>
          <p:spPr bwMode="auto">
            <a:xfrm>
              <a:off x="593" y="151"/>
              <a:ext cx="3103" cy="2327"/>
            </a:xfrm>
            <a:prstGeom prst="rect">
              <a:avLst/>
            </a:prstGeom>
            <a:solidFill>
              <a:srgbClr val="000000"/>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8212" name="Rectangle 44">
              <a:extLst>
                <a:ext uri="{FF2B5EF4-FFF2-40B4-BE49-F238E27FC236}">
                  <a16:creationId xmlns:a16="http://schemas.microsoft.com/office/drawing/2014/main" id="{E44CC458-B474-4369-96F9-196193D07509}"/>
                </a:ext>
              </a:extLst>
            </p:cNvPr>
            <p:cNvSpPr>
              <a:spLocks noChangeArrowheads="1"/>
            </p:cNvSpPr>
            <p:nvPr/>
          </p:nvSpPr>
          <p:spPr bwMode="auto">
            <a:xfrm>
              <a:off x="567" y="125"/>
              <a:ext cx="3103" cy="2327"/>
            </a:xfrm>
            <a:prstGeom prst="rect">
              <a:avLst/>
            </a:prstGeom>
            <a:solidFill>
              <a:srgbClr val="FFFFFF"/>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grpSp>
      <p:grpSp>
        <p:nvGrpSpPr>
          <p:cNvPr id="8195" name="Group 37">
            <a:extLst>
              <a:ext uri="{FF2B5EF4-FFF2-40B4-BE49-F238E27FC236}">
                <a16:creationId xmlns:a16="http://schemas.microsoft.com/office/drawing/2014/main" id="{DA646498-BC35-49F5-B308-E01D725BCB39}"/>
              </a:ext>
            </a:extLst>
          </p:cNvPr>
          <p:cNvGrpSpPr>
            <a:grpSpLocks/>
          </p:cNvGrpSpPr>
          <p:nvPr/>
        </p:nvGrpSpPr>
        <p:grpSpPr bwMode="auto">
          <a:xfrm>
            <a:off x="685800" y="1331913"/>
            <a:ext cx="5638800" cy="2409825"/>
            <a:chOff x="567" y="125"/>
            <a:chExt cx="3129" cy="2353"/>
          </a:xfrm>
        </p:grpSpPr>
        <p:sp>
          <p:nvSpPr>
            <p:cNvPr id="8209" name="Rectangle 38">
              <a:extLst>
                <a:ext uri="{FF2B5EF4-FFF2-40B4-BE49-F238E27FC236}">
                  <a16:creationId xmlns:a16="http://schemas.microsoft.com/office/drawing/2014/main" id="{29A64EDB-EA63-4E52-B958-94FDF9A1BF42}"/>
                </a:ext>
              </a:extLst>
            </p:cNvPr>
            <p:cNvSpPr>
              <a:spLocks noChangeArrowheads="1"/>
            </p:cNvSpPr>
            <p:nvPr/>
          </p:nvSpPr>
          <p:spPr bwMode="auto">
            <a:xfrm>
              <a:off x="593" y="151"/>
              <a:ext cx="3103" cy="2327"/>
            </a:xfrm>
            <a:prstGeom prst="rect">
              <a:avLst/>
            </a:prstGeom>
            <a:solidFill>
              <a:srgbClr val="000000"/>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8210" name="Rectangle 39">
              <a:extLst>
                <a:ext uri="{FF2B5EF4-FFF2-40B4-BE49-F238E27FC236}">
                  <a16:creationId xmlns:a16="http://schemas.microsoft.com/office/drawing/2014/main" id="{86E20799-A5CB-4C83-A088-CE36DDBE1E35}"/>
                </a:ext>
              </a:extLst>
            </p:cNvPr>
            <p:cNvSpPr>
              <a:spLocks noChangeArrowheads="1"/>
            </p:cNvSpPr>
            <p:nvPr/>
          </p:nvSpPr>
          <p:spPr bwMode="auto">
            <a:xfrm>
              <a:off x="567" y="125"/>
              <a:ext cx="3103" cy="2327"/>
            </a:xfrm>
            <a:prstGeom prst="rect">
              <a:avLst/>
            </a:prstGeom>
            <a:solidFill>
              <a:srgbClr val="FFFFFF"/>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grpSp>
      <p:sp>
        <p:nvSpPr>
          <p:cNvPr id="8196" name="Rectangle 17">
            <a:extLst>
              <a:ext uri="{FF2B5EF4-FFF2-40B4-BE49-F238E27FC236}">
                <a16:creationId xmlns:a16="http://schemas.microsoft.com/office/drawing/2014/main" id="{6E582EF5-7ABF-4873-B6DD-CC6EAE0E96E7}"/>
              </a:ext>
            </a:extLst>
          </p:cNvPr>
          <p:cNvSpPr>
            <a:spLocks noChangeArrowheads="1"/>
          </p:cNvSpPr>
          <p:nvPr/>
        </p:nvSpPr>
        <p:spPr bwMode="auto">
          <a:xfrm>
            <a:off x="1119188" y="2065338"/>
            <a:ext cx="418782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8197" name="Rectangle 19">
            <a:extLst>
              <a:ext uri="{FF2B5EF4-FFF2-40B4-BE49-F238E27FC236}">
                <a16:creationId xmlns:a16="http://schemas.microsoft.com/office/drawing/2014/main" id="{E4B3C2AA-24D2-44C5-B9C1-AC9A8A7FC927}"/>
              </a:ext>
            </a:extLst>
          </p:cNvPr>
          <p:cNvSpPr>
            <a:spLocks noChangeArrowheads="1"/>
          </p:cNvSpPr>
          <p:nvPr/>
        </p:nvSpPr>
        <p:spPr bwMode="auto">
          <a:xfrm>
            <a:off x="1128713" y="2957513"/>
            <a:ext cx="4927600" cy="116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8198" name="Rectangle 20">
            <a:extLst>
              <a:ext uri="{FF2B5EF4-FFF2-40B4-BE49-F238E27FC236}">
                <a16:creationId xmlns:a16="http://schemas.microsoft.com/office/drawing/2014/main" id="{FB15186C-4D05-4CB3-A38B-ADAEF85511A8}"/>
              </a:ext>
            </a:extLst>
          </p:cNvPr>
          <p:cNvSpPr>
            <a:spLocks noChangeArrowheads="1"/>
          </p:cNvSpPr>
          <p:nvPr/>
        </p:nvSpPr>
        <p:spPr bwMode="auto">
          <a:xfrm>
            <a:off x="914400" y="2049463"/>
            <a:ext cx="5181600" cy="154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lnSpc>
                <a:spcPct val="90000"/>
              </a:lnSpc>
              <a:spcBef>
                <a:spcPct val="0"/>
              </a:spcBef>
              <a:buFontTx/>
              <a:buNone/>
            </a:pPr>
            <a:r>
              <a:rPr lang="ja-JP" altLang="en-US" sz="1600" b="1">
                <a:solidFill>
                  <a:srgbClr val="000000"/>
                </a:solidFill>
                <a:latin typeface="メイリオ" panose="020B0604030504040204" pitchFamily="50" charset="-128"/>
                <a:ea typeface="メイリオ" panose="020B0604030504040204" pitchFamily="50" charset="-128"/>
              </a:rPr>
              <a:t>私たちは社業を通じ、人々に生きる喜びと安らぎの場を</a:t>
            </a:r>
          </a:p>
          <a:p>
            <a:pPr eaLnBrk="1" hangingPunct="1">
              <a:lnSpc>
                <a:spcPct val="90000"/>
              </a:lnSpc>
              <a:spcBef>
                <a:spcPct val="0"/>
              </a:spcBef>
              <a:buFontTx/>
              <a:buNone/>
            </a:pPr>
            <a:endParaRPr lang="ja-JP" altLang="en-US" sz="1600" b="1">
              <a:solidFill>
                <a:srgbClr val="000000"/>
              </a:solidFill>
              <a:latin typeface="メイリオ" panose="020B0604030504040204" pitchFamily="50" charset="-128"/>
              <a:ea typeface="メイリオ" panose="020B0604030504040204" pitchFamily="50" charset="-128"/>
            </a:endParaRPr>
          </a:p>
          <a:p>
            <a:pPr eaLnBrk="1" hangingPunct="1">
              <a:lnSpc>
                <a:spcPct val="90000"/>
              </a:lnSpc>
              <a:spcBef>
                <a:spcPct val="0"/>
              </a:spcBef>
              <a:buFontTx/>
              <a:buNone/>
            </a:pPr>
            <a:r>
              <a:rPr lang="ja-JP" altLang="en-US" sz="1600" b="1">
                <a:solidFill>
                  <a:srgbClr val="000000"/>
                </a:solidFill>
                <a:latin typeface="メイリオ" panose="020B0604030504040204" pitchFamily="50" charset="-128"/>
                <a:ea typeface="メイリオ" panose="020B0604030504040204" pitchFamily="50" charset="-128"/>
              </a:rPr>
              <a:t>提供し、心身のリフレッシュと明日への仕事の糧となる</a:t>
            </a:r>
          </a:p>
          <a:p>
            <a:pPr eaLnBrk="1" hangingPunct="1">
              <a:lnSpc>
                <a:spcPct val="90000"/>
              </a:lnSpc>
              <a:spcBef>
                <a:spcPct val="0"/>
              </a:spcBef>
              <a:buFontTx/>
              <a:buNone/>
            </a:pPr>
            <a:endParaRPr lang="ja-JP" altLang="en-US" sz="1600" b="1">
              <a:solidFill>
                <a:srgbClr val="000000"/>
              </a:solidFill>
              <a:latin typeface="メイリオ" panose="020B0604030504040204" pitchFamily="50" charset="-128"/>
              <a:ea typeface="メイリオ" panose="020B0604030504040204" pitchFamily="50" charset="-128"/>
            </a:endParaRPr>
          </a:p>
          <a:p>
            <a:pPr eaLnBrk="1" hangingPunct="1">
              <a:lnSpc>
                <a:spcPct val="90000"/>
              </a:lnSpc>
              <a:spcBef>
                <a:spcPct val="0"/>
              </a:spcBef>
              <a:buFontTx/>
              <a:buNone/>
            </a:pPr>
            <a:r>
              <a:rPr lang="ja-JP" altLang="en-US" sz="1600" b="1">
                <a:solidFill>
                  <a:srgbClr val="000000"/>
                </a:solidFill>
                <a:latin typeface="メイリオ" panose="020B0604030504040204" pitchFamily="50" charset="-128"/>
                <a:ea typeface="メイリオ" panose="020B0604030504040204" pitchFamily="50" charset="-128"/>
              </a:rPr>
              <a:t>ことを念願し、幸せで希望に満ちた明るく楽しい社会</a:t>
            </a:r>
          </a:p>
          <a:p>
            <a:pPr eaLnBrk="1" hangingPunct="1">
              <a:lnSpc>
                <a:spcPct val="90000"/>
              </a:lnSpc>
              <a:spcBef>
                <a:spcPct val="0"/>
              </a:spcBef>
              <a:buFontTx/>
              <a:buNone/>
            </a:pPr>
            <a:endParaRPr lang="ja-JP" altLang="en-US" sz="1600" b="1">
              <a:solidFill>
                <a:srgbClr val="000000"/>
              </a:solidFill>
              <a:latin typeface="メイリオ" panose="020B0604030504040204" pitchFamily="50" charset="-128"/>
              <a:ea typeface="メイリオ" panose="020B0604030504040204" pitchFamily="50" charset="-128"/>
            </a:endParaRPr>
          </a:p>
          <a:p>
            <a:pPr eaLnBrk="1" hangingPunct="1">
              <a:lnSpc>
                <a:spcPct val="90000"/>
              </a:lnSpc>
              <a:spcBef>
                <a:spcPct val="0"/>
              </a:spcBef>
              <a:buFontTx/>
              <a:buNone/>
            </a:pPr>
            <a:r>
              <a:rPr lang="ja-JP" altLang="en-US" sz="1600" b="1">
                <a:solidFill>
                  <a:srgbClr val="000000"/>
                </a:solidFill>
                <a:latin typeface="メイリオ" panose="020B0604030504040204" pitchFamily="50" charset="-128"/>
                <a:ea typeface="メイリオ" panose="020B0604030504040204" pitchFamily="50" charset="-128"/>
              </a:rPr>
              <a:t>づくりに貢献します。</a:t>
            </a:r>
            <a:endParaRPr lang="ja-JP" altLang="en-US" sz="1600" b="1">
              <a:latin typeface="メイリオ" panose="020B0604030504040204" pitchFamily="50" charset="-128"/>
              <a:ea typeface="メイリオ" panose="020B0604030504040204" pitchFamily="50" charset="-128"/>
            </a:endParaRPr>
          </a:p>
        </p:txBody>
      </p:sp>
      <p:sp>
        <p:nvSpPr>
          <p:cNvPr id="8199" name="Rectangle 27">
            <a:extLst>
              <a:ext uri="{FF2B5EF4-FFF2-40B4-BE49-F238E27FC236}">
                <a16:creationId xmlns:a16="http://schemas.microsoft.com/office/drawing/2014/main" id="{B5649FEF-0C88-4BD0-953F-E5008A6FA539}"/>
              </a:ext>
            </a:extLst>
          </p:cNvPr>
          <p:cNvSpPr>
            <a:spLocks noChangeArrowheads="1"/>
          </p:cNvSpPr>
          <p:nvPr/>
        </p:nvSpPr>
        <p:spPr bwMode="auto">
          <a:xfrm>
            <a:off x="1143000" y="4559300"/>
            <a:ext cx="484822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1800" b="1">
                <a:solidFill>
                  <a:srgbClr val="000000"/>
                </a:solidFill>
                <a:latin typeface="メイリオ" panose="020B0604030504040204" pitchFamily="50" charset="-128"/>
                <a:ea typeface="メイリオ" panose="020B0604030504040204" pitchFamily="50" charset="-128"/>
              </a:rPr>
              <a:t>「創意と工夫」「誠意と努力」「信用と奉仕」</a:t>
            </a:r>
            <a:endParaRPr lang="ja-JP" altLang="en-US" sz="1800" b="1">
              <a:latin typeface="メイリオ" panose="020B0604030504040204" pitchFamily="50" charset="-128"/>
              <a:ea typeface="メイリオ" panose="020B0604030504040204" pitchFamily="50" charset="-128"/>
            </a:endParaRPr>
          </a:p>
        </p:txBody>
      </p:sp>
      <p:sp>
        <p:nvSpPr>
          <p:cNvPr id="9224" name="Rectangle 9">
            <a:extLst>
              <a:ext uri="{FF2B5EF4-FFF2-40B4-BE49-F238E27FC236}">
                <a16:creationId xmlns:a16="http://schemas.microsoft.com/office/drawing/2014/main" id="{ACF6B3A1-C7D0-4D4C-A26D-9EB006A2ED11}"/>
              </a:ext>
            </a:extLst>
          </p:cNvPr>
          <p:cNvSpPr>
            <a:spLocks noChangeArrowheads="1"/>
          </p:cNvSpPr>
          <p:nvPr/>
        </p:nvSpPr>
        <p:spPr bwMode="auto">
          <a:xfrm>
            <a:off x="333375" y="5272088"/>
            <a:ext cx="6264275" cy="334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25000"/>
              </a:spcBef>
              <a:buFontTx/>
              <a:buNone/>
              <a:defRPr/>
            </a:pPr>
            <a:r>
              <a:rPr lang="ja-JP" altLang="en-US" sz="1200" dirty="0">
                <a:latin typeface="+mj-ea"/>
                <a:ea typeface="+mj-ea"/>
              </a:rPr>
              <a:t>　経営理念とは、「マルハングループの存在意義・最上位の価値観」のことです。また、社訓とは、</a:t>
            </a:r>
            <a:endParaRPr lang="en-US" altLang="ja-JP" sz="1200" dirty="0">
              <a:latin typeface="+mj-ea"/>
              <a:ea typeface="+mj-ea"/>
            </a:endParaRPr>
          </a:p>
          <a:p>
            <a:pPr eaLnBrk="1" hangingPunct="1">
              <a:spcBef>
                <a:spcPct val="25000"/>
              </a:spcBef>
              <a:buFontTx/>
              <a:buNone/>
              <a:defRPr/>
            </a:pPr>
            <a:r>
              <a:rPr lang="ja-JP" altLang="en-US" sz="1200" dirty="0">
                <a:latin typeface="+mj-ea"/>
                <a:ea typeface="+mj-ea"/>
              </a:rPr>
              <a:t>「心構え」のことです。</a:t>
            </a:r>
            <a:endParaRPr lang="en-US" altLang="ja-JP" sz="1200" dirty="0">
              <a:latin typeface="+mj-ea"/>
              <a:ea typeface="+mj-ea"/>
            </a:endParaRPr>
          </a:p>
          <a:p>
            <a:pPr eaLnBrk="1" hangingPunct="1">
              <a:spcBef>
                <a:spcPct val="25000"/>
              </a:spcBef>
              <a:buFontTx/>
              <a:buNone/>
              <a:defRPr/>
            </a:pPr>
            <a:r>
              <a:rPr lang="ja-JP" altLang="en-US" sz="1200" dirty="0">
                <a:latin typeface="+mj-ea"/>
                <a:ea typeface="+mj-ea"/>
              </a:rPr>
              <a:t>　マルハングループの創業者である韓昌祐会長は、事業を拡大する間に常に大切にしてきた　創業の精神である「相手の立場に立って物事を考えること」「感謝の気持ちを忘れないこと」にもとづいて、１９９０年（平成２年）　に、マルハンの存在意義・社員の心構えを文言化し、「経営理念」「社訓」を制定しました。</a:t>
            </a:r>
          </a:p>
          <a:p>
            <a:pPr eaLnBrk="1" hangingPunct="1">
              <a:spcBef>
                <a:spcPct val="25000"/>
              </a:spcBef>
              <a:buFontTx/>
              <a:buNone/>
              <a:defRPr/>
            </a:pPr>
            <a:r>
              <a:rPr lang="ja-JP" altLang="en-US" sz="1200" dirty="0">
                <a:latin typeface="+mj-ea"/>
                <a:ea typeface="+mj-ea"/>
              </a:rPr>
              <a:t>　この後、全社員参加で行った１９９７年（平成９年）イズムプロジェクトでマルハンイズムを体系的に整理しました。また、再度イズムを見直す機会として、２００７年（平成１９年）の人材活性化プロジェクトを通して「マルハンらしさ」を継続的に討議してきました。このような経緯があるなか、マルハンイズムへ「企業姿勢」「提供価値」「組織理念」「行動指針」等の文言を加えてきました。　</a:t>
            </a:r>
          </a:p>
          <a:p>
            <a:pPr eaLnBrk="1" hangingPunct="1">
              <a:spcBef>
                <a:spcPct val="25000"/>
              </a:spcBef>
              <a:buFontTx/>
              <a:buNone/>
              <a:defRPr/>
            </a:pPr>
            <a:r>
              <a:rPr lang="ja-JP" altLang="en-US" sz="1200" dirty="0">
                <a:latin typeface="+mj-ea"/>
                <a:ea typeface="+mj-ea"/>
              </a:rPr>
              <a:t>　「創業の精神」と「マルハンイズム」は別物ではありません。マルハンイズムは、創業の精神にもとづいて、より具体的な内容や表現として理解しやすく、また行動しやすくしたものです。私たちマルハングループに参加する全員をつなぐ最も大切にする考え方が「マルハンイズム」です。</a:t>
            </a:r>
            <a:endParaRPr lang="en-US" altLang="ja-JP" sz="1200" dirty="0">
              <a:latin typeface="+mj-ea"/>
              <a:ea typeface="+mj-ea"/>
            </a:endParaRPr>
          </a:p>
          <a:p>
            <a:pPr eaLnBrk="1" hangingPunct="1">
              <a:spcBef>
                <a:spcPct val="25000"/>
              </a:spcBef>
              <a:buFontTx/>
              <a:buNone/>
              <a:defRPr/>
            </a:pPr>
            <a:r>
              <a:rPr lang="ja-JP" altLang="en-US" sz="1200" dirty="0">
                <a:latin typeface="+mj-ea"/>
                <a:ea typeface="+mj-ea"/>
              </a:rPr>
              <a:t>　「</a:t>
            </a:r>
            <a:r>
              <a:rPr lang="en-US" altLang="ja-JP" sz="1200" dirty="0">
                <a:latin typeface="+mj-ea"/>
                <a:ea typeface="+mj-ea"/>
              </a:rPr>
              <a:t>MMI</a:t>
            </a:r>
            <a:r>
              <a:rPr lang="ja-JP" altLang="en-US" sz="1200" dirty="0">
                <a:latin typeface="+mj-ea"/>
                <a:ea typeface="+mj-ea"/>
              </a:rPr>
              <a:t>イズム」にある「経営理念」と「社訓」は、マルハンのものと同じ文言を使用し、マルハングループとしての大切な考え方を明文化しています。</a:t>
            </a:r>
          </a:p>
        </p:txBody>
      </p:sp>
      <p:sp>
        <p:nvSpPr>
          <p:cNvPr id="9226" name="AutoShape 33">
            <a:extLst>
              <a:ext uri="{FF2B5EF4-FFF2-40B4-BE49-F238E27FC236}">
                <a16:creationId xmlns:a16="http://schemas.microsoft.com/office/drawing/2014/main" id="{BED38567-9C9D-45CE-8A58-464C270CA7D4}"/>
              </a:ext>
            </a:extLst>
          </p:cNvPr>
          <p:cNvSpPr>
            <a:spLocks noChangeArrowheads="1"/>
          </p:cNvSpPr>
          <p:nvPr/>
        </p:nvSpPr>
        <p:spPr bwMode="auto">
          <a:xfrm>
            <a:off x="990600" y="304800"/>
            <a:ext cx="4953000" cy="838200"/>
          </a:xfrm>
          <a:prstGeom prst="roundRect">
            <a:avLst>
              <a:gd name="adj" fmla="val 16667"/>
            </a:avLst>
          </a:prstGeom>
          <a:solidFill>
            <a:schemeClr val="bg1">
              <a:lumMod val="75000"/>
            </a:schemeClr>
          </a:solidFill>
          <a:ln>
            <a:noFill/>
          </a:ln>
        </p:spPr>
        <p:txBody>
          <a:bodyPr wrap="none"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defRPr/>
            </a:pPr>
            <a:endParaRPr lang="ja-JP" altLang="en-US" sz="3600">
              <a:latin typeface="メイリオ" panose="020B0604030504040204" pitchFamily="50" charset="-128"/>
              <a:ea typeface="メイリオ" panose="020B0604030504040204" pitchFamily="50" charset="-128"/>
            </a:endParaRPr>
          </a:p>
        </p:txBody>
      </p:sp>
      <p:sp>
        <p:nvSpPr>
          <p:cNvPr id="8202" name="Text Box 34">
            <a:extLst>
              <a:ext uri="{FF2B5EF4-FFF2-40B4-BE49-F238E27FC236}">
                <a16:creationId xmlns:a16="http://schemas.microsoft.com/office/drawing/2014/main" id="{C8EA1E86-04C5-4CD6-B522-32032F5EE54D}"/>
              </a:ext>
            </a:extLst>
          </p:cNvPr>
          <p:cNvSpPr txBox="1">
            <a:spLocks noChangeArrowheads="1"/>
          </p:cNvSpPr>
          <p:nvPr/>
        </p:nvSpPr>
        <p:spPr bwMode="auto">
          <a:xfrm>
            <a:off x="1143000" y="365125"/>
            <a:ext cx="4648200" cy="701675"/>
          </a:xfrm>
          <a:prstGeom prst="rect">
            <a:avLst/>
          </a:prstGeom>
          <a:noFill/>
          <a:ln>
            <a:noFill/>
          </a:ln>
          <a:effectLst>
            <a:outerShdw dist="45791" dir="2021404" algn="ctr" rotWithShape="0">
              <a:srgbClr val="B2B2B2">
                <a:alpha val="5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50000"/>
              </a:spcBef>
              <a:buFontTx/>
              <a:buNone/>
            </a:pPr>
            <a:r>
              <a:rPr lang="ja-JP" altLang="en-US" sz="4000" b="1">
                <a:solidFill>
                  <a:srgbClr val="FF0000"/>
                </a:solidFill>
                <a:latin typeface="メイリオ" panose="020B0604030504040204" pitchFamily="50" charset="-128"/>
                <a:ea typeface="メイリオ" panose="020B0604030504040204" pitchFamily="50" charset="-128"/>
              </a:rPr>
              <a:t>経営理念・社訓</a:t>
            </a:r>
          </a:p>
        </p:txBody>
      </p:sp>
      <p:sp>
        <p:nvSpPr>
          <p:cNvPr id="8203" name="Text Box 41">
            <a:extLst>
              <a:ext uri="{FF2B5EF4-FFF2-40B4-BE49-F238E27FC236}">
                <a16:creationId xmlns:a16="http://schemas.microsoft.com/office/drawing/2014/main" id="{14C2A494-C635-4484-8C6E-238AECE98032}"/>
              </a:ext>
            </a:extLst>
          </p:cNvPr>
          <p:cNvSpPr txBox="1">
            <a:spLocks noChangeArrowheads="1"/>
          </p:cNvSpPr>
          <p:nvPr/>
        </p:nvSpPr>
        <p:spPr bwMode="auto">
          <a:xfrm>
            <a:off x="838200" y="1484313"/>
            <a:ext cx="16764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50000"/>
              </a:spcBef>
              <a:buFontTx/>
              <a:buNone/>
            </a:pPr>
            <a:r>
              <a:rPr lang="ja-JP" altLang="en-US" sz="2200" b="1">
                <a:latin typeface="メイリオ" panose="020B0604030504040204" pitchFamily="50" charset="-128"/>
                <a:ea typeface="メイリオ" panose="020B0604030504040204" pitchFamily="50" charset="-128"/>
              </a:rPr>
              <a:t>経営理念</a:t>
            </a:r>
          </a:p>
        </p:txBody>
      </p:sp>
      <p:sp>
        <p:nvSpPr>
          <p:cNvPr id="8204" name="Text Box 46">
            <a:extLst>
              <a:ext uri="{FF2B5EF4-FFF2-40B4-BE49-F238E27FC236}">
                <a16:creationId xmlns:a16="http://schemas.microsoft.com/office/drawing/2014/main" id="{E2D73700-559F-4F77-B271-BC563FDBD009}"/>
              </a:ext>
            </a:extLst>
          </p:cNvPr>
          <p:cNvSpPr txBox="1">
            <a:spLocks noChangeArrowheads="1"/>
          </p:cNvSpPr>
          <p:nvPr/>
        </p:nvSpPr>
        <p:spPr bwMode="auto">
          <a:xfrm>
            <a:off x="685800" y="4008438"/>
            <a:ext cx="11430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50000"/>
              </a:spcBef>
              <a:buFontTx/>
              <a:buNone/>
            </a:pPr>
            <a:r>
              <a:rPr lang="ja-JP" altLang="en-US" sz="2200" b="1">
                <a:latin typeface="メイリオ" panose="020B0604030504040204" pitchFamily="50" charset="-128"/>
                <a:ea typeface="メイリオ" panose="020B0604030504040204" pitchFamily="50" charset="-128"/>
              </a:rPr>
              <a:t>社訓</a:t>
            </a:r>
          </a:p>
        </p:txBody>
      </p:sp>
      <p:sp>
        <p:nvSpPr>
          <p:cNvPr id="8205" name="Line 50">
            <a:extLst>
              <a:ext uri="{FF2B5EF4-FFF2-40B4-BE49-F238E27FC236}">
                <a16:creationId xmlns:a16="http://schemas.microsoft.com/office/drawing/2014/main" id="{FA3B97BC-F779-4AC9-95C3-0EBB2D241B1F}"/>
              </a:ext>
            </a:extLst>
          </p:cNvPr>
          <p:cNvSpPr>
            <a:spLocks noChangeShapeType="1"/>
          </p:cNvSpPr>
          <p:nvPr/>
        </p:nvSpPr>
        <p:spPr bwMode="auto">
          <a:xfrm>
            <a:off x="914400" y="1865313"/>
            <a:ext cx="1143000" cy="0"/>
          </a:xfrm>
          <a:prstGeom prst="line">
            <a:avLst/>
          </a:prstGeom>
          <a:noFill/>
          <a:ln w="69850" cmpd="thinThick">
            <a:solidFill>
              <a:schemeClr val="bg2"/>
            </a:solidFill>
            <a:round/>
            <a:headEnd/>
            <a:tailEnd/>
          </a:ln>
          <a:effectLst>
            <a:outerShdw dist="148106" dir="1857825" algn="ctr" rotWithShape="0">
              <a:srgbClr val="DDDDDD"/>
            </a:outerShdw>
          </a:effectLst>
          <a:extLst>
            <a:ext uri="{909E8E84-426E-40DD-AFC4-6F175D3DCCD1}">
              <a14:hiddenFill xmlns:a14="http://schemas.microsoft.com/office/drawing/2010/main">
                <a:noFill/>
              </a14:hiddenFill>
            </a:ext>
          </a:extLst>
        </p:spPr>
        <p:txBody>
          <a:bodyPr/>
          <a:lstStyle/>
          <a:p>
            <a:endParaRPr lang="ja-JP" altLang="en-US"/>
          </a:p>
        </p:txBody>
      </p:sp>
      <p:sp>
        <p:nvSpPr>
          <p:cNvPr id="8206" name="Line 51">
            <a:extLst>
              <a:ext uri="{FF2B5EF4-FFF2-40B4-BE49-F238E27FC236}">
                <a16:creationId xmlns:a16="http://schemas.microsoft.com/office/drawing/2014/main" id="{8E44E1DB-5647-471F-9C52-9C13DFC117A5}"/>
              </a:ext>
            </a:extLst>
          </p:cNvPr>
          <p:cNvSpPr>
            <a:spLocks noChangeShapeType="1"/>
          </p:cNvSpPr>
          <p:nvPr/>
        </p:nvSpPr>
        <p:spPr bwMode="auto">
          <a:xfrm>
            <a:off x="990600" y="4389438"/>
            <a:ext cx="609600" cy="0"/>
          </a:xfrm>
          <a:prstGeom prst="line">
            <a:avLst/>
          </a:prstGeom>
          <a:noFill/>
          <a:ln w="69850" cmpd="thinThick">
            <a:solidFill>
              <a:schemeClr val="bg2"/>
            </a:solidFill>
            <a:round/>
            <a:headEnd/>
            <a:tailEnd/>
          </a:ln>
          <a:effectLst>
            <a:outerShdw dist="148106" dir="1857825" algn="ctr" rotWithShape="0">
              <a:srgbClr val="DDDDDD"/>
            </a:outerShdw>
          </a:effectLst>
          <a:extLst>
            <a:ext uri="{909E8E84-426E-40DD-AFC4-6F175D3DCCD1}">
              <a14:hiddenFill xmlns:a14="http://schemas.microsoft.com/office/drawing/2010/main">
                <a:noFill/>
              </a14:hiddenFill>
            </a:ext>
          </a:extLst>
        </p:spPr>
        <p:txBody>
          <a:bodyPr/>
          <a:lstStyle/>
          <a:p>
            <a:endParaRPr lang="ja-JP" altLang="en-US"/>
          </a:p>
        </p:txBody>
      </p:sp>
      <p:sp>
        <p:nvSpPr>
          <p:cNvPr id="8207" name="Rectangle 1028">
            <a:extLst>
              <a:ext uri="{FF2B5EF4-FFF2-40B4-BE49-F238E27FC236}">
                <a16:creationId xmlns:a16="http://schemas.microsoft.com/office/drawing/2014/main" id="{F897DD2B-0640-4B89-B367-2AD7C8ABD728}"/>
              </a:ext>
            </a:extLst>
          </p:cNvPr>
          <p:cNvSpPr>
            <a:spLocks noChangeArrowheads="1"/>
          </p:cNvSpPr>
          <p:nvPr/>
        </p:nvSpPr>
        <p:spPr bwMode="auto">
          <a:xfrm>
            <a:off x="4584700" y="-28575"/>
            <a:ext cx="226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dist" eaLnBrk="1" hangingPunct="1">
              <a:spcBef>
                <a:spcPct val="0"/>
              </a:spcBef>
              <a:buFontTx/>
              <a:buNone/>
            </a:pPr>
            <a:r>
              <a:rPr lang="ja-JP" altLang="en-US" sz="1600">
                <a:latin typeface="メイリオ" panose="020B0604030504040204" pitchFamily="50" charset="-128"/>
                <a:ea typeface="メイリオ" panose="020B0604030504040204" pitchFamily="50" charset="-128"/>
              </a:rPr>
              <a:t>経営理念・社訓</a:t>
            </a:r>
          </a:p>
        </p:txBody>
      </p:sp>
      <p:sp>
        <p:nvSpPr>
          <p:cNvPr id="21" name="Google Shape;1346;p122">
            <a:extLst>
              <a:ext uri="{FF2B5EF4-FFF2-40B4-BE49-F238E27FC236}">
                <a16:creationId xmlns:a16="http://schemas.microsoft.com/office/drawing/2014/main" id="{572B2878-22CB-43F8-A974-D78465831D1C}"/>
              </a:ext>
            </a:extLst>
          </p:cNvPr>
          <p:cNvSpPr txBox="1"/>
          <p:nvPr/>
        </p:nvSpPr>
        <p:spPr>
          <a:xfrm>
            <a:off x="6502400" y="8990013"/>
            <a:ext cx="344488" cy="161925"/>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D492B483-FBC8-4300-94A8-239C1BD77198}"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6</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a:extLst>
              <a:ext uri="{FF2B5EF4-FFF2-40B4-BE49-F238E27FC236}">
                <a16:creationId xmlns:a16="http://schemas.microsoft.com/office/drawing/2014/main" id="{79530B28-F527-4FE4-B24B-F8DB641518EE}"/>
              </a:ext>
            </a:extLst>
          </p:cNvPr>
          <p:cNvSpPr>
            <a:spLocks noChangeArrowheads="1"/>
          </p:cNvSpPr>
          <p:nvPr/>
        </p:nvSpPr>
        <p:spPr bwMode="auto">
          <a:xfrm>
            <a:off x="609600" y="1685925"/>
            <a:ext cx="59436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just" eaLnBrk="1" hangingPunct="1">
              <a:lnSpc>
                <a:spcPct val="130000"/>
              </a:lnSpc>
              <a:buFontTx/>
              <a:buNone/>
            </a:pPr>
            <a:r>
              <a:rPr lang="en-US" altLang="ja-JP" sz="1800" b="1">
                <a:latin typeface="メイリオ" panose="020B0604030504040204" pitchFamily="50" charset="-128"/>
                <a:ea typeface="メイリオ" panose="020B0604030504040204" pitchFamily="50" charset="-128"/>
              </a:rPr>
              <a:t>●</a:t>
            </a:r>
            <a:r>
              <a:rPr lang="ja-JP" altLang="en-US" sz="1800" b="1">
                <a:latin typeface="メイリオ" panose="020B0604030504040204" pitchFamily="50" charset="-128"/>
                <a:ea typeface="メイリオ" panose="020B0604030504040204" pitchFamily="50" charset="-128"/>
              </a:rPr>
              <a:t>企業責任と社会貢献</a:t>
            </a:r>
          </a:p>
          <a:p>
            <a:pPr algn="just" eaLnBrk="1" hangingPunct="1">
              <a:lnSpc>
                <a:spcPct val="130000"/>
              </a:lnSpc>
              <a:buFontTx/>
              <a:buNone/>
            </a:pPr>
            <a:r>
              <a:rPr lang="ja-JP" altLang="en-US" sz="1800" b="1">
                <a:latin typeface="メイリオ" panose="020B0604030504040204" pitchFamily="50" charset="-128"/>
                <a:ea typeface="メイリオ" panose="020B0604030504040204" pitchFamily="50" charset="-128"/>
              </a:rPr>
              <a:t>●業界を変える　</a:t>
            </a:r>
          </a:p>
        </p:txBody>
      </p:sp>
      <p:sp>
        <p:nvSpPr>
          <p:cNvPr id="10244" name="AutoShape 8">
            <a:extLst>
              <a:ext uri="{FF2B5EF4-FFF2-40B4-BE49-F238E27FC236}">
                <a16:creationId xmlns:a16="http://schemas.microsoft.com/office/drawing/2014/main" id="{DCE2973C-C4CC-47EA-B1CA-A9A87D08761C}"/>
              </a:ext>
            </a:extLst>
          </p:cNvPr>
          <p:cNvSpPr>
            <a:spLocks noChangeArrowheads="1"/>
          </p:cNvSpPr>
          <p:nvPr/>
        </p:nvSpPr>
        <p:spPr bwMode="auto">
          <a:xfrm>
            <a:off x="990600" y="314325"/>
            <a:ext cx="4953000" cy="838200"/>
          </a:xfrm>
          <a:prstGeom prst="roundRect">
            <a:avLst>
              <a:gd name="adj" fmla="val 16667"/>
            </a:avLst>
          </a:prstGeom>
          <a:solidFill>
            <a:schemeClr val="bg1">
              <a:lumMod val="75000"/>
            </a:schemeClr>
          </a:solidFill>
          <a:ln>
            <a:noFill/>
          </a:ln>
        </p:spPr>
        <p:txBody>
          <a:bodyPr wrap="none"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defRPr/>
            </a:pPr>
            <a:endParaRPr lang="ja-JP" altLang="en-US" sz="3600">
              <a:latin typeface="メイリオ" panose="020B0604030504040204" pitchFamily="50" charset="-128"/>
              <a:ea typeface="メイリオ" panose="020B0604030504040204" pitchFamily="50" charset="-128"/>
            </a:endParaRPr>
          </a:p>
        </p:txBody>
      </p:sp>
      <p:sp>
        <p:nvSpPr>
          <p:cNvPr id="9220" name="Text Box 9">
            <a:extLst>
              <a:ext uri="{FF2B5EF4-FFF2-40B4-BE49-F238E27FC236}">
                <a16:creationId xmlns:a16="http://schemas.microsoft.com/office/drawing/2014/main" id="{2A4A9C53-F05E-4983-8705-0242065BE78F}"/>
              </a:ext>
            </a:extLst>
          </p:cNvPr>
          <p:cNvSpPr txBox="1">
            <a:spLocks noChangeArrowheads="1"/>
          </p:cNvSpPr>
          <p:nvPr/>
        </p:nvSpPr>
        <p:spPr bwMode="auto">
          <a:xfrm>
            <a:off x="1143000" y="374650"/>
            <a:ext cx="4648200" cy="701675"/>
          </a:xfrm>
          <a:prstGeom prst="rect">
            <a:avLst/>
          </a:prstGeom>
          <a:noFill/>
          <a:ln>
            <a:noFill/>
          </a:ln>
          <a:effectLst>
            <a:outerShdw dist="40161" dir="1106097" algn="ctr" rotWithShape="0">
              <a:srgbClr val="B2B2B2">
                <a:alpha val="5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50000"/>
              </a:spcBef>
              <a:buFontTx/>
              <a:buNone/>
            </a:pPr>
            <a:r>
              <a:rPr lang="ja-JP" altLang="en-US" sz="4000" b="1">
                <a:solidFill>
                  <a:srgbClr val="FF0000"/>
                </a:solidFill>
                <a:latin typeface="メイリオ" panose="020B0604030504040204" pitchFamily="50" charset="-128"/>
                <a:ea typeface="メイリオ" panose="020B0604030504040204" pitchFamily="50" charset="-128"/>
              </a:rPr>
              <a:t>企業姿勢</a:t>
            </a:r>
          </a:p>
        </p:txBody>
      </p:sp>
      <p:sp>
        <p:nvSpPr>
          <p:cNvPr id="9221" name="Rectangle 1028">
            <a:extLst>
              <a:ext uri="{FF2B5EF4-FFF2-40B4-BE49-F238E27FC236}">
                <a16:creationId xmlns:a16="http://schemas.microsoft.com/office/drawing/2014/main" id="{C1F575F7-BD8C-4903-A6FC-8EC63A92B3F0}"/>
              </a:ext>
            </a:extLst>
          </p:cNvPr>
          <p:cNvSpPr>
            <a:spLocks noChangeArrowheads="1"/>
          </p:cNvSpPr>
          <p:nvPr/>
        </p:nvSpPr>
        <p:spPr bwMode="auto">
          <a:xfrm>
            <a:off x="4584700" y="-19050"/>
            <a:ext cx="226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dist" eaLnBrk="1" hangingPunct="1">
              <a:spcBef>
                <a:spcPct val="0"/>
              </a:spcBef>
              <a:buFontTx/>
              <a:buNone/>
            </a:pPr>
            <a:r>
              <a:rPr lang="ja-JP" altLang="en-US" sz="1600">
                <a:latin typeface="メイリオ" panose="020B0604030504040204" pitchFamily="50" charset="-128"/>
                <a:ea typeface="メイリオ" panose="020B0604030504040204" pitchFamily="50" charset="-128"/>
              </a:rPr>
              <a:t>企業姿勢</a:t>
            </a:r>
          </a:p>
        </p:txBody>
      </p:sp>
      <p:sp>
        <p:nvSpPr>
          <p:cNvPr id="7" name="Google Shape;1346;p122">
            <a:extLst>
              <a:ext uri="{FF2B5EF4-FFF2-40B4-BE49-F238E27FC236}">
                <a16:creationId xmlns:a16="http://schemas.microsoft.com/office/drawing/2014/main" id="{10FF1A74-1DD8-4DBF-B56E-63489F31B2BE}"/>
              </a:ext>
            </a:extLst>
          </p:cNvPr>
          <p:cNvSpPr txBox="1"/>
          <p:nvPr/>
        </p:nvSpPr>
        <p:spPr>
          <a:xfrm>
            <a:off x="6502400" y="8990013"/>
            <a:ext cx="344488" cy="161925"/>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437EC6C4-0E4E-47D5-9D67-41F8D2A2B26F}"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7</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2" name="Group 24">
            <a:extLst>
              <a:ext uri="{FF2B5EF4-FFF2-40B4-BE49-F238E27FC236}">
                <a16:creationId xmlns:a16="http://schemas.microsoft.com/office/drawing/2014/main" id="{81C483C5-E176-4F92-89AD-E48EE420A7D1}"/>
              </a:ext>
            </a:extLst>
          </p:cNvPr>
          <p:cNvGrpSpPr>
            <a:grpSpLocks/>
          </p:cNvGrpSpPr>
          <p:nvPr/>
        </p:nvGrpSpPr>
        <p:grpSpPr bwMode="auto">
          <a:xfrm>
            <a:off x="762000" y="457200"/>
            <a:ext cx="5638800" cy="2459038"/>
            <a:chOff x="567" y="125"/>
            <a:chExt cx="3129" cy="2353"/>
          </a:xfrm>
        </p:grpSpPr>
        <p:sp>
          <p:nvSpPr>
            <p:cNvPr id="10249" name="Rectangle 25">
              <a:extLst>
                <a:ext uri="{FF2B5EF4-FFF2-40B4-BE49-F238E27FC236}">
                  <a16:creationId xmlns:a16="http://schemas.microsoft.com/office/drawing/2014/main" id="{A21B2CD7-FA3E-47C4-B070-43E8A68046AC}"/>
                </a:ext>
              </a:extLst>
            </p:cNvPr>
            <p:cNvSpPr>
              <a:spLocks noChangeArrowheads="1"/>
            </p:cNvSpPr>
            <p:nvPr/>
          </p:nvSpPr>
          <p:spPr bwMode="auto">
            <a:xfrm>
              <a:off x="593" y="151"/>
              <a:ext cx="3103" cy="2327"/>
            </a:xfrm>
            <a:prstGeom prst="rect">
              <a:avLst/>
            </a:prstGeom>
            <a:solidFill>
              <a:srgbClr val="000000"/>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10250" name="Rectangle 26">
              <a:extLst>
                <a:ext uri="{FF2B5EF4-FFF2-40B4-BE49-F238E27FC236}">
                  <a16:creationId xmlns:a16="http://schemas.microsoft.com/office/drawing/2014/main" id="{EFCDF0EE-BB09-401C-B9D9-DDC29C1EDA7D}"/>
                </a:ext>
              </a:extLst>
            </p:cNvPr>
            <p:cNvSpPr>
              <a:spLocks noChangeArrowheads="1"/>
            </p:cNvSpPr>
            <p:nvPr/>
          </p:nvSpPr>
          <p:spPr bwMode="auto">
            <a:xfrm>
              <a:off x="567" y="125"/>
              <a:ext cx="3103" cy="2327"/>
            </a:xfrm>
            <a:prstGeom prst="rect">
              <a:avLst/>
            </a:prstGeom>
            <a:solidFill>
              <a:srgbClr val="FFFFFF"/>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grpSp>
      <p:sp>
        <p:nvSpPr>
          <p:cNvPr id="10243" name="Rectangle 16">
            <a:extLst>
              <a:ext uri="{FF2B5EF4-FFF2-40B4-BE49-F238E27FC236}">
                <a16:creationId xmlns:a16="http://schemas.microsoft.com/office/drawing/2014/main" id="{BC9C669D-11BD-42C8-A191-F248811671D1}"/>
              </a:ext>
            </a:extLst>
          </p:cNvPr>
          <p:cNvSpPr>
            <a:spLocks noChangeArrowheads="1"/>
          </p:cNvSpPr>
          <p:nvPr/>
        </p:nvSpPr>
        <p:spPr bwMode="auto">
          <a:xfrm>
            <a:off x="1219200" y="685800"/>
            <a:ext cx="25384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2200" b="1">
                <a:solidFill>
                  <a:srgbClr val="000000"/>
                </a:solidFill>
                <a:latin typeface="メイリオ" panose="020B0604030504040204" pitchFamily="50" charset="-128"/>
                <a:ea typeface="メイリオ" panose="020B0604030504040204" pitchFamily="50" charset="-128"/>
              </a:rPr>
              <a:t>企業責任と社会貢献</a:t>
            </a:r>
            <a:endParaRPr lang="ja-JP" altLang="en-US" sz="2200" b="1">
              <a:latin typeface="メイリオ" panose="020B0604030504040204" pitchFamily="50" charset="-128"/>
              <a:ea typeface="メイリオ" panose="020B0604030504040204" pitchFamily="50" charset="-128"/>
            </a:endParaRPr>
          </a:p>
        </p:txBody>
      </p:sp>
      <p:sp>
        <p:nvSpPr>
          <p:cNvPr id="10244" name="Rectangle 19">
            <a:extLst>
              <a:ext uri="{FF2B5EF4-FFF2-40B4-BE49-F238E27FC236}">
                <a16:creationId xmlns:a16="http://schemas.microsoft.com/office/drawing/2014/main" id="{5AF7A29D-207D-4261-916A-1A54F87CCA01}"/>
              </a:ext>
            </a:extLst>
          </p:cNvPr>
          <p:cNvSpPr>
            <a:spLocks noChangeArrowheads="1"/>
          </p:cNvSpPr>
          <p:nvPr/>
        </p:nvSpPr>
        <p:spPr bwMode="auto">
          <a:xfrm>
            <a:off x="1219200" y="1403350"/>
            <a:ext cx="4800600"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60000"/>
              </a:spcBef>
              <a:buFontTx/>
              <a:buNone/>
            </a:pPr>
            <a:r>
              <a:rPr lang="ja-JP" altLang="en-US" sz="1700" b="1" dirty="0">
                <a:latin typeface="メイリオ" panose="020B0604030504040204" pitchFamily="50" charset="-128"/>
                <a:ea typeface="メイリオ" panose="020B0604030504040204" pitchFamily="50" charset="-128"/>
              </a:rPr>
              <a:t>私たちは社会の持つさまざまな問題に真摯に</a:t>
            </a:r>
          </a:p>
          <a:p>
            <a:pPr eaLnBrk="1" hangingPunct="1">
              <a:spcBef>
                <a:spcPct val="60000"/>
              </a:spcBef>
              <a:buFontTx/>
              <a:buNone/>
            </a:pPr>
            <a:r>
              <a:rPr lang="ja-JP" altLang="en-US" sz="1700" b="1" dirty="0">
                <a:latin typeface="メイリオ" panose="020B0604030504040204" pitchFamily="50" charset="-128"/>
                <a:ea typeface="メイリオ" panose="020B0604030504040204" pitchFamily="50" charset="-128"/>
              </a:rPr>
              <a:t>取り組み、「良き企業市民」としての責務を</a:t>
            </a:r>
          </a:p>
          <a:p>
            <a:pPr eaLnBrk="1" hangingPunct="1">
              <a:spcBef>
                <a:spcPct val="60000"/>
              </a:spcBef>
              <a:buFontTx/>
              <a:buNone/>
            </a:pPr>
            <a:r>
              <a:rPr lang="ja-JP" altLang="en-US" sz="1700" b="1" dirty="0">
                <a:latin typeface="メイリオ" panose="020B0604030504040204" pitchFamily="50" charset="-128"/>
                <a:ea typeface="メイリオ" panose="020B0604030504040204" pitchFamily="50" charset="-128"/>
              </a:rPr>
              <a:t>果たします。</a:t>
            </a:r>
          </a:p>
        </p:txBody>
      </p:sp>
      <p:sp>
        <p:nvSpPr>
          <p:cNvPr id="10245" name="Line 40">
            <a:extLst>
              <a:ext uri="{FF2B5EF4-FFF2-40B4-BE49-F238E27FC236}">
                <a16:creationId xmlns:a16="http://schemas.microsoft.com/office/drawing/2014/main" id="{04FB6521-9B85-4EA7-9DB3-97E9EB1F5C36}"/>
              </a:ext>
            </a:extLst>
          </p:cNvPr>
          <p:cNvSpPr>
            <a:spLocks noChangeShapeType="1"/>
          </p:cNvSpPr>
          <p:nvPr/>
        </p:nvSpPr>
        <p:spPr bwMode="auto">
          <a:xfrm flipV="1">
            <a:off x="1219200" y="1066800"/>
            <a:ext cx="2514600" cy="0"/>
          </a:xfrm>
          <a:prstGeom prst="line">
            <a:avLst/>
          </a:prstGeom>
          <a:noFill/>
          <a:ln w="69850" cmpd="thinThick">
            <a:solidFill>
              <a:schemeClr val="bg2"/>
            </a:solidFill>
            <a:round/>
            <a:headEnd/>
            <a:tailEnd/>
          </a:ln>
          <a:effectLst>
            <a:outerShdw dist="148106" dir="1857825" algn="ctr" rotWithShape="0">
              <a:srgbClr val="DDDDDD"/>
            </a:outerShdw>
          </a:effectLst>
          <a:extLst>
            <a:ext uri="{909E8E84-426E-40DD-AFC4-6F175D3DCCD1}">
              <a14:hiddenFill xmlns:a14="http://schemas.microsoft.com/office/drawing/2010/main">
                <a:noFill/>
              </a14:hiddenFill>
            </a:ext>
          </a:extLst>
        </p:spPr>
        <p:txBody>
          <a:bodyPr/>
          <a:lstStyle/>
          <a:p>
            <a:endParaRPr lang="ja-JP" altLang="en-US"/>
          </a:p>
        </p:txBody>
      </p:sp>
      <p:sp>
        <p:nvSpPr>
          <p:cNvPr id="11271" name="Rectangle 2060">
            <a:extLst>
              <a:ext uri="{FF2B5EF4-FFF2-40B4-BE49-F238E27FC236}">
                <a16:creationId xmlns:a16="http://schemas.microsoft.com/office/drawing/2014/main" id="{CC000360-4D5F-49BF-9D3A-83C7C6CAA022}"/>
              </a:ext>
            </a:extLst>
          </p:cNvPr>
          <p:cNvSpPr>
            <a:spLocks noChangeArrowheads="1"/>
          </p:cNvSpPr>
          <p:nvPr/>
        </p:nvSpPr>
        <p:spPr bwMode="auto">
          <a:xfrm>
            <a:off x="361950" y="3252788"/>
            <a:ext cx="6267450" cy="401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lnSpc>
                <a:spcPct val="140000"/>
              </a:lnSpc>
              <a:buFontTx/>
              <a:buNone/>
              <a:defRPr/>
            </a:pPr>
            <a:r>
              <a:rPr lang="ja-JP" altLang="en-US" sz="1200" dirty="0">
                <a:latin typeface="+mj-ea"/>
                <a:ea typeface="+mj-ea"/>
              </a:rPr>
              <a:t>　企業責任と社会貢献とは、「社会に対する、企業全体の取り組み姿勢」のことです。</a:t>
            </a:r>
            <a:endParaRPr lang="en-US" altLang="ja-JP" sz="1200" dirty="0">
              <a:latin typeface="+mj-ea"/>
              <a:ea typeface="+mj-ea"/>
            </a:endParaRPr>
          </a:p>
          <a:p>
            <a:pPr eaLnBrk="1" hangingPunct="1">
              <a:lnSpc>
                <a:spcPct val="140000"/>
              </a:lnSpc>
              <a:buFontTx/>
              <a:buNone/>
              <a:defRPr/>
            </a:pPr>
            <a:r>
              <a:rPr lang="ja-JP" altLang="en-US" sz="1200" dirty="0">
                <a:latin typeface="+mj-ea"/>
                <a:ea typeface="+mj-ea"/>
              </a:rPr>
              <a:t> </a:t>
            </a:r>
            <a:endParaRPr lang="en-US" altLang="ja-JP" sz="1200" dirty="0">
              <a:latin typeface="+mj-ea"/>
              <a:ea typeface="+mj-ea"/>
            </a:endParaRPr>
          </a:p>
          <a:p>
            <a:pPr eaLnBrk="1" hangingPunct="1">
              <a:lnSpc>
                <a:spcPct val="140000"/>
              </a:lnSpc>
              <a:buFontTx/>
              <a:buNone/>
              <a:defRPr/>
            </a:pPr>
            <a:r>
              <a:rPr lang="ja-JP" altLang="en-US" sz="1200" dirty="0">
                <a:latin typeface="+mj-ea"/>
                <a:ea typeface="+mj-ea"/>
              </a:rPr>
              <a:t>　「エムエムインターナショナル」　も　企業の１つです。</a:t>
            </a:r>
            <a:endParaRPr lang="en-US" altLang="ja-JP" sz="1200" dirty="0">
              <a:latin typeface="+mj-ea"/>
              <a:ea typeface="+mj-ea"/>
            </a:endParaRPr>
          </a:p>
          <a:p>
            <a:pPr eaLnBrk="1" hangingPunct="1">
              <a:lnSpc>
                <a:spcPct val="140000"/>
              </a:lnSpc>
              <a:buFontTx/>
              <a:buNone/>
              <a:defRPr/>
            </a:pPr>
            <a:r>
              <a:rPr lang="ja-JP" altLang="en-US" sz="1200" dirty="0">
                <a:latin typeface="+mj-ea"/>
                <a:ea typeface="+mj-ea"/>
              </a:rPr>
              <a:t>どんな企業も、ただ売上や利益を追求するだけではなく、「豊かで住みよい社会づくりのために努力し、役立っていくこと」　が、強く望まれています。私たちも　「良き企業市民」　として、社会に対し責務を果たし、期待に応えていくことが大切です。</a:t>
            </a:r>
          </a:p>
          <a:p>
            <a:pPr eaLnBrk="1" hangingPunct="1">
              <a:lnSpc>
                <a:spcPct val="140000"/>
              </a:lnSpc>
              <a:buFontTx/>
              <a:buNone/>
              <a:defRPr/>
            </a:pPr>
            <a:endParaRPr lang="ja-JP" altLang="en-US" sz="1200" dirty="0">
              <a:latin typeface="+mj-ea"/>
              <a:ea typeface="+mj-ea"/>
            </a:endParaRPr>
          </a:p>
          <a:p>
            <a:pPr eaLnBrk="1" hangingPunct="1">
              <a:lnSpc>
                <a:spcPct val="140000"/>
              </a:lnSpc>
              <a:buFontTx/>
              <a:buNone/>
              <a:defRPr/>
            </a:pPr>
            <a:r>
              <a:rPr lang="ja-JP" altLang="en-US" sz="1200" dirty="0">
                <a:latin typeface="+mj-ea"/>
                <a:ea typeface="+mj-ea"/>
              </a:rPr>
              <a:t>　私たちは、事業を拡大すること自体を、</a:t>
            </a:r>
            <a:endParaRPr lang="en-US" altLang="ja-JP" sz="1200" dirty="0">
              <a:latin typeface="+mj-ea"/>
              <a:ea typeface="+mj-ea"/>
            </a:endParaRPr>
          </a:p>
          <a:p>
            <a:pPr eaLnBrk="1" hangingPunct="1">
              <a:lnSpc>
                <a:spcPct val="140000"/>
              </a:lnSpc>
              <a:buFontTx/>
              <a:buNone/>
              <a:defRPr/>
            </a:pPr>
            <a:r>
              <a:rPr lang="ja-JP" altLang="en-US" sz="1200" dirty="0">
                <a:latin typeface="+mj-ea"/>
                <a:ea typeface="+mj-ea"/>
              </a:rPr>
              <a:t>「地域における経済を活性化させ、雇用機会と納税を増やし、広く国民生活に寄与すること」　と考え、社会的責任を果たす活動の１つであると考えます。</a:t>
            </a:r>
          </a:p>
          <a:p>
            <a:pPr eaLnBrk="1" hangingPunct="1">
              <a:lnSpc>
                <a:spcPct val="140000"/>
              </a:lnSpc>
              <a:buFontTx/>
              <a:buNone/>
              <a:defRPr/>
            </a:pPr>
            <a:endParaRPr lang="en-US" altLang="ja-JP" sz="1200" dirty="0">
              <a:latin typeface="+mj-ea"/>
              <a:ea typeface="+mj-ea"/>
            </a:endParaRPr>
          </a:p>
          <a:p>
            <a:pPr eaLnBrk="1" hangingPunct="1">
              <a:lnSpc>
                <a:spcPct val="140000"/>
              </a:lnSpc>
              <a:buFontTx/>
              <a:buNone/>
              <a:defRPr/>
            </a:pPr>
            <a:r>
              <a:rPr lang="ja-JP" altLang="en-US" sz="1200" dirty="0">
                <a:latin typeface="+mj-ea"/>
                <a:ea typeface="+mj-ea"/>
              </a:rPr>
              <a:t>　また、環境問題やリサイクル問題など、</a:t>
            </a:r>
            <a:endParaRPr lang="en-US" altLang="ja-JP" sz="1200" dirty="0">
              <a:latin typeface="+mj-ea"/>
              <a:ea typeface="+mj-ea"/>
            </a:endParaRPr>
          </a:p>
          <a:p>
            <a:pPr eaLnBrk="1" hangingPunct="1">
              <a:lnSpc>
                <a:spcPct val="140000"/>
              </a:lnSpc>
              <a:buFontTx/>
              <a:buNone/>
              <a:defRPr/>
            </a:pPr>
            <a:r>
              <a:rPr lang="ja-JP" altLang="en-US" sz="1200" dirty="0">
                <a:latin typeface="+mj-ea"/>
                <a:ea typeface="+mj-ea"/>
              </a:rPr>
              <a:t>私たちの事業に派生するさまざまな問題に対し正面から取り組み、健全で明るい社会づくりに貢献します。さらに、継続的な社会貢献活動も展開し、社会との調和を図っていきます。</a:t>
            </a:r>
            <a:endParaRPr lang="en-US" altLang="ja-JP" sz="1200" dirty="0">
              <a:latin typeface="+mj-ea"/>
              <a:ea typeface="+mj-ea"/>
            </a:endParaRPr>
          </a:p>
        </p:txBody>
      </p:sp>
      <p:sp>
        <p:nvSpPr>
          <p:cNvPr id="10247" name="Rectangle 1028">
            <a:extLst>
              <a:ext uri="{FF2B5EF4-FFF2-40B4-BE49-F238E27FC236}">
                <a16:creationId xmlns:a16="http://schemas.microsoft.com/office/drawing/2014/main" id="{75268763-FE09-4F21-83DD-6398FD309997}"/>
              </a:ext>
            </a:extLst>
          </p:cNvPr>
          <p:cNvSpPr>
            <a:spLocks noChangeArrowheads="1"/>
          </p:cNvSpPr>
          <p:nvPr/>
        </p:nvSpPr>
        <p:spPr bwMode="auto">
          <a:xfrm>
            <a:off x="4584700" y="-28575"/>
            <a:ext cx="226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dist" eaLnBrk="1" hangingPunct="1">
              <a:spcBef>
                <a:spcPct val="0"/>
              </a:spcBef>
              <a:buFontTx/>
              <a:buNone/>
            </a:pPr>
            <a:r>
              <a:rPr lang="ja-JP" altLang="en-US" sz="1600">
                <a:latin typeface="メイリオ" panose="020B0604030504040204" pitchFamily="50" charset="-128"/>
                <a:ea typeface="メイリオ" panose="020B0604030504040204" pitchFamily="50" charset="-128"/>
              </a:rPr>
              <a:t>企業姿勢</a:t>
            </a:r>
          </a:p>
        </p:txBody>
      </p:sp>
      <p:sp>
        <p:nvSpPr>
          <p:cNvPr id="11" name="Google Shape;1346;p122">
            <a:extLst>
              <a:ext uri="{FF2B5EF4-FFF2-40B4-BE49-F238E27FC236}">
                <a16:creationId xmlns:a16="http://schemas.microsoft.com/office/drawing/2014/main" id="{0B023168-9199-451E-8620-0F610BC848C2}"/>
              </a:ext>
            </a:extLst>
          </p:cNvPr>
          <p:cNvSpPr txBox="1"/>
          <p:nvPr/>
        </p:nvSpPr>
        <p:spPr>
          <a:xfrm>
            <a:off x="6502400" y="8990013"/>
            <a:ext cx="344488" cy="161925"/>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E6927848-04CB-4A22-BC5F-8B848D51434F}"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8</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66" name="Group 20">
            <a:extLst>
              <a:ext uri="{FF2B5EF4-FFF2-40B4-BE49-F238E27FC236}">
                <a16:creationId xmlns:a16="http://schemas.microsoft.com/office/drawing/2014/main" id="{5F0A66B1-A2AF-4FE5-9152-3867E0AE1AD6}"/>
              </a:ext>
            </a:extLst>
          </p:cNvPr>
          <p:cNvGrpSpPr>
            <a:grpSpLocks/>
          </p:cNvGrpSpPr>
          <p:nvPr/>
        </p:nvGrpSpPr>
        <p:grpSpPr bwMode="auto">
          <a:xfrm>
            <a:off x="762000" y="457200"/>
            <a:ext cx="5638800" cy="3198813"/>
            <a:chOff x="567" y="125"/>
            <a:chExt cx="3129" cy="2353"/>
          </a:xfrm>
        </p:grpSpPr>
        <p:sp>
          <p:nvSpPr>
            <p:cNvPr id="11274" name="Rectangle 21">
              <a:extLst>
                <a:ext uri="{FF2B5EF4-FFF2-40B4-BE49-F238E27FC236}">
                  <a16:creationId xmlns:a16="http://schemas.microsoft.com/office/drawing/2014/main" id="{302BA126-2BB3-471A-A425-6ACBD334E9CB}"/>
                </a:ext>
              </a:extLst>
            </p:cNvPr>
            <p:cNvSpPr>
              <a:spLocks noChangeArrowheads="1"/>
            </p:cNvSpPr>
            <p:nvPr/>
          </p:nvSpPr>
          <p:spPr bwMode="auto">
            <a:xfrm>
              <a:off x="593" y="151"/>
              <a:ext cx="3103" cy="2327"/>
            </a:xfrm>
            <a:prstGeom prst="rect">
              <a:avLst/>
            </a:prstGeom>
            <a:solidFill>
              <a:srgbClr val="000000"/>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11275" name="Rectangle 22">
              <a:extLst>
                <a:ext uri="{FF2B5EF4-FFF2-40B4-BE49-F238E27FC236}">
                  <a16:creationId xmlns:a16="http://schemas.microsoft.com/office/drawing/2014/main" id="{BC3D32E7-6ED3-46BB-8F3E-8B27BF2C3659}"/>
                </a:ext>
              </a:extLst>
            </p:cNvPr>
            <p:cNvSpPr>
              <a:spLocks noChangeArrowheads="1"/>
            </p:cNvSpPr>
            <p:nvPr/>
          </p:nvSpPr>
          <p:spPr bwMode="auto">
            <a:xfrm>
              <a:off x="567" y="125"/>
              <a:ext cx="3103" cy="2327"/>
            </a:xfrm>
            <a:prstGeom prst="rect">
              <a:avLst/>
            </a:prstGeom>
            <a:solidFill>
              <a:srgbClr val="FFFFFF"/>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grpSp>
      <p:sp>
        <p:nvSpPr>
          <p:cNvPr id="11267" name="Rectangle 12">
            <a:extLst>
              <a:ext uri="{FF2B5EF4-FFF2-40B4-BE49-F238E27FC236}">
                <a16:creationId xmlns:a16="http://schemas.microsoft.com/office/drawing/2014/main" id="{80A054EB-47E5-4C0F-9275-51844859AA43}"/>
              </a:ext>
            </a:extLst>
          </p:cNvPr>
          <p:cNvSpPr>
            <a:spLocks noChangeArrowheads="1"/>
          </p:cNvSpPr>
          <p:nvPr/>
        </p:nvSpPr>
        <p:spPr bwMode="auto">
          <a:xfrm>
            <a:off x="1119188" y="322263"/>
            <a:ext cx="418782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11268" name="Rectangle 13">
            <a:extLst>
              <a:ext uri="{FF2B5EF4-FFF2-40B4-BE49-F238E27FC236}">
                <a16:creationId xmlns:a16="http://schemas.microsoft.com/office/drawing/2014/main" id="{A6A11280-731A-4A0B-92BB-9357CBA53E2A}"/>
              </a:ext>
            </a:extLst>
          </p:cNvPr>
          <p:cNvSpPr>
            <a:spLocks noChangeArrowheads="1"/>
          </p:cNvSpPr>
          <p:nvPr/>
        </p:nvSpPr>
        <p:spPr bwMode="auto">
          <a:xfrm>
            <a:off x="1219200" y="685800"/>
            <a:ext cx="16922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2200" b="1">
                <a:solidFill>
                  <a:srgbClr val="000000"/>
                </a:solidFill>
                <a:latin typeface="メイリオ" panose="020B0604030504040204" pitchFamily="50" charset="-128"/>
                <a:ea typeface="メイリオ" panose="020B0604030504040204" pitchFamily="50" charset="-128"/>
              </a:rPr>
              <a:t>業界を変える</a:t>
            </a:r>
            <a:endParaRPr lang="ja-JP" altLang="en-US" sz="1400" b="1">
              <a:latin typeface="メイリオ" panose="020B0604030504040204" pitchFamily="50" charset="-128"/>
              <a:ea typeface="メイリオ" panose="020B0604030504040204" pitchFamily="50" charset="-128"/>
            </a:endParaRPr>
          </a:p>
        </p:txBody>
      </p:sp>
      <p:sp>
        <p:nvSpPr>
          <p:cNvPr id="11269" name="Rectangle 15">
            <a:extLst>
              <a:ext uri="{FF2B5EF4-FFF2-40B4-BE49-F238E27FC236}">
                <a16:creationId xmlns:a16="http://schemas.microsoft.com/office/drawing/2014/main" id="{A88A4831-BC6D-4AFE-B07B-B850BA149564}"/>
              </a:ext>
            </a:extLst>
          </p:cNvPr>
          <p:cNvSpPr>
            <a:spLocks noChangeArrowheads="1"/>
          </p:cNvSpPr>
          <p:nvPr/>
        </p:nvSpPr>
        <p:spPr bwMode="auto">
          <a:xfrm>
            <a:off x="1143000" y="1465263"/>
            <a:ext cx="4953000" cy="183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1700" b="1">
                <a:solidFill>
                  <a:srgbClr val="000000"/>
                </a:solidFill>
                <a:latin typeface="メイリオ" panose="020B0604030504040204" pitchFamily="50" charset="-128"/>
                <a:ea typeface="メイリオ" panose="020B0604030504040204" pitchFamily="50" charset="-128"/>
              </a:rPr>
              <a:t>私たちは道を切り開くパイオニアとして</a:t>
            </a:r>
          </a:p>
          <a:p>
            <a:pPr eaLnBrk="1" hangingPunct="1">
              <a:spcBef>
                <a:spcPct val="0"/>
              </a:spcBef>
              <a:buFontTx/>
              <a:buNone/>
            </a:pPr>
            <a:endParaRPr lang="ja-JP" altLang="en-US" sz="1700" b="1">
              <a:solidFill>
                <a:srgbClr val="000000"/>
              </a:solidFill>
              <a:latin typeface="メイリオ" panose="020B0604030504040204" pitchFamily="50" charset="-128"/>
              <a:ea typeface="メイリオ" panose="020B0604030504040204" pitchFamily="50" charset="-128"/>
            </a:endParaRPr>
          </a:p>
          <a:p>
            <a:pPr eaLnBrk="1" hangingPunct="1">
              <a:spcBef>
                <a:spcPct val="0"/>
              </a:spcBef>
              <a:buFontTx/>
              <a:buNone/>
            </a:pPr>
            <a:r>
              <a:rPr lang="ja-JP" altLang="en-US" sz="1700" b="1">
                <a:solidFill>
                  <a:srgbClr val="000000"/>
                </a:solidFill>
                <a:latin typeface="メイリオ" panose="020B0604030504040204" pitchFamily="50" charset="-128"/>
                <a:ea typeface="メイリオ" panose="020B0604030504040204" pitchFamily="50" charset="-128"/>
              </a:rPr>
              <a:t>常に新たなチャレンジを続け、</a:t>
            </a:r>
          </a:p>
          <a:p>
            <a:pPr eaLnBrk="1" hangingPunct="1">
              <a:spcBef>
                <a:spcPct val="0"/>
              </a:spcBef>
              <a:buFontTx/>
              <a:buNone/>
            </a:pPr>
            <a:endParaRPr lang="ja-JP" altLang="en-US" sz="1700" b="1">
              <a:solidFill>
                <a:srgbClr val="000000"/>
              </a:solidFill>
              <a:latin typeface="メイリオ" panose="020B0604030504040204" pitchFamily="50" charset="-128"/>
              <a:ea typeface="メイリオ" panose="020B0604030504040204" pitchFamily="50" charset="-128"/>
            </a:endParaRPr>
          </a:p>
          <a:p>
            <a:pPr eaLnBrk="1" hangingPunct="1">
              <a:spcBef>
                <a:spcPct val="0"/>
              </a:spcBef>
              <a:buFontTx/>
              <a:buNone/>
            </a:pPr>
            <a:r>
              <a:rPr lang="ja-JP" altLang="en-US" sz="1700" b="1">
                <a:solidFill>
                  <a:srgbClr val="000000"/>
                </a:solidFill>
                <a:latin typeface="メイリオ" panose="020B0604030504040204" pitchFamily="50" charset="-128"/>
                <a:ea typeface="メイリオ" panose="020B0604030504040204" pitchFamily="50" charset="-128"/>
              </a:rPr>
              <a:t>業界そのものを</a:t>
            </a:r>
            <a:endParaRPr lang="en-US" altLang="ja-JP" sz="1700" b="1">
              <a:solidFill>
                <a:srgbClr val="000000"/>
              </a:solidFill>
              <a:latin typeface="メイリオ" panose="020B0604030504040204" pitchFamily="50" charset="-128"/>
              <a:ea typeface="メイリオ" panose="020B0604030504040204" pitchFamily="50" charset="-128"/>
            </a:endParaRPr>
          </a:p>
          <a:p>
            <a:pPr eaLnBrk="1" hangingPunct="1">
              <a:spcBef>
                <a:spcPct val="0"/>
              </a:spcBef>
              <a:buFontTx/>
              <a:buNone/>
            </a:pPr>
            <a:endParaRPr lang="en-US" altLang="ja-JP" sz="1700" b="1">
              <a:solidFill>
                <a:srgbClr val="000000"/>
              </a:solidFill>
              <a:latin typeface="メイリオ" panose="020B0604030504040204" pitchFamily="50" charset="-128"/>
              <a:ea typeface="メイリオ" panose="020B0604030504040204" pitchFamily="50" charset="-128"/>
            </a:endParaRPr>
          </a:p>
          <a:p>
            <a:pPr eaLnBrk="1" hangingPunct="1">
              <a:spcBef>
                <a:spcPct val="0"/>
              </a:spcBef>
              <a:buFontTx/>
              <a:buNone/>
            </a:pPr>
            <a:r>
              <a:rPr lang="ja-JP" altLang="en-US" sz="1700" b="1">
                <a:solidFill>
                  <a:srgbClr val="000000"/>
                </a:solidFill>
                <a:latin typeface="メイリオ" panose="020B0604030504040204" pitchFamily="50" charset="-128"/>
                <a:ea typeface="メイリオ" panose="020B0604030504040204" pitchFamily="50" charset="-128"/>
              </a:rPr>
              <a:t>広く社会に認められる存在へと変えていきます。</a:t>
            </a:r>
            <a:endParaRPr lang="ja-JP" altLang="en-US" sz="1700" b="1">
              <a:latin typeface="メイリオ" panose="020B0604030504040204" pitchFamily="50" charset="-128"/>
              <a:ea typeface="メイリオ" panose="020B0604030504040204" pitchFamily="50" charset="-128"/>
            </a:endParaRPr>
          </a:p>
        </p:txBody>
      </p:sp>
      <p:sp>
        <p:nvSpPr>
          <p:cNvPr id="12294" name="Rectangle 3">
            <a:extLst>
              <a:ext uri="{FF2B5EF4-FFF2-40B4-BE49-F238E27FC236}">
                <a16:creationId xmlns:a16="http://schemas.microsoft.com/office/drawing/2014/main" id="{00BAE4B2-1A4D-4C39-8C0D-1994400CFC11}"/>
              </a:ext>
            </a:extLst>
          </p:cNvPr>
          <p:cNvSpPr>
            <a:spLocks noChangeArrowheads="1"/>
          </p:cNvSpPr>
          <p:nvPr/>
        </p:nvSpPr>
        <p:spPr bwMode="auto">
          <a:xfrm>
            <a:off x="401638" y="3924300"/>
            <a:ext cx="6196012" cy="443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lnSpc>
                <a:spcPct val="130000"/>
              </a:lnSpc>
              <a:buFontTx/>
              <a:buNone/>
              <a:defRPr/>
            </a:pPr>
            <a:r>
              <a:rPr lang="ja-JP" altLang="en-US" sz="1200" dirty="0">
                <a:latin typeface="+mj-ea"/>
                <a:ea typeface="+mj-ea"/>
              </a:rPr>
              <a:t>　エムエムインターナショナルの親会社であるマルハンは、パチンコ業界のパイオニア（開拓者）として、パチンコ業界にさまざまな新しい風を巻き起こしてきました。エムエムインターナショナルも、そのパイオニア精神やチャレンジ精神を失うことなく大切にしていきたいと考えます。</a:t>
            </a:r>
            <a:endParaRPr lang="en-US" altLang="ja-JP" sz="1200" dirty="0">
              <a:latin typeface="+mj-ea"/>
              <a:ea typeface="+mj-ea"/>
            </a:endParaRPr>
          </a:p>
          <a:p>
            <a:pPr eaLnBrk="1" hangingPunct="1">
              <a:lnSpc>
                <a:spcPct val="130000"/>
              </a:lnSpc>
              <a:buFontTx/>
              <a:buNone/>
              <a:defRPr/>
            </a:pPr>
            <a:r>
              <a:rPr lang="ja-JP" altLang="en-US" sz="1200" dirty="0">
                <a:latin typeface="+mj-ea"/>
                <a:ea typeface="+mj-ea"/>
              </a:rPr>
              <a:t>　エムエムインターナショナルの主たる業務は、マルハン店舗における清掃や設備等の建物維持管理業務です。マルハンというお店は、お客様のために存在します。お客様はお店のために存在するのではありません。エムエムインターナショナルは、清掃や設備等の建物維持管理業務を通じて、お客様のための快適な空間づくりを目指しています。</a:t>
            </a:r>
            <a:endParaRPr lang="en-US" altLang="ja-JP" sz="1200" dirty="0">
              <a:latin typeface="+mj-ea"/>
              <a:ea typeface="+mj-ea"/>
            </a:endParaRPr>
          </a:p>
          <a:p>
            <a:pPr eaLnBrk="1" hangingPunct="1">
              <a:lnSpc>
                <a:spcPct val="130000"/>
              </a:lnSpc>
              <a:buFontTx/>
              <a:buNone/>
              <a:defRPr/>
            </a:pPr>
            <a:r>
              <a:rPr lang="ja-JP" altLang="en-US" sz="1200" dirty="0">
                <a:latin typeface="+mj-ea"/>
                <a:ea typeface="+mj-ea"/>
              </a:rPr>
              <a:t>　私たちエムエムインターナショナルは、マルハン店舗での清掃や設備等の建物維持管理業務等の業務を通じて培ったパイオニア精神やチャレンジ精神を持っています。それらパイオニア精神やチャレンジ精神によって、現在の建物維持管理業務の業界や、今後は積極進出する不動産業界を変えるようなサービスの開発及び提供を行っていきます。そのために、個々人が何をするべきか。</a:t>
            </a:r>
            <a:endParaRPr lang="en-US" altLang="ja-JP" sz="1200" dirty="0">
              <a:latin typeface="+mj-ea"/>
              <a:ea typeface="+mj-ea"/>
            </a:endParaRPr>
          </a:p>
          <a:p>
            <a:pPr eaLnBrk="1" hangingPunct="1">
              <a:lnSpc>
                <a:spcPct val="130000"/>
              </a:lnSpc>
              <a:buFontTx/>
              <a:buNone/>
              <a:defRPr/>
            </a:pPr>
            <a:r>
              <a:rPr lang="ja-JP" altLang="en-US" sz="1200" dirty="0">
                <a:latin typeface="+mj-ea"/>
                <a:ea typeface="+mj-ea"/>
              </a:rPr>
              <a:t>　その人が置かれた立場や役割によって、さまざまな考え方があると思います。しかし、企業姿勢にある「業界を変える」というベクトルに向かい、エムエムインターナショナルの全従業員が力を合わせ、行動を起こすことができれば、個人にはない大きな力を発揮することができます。同様に、私たちが属する業界のなかにあって、 「業界を変える」というベクトルのもと、顧客が望むサービスや革新的なサービスを提供し続けることにより業界自体の活力が増し、業界そのものが社会からいっそう認められ、称えられる業界へと変わっていくはずです。</a:t>
            </a:r>
            <a:endParaRPr lang="en-US" altLang="ja-JP" sz="1200" dirty="0">
              <a:latin typeface="+mj-ea"/>
              <a:ea typeface="+mj-ea"/>
            </a:endParaRPr>
          </a:p>
          <a:p>
            <a:pPr eaLnBrk="1" hangingPunct="1">
              <a:lnSpc>
                <a:spcPct val="130000"/>
              </a:lnSpc>
              <a:buFontTx/>
              <a:buNone/>
              <a:defRPr/>
            </a:pPr>
            <a:r>
              <a:rPr lang="ja-JP" altLang="en-US" sz="1200" dirty="0">
                <a:latin typeface="+mj-ea"/>
                <a:ea typeface="+mj-ea"/>
              </a:rPr>
              <a:t>　誰かが変えてくれるのではありません。私たち自身が変えるのです。</a:t>
            </a:r>
          </a:p>
        </p:txBody>
      </p:sp>
      <p:sp>
        <p:nvSpPr>
          <p:cNvPr id="11271" name="Line 30">
            <a:extLst>
              <a:ext uri="{FF2B5EF4-FFF2-40B4-BE49-F238E27FC236}">
                <a16:creationId xmlns:a16="http://schemas.microsoft.com/office/drawing/2014/main" id="{69637991-B7A0-4ADE-BF44-AA2A662CF384}"/>
              </a:ext>
            </a:extLst>
          </p:cNvPr>
          <p:cNvSpPr>
            <a:spLocks noChangeShapeType="1"/>
          </p:cNvSpPr>
          <p:nvPr/>
        </p:nvSpPr>
        <p:spPr bwMode="auto">
          <a:xfrm flipV="1">
            <a:off x="1219200" y="1066800"/>
            <a:ext cx="1752600" cy="0"/>
          </a:xfrm>
          <a:prstGeom prst="line">
            <a:avLst/>
          </a:prstGeom>
          <a:noFill/>
          <a:ln w="69850" cmpd="thinThick">
            <a:solidFill>
              <a:schemeClr val="bg2"/>
            </a:solidFill>
            <a:round/>
            <a:headEnd/>
            <a:tailEnd/>
          </a:ln>
          <a:effectLst>
            <a:outerShdw dist="148106" dir="1857825" algn="ctr" rotWithShape="0">
              <a:srgbClr val="DDDDDD"/>
            </a:outerShdw>
          </a:effectLst>
          <a:extLst>
            <a:ext uri="{909E8E84-426E-40DD-AFC4-6F175D3DCCD1}">
              <a14:hiddenFill xmlns:a14="http://schemas.microsoft.com/office/drawing/2010/main">
                <a:noFill/>
              </a14:hiddenFill>
            </a:ext>
          </a:extLst>
        </p:spPr>
        <p:txBody>
          <a:bodyPr/>
          <a:lstStyle/>
          <a:p>
            <a:endParaRPr lang="ja-JP" altLang="en-US"/>
          </a:p>
        </p:txBody>
      </p:sp>
      <p:sp>
        <p:nvSpPr>
          <p:cNvPr id="11272" name="Rectangle 1028">
            <a:extLst>
              <a:ext uri="{FF2B5EF4-FFF2-40B4-BE49-F238E27FC236}">
                <a16:creationId xmlns:a16="http://schemas.microsoft.com/office/drawing/2014/main" id="{CC843B72-D63F-4F05-B0F9-9EB795211678}"/>
              </a:ext>
            </a:extLst>
          </p:cNvPr>
          <p:cNvSpPr>
            <a:spLocks noChangeArrowheads="1"/>
          </p:cNvSpPr>
          <p:nvPr/>
        </p:nvSpPr>
        <p:spPr bwMode="auto">
          <a:xfrm>
            <a:off x="4584700" y="-28575"/>
            <a:ext cx="226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dist" eaLnBrk="1" hangingPunct="1">
              <a:spcBef>
                <a:spcPct val="0"/>
              </a:spcBef>
              <a:buFontTx/>
              <a:buNone/>
            </a:pPr>
            <a:r>
              <a:rPr lang="ja-JP" altLang="en-US" sz="1600">
                <a:latin typeface="メイリオ" panose="020B0604030504040204" pitchFamily="50" charset="-128"/>
                <a:ea typeface="メイリオ" panose="020B0604030504040204" pitchFamily="50" charset="-128"/>
              </a:rPr>
              <a:t>企業姿勢</a:t>
            </a:r>
          </a:p>
        </p:txBody>
      </p:sp>
      <p:sp>
        <p:nvSpPr>
          <p:cNvPr id="12" name="Google Shape;1346;p122">
            <a:extLst>
              <a:ext uri="{FF2B5EF4-FFF2-40B4-BE49-F238E27FC236}">
                <a16:creationId xmlns:a16="http://schemas.microsoft.com/office/drawing/2014/main" id="{3A8532C1-FEA4-4F1D-82AF-3BF83E1A5F15}"/>
              </a:ext>
            </a:extLst>
          </p:cNvPr>
          <p:cNvSpPr txBox="1"/>
          <p:nvPr/>
        </p:nvSpPr>
        <p:spPr>
          <a:xfrm>
            <a:off x="6502400" y="8990013"/>
            <a:ext cx="344488" cy="161925"/>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C020ACF5-09C7-4AB9-B7EB-C27A3928A131}"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9</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AutoShape 1033">
            <a:extLst>
              <a:ext uri="{FF2B5EF4-FFF2-40B4-BE49-F238E27FC236}">
                <a16:creationId xmlns:a16="http://schemas.microsoft.com/office/drawing/2014/main" id="{19A6263F-7725-4F31-9FF3-C3565F961BFE}"/>
              </a:ext>
            </a:extLst>
          </p:cNvPr>
          <p:cNvSpPr>
            <a:spLocks noChangeArrowheads="1"/>
          </p:cNvSpPr>
          <p:nvPr/>
        </p:nvSpPr>
        <p:spPr bwMode="auto">
          <a:xfrm>
            <a:off x="990600" y="304800"/>
            <a:ext cx="4953000" cy="838200"/>
          </a:xfrm>
          <a:prstGeom prst="roundRect">
            <a:avLst>
              <a:gd name="adj" fmla="val 16667"/>
            </a:avLst>
          </a:prstGeom>
          <a:solidFill>
            <a:schemeClr val="bg1">
              <a:lumMod val="75000"/>
            </a:schemeClr>
          </a:solidFill>
          <a:ln>
            <a:noFill/>
          </a:ln>
        </p:spPr>
        <p:txBody>
          <a:bodyPr wrap="none"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defRPr/>
            </a:pPr>
            <a:endParaRPr lang="ja-JP" altLang="en-US" sz="3600">
              <a:latin typeface="メイリオ" panose="020B0604030504040204" pitchFamily="50" charset="-128"/>
              <a:ea typeface="メイリオ" panose="020B0604030504040204" pitchFamily="50" charset="-128"/>
            </a:endParaRPr>
          </a:p>
        </p:txBody>
      </p:sp>
      <p:sp>
        <p:nvSpPr>
          <p:cNvPr id="12291" name="Text Box 1034">
            <a:extLst>
              <a:ext uri="{FF2B5EF4-FFF2-40B4-BE49-F238E27FC236}">
                <a16:creationId xmlns:a16="http://schemas.microsoft.com/office/drawing/2014/main" id="{DB5551F1-8B37-4E23-8C52-9706C7F5741A}"/>
              </a:ext>
            </a:extLst>
          </p:cNvPr>
          <p:cNvSpPr txBox="1">
            <a:spLocks noChangeArrowheads="1"/>
          </p:cNvSpPr>
          <p:nvPr/>
        </p:nvSpPr>
        <p:spPr bwMode="auto">
          <a:xfrm>
            <a:off x="1143000" y="365125"/>
            <a:ext cx="4648200" cy="701675"/>
          </a:xfrm>
          <a:prstGeom prst="rect">
            <a:avLst/>
          </a:prstGeom>
          <a:noFill/>
          <a:ln>
            <a:noFill/>
          </a:ln>
          <a:effectLst>
            <a:outerShdw dist="35921" dir="2700000" algn="ctr" rotWithShape="0">
              <a:srgbClr val="B2B2B2">
                <a:alpha val="5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50000"/>
              </a:spcBef>
              <a:buFontTx/>
              <a:buNone/>
            </a:pPr>
            <a:r>
              <a:rPr lang="ja-JP" altLang="en-US" sz="4000" b="1">
                <a:solidFill>
                  <a:srgbClr val="FF0000"/>
                </a:solidFill>
                <a:latin typeface="メイリオ" panose="020B0604030504040204" pitchFamily="50" charset="-128"/>
                <a:ea typeface="メイリオ" panose="020B0604030504040204" pitchFamily="50" charset="-128"/>
              </a:rPr>
              <a:t>提供価値</a:t>
            </a:r>
          </a:p>
        </p:txBody>
      </p:sp>
      <p:sp>
        <p:nvSpPr>
          <p:cNvPr id="12292" name="Rectangle 1035">
            <a:extLst>
              <a:ext uri="{FF2B5EF4-FFF2-40B4-BE49-F238E27FC236}">
                <a16:creationId xmlns:a16="http://schemas.microsoft.com/office/drawing/2014/main" id="{E024F7B1-31D9-4A96-B1FE-30F3322DA0C4}"/>
              </a:ext>
            </a:extLst>
          </p:cNvPr>
          <p:cNvSpPr>
            <a:spLocks noChangeArrowheads="1"/>
          </p:cNvSpPr>
          <p:nvPr/>
        </p:nvSpPr>
        <p:spPr bwMode="auto">
          <a:xfrm>
            <a:off x="760413" y="1908175"/>
            <a:ext cx="56880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2000" b="1">
                <a:latin typeface="メイリオ" panose="020B0604030504040204" pitchFamily="50" charset="-128"/>
                <a:ea typeface="メイリオ" panose="020B0604030504040204" pitchFamily="50" charset="-128"/>
              </a:rPr>
              <a:t>●</a:t>
            </a:r>
            <a:r>
              <a:rPr lang="ja-JP" altLang="en-US" sz="2000" b="1">
                <a:latin typeface="メイリオ" panose="020B0604030504040204" pitchFamily="50" charset="-128"/>
                <a:ea typeface="メイリオ" panose="020B0604030504040204" pitchFamily="50" charset="-128"/>
              </a:rPr>
              <a:t>快適空間の創造　～小さな感動の積み重ね～</a:t>
            </a:r>
          </a:p>
        </p:txBody>
      </p:sp>
      <p:grpSp>
        <p:nvGrpSpPr>
          <p:cNvPr id="12293" name="グループ化 2">
            <a:extLst>
              <a:ext uri="{FF2B5EF4-FFF2-40B4-BE49-F238E27FC236}">
                <a16:creationId xmlns:a16="http://schemas.microsoft.com/office/drawing/2014/main" id="{B59EA708-D723-420A-8921-82FC371F5CE5}"/>
              </a:ext>
            </a:extLst>
          </p:cNvPr>
          <p:cNvGrpSpPr>
            <a:grpSpLocks/>
          </p:cNvGrpSpPr>
          <p:nvPr/>
        </p:nvGrpSpPr>
        <p:grpSpPr bwMode="auto">
          <a:xfrm>
            <a:off x="119063" y="3459163"/>
            <a:ext cx="6635750" cy="1270000"/>
            <a:chOff x="168176" y="3459569"/>
            <a:chExt cx="6635472" cy="1270340"/>
          </a:xfrm>
        </p:grpSpPr>
        <p:sp>
          <p:nvSpPr>
            <p:cNvPr id="12296" name="Freeform 1037">
              <a:extLst>
                <a:ext uri="{FF2B5EF4-FFF2-40B4-BE49-F238E27FC236}">
                  <a16:creationId xmlns:a16="http://schemas.microsoft.com/office/drawing/2014/main" id="{1437931E-8D17-48D4-BFE6-CB3B14EF930D}"/>
                </a:ext>
              </a:extLst>
            </p:cNvPr>
            <p:cNvSpPr>
              <a:spLocks/>
            </p:cNvSpPr>
            <p:nvPr/>
          </p:nvSpPr>
          <p:spPr bwMode="auto">
            <a:xfrm flipH="1">
              <a:off x="1490601" y="3459569"/>
              <a:ext cx="862013" cy="862012"/>
            </a:xfrm>
            <a:custGeom>
              <a:avLst/>
              <a:gdLst>
                <a:gd name="T0" fmla="*/ 2147483646 w 1086"/>
                <a:gd name="T1" fmla="*/ 0 h 1086"/>
                <a:gd name="T2" fmla="*/ 2147483646 w 1086"/>
                <a:gd name="T3" fmla="*/ 2147483646 h 1086"/>
                <a:gd name="T4" fmla="*/ 0 w 1086"/>
                <a:gd name="T5" fmla="*/ 2147483646 h 1086"/>
                <a:gd name="T6" fmla="*/ 2147483646 w 1086"/>
                <a:gd name="T7" fmla="*/ 0 h 1086"/>
                <a:gd name="T8" fmla="*/ 0 60000 65536"/>
                <a:gd name="T9" fmla="*/ 0 60000 65536"/>
                <a:gd name="T10" fmla="*/ 0 60000 65536"/>
                <a:gd name="T11" fmla="*/ 0 60000 65536"/>
                <a:gd name="T12" fmla="*/ 0 w 1086"/>
                <a:gd name="T13" fmla="*/ 0 h 1086"/>
                <a:gd name="T14" fmla="*/ 1086 w 1086"/>
                <a:gd name="T15" fmla="*/ 1086 h 1086"/>
              </a:gdLst>
              <a:ahLst/>
              <a:cxnLst>
                <a:cxn ang="T8">
                  <a:pos x="T0" y="T1"/>
                </a:cxn>
                <a:cxn ang="T9">
                  <a:pos x="T2" y="T3"/>
                </a:cxn>
                <a:cxn ang="T10">
                  <a:pos x="T4" y="T5"/>
                </a:cxn>
                <a:cxn ang="T11">
                  <a:pos x="T6" y="T7"/>
                </a:cxn>
              </a:cxnLst>
              <a:rect l="T12" t="T13" r="T14" b="T15"/>
              <a:pathLst>
                <a:path w="1086" h="1086">
                  <a:moveTo>
                    <a:pt x="1086" y="0"/>
                  </a:moveTo>
                  <a:lnTo>
                    <a:pt x="1086" y="1086"/>
                  </a:lnTo>
                  <a:lnTo>
                    <a:pt x="0" y="1086"/>
                  </a:lnTo>
                  <a:lnTo>
                    <a:pt x="1086" y="0"/>
                  </a:lnTo>
                  <a:close/>
                </a:path>
              </a:pathLst>
            </a:custGeom>
            <a:noFill/>
            <a:ln w="6350">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ja-JP" altLang="en-US"/>
            </a:p>
          </p:txBody>
        </p:sp>
        <p:sp>
          <p:nvSpPr>
            <p:cNvPr id="12297" name="Freeform 1038">
              <a:extLst>
                <a:ext uri="{FF2B5EF4-FFF2-40B4-BE49-F238E27FC236}">
                  <a16:creationId xmlns:a16="http://schemas.microsoft.com/office/drawing/2014/main" id="{09AC728D-C774-413C-879D-744A857AFB59}"/>
                </a:ext>
              </a:extLst>
            </p:cNvPr>
            <p:cNvSpPr>
              <a:spLocks/>
            </p:cNvSpPr>
            <p:nvPr/>
          </p:nvSpPr>
          <p:spPr bwMode="auto">
            <a:xfrm>
              <a:off x="534890" y="3459569"/>
              <a:ext cx="862012" cy="862012"/>
            </a:xfrm>
            <a:custGeom>
              <a:avLst/>
              <a:gdLst>
                <a:gd name="T0" fmla="*/ 2147483646 w 1086"/>
                <a:gd name="T1" fmla="*/ 0 h 1086"/>
                <a:gd name="T2" fmla="*/ 2147483646 w 1086"/>
                <a:gd name="T3" fmla="*/ 2147483646 h 1086"/>
                <a:gd name="T4" fmla="*/ 0 w 1086"/>
                <a:gd name="T5" fmla="*/ 2147483646 h 1086"/>
                <a:gd name="T6" fmla="*/ 2147483646 w 1086"/>
                <a:gd name="T7" fmla="*/ 0 h 1086"/>
                <a:gd name="T8" fmla="*/ 0 60000 65536"/>
                <a:gd name="T9" fmla="*/ 0 60000 65536"/>
                <a:gd name="T10" fmla="*/ 0 60000 65536"/>
                <a:gd name="T11" fmla="*/ 0 60000 65536"/>
                <a:gd name="T12" fmla="*/ 0 w 1086"/>
                <a:gd name="T13" fmla="*/ 0 h 1086"/>
                <a:gd name="T14" fmla="*/ 1086 w 1086"/>
                <a:gd name="T15" fmla="*/ 1086 h 1086"/>
              </a:gdLst>
              <a:ahLst/>
              <a:cxnLst>
                <a:cxn ang="T8">
                  <a:pos x="T0" y="T1"/>
                </a:cxn>
                <a:cxn ang="T9">
                  <a:pos x="T2" y="T3"/>
                </a:cxn>
                <a:cxn ang="T10">
                  <a:pos x="T4" y="T5"/>
                </a:cxn>
                <a:cxn ang="T11">
                  <a:pos x="T6" y="T7"/>
                </a:cxn>
              </a:cxnLst>
              <a:rect l="T12" t="T13" r="T14" b="T15"/>
              <a:pathLst>
                <a:path w="1086" h="1086">
                  <a:moveTo>
                    <a:pt x="1086" y="0"/>
                  </a:moveTo>
                  <a:lnTo>
                    <a:pt x="1086" y="1086"/>
                  </a:lnTo>
                  <a:lnTo>
                    <a:pt x="0" y="1086"/>
                  </a:lnTo>
                  <a:lnTo>
                    <a:pt x="1086" y="0"/>
                  </a:lnTo>
                  <a:close/>
                </a:path>
              </a:pathLst>
            </a:custGeom>
            <a:noFill/>
            <a:ln w="6350">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ja-JP" altLang="en-US"/>
            </a:p>
          </p:txBody>
        </p:sp>
        <p:sp>
          <p:nvSpPr>
            <p:cNvPr id="12298" name="Freeform 1039">
              <a:extLst>
                <a:ext uri="{FF2B5EF4-FFF2-40B4-BE49-F238E27FC236}">
                  <a16:creationId xmlns:a16="http://schemas.microsoft.com/office/drawing/2014/main" id="{F80CE52C-3D1D-4BE6-AC02-6D9FBB9219B6}"/>
                </a:ext>
              </a:extLst>
            </p:cNvPr>
            <p:cNvSpPr>
              <a:spLocks/>
            </p:cNvSpPr>
            <p:nvPr/>
          </p:nvSpPr>
          <p:spPr bwMode="auto">
            <a:xfrm>
              <a:off x="168176" y="4362856"/>
              <a:ext cx="2566011" cy="315913"/>
            </a:xfrm>
            <a:custGeom>
              <a:avLst/>
              <a:gdLst>
                <a:gd name="T0" fmla="*/ 0 w 3103"/>
                <a:gd name="T1" fmla="*/ 2147483646 h 310"/>
                <a:gd name="T2" fmla="*/ 2147483646 w 3103"/>
                <a:gd name="T3" fmla="*/ 0 h 310"/>
                <a:gd name="T4" fmla="*/ 2147483646 w 3103"/>
                <a:gd name="T5" fmla="*/ 0 h 310"/>
                <a:gd name="T6" fmla="*/ 2147483646 w 3103"/>
                <a:gd name="T7" fmla="*/ 2147483646 h 310"/>
                <a:gd name="T8" fmla="*/ 0 w 3103"/>
                <a:gd name="T9" fmla="*/ 2147483646 h 310"/>
                <a:gd name="T10" fmla="*/ 0 60000 65536"/>
                <a:gd name="T11" fmla="*/ 0 60000 65536"/>
                <a:gd name="T12" fmla="*/ 0 60000 65536"/>
                <a:gd name="T13" fmla="*/ 0 60000 65536"/>
                <a:gd name="T14" fmla="*/ 0 60000 65536"/>
                <a:gd name="T15" fmla="*/ 0 w 3103"/>
                <a:gd name="T16" fmla="*/ 0 h 310"/>
                <a:gd name="T17" fmla="*/ 3103 w 3103"/>
                <a:gd name="T18" fmla="*/ 310 h 310"/>
              </a:gdLst>
              <a:ahLst/>
              <a:cxnLst>
                <a:cxn ang="T10">
                  <a:pos x="T0" y="T1"/>
                </a:cxn>
                <a:cxn ang="T11">
                  <a:pos x="T2" y="T3"/>
                </a:cxn>
                <a:cxn ang="T12">
                  <a:pos x="T4" y="T5"/>
                </a:cxn>
                <a:cxn ang="T13">
                  <a:pos x="T6" y="T7"/>
                </a:cxn>
                <a:cxn ang="T14">
                  <a:pos x="T8" y="T9"/>
                </a:cxn>
              </a:cxnLst>
              <a:rect l="T15" t="T16" r="T17" b="T18"/>
              <a:pathLst>
                <a:path w="3103" h="310">
                  <a:moveTo>
                    <a:pt x="0" y="310"/>
                  </a:moveTo>
                  <a:lnTo>
                    <a:pt x="423" y="0"/>
                  </a:lnTo>
                  <a:lnTo>
                    <a:pt x="2679" y="0"/>
                  </a:lnTo>
                  <a:lnTo>
                    <a:pt x="3103" y="310"/>
                  </a:lnTo>
                  <a:lnTo>
                    <a:pt x="0" y="310"/>
                  </a:lnTo>
                  <a:close/>
                </a:path>
              </a:pathLst>
            </a:custGeom>
            <a:noFill/>
            <a:ln w="6350">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ja-JP" altLang="en-US"/>
            </a:p>
          </p:txBody>
        </p:sp>
        <p:sp>
          <p:nvSpPr>
            <p:cNvPr id="12299" name="Rectangle 1040">
              <a:extLst>
                <a:ext uri="{FF2B5EF4-FFF2-40B4-BE49-F238E27FC236}">
                  <a16:creationId xmlns:a16="http://schemas.microsoft.com/office/drawing/2014/main" id="{FF4A63E5-932C-44BC-B2C9-C61C8F6B3D47}"/>
                </a:ext>
              </a:extLst>
            </p:cNvPr>
            <p:cNvSpPr>
              <a:spLocks noChangeArrowheads="1"/>
            </p:cNvSpPr>
            <p:nvPr/>
          </p:nvSpPr>
          <p:spPr bwMode="auto">
            <a:xfrm>
              <a:off x="831231" y="3818939"/>
              <a:ext cx="53860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0"/>
                </a:spcBef>
                <a:buFontTx/>
                <a:buNone/>
              </a:pPr>
              <a:r>
                <a:rPr lang="ja-JP" altLang="en-US" sz="1400" b="1">
                  <a:latin typeface="メイリオ" panose="020B0604030504040204" pitchFamily="50" charset="-128"/>
                  <a:ea typeface="メイリオ" panose="020B0604030504040204" pitchFamily="50" charset="-128"/>
                </a:rPr>
                <a:t>商品</a:t>
              </a:r>
              <a:endParaRPr lang="en-US" altLang="ja-JP" sz="1400" b="1">
                <a:latin typeface="メイリオ" panose="020B0604030504040204" pitchFamily="50" charset="-128"/>
                <a:ea typeface="メイリオ" panose="020B0604030504040204" pitchFamily="50" charset="-128"/>
              </a:endParaRPr>
            </a:p>
            <a:p>
              <a:pPr algn="ctr" eaLnBrk="1" hangingPunct="1">
                <a:spcBef>
                  <a:spcPct val="0"/>
                </a:spcBef>
                <a:buFontTx/>
                <a:buNone/>
              </a:pPr>
              <a:r>
                <a:rPr lang="ja-JP" altLang="en-US" sz="1400" b="1">
                  <a:latin typeface="メイリオ" panose="020B0604030504040204" pitchFamily="50" charset="-128"/>
                  <a:ea typeface="メイリオ" panose="020B0604030504040204" pitchFamily="50" charset="-128"/>
                </a:rPr>
                <a:t>企画力</a:t>
              </a:r>
            </a:p>
          </p:txBody>
        </p:sp>
        <p:sp>
          <p:nvSpPr>
            <p:cNvPr id="12300" name="Rectangle 1041">
              <a:extLst>
                <a:ext uri="{FF2B5EF4-FFF2-40B4-BE49-F238E27FC236}">
                  <a16:creationId xmlns:a16="http://schemas.microsoft.com/office/drawing/2014/main" id="{B433FA0B-B5F2-40AB-9DCB-6C83C4C429ED}"/>
                </a:ext>
              </a:extLst>
            </p:cNvPr>
            <p:cNvSpPr>
              <a:spLocks noChangeArrowheads="1"/>
            </p:cNvSpPr>
            <p:nvPr/>
          </p:nvSpPr>
          <p:spPr bwMode="auto">
            <a:xfrm>
              <a:off x="1546569" y="4026306"/>
              <a:ext cx="53860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1400" b="1">
                  <a:latin typeface="メイリオ" panose="020B0604030504040204" pitchFamily="50" charset="-128"/>
                  <a:ea typeface="メイリオ" panose="020B0604030504040204" pitchFamily="50" charset="-128"/>
                </a:rPr>
                <a:t>技術力</a:t>
              </a:r>
            </a:p>
          </p:txBody>
        </p:sp>
        <p:sp>
          <p:nvSpPr>
            <p:cNvPr id="12301" name="Rectangle 1042">
              <a:extLst>
                <a:ext uri="{FF2B5EF4-FFF2-40B4-BE49-F238E27FC236}">
                  <a16:creationId xmlns:a16="http://schemas.microsoft.com/office/drawing/2014/main" id="{92CF1C0F-6DE4-41C7-B975-A9628FC021ED}"/>
                </a:ext>
              </a:extLst>
            </p:cNvPr>
            <p:cNvSpPr>
              <a:spLocks noChangeArrowheads="1"/>
            </p:cNvSpPr>
            <p:nvPr/>
          </p:nvSpPr>
          <p:spPr bwMode="auto">
            <a:xfrm>
              <a:off x="1161952" y="4434294"/>
              <a:ext cx="538586" cy="215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1400" b="1">
                  <a:latin typeface="メイリオ" panose="020B0604030504040204" pitchFamily="50" charset="-128"/>
                  <a:ea typeface="メイリオ" panose="020B0604030504040204" pitchFamily="50" charset="-128"/>
                </a:rPr>
                <a:t>人財力</a:t>
              </a:r>
            </a:p>
          </p:txBody>
        </p:sp>
        <p:sp>
          <p:nvSpPr>
            <p:cNvPr id="2" name="矢印: 右 1">
              <a:extLst>
                <a:ext uri="{FF2B5EF4-FFF2-40B4-BE49-F238E27FC236}">
                  <a16:creationId xmlns:a16="http://schemas.microsoft.com/office/drawing/2014/main" id="{370A3A65-B810-4656-A794-B24F203AD51D}"/>
                </a:ext>
              </a:extLst>
            </p:cNvPr>
            <p:cNvSpPr/>
            <p:nvPr/>
          </p:nvSpPr>
          <p:spPr>
            <a:xfrm>
              <a:off x="2862050" y="3616773"/>
              <a:ext cx="1004846" cy="1113136"/>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ja-JP" altLang="en-US" b="1" dirty="0">
                <a:latin typeface="メイリオ" panose="020B0604030504040204" pitchFamily="50" charset="-128"/>
                <a:ea typeface="メイリオ" panose="020B0604030504040204" pitchFamily="50" charset="-128"/>
              </a:endParaRPr>
            </a:p>
          </p:txBody>
        </p:sp>
        <p:sp>
          <p:nvSpPr>
            <p:cNvPr id="12303" name="Rectangle 1035">
              <a:extLst>
                <a:ext uri="{FF2B5EF4-FFF2-40B4-BE49-F238E27FC236}">
                  <a16:creationId xmlns:a16="http://schemas.microsoft.com/office/drawing/2014/main" id="{E3C30614-4942-4F95-9CF0-4792BEC4D584}"/>
                </a:ext>
              </a:extLst>
            </p:cNvPr>
            <p:cNvSpPr>
              <a:spLocks noChangeArrowheads="1"/>
            </p:cNvSpPr>
            <p:nvPr/>
          </p:nvSpPr>
          <p:spPr bwMode="auto">
            <a:xfrm>
              <a:off x="2790655" y="3972569"/>
              <a:ext cx="93610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0"/>
                </a:spcBef>
                <a:buFontTx/>
                <a:buNone/>
              </a:pPr>
              <a:r>
                <a:rPr lang="ja-JP" altLang="en-US" sz="1400" b="1">
                  <a:latin typeface="メイリオ" panose="020B0604030504040204" pitchFamily="50" charset="-128"/>
                  <a:ea typeface="メイリオ" panose="020B0604030504040204" pitchFamily="50" charset="-128"/>
                </a:rPr>
                <a:t>企画提案</a:t>
              </a:r>
              <a:endParaRPr lang="en-US" altLang="ja-JP" sz="1400" b="1">
                <a:latin typeface="メイリオ" panose="020B0604030504040204" pitchFamily="50" charset="-128"/>
                <a:ea typeface="メイリオ" panose="020B0604030504040204" pitchFamily="50" charset="-128"/>
              </a:endParaRPr>
            </a:p>
            <a:p>
              <a:pPr algn="ctr" eaLnBrk="1" hangingPunct="1">
                <a:spcBef>
                  <a:spcPct val="0"/>
                </a:spcBef>
                <a:buFontTx/>
                <a:buNone/>
              </a:pPr>
              <a:r>
                <a:rPr lang="ja-JP" altLang="en-US" sz="1400" b="1">
                  <a:latin typeface="メイリオ" panose="020B0604030504040204" pitchFamily="50" charset="-128"/>
                  <a:ea typeface="メイリオ" panose="020B0604030504040204" pitchFamily="50" charset="-128"/>
                </a:rPr>
                <a:t>実践</a:t>
              </a:r>
            </a:p>
          </p:txBody>
        </p:sp>
        <p:sp>
          <p:nvSpPr>
            <p:cNvPr id="12304" name="Rectangle 1035">
              <a:extLst>
                <a:ext uri="{FF2B5EF4-FFF2-40B4-BE49-F238E27FC236}">
                  <a16:creationId xmlns:a16="http://schemas.microsoft.com/office/drawing/2014/main" id="{751488AB-1FE6-4364-AC13-057F3AE1E6A3}"/>
                </a:ext>
              </a:extLst>
            </p:cNvPr>
            <p:cNvSpPr>
              <a:spLocks noChangeArrowheads="1"/>
            </p:cNvSpPr>
            <p:nvPr/>
          </p:nvSpPr>
          <p:spPr bwMode="auto">
            <a:xfrm>
              <a:off x="3923329" y="3879802"/>
              <a:ext cx="2880319"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0"/>
                </a:spcBef>
                <a:buFontTx/>
                <a:buNone/>
              </a:pPr>
              <a:r>
                <a:rPr lang="ja-JP" altLang="en-US" sz="1600" b="1">
                  <a:latin typeface="メイリオ" panose="020B0604030504040204" pitchFamily="50" charset="-128"/>
                  <a:ea typeface="メイリオ" panose="020B0604030504040204" pitchFamily="50" charset="-128"/>
                </a:rPr>
                <a:t>快適空間の創造</a:t>
              </a:r>
              <a:endParaRPr lang="en-US" altLang="ja-JP" sz="1600" b="1">
                <a:latin typeface="メイリオ" panose="020B0604030504040204" pitchFamily="50" charset="-128"/>
                <a:ea typeface="メイリオ" panose="020B0604030504040204" pitchFamily="50" charset="-128"/>
              </a:endParaRPr>
            </a:p>
            <a:p>
              <a:pPr algn="ctr" eaLnBrk="1" hangingPunct="1">
                <a:spcBef>
                  <a:spcPct val="0"/>
                </a:spcBef>
                <a:buFontTx/>
                <a:buNone/>
              </a:pPr>
              <a:r>
                <a:rPr lang="ja-JP" altLang="en-US" sz="1600" b="1">
                  <a:latin typeface="メイリオ" panose="020B0604030504040204" pitchFamily="50" charset="-128"/>
                  <a:ea typeface="メイリオ" panose="020B0604030504040204" pitchFamily="50" charset="-128"/>
                </a:rPr>
                <a:t>～小さな感動の積み重ね～</a:t>
              </a:r>
            </a:p>
          </p:txBody>
        </p:sp>
      </p:grpSp>
      <p:sp>
        <p:nvSpPr>
          <p:cNvPr id="12294" name="Rectangle 1028">
            <a:extLst>
              <a:ext uri="{FF2B5EF4-FFF2-40B4-BE49-F238E27FC236}">
                <a16:creationId xmlns:a16="http://schemas.microsoft.com/office/drawing/2014/main" id="{7A8A11AA-EE87-49C0-82A5-DA7506FC68A8}"/>
              </a:ext>
            </a:extLst>
          </p:cNvPr>
          <p:cNvSpPr>
            <a:spLocks noChangeArrowheads="1"/>
          </p:cNvSpPr>
          <p:nvPr/>
        </p:nvSpPr>
        <p:spPr bwMode="auto">
          <a:xfrm>
            <a:off x="4584700" y="-28575"/>
            <a:ext cx="226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dist" eaLnBrk="1" hangingPunct="1">
              <a:spcBef>
                <a:spcPct val="0"/>
              </a:spcBef>
              <a:buFontTx/>
              <a:buNone/>
            </a:pPr>
            <a:r>
              <a:rPr lang="ja-JP" altLang="en-US" sz="1600">
                <a:latin typeface="メイリオ" panose="020B0604030504040204" pitchFamily="50" charset="-128"/>
                <a:ea typeface="メイリオ" panose="020B0604030504040204" pitchFamily="50" charset="-128"/>
              </a:rPr>
              <a:t>提供価値</a:t>
            </a:r>
          </a:p>
        </p:txBody>
      </p:sp>
      <p:sp>
        <p:nvSpPr>
          <p:cNvPr id="17" name="Google Shape;1346;p122">
            <a:extLst>
              <a:ext uri="{FF2B5EF4-FFF2-40B4-BE49-F238E27FC236}">
                <a16:creationId xmlns:a16="http://schemas.microsoft.com/office/drawing/2014/main" id="{D116738F-E6E7-432A-9C28-C0150A81C59E}"/>
              </a:ext>
            </a:extLst>
          </p:cNvPr>
          <p:cNvSpPr txBox="1"/>
          <p:nvPr/>
        </p:nvSpPr>
        <p:spPr>
          <a:xfrm>
            <a:off x="6502400" y="8990013"/>
            <a:ext cx="344488" cy="161925"/>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0B0DDC01-380F-4A99-B261-61138CC4E5B2}"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10</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314" name="Group 444">
            <a:extLst>
              <a:ext uri="{FF2B5EF4-FFF2-40B4-BE49-F238E27FC236}">
                <a16:creationId xmlns:a16="http://schemas.microsoft.com/office/drawing/2014/main" id="{5820CA0F-8BAB-4E45-AC52-79EA1A1A4DE7}"/>
              </a:ext>
            </a:extLst>
          </p:cNvPr>
          <p:cNvGrpSpPr>
            <a:grpSpLocks/>
          </p:cNvGrpSpPr>
          <p:nvPr/>
        </p:nvGrpSpPr>
        <p:grpSpPr bwMode="auto">
          <a:xfrm>
            <a:off x="762000" y="457200"/>
            <a:ext cx="5562600" cy="4570413"/>
            <a:chOff x="567" y="125"/>
            <a:chExt cx="3129" cy="2353"/>
          </a:xfrm>
        </p:grpSpPr>
        <p:sp>
          <p:nvSpPr>
            <p:cNvPr id="13331" name="Rectangle 445">
              <a:extLst>
                <a:ext uri="{FF2B5EF4-FFF2-40B4-BE49-F238E27FC236}">
                  <a16:creationId xmlns:a16="http://schemas.microsoft.com/office/drawing/2014/main" id="{4DB6A20F-7C5B-49A3-BC4C-7B8DD7EE5E6A}"/>
                </a:ext>
              </a:extLst>
            </p:cNvPr>
            <p:cNvSpPr>
              <a:spLocks noChangeArrowheads="1"/>
            </p:cNvSpPr>
            <p:nvPr/>
          </p:nvSpPr>
          <p:spPr bwMode="auto">
            <a:xfrm>
              <a:off x="593" y="151"/>
              <a:ext cx="3103" cy="2327"/>
            </a:xfrm>
            <a:prstGeom prst="rect">
              <a:avLst/>
            </a:prstGeom>
            <a:solidFill>
              <a:srgbClr val="000000"/>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13332" name="Rectangle 446">
              <a:extLst>
                <a:ext uri="{FF2B5EF4-FFF2-40B4-BE49-F238E27FC236}">
                  <a16:creationId xmlns:a16="http://schemas.microsoft.com/office/drawing/2014/main" id="{291939B6-5BFD-46A9-852D-F881F73891D9}"/>
                </a:ext>
              </a:extLst>
            </p:cNvPr>
            <p:cNvSpPr>
              <a:spLocks noChangeArrowheads="1"/>
            </p:cNvSpPr>
            <p:nvPr/>
          </p:nvSpPr>
          <p:spPr bwMode="auto">
            <a:xfrm>
              <a:off x="567" y="125"/>
              <a:ext cx="3103" cy="2327"/>
            </a:xfrm>
            <a:prstGeom prst="rect">
              <a:avLst/>
            </a:prstGeom>
            <a:solidFill>
              <a:srgbClr val="FFFFFF"/>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grpSp>
      <p:sp>
        <p:nvSpPr>
          <p:cNvPr id="13315" name="Rectangle 3">
            <a:extLst>
              <a:ext uri="{FF2B5EF4-FFF2-40B4-BE49-F238E27FC236}">
                <a16:creationId xmlns:a16="http://schemas.microsoft.com/office/drawing/2014/main" id="{D1A9E132-A31C-4F38-85E2-C6F2D985630D}"/>
              </a:ext>
            </a:extLst>
          </p:cNvPr>
          <p:cNvSpPr>
            <a:spLocks noChangeArrowheads="1"/>
          </p:cNvSpPr>
          <p:nvPr/>
        </p:nvSpPr>
        <p:spPr bwMode="auto">
          <a:xfrm>
            <a:off x="260350" y="4343400"/>
            <a:ext cx="6408738" cy="443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lnSpc>
                <a:spcPct val="130000"/>
              </a:lnSpc>
              <a:buFontTx/>
              <a:buNone/>
            </a:pPr>
            <a:endParaRPr lang="ja-JP" altLang="en-US" sz="1200"/>
          </a:p>
        </p:txBody>
      </p:sp>
      <p:sp>
        <p:nvSpPr>
          <p:cNvPr id="13316" name="Rectangle 563">
            <a:extLst>
              <a:ext uri="{FF2B5EF4-FFF2-40B4-BE49-F238E27FC236}">
                <a16:creationId xmlns:a16="http://schemas.microsoft.com/office/drawing/2014/main" id="{7D93778E-E43A-4F0F-A51B-E5E3BD13EA4F}"/>
              </a:ext>
            </a:extLst>
          </p:cNvPr>
          <p:cNvSpPr>
            <a:spLocks noChangeArrowheads="1"/>
          </p:cNvSpPr>
          <p:nvPr/>
        </p:nvSpPr>
        <p:spPr bwMode="auto">
          <a:xfrm>
            <a:off x="1047750" y="352425"/>
            <a:ext cx="476250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13317" name="Rectangle 564">
            <a:extLst>
              <a:ext uri="{FF2B5EF4-FFF2-40B4-BE49-F238E27FC236}">
                <a16:creationId xmlns:a16="http://schemas.microsoft.com/office/drawing/2014/main" id="{C16C3FD6-6A07-416A-B781-A696ADED603F}"/>
              </a:ext>
            </a:extLst>
          </p:cNvPr>
          <p:cNvSpPr>
            <a:spLocks noChangeArrowheads="1"/>
          </p:cNvSpPr>
          <p:nvPr/>
        </p:nvSpPr>
        <p:spPr bwMode="auto">
          <a:xfrm>
            <a:off x="1219200" y="762000"/>
            <a:ext cx="46164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1800" b="1">
                <a:solidFill>
                  <a:srgbClr val="000000"/>
                </a:solidFill>
                <a:latin typeface="メイリオ" panose="020B0604030504040204" pitchFamily="50" charset="-128"/>
                <a:ea typeface="メイリオ" panose="020B0604030504040204" pitchFamily="50" charset="-128"/>
              </a:rPr>
              <a:t>快適空間の創造　～小さな感動の積み重ね～</a:t>
            </a:r>
            <a:endParaRPr lang="ja-JP" altLang="en-US" sz="1800" b="1">
              <a:latin typeface="メイリオ" panose="020B0604030504040204" pitchFamily="50" charset="-128"/>
              <a:ea typeface="メイリオ" panose="020B0604030504040204" pitchFamily="50" charset="-128"/>
            </a:endParaRPr>
          </a:p>
        </p:txBody>
      </p:sp>
      <p:sp>
        <p:nvSpPr>
          <p:cNvPr id="13318" name="Rectangle 806">
            <a:extLst>
              <a:ext uri="{FF2B5EF4-FFF2-40B4-BE49-F238E27FC236}">
                <a16:creationId xmlns:a16="http://schemas.microsoft.com/office/drawing/2014/main" id="{3951DBB9-A243-4E94-85E7-BEEA8131DF36}"/>
              </a:ext>
            </a:extLst>
          </p:cNvPr>
          <p:cNvSpPr>
            <a:spLocks noChangeArrowheads="1"/>
          </p:cNvSpPr>
          <p:nvPr/>
        </p:nvSpPr>
        <p:spPr bwMode="auto">
          <a:xfrm>
            <a:off x="4835525" y="2667000"/>
            <a:ext cx="3175" cy="863600"/>
          </a:xfrm>
          <a:prstGeom prst="rect">
            <a:avLst/>
          </a:prstGeom>
          <a:solidFill>
            <a:srgbClr val="C2E7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13319" name="Rectangle 827">
            <a:extLst>
              <a:ext uri="{FF2B5EF4-FFF2-40B4-BE49-F238E27FC236}">
                <a16:creationId xmlns:a16="http://schemas.microsoft.com/office/drawing/2014/main" id="{08FDE50F-339F-449C-A9B9-10114A036B76}"/>
              </a:ext>
            </a:extLst>
          </p:cNvPr>
          <p:cNvSpPr>
            <a:spLocks noChangeArrowheads="1"/>
          </p:cNvSpPr>
          <p:nvPr/>
        </p:nvSpPr>
        <p:spPr bwMode="auto">
          <a:xfrm>
            <a:off x="4949825" y="2667000"/>
            <a:ext cx="6350" cy="863600"/>
          </a:xfrm>
          <a:prstGeom prst="rect">
            <a:avLst/>
          </a:prstGeom>
          <a:solidFill>
            <a:srgbClr val="DFF1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13320" name="Rectangle 832">
            <a:extLst>
              <a:ext uri="{FF2B5EF4-FFF2-40B4-BE49-F238E27FC236}">
                <a16:creationId xmlns:a16="http://schemas.microsoft.com/office/drawing/2014/main" id="{85FC454B-0BA4-44ED-91FB-A9B347621E00}"/>
              </a:ext>
            </a:extLst>
          </p:cNvPr>
          <p:cNvSpPr>
            <a:spLocks noChangeArrowheads="1"/>
          </p:cNvSpPr>
          <p:nvPr/>
        </p:nvSpPr>
        <p:spPr bwMode="auto">
          <a:xfrm>
            <a:off x="4978400" y="2667000"/>
            <a:ext cx="4763" cy="863600"/>
          </a:xfrm>
          <a:prstGeom prst="rect">
            <a:avLst/>
          </a:prstGeom>
          <a:solidFill>
            <a:srgbClr val="E5F4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13321" name="Rectangle 834">
            <a:extLst>
              <a:ext uri="{FF2B5EF4-FFF2-40B4-BE49-F238E27FC236}">
                <a16:creationId xmlns:a16="http://schemas.microsoft.com/office/drawing/2014/main" id="{12C8D571-95F6-44F0-ADD3-32759B5F6BB5}"/>
              </a:ext>
            </a:extLst>
          </p:cNvPr>
          <p:cNvSpPr>
            <a:spLocks noChangeArrowheads="1"/>
          </p:cNvSpPr>
          <p:nvPr/>
        </p:nvSpPr>
        <p:spPr bwMode="auto">
          <a:xfrm>
            <a:off x="4987925" y="2667000"/>
            <a:ext cx="4763" cy="863600"/>
          </a:xfrm>
          <a:prstGeom prst="rect">
            <a:avLst/>
          </a:prstGeom>
          <a:solidFill>
            <a:srgbClr val="E6F4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13322" name="Rectangle 848">
            <a:extLst>
              <a:ext uri="{FF2B5EF4-FFF2-40B4-BE49-F238E27FC236}">
                <a16:creationId xmlns:a16="http://schemas.microsoft.com/office/drawing/2014/main" id="{1A017794-0D8D-4CE1-AC80-80C3C00E6B7B}"/>
              </a:ext>
            </a:extLst>
          </p:cNvPr>
          <p:cNvSpPr>
            <a:spLocks noChangeArrowheads="1"/>
          </p:cNvSpPr>
          <p:nvPr/>
        </p:nvSpPr>
        <p:spPr bwMode="auto">
          <a:xfrm>
            <a:off x="5065713" y="2667000"/>
            <a:ext cx="3175" cy="863600"/>
          </a:xfrm>
          <a:prstGeom prst="rect">
            <a:avLst/>
          </a:prstGeom>
          <a:solidFill>
            <a:srgbClr val="F2F9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13323" name="Rectangle 850">
            <a:extLst>
              <a:ext uri="{FF2B5EF4-FFF2-40B4-BE49-F238E27FC236}">
                <a16:creationId xmlns:a16="http://schemas.microsoft.com/office/drawing/2014/main" id="{3364AC29-BA09-4875-B977-0934C6923EF1}"/>
              </a:ext>
            </a:extLst>
          </p:cNvPr>
          <p:cNvSpPr>
            <a:spLocks noChangeArrowheads="1"/>
          </p:cNvSpPr>
          <p:nvPr/>
        </p:nvSpPr>
        <p:spPr bwMode="auto">
          <a:xfrm>
            <a:off x="5075238" y="2667000"/>
            <a:ext cx="4762" cy="863600"/>
          </a:xfrm>
          <a:prstGeom prst="rect">
            <a:avLst/>
          </a:prstGeom>
          <a:solidFill>
            <a:srgbClr val="F3FA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13324" name="Rectangle 855">
            <a:extLst>
              <a:ext uri="{FF2B5EF4-FFF2-40B4-BE49-F238E27FC236}">
                <a16:creationId xmlns:a16="http://schemas.microsoft.com/office/drawing/2014/main" id="{6CADE520-167F-4137-A360-32C2387762E9}"/>
              </a:ext>
            </a:extLst>
          </p:cNvPr>
          <p:cNvSpPr>
            <a:spLocks noChangeArrowheads="1"/>
          </p:cNvSpPr>
          <p:nvPr/>
        </p:nvSpPr>
        <p:spPr bwMode="auto">
          <a:xfrm>
            <a:off x="5103813" y="2667000"/>
            <a:ext cx="4762" cy="863600"/>
          </a:xfrm>
          <a:prstGeom prst="rect">
            <a:avLst/>
          </a:prstGeom>
          <a:solidFill>
            <a:srgbClr val="F6FB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13325" name="Line 443">
            <a:extLst>
              <a:ext uri="{FF2B5EF4-FFF2-40B4-BE49-F238E27FC236}">
                <a16:creationId xmlns:a16="http://schemas.microsoft.com/office/drawing/2014/main" id="{13FE9B9A-9B35-4BDD-9BCD-CC90833B10B4}"/>
              </a:ext>
            </a:extLst>
          </p:cNvPr>
          <p:cNvSpPr>
            <a:spLocks noChangeShapeType="1"/>
          </p:cNvSpPr>
          <p:nvPr/>
        </p:nvSpPr>
        <p:spPr bwMode="auto">
          <a:xfrm flipV="1">
            <a:off x="1219200" y="1066800"/>
            <a:ext cx="4800600" cy="0"/>
          </a:xfrm>
          <a:prstGeom prst="line">
            <a:avLst/>
          </a:prstGeom>
          <a:noFill/>
          <a:ln w="69850" cmpd="thinThick">
            <a:solidFill>
              <a:schemeClr val="bg2"/>
            </a:solidFill>
            <a:round/>
            <a:headEnd/>
            <a:tailEnd/>
          </a:ln>
          <a:effectLst>
            <a:outerShdw dist="148106" dir="1857825" algn="ctr" rotWithShape="0">
              <a:srgbClr val="DDDDDD"/>
            </a:outerShdw>
          </a:effectLst>
          <a:extLst>
            <a:ext uri="{909E8E84-426E-40DD-AFC4-6F175D3DCCD1}">
              <a14:hiddenFill xmlns:a14="http://schemas.microsoft.com/office/drawing/2010/main">
                <a:noFill/>
              </a14:hiddenFill>
            </a:ext>
          </a:extLst>
        </p:spPr>
        <p:txBody>
          <a:bodyPr/>
          <a:lstStyle/>
          <a:p>
            <a:endParaRPr lang="ja-JP" altLang="en-US"/>
          </a:p>
        </p:txBody>
      </p:sp>
      <p:sp>
        <p:nvSpPr>
          <p:cNvPr id="13326" name="Rectangle 566">
            <a:extLst>
              <a:ext uri="{FF2B5EF4-FFF2-40B4-BE49-F238E27FC236}">
                <a16:creationId xmlns:a16="http://schemas.microsoft.com/office/drawing/2014/main" id="{CA3819F4-95E3-46B8-A708-8AA215D86E09}"/>
              </a:ext>
            </a:extLst>
          </p:cNvPr>
          <p:cNvSpPr>
            <a:spLocks noChangeArrowheads="1"/>
          </p:cNvSpPr>
          <p:nvPr/>
        </p:nvSpPr>
        <p:spPr bwMode="auto">
          <a:xfrm>
            <a:off x="1219200" y="1360488"/>
            <a:ext cx="4795838" cy="183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50000"/>
              </a:spcBef>
              <a:buFontTx/>
              <a:buNone/>
            </a:pPr>
            <a:r>
              <a:rPr lang="ja-JP" altLang="en-US" sz="1700" b="1">
                <a:solidFill>
                  <a:srgbClr val="000000"/>
                </a:solidFill>
                <a:latin typeface="メイリオ" panose="020B0604030504040204" pitchFamily="50" charset="-128"/>
                <a:ea typeface="メイリオ" panose="020B0604030504040204" pitchFamily="50" charset="-128"/>
              </a:rPr>
              <a:t>私たちは人財力をベースとした</a:t>
            </a:r>
            <a:endParaRPr lang="en-US" altLang="ja-JP" sz="1700" b="1">
              <a:solidFill>
                <a:srgbClr val="000000"/>
              </a:solidFill>
              <a:latin typeface="メイリオ" panose="020B0604030504040204" pitchFamily="50" charset="-128"/>
              <a:ea typeface="メイリオ" panose="020B0604030504040204" pitchFamily="50" charset="-128"/>
            </a:endParaRPr>
          </a:p>
          <a:p>
            <a:pPr eaLnBrk="1" hangingPunct="1">
              <a:spcBef>
                <a:spcPct val="50000"/>
              </a:spcBef>
              <a:buFontTx/>
              <a:buNone/>
            </a:pPr>
            <a:r>
              <a:rPr lang="ja-JP" altLang="en-US" sz="1700" b="1">
                <a:solidFill>
                  <a:srgbClr val="000000"/>
                </a:solidFill>
                <a:latin typeface="メイリオ" panose="020B0604030504040204" pitchFamily="50" charset="-128"/>
                <a:ea typeface="メイリオ" panose="020B0604030504040204" pitchFamily="50" charset="-128"/>
              </a:rPr>
              <a:t>「先見性ある商品企画」と「優れた技術」が生む</a:t>
            </a:r>
            <a:endParaRPr lang="en-US" altLang="ja-JP" sz="1700" b="1">
              <a:solidFill>
                <a:srgbClr val="000000"/>
              </a:solidFill>
              <a:latin typeface="メイリオ" panose="020B0604030504040204" pitchFamily="50" charset="-128"/>
              <a:ea typeface="メイリオ" panose="020B0604030504040204" pitchFamily="50" charset="-128"/>
            </a:endParaRPr>
          </a:p>
          <a:p>
            <a:pPr eaLnBrk="1" hangingPunct="1">
              <a:spcBef>
                <a:spcPct val="50000"/>
              </a:spcBef>
              <a:buFontTx/>
              <a:buNone/>
            </a:pPr>
            <a:r>
              <a:rPr lang="ja-JP" altLang="en-US" sz="1700" b="1">
                <a:solidFill>
                  <a:srgbClr val="000000"/>
                </a:solidFill>
                <a:latin typeface="メイリオ" panose="020B0604030504040204" pitchFamily="50" charset="-128"/>
                <a:ea typeface="メイリオ" panose="020B0604030504040204" pitchFamily="50" charset="-128"/>
              </a:rPr>
              <a:t>小さな感動の積み重ねにより、</a:t>
            </a:r>
            <a:endParaRPr lang="en-US" altLang="ja-JP" sz="1700" b="1">
              <a:solidFill>
                <a:srgbClr val="000000"/>
              </a:solidFill>
              <a:latin typeface="メイリオ" panose="020B0604030504040204" pitchFamily="50" charset="-128"/>
              <a:ea typeface="メイリオ" panose="020B0604030504040204" pitchFamily="50" charset="-128"/>
            </a:endParaRPr>
          </a:p>
          <a:p>
            <a:pPr eaLnBrk="1" hangingPunct="1">
              <a:spcBef>
                <a:spcPct val="50000"/>
              </a:spcBef>
              <a:buFontTx/>
              <a:buNone/>
            </a:pPr>
            <a:r>
              <a:rPr lang="ja-JP" altLang="en-US" sz="1700" b="1">
                <a:solidFill>
                  <a:srgbClr val="000000"/>
                </a:solidFill>
                <a:latin typeface="メイリオ" panose="020B0604030504040204" pitchFamily="50" charset="-128"/>
                <a:ea typeface="メイリオ" panose="020B0604030504040204" pitchFamily="50" charset="-128"/>
              </a:rPr>
              <a:t>お客様の期待を上回る快適空間の創造を</a:t>
            </a:r>
            <a:endParaRPr lang="en-US" altLang="ja-JP" sz="1700" b="1">
              <a:solidFill>
                <a:srgbClr val="000000"/>
              </a:solidFill>
              <a:latin typeface="メイリオ" panose="020B0604030504040204" pitchFamily="50" charset="-128"/>
              <a:ea typeface="メイリオ" panose="020B0604030504040204" pitchFamily="50" charset="-128"/>
            </a:endParaRPr>
          </a:p>
          <a:p>
            <a:pPr eaLnBrk="1" hangingPunct="1">
              <a:spcBef>
                <a:spcPct val="50000"/>
              </a:spcBef>
              <a:buFontTx/>
              <a:buNone/>
            </a:pPr>
            <a:r>
              <a:rPr lang="ja-JP" altLang="en-US" sz="1700" b="1">
                <a:solidFill>
                  <a:srgbClr val="000000"/>
                </a:solidFill>
                <a:latin typeface="メイリオ" panose="020B0604030504040204" pitchFamily="50" charset="-128"/>
                <a:ea typeface="メイリオ" panose="020B0604030504040204" pitchFamily="50" charset="-128"/>
              </a:rPr>
              <a:t>提案・実現します。</a:t>
            </a:r>
            <a:endParaRPr lang="ja-JP" altLang="en-US" sz="1700" b="1">
              <a:latin typeface="メイリオ" panose="020B0604030504040204" pitchFamily="50" charset="-128"/>
              <a:ea typeface="メイリオ" panose="020B0604030504040204" pitchFamily="50" charset="-128"/>
            </a:endParaRPr>
          </a:p>
        </p:txBody>
      </p:sp>
      <p:sp>
        <p:nvSpPr>
          <p:cNvPr id="14352" name="Rectangle 2060">
            <a:extLst>
              <a:ext uri="{FF2B5EF4-FFF2-40B4-BE49-F238E27FC236}">
                <a16:creationId xmlns:a16="http://schemas.microsoft.com/office/drawing/2014/main" id="{D39D2C0A-9F59-483D-A605-EBBEE7629D01}"/>
              </a:ext>
            </a:extLst>
          </p:cNvPr>
          <p:cNvSpPr>
            <a:spLocks noChangeArrowheads="1"/>
          </p:cNvSpPr>
          <p:nvPr/>
        </p:nvSpPr>
        <p:spPr bwMode="auto">
          <a:xfrm>
            <a:off x="762000" y="5149850"/>
            <a:ext cx="5562600" cy="229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lnSpc>
                <a:spcPct val="130000"/>
              </a:lnSpc>
              <a:buFontTx/>
              <a:buNone/>
              <a:defRPr/>
            </a:pPr>
            <a:r>
              <a:rPr lang="ja-JP" altLang="en-US" sz="1200" dirty="0">
                <a:latin typeface="+mj-ea"/>
                <a:ea typeface="+mj-ea"/>
              </a:rPr>
              <a:t>　どれだけ機器や技術が進化しても、仕事とは人と人との関わり合いのなかで生まれます。そのため、仕事のどの場面においても人財力が必要だと考えます。</a:t>
            </a:r>
            <a:endParaRPr lang="en-US" altLang="ja-JP" sz="1200" dirty="0">
              <a:latin typeface="+mj-ea"/>
              <a:ea typeface="+mj-ea"/>
            </a:endParaRPr>
          </a:p>
          <a:p>
            <a:pPr eaLnBrk="1" hangingPunct="1">
              <a:lnSpc>
                <a:spcPct val="130000"/>
              </a:lnSpc>
              <a:buFontTx/>
              <a:buNone/>
              <a:defRPr/>
            </a:pPr>
            <a:r>
              <a:rPr lang="ja-JP" altLang="en-US" sz="1200" dirty="0">
                <a:latin typeface="+mj-ea"/>
                <a:ea typeface="+mj-ea"/>
              </a:rPr>
              <a:t>　また、従業員個々人の性格、仕事ぶり、貢献度はすべて十人十色です。その十人十色の従業員の集合体が会社を成立させています。私たちは、「十人十色の個性」を大切にする風土を醸成します。そして、多様性がある組織づくりを行います。この「個々の意見」を組み合わせることにより、先見性のある商品企画を創発し、また優れた技術を生み出します。</a:t>
            </a:r>
            <a:endParaRPr lang="en-US" altLang="ja-JP" sz="1200" dirty="0">
              <a:latin typeface="+mj-ea"/>
              <a:ea typeface="+mj-ea"/>
            </a:endParaRPr>
          </a:p>
          <a:p>
            <a:pPr eaLnBrk="1" hangingPunct="1">
              <a:lnSpc>
                <a:spcPct val="130000"/>
              </a:lnSpc>
              <a:buFontTx/>
              <a:buNone/>
              <a:defRPr/>
            </a:pPr>
            <a:r>
              <a:rPr lang="ja-JP" altLang="en-US" sz="1200" dirty="0">
                <a:latin typeface="+mj-ea"/>
                <a:ea typeface="+mj-ea"/>
              </a:rPr>
              <a:t>　人財力をベースとした先見性のある商品企画と優れた技術力により、顧客への提案や実践を行い、小さな感動の積み重ねによる快適空間を創造していきます。</a:t>
            </a:r>
            <a:endParaRPr lang="en-US" altLang="ja-JP" sz="1200" dirty="0">
              <a:latin typeface="+mj-ea"/>
              <a:ea typeface="+mj-ea"/>
            </a:endParaRPr>
          </a:p>
        </p:txBody>
      </p:sp>
      <p:sp>
        <p:nvSpPr>
          <p:cNvPr id="13328" name="Rectangle 1028">
            <a:extLst>
              <a:ext uri="{FF2B5EF4-FFF2-40B4-BE49-F238E27FC236}">
                <a16:creationId xmlns:a16="http://schemas.microsoft.com/office/drawing/2014/main" id="{991D80D5-714C-4099-9D4F-FEAED35E7039}"/>
              </a:ext>
            </a:extLst>
          </p:cNvPr>
          <p:cNvSpPr>
            <a:spLocks noChangeArrowheads="1"/>
          </p:cNvSpPr>
          <p:nvPr/>
        </p:nvSpPr>
        <p:spPr bwMode="auto">
          <a:xfrm>
            <a:off x="4584700" y="-28575"/>
            <a:ext cx="226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dist" eaLnBrk="1" hangingPunct="1">
              <a:spcBef>
                <a:spcPct val="0"/>
              </a:spcBef>
              <a:buFontTx/>
              <a:buNone/>
            </a:pPr>
            <a:r>
              <a:rPr lang="ja-JP" altLang="en-US" sz="1600">
                <a:latin typeface="メイリオ" panose="020B0604030504040204" pitchFamily="50" charset="-128"/>
                <a:ea typeface="メイリオ" panose="020B0604030504040204" pitchFamily="50" charset="-128"/>
              </a:rPr>
              <a:t>提供価値</a:t>
            </a:r>
          </a:p>
        </p:txBody>
      </p:sp>
      <p:sp>
        <p:nvSpPr>
          <p:cNvPr id="22" name="Google Shape;1346;p122">
            <a:extLst>
              <a:ext uri="{FF2B5EF4-FFF2-40B4-BE49-F238E27FC236}">
                <a16:creationId xmlns:a16="http://schemas.microsoft.com/office/drawing/2014/main" id="{3A3A4727-2908-47C2-AC46-527EE15154A7}"/>
              </a:ext>
            </a:extLst>
          </p:cNvPr>
          <p:cNvSpPr txBox="1"/>
          <p:nvPr/>
        </p:nvSpPr>
        <p:spPr>
          <a:xfrm>
            <a:off x="6308725" y="8993188"/>
            <a:ext cx="538163" cy="158750"/>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A0D92D95-A9C4-4150-A5D7-6172E2619DB5}"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11</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pic>
        <p:nvPicPr>
          <p:cNvPr id="13330" name="図 2">
            <a:extLst>
              <a:ext uri="{FF2B5EF4-FFF2-40B4-BE49-F238E27FC236}">
                <a16:creationId xmlns:a16="http://schemas.microsoft.com/office/drawing/2014/main" id="{015D9514-45C9-4B71-83CA-C14DDB1219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9788" y="3719513"/>
            <a:ext cx="5510212"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38" name="Group 444">
            <a:extLst>
              <a:ext uri="{FF2B5EF4-FFF2-40B4-BE49-F238E27FC236}">
                <a16:creationId xmlns:a16="http://schemas.microsoft.com/office/drawing/2014/main" id="{4041846E-39BC-4842-8C91-2109DF38042C}"/>
              </a:ext>
            </a:extLst>
          </p:cNvPr>
          <p:cNvGrpSpPr>
            <a:grpSpLocks/>
          </p:cNvGrpSpPr>
          <p:nvPr/>
        </p:nvGrpSpPr>
        <p:grpSpPr bwMode="auto">
          <a:xfrm>
            <a:off x="762000" y="457200"/>
            <a:ext cx="5562600" cy="7138988"/>
            <a:chOff x="567" y="125"/>
            <a:chExt cx="3129" cy="2353"/>
          </a:xfrm>
        </p:grpSpPr>
        <p:sp>
          <p:nvSpPr>
            <p:cNvPr id="14350" name="Rectangle 445">
              <a:extLst>
                <a:ext uri="{FF2B5EF4-FFF2-40B4-BE49-F238E27FC236}">
                  <a16:creationId xmlns:a16="http://schemas.microsoft.com/office/drawing/2014/main" id="{1605E14C-B78B-47A2-9E39-447EF2AFC636}"/>
                </a:ext>
              </a:extLst>
            </p:cNvPr>
            <p:cNvSpPr>
              <a:spLocks noChangeArrowheads="1"/>
            </p:cNvSpPr>
            <p:nvPr/>
          </p:nvSpPr>
          <p:spPr bwMode="auto">
            <a:xfrm>
              <a:off x="593" y="151"/>
              <a:ext cx="3103" cy="2327"/>
            </a:xfrm>
            <a:prstGeom prst="rect">
              <a:avLst/>
            </a:prstGeom>
            <a:solidFill>
              <a:srgbClr val="000000"/>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b="1"/>
            </a:p>
          </p:txBody>
        </p:sp>
        <p:sp>
          <p:nvSpPr>
            <p:cNvPr id="14351" name="Rectangle 446">
              <a:extLst>
                <a:ext uri="{FF2B5EF4-FFF2-40B4-BE49-F238E27FC236}">
                  <a16:creationId xmlns:a16="http://schemas.microsoft.com/office/drawing/2014/main" id="{3173297E-FCB5-4D9C-A5D5-14E0A7B11B86}"/>
                </a:ext>
              </a:extLst>
            </p:cNvPr>
            <p:cNvSpPr>
              <a:spLocks noChangeArrowheads="1"/>
            </p:cNvSpPr>
            <p:nvPr/>
          </p:nvSpPr>
          <p:spPr bwMode="auto">
            <a:xfrm>
              <a:off x="567" y="125"/>
              <a:ext cx="3103" cy="2327"/>
            </a:xfrm>
            <a:prstGeom prst="rect">
              <a:avLst/>
            </a:prstGeom>
            <a:solidFill>
              <a:srgbClr val="FFFFFF"/>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b="1"/>
            </a:p>
          </p:txBody>
        </p:sp>
      </p:grpSp>
      <p:sp>
        <p:nvSpPr>
          <p:cNvPr id="14339" name="Rectangle 564">
            <a:extLst>
              <a:ext uri="{FF2B5EF4-FFF2-40B4-BE49-F238E27FC236}">
                <a16:creationId xmlns:a16="http://schemas.microsoft.com/office/drawing/2014/main" id="{E1008BFD-5042-4DEF-B3E5-ED6540A935D9}"/>
              </a:ext>
            </a:extLst>
          </p:cNvPr>
          <p:cNvSpPr>
            <a:spLocks noChangeArrowheads="1"/>
          </p:cNvSpPr>
          <p:nvPr/>
        </p:nvSpPr>
        <p:spPr bwMode="auto">
          <a:xfrm>
            <a:off x="1216025" y="762000"/>
            <a:ext cx="13858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1800" b="1">
                <a:latin typeface="メイリオ" panose="020B0604030504040204" pitchFamily="50" charset="-128"/>
                <a:ea typeface="メイリオ" panose="020B0604030504040204" pitchFamily="50" charset="-128"/>
              </a:rPr>
              <a:t>人財力とは、</a:t>
            </a:r>
          </a:p>
        </p:txBody>
      </p:sp>
      <p:sp>
        <p:nvSpPr>
          <p:cNvPr id="14340" name="Line 443">
            <a:extLst>
              <a:ext uri="{FF2B5EF4-FFF2-40B4-BE49-F238E27FC236}">
                <a16:creationId xmlns:a16="http://schemas.microsoft.com/office/drawing/2014/main" id="{6800FA49-6905-4BED-81F3-C8D704605973}"/>
              </a:ext>
            </a:extLst>
          </p:cNvPr>
          <p:cNvSpPr>
            <a:spLocks noChangeShapeType="1"/>
          </p:cNvSpPr>
          <p:nvPr/>
        </p:nvSpPr>
        <p:spPr bwMode="auto">
          <a:xfrm flipV="1">
            <a:off x="1219200" y="1066800"/>
            <a:ext cx="4800600" cy="0"/>
          </a:xfrm>
          <a:prstGeom prst="line">
            <a:avLst/>
          </a:prstGeom>
          <a:noFill/>
          <a:ln w="69850" cmpd="thinThick">
            <a:solidFill>
              <a:schemeClr val="bg2"/>
            </a:solidFill>
            <a:round/>
            <a:headEnd/>
            <a:tailEnd/>
          </a:ln>
          <a:effectLst>
            <a:outerShdw dist="148106" dir="1857825" algn="ctr" rotWithShape="0">
              <a:srgbClr val="DDDDDD"/>
            </a:outerShdw>
          </a:effectLst>
          <a:extLst>
            <a:ext uri="{909E8E84-426E-40DD-AFC4-6F175D3DCCD1}">
              <a14:hiddenFill xmlns:a14="http://schemas.microsoft.com/office/drawing/2010/main">
                <a:noFill/>
              </a14:hiddenFill>
            </a:ext>
          </a:extLst>
        </p:spPr>
        <p:txBody>
          <a:bodyPr/>
          <a:lstStyle/>
          <a:p>
            <a:endParaRPr lang="ja-JP" altLang="en-US"/>
          </a:p>
        </p:txBody>
      </p:sp>
      <p:sp>
        <p:nvSpPr>
          <p:cNvPr id="14341" name="Rectangle 1028">
            <a:extLst>
              <a:ext uri="{FF2B5EF4-FFF2-40B4-BE49-F238E27FC236}">
                <a16:creationId xmlns:a16="http://schemas.microsoft.com/office/drawing/2014/main" id="{EB3971A3-1E36-4514-80AF-140097AB8867}"/>
              </a:ext>
            </a:extLst>
          </p:cNvPr>
          <p:cNvSpPr>
            <a:spLocks noChangeArrowheads="1"/>
          </p:cNvSpPr>
          <p:nvPr/>
        </p:nvSpPr>
        <p:spPr bwMode="auto">
          <a:xfrm>
            <a:off x="4584700" y="-28575"/>
            <a:ext cx="226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dist" eaLnBrk="1" hangingPunct="1">
              <a:spcBef>
                <a:spcPct val="0"/>
              </a:spcBef>
              <a:buFontTx/>
              <a:buNone/>
            </a:pPr>
            <a:r>
              <a:rPr lang="ja-JP" altLang="en-US" sz="1600">
                <a:latin typeface="メイリオ" panose="020B0604030504040204" pitchFamily="50" charset="-128"/>
                <a:ea typeface="メイリオ" panose="020B0604030504040204" pitchFamily="50" charset="-128"/>
              </a:rPr>
              <a:t>提供価値</a:t>
            </a:r>
          </a:p>
        </p:txBody>
      </p:sp>
      <p:sp>
        <p:nvSpPr>
          <p:cNvPr id="14342" name="Line 443">
            <a:extLst>
              <a:ext uri="{FF2B5EF4-FFF2-40B4-BE49-F238E27FC236}">
                <a16:creationId xmlns:a16="http://schemas.microsoft.com/office/drawing/2014/main" id="{423EC017-D9DF-4817-92AB-EA479253E3CD}"/>
              </a:ext>
            </a:extLst>
          </p:cNvPr>
          <p:cNvSpPr>
            <a:spLocks noChangeShapeType="1"/>
          </p:cNvSpPr>
          <p:nvPr/>
        </p:nvSpPr>
        <p:spPr bwMode="auto">
          <a:xfrm flipV="1">
            <a:off x="1196975" y="3155950"/>
            <a:ext cx="4800600" cy="0"/>
          </a:xfrm>
          <a:prstGeom prst="line">
            <a:avLst/>
          </a:prstGeom>
          <a:noFill/>
          <a:ln w="69850" cmpd="thinThick">
            <a:solidFill>
              <a:schemeClr val="bg2"/>
            </a:solidFill>
            <a:round/>
            <a:headEnd/>
            <a:tailEnd/>
          </a:ln>
          <a:effectLst>
            <a:outerShdw dist="148106" dir="1857825" algn="ctr" rotWithShape="0">
              <a:srgbClr val="DDDDDD"/>
            </a:outerShdw>
          </a:effectLst>
          <a:extLst>
            <a:ext uri="{909E8E84-426E-40DD-AFC4-6F175D3DCCD1}">
              <a14:hiddenFill xmlns:a14="http://schemas.microsoft.com/office/drawing/2010/main">
                <a:noFill/>
              </a14:hiddenFill>
            </a:ext>
          </a:extLst>
        </p:spPr>
        <p:txBody>
          <a:bodyPr/>
          <a:lstStyle/>
          <a:p>
            <a:endParaRPr lang="ja-JP" altLang="en-US"/>
          </a:p>
        </p:txBody>
      </p:sp>
      <p:sp>
        <p:nvSpPr>
          <p:cNvPr id="14343" name="Line 443">
            <a:extLst>
              <a:ext uri="{FF2B5EF4-FFF2-40B4-BE49-F238E27FC236}">
                <a16:creationId xmlns:a16="http://schemas.microsoft.com/office/drawing/2014/main" id="{5813CCCE-8945-4ACF-974B-8AAD19100F0B}"/>
              </a:ext>
            </a:extLst>
          </p:cNvPr>
          <p:cNvSpPr>
            <a:spLocks noChangeShapeType="1"/>
          </p:cNvSpPr>
          <p:nvPr/>
        </p:nvSpPr>
        <p:spPr bwMode="auto">
          <a:xfrm flipV="1">
            <a:off x="1196975" y="5641975"/>
            <a:ext cx="4800600" cy="0"/>
          </a:xfrm>
          <a:prstGeom prst="line">
            <a:avLst/>
          </a:prstGeom>
          <a:noFill/>
          <a:ln w="69850" cmpd="thinThick">
            <a:solidFill>
              <a:schemeClr val="bg2"/>
            </a:solidFill>
            <a:round/>
            <a:headEnd/>
            <a:tailEnd/>
          </a:ln>
          <a:effectLst>
            <a:outerShdw dist="148106" dir="1857825" algn="ctr" rotWithShape="0">
              <a:srgbClr val="DDDDDD"/>
            </a:outerShdw>
          </a:effectLst>
          <a:extLst>
            <a:ext uri="{909E8E84-426E-40DD-AFC4-6F175D3DCCD1}">
              <a14:hiddenFill xmlns:a14="http://schemas.microsoft.com/office/drawing/2010/main">
                <a:noFill/>
              </a14:hiddenFill>
            </a:ext>
          </a:extLst>
        </p:spPr>
        <p:txBody>
          <a:bodyPr/>
          <a:lstStyle/>
          <a:p>
            <a:endParaRPr lang="ja-JP" altLang="en-US"/>
          </a:p>
        </p:txBody>
      </p:sp>
      <p:sp>
        <p:nvSpPr>
          <p:cNvPr id="14344" name="Rectangle 564">
            <a:extLst>
              <a:ext uri="{FF2B5EF4-FFF2-40B4-BE49-F238E27FC236}">
                <a16:creationId xmlns:a16="http://schemas.microsoft.com/office/drawing/2014/main" id="{A66E053E-CB2C-4909-A2F7-16DA19B8F638}"/>
              </a:ext>
            </a:extLst>
          </p:cNvPr>
          <p:cNvSpPr>
            <a:spLocks noChangeArrowheads="1"/>
          </p:cNvSpPr>
          <p:nvPr/>
        </p:nvSpPr>
        <p:spPr bwMode="auto">
          <a:xfrm>
            <a:off x="1216025" y="2846388"/>
            <a:ext cx="30003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1800" b="1">
                <a:latin typeface="メイリオ" panose="020B0604030504040204" pitchFamily="50" charset="-128"/>
                <a:ea typeface="メイリオ" panose="020B0604030504040204" pitchFamily="50" charset="-128"/>
              </a:rPr>
              <a:t>先見性のある商品企画とは、</a:t>
            </a:r>
          </a:p>
        </p:txBody>
      </p:sp>
      <p:sp>
        <p:nvSpPr>
          <p:cNvPr id="14345" name="Rectangle 564">
            <a:extLst>
              <a:ext uri="{FF2B5EF4-FFF2-40B4-BE49-F238E27FC236}">
                <a16:creationId xmlns:a16="http://schemas.microsoft.com/office/drawing/2014/main" id="{673AE0CD-4F70-4256-AFB3-36D54C5A7DF3}"/>
              </a:ext>
            </a:extLst>
          </p:cNvPr>
          <p:cNvSpPr>
            <a:spLocks noChangeArrowheads="1"/>
          </p:cNvSpPr>
          <p:nvPr/>
        </p:nvSpPr>
        <p:spPr bwMode="auto">
          <a:xfrm>
            <a:off x="1268413" y="1320800"/>
            <a:ext cx="4729162"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1800" b="1">
                <a:latin typeface="メイリオ" panose="020B0604030504040204" pitchFamily="50" charset="-128"/>
                <a:ea typeface="メイリオ" panose="020B0604030504040204" pitchFamily="50" charset="-128"/>
              </a:rPr>
              <a:t>周囲に思いやりと感謝の気持ちを忘れ似ずに、強い責任感と高いスキルを身につけお客様との信頼関係を構築します。</a:t>
            </a:r>
            <a:endParaRPr lang="en-US" altLang="ja-JP" sz="1800" b="1">
              <a:latin typeface="メイリオ" panose="020B0604030504040204" pitchFamily="50" charset="-128"/>
              <a:ea typeface="メイリオ" panose="020B0604030504040204" pitchFamily="50" charset="-128"/>
            </a:endParaRPr>
          </a:p>
        </p:txBody>
      </p:sp>
      <p:sp>
        <p:nvSpPr>
          <p:cNvPr id="14346" name="Rectangle 564">
            <a:extLst>
              <a:ext uri="{FF2B5EF4-FFF2-40B4-BE49-F238E27FC236}">
                <a16:creationId xmlns:a16="http://schemas.microsoft.com/office/drawing/2014/main" id="{0811C513-351E-46F6-AC10-AE61DB31C18C}"/>
              </a:ext>
            </a:extLst>
          </p:cNvPr>
          <p:cNvSpPr>
            <a:spLocks noChangeArrowheads="1"/>
          </p:cNvSpPr>
          <p:nvPr/>
        </p:nvSpPr>
        <p:spPr bwMode="auto">
          <a:xfrm>
            <a:off x="1268413" y="3416300"/>
            <a:ext cx="4729162"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1800" b="1">
                <a:latin typeface="メイリオ" panose="020B0604030504040204" pitchFamily="50" charset="-128"/>
                <a:ea typeface="メイリオ" panose="020B0604030504040204" pitchFamily="50" charset="-128"/>
              </a:rPr>
              <a:t>エンドユーザーの声に耳を傾け、顧客視点からの発想と市場環境の変化に敏感にキャッチし常に一歩先を見据えた商品＆サービスを企画し提案します。</a:t>
            </a:r>
            <a:endParaRPr lang="en-US" altLang="ja-JP" sz="1800" b="1">
              <a:latin typeface="メイリオ" panose="020B0604030504040204" pitchFamily="50" charset="-128"/>
              <a:ea typeface="メイリオ" panose="020B0604030504040204" pitchFamily="50" charset="-128"/>
            </a:endParaRPr>
          </a:p>
        </p:txBody>
      </p:sp>
      <p:sp>
        <p:nvSpPr>
          <p:cNvPr id="14347" name="Rectangle 564">
            <a:extLst>
              <a:ext uri="{FF2B5EF4-FFF2-40B4-BE49-F238E27FC236}">
                <a16:creationId xmlns:a16="http://schemas.microsoft.com/office/drawing/2014/main" id="{02720316-AADA-4719-B6C0-18A761459E07}"/>
              </a:ext>
            </a:extLst>
          </p:cNvPr>
          <p:cNvSpPr>
            <a:spLocks noChangeArrowheads="1"/>
          </p:cNvSpPr>
          <p:nvPr/>
        </p:nvSpPr>
        <p:spPr bwMode="auto">
          <a:xfrm>
            <a:off x="1216025" y="5273675"/>
            <a:ext cx="20780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1800" b="1">
                <a:latin typeface="メイリオ" panose="020B0604030504040204" pitchFamily="50" charset="-128"/>
                <a:ea typeface="メイリオ" panose="020B0604030504040204" pitchFamily="50" charset="-128"/>
              </a:rPr>
              <a:t>優れた技術力とは、</a:t>
            </a:r>
          </a:p>
        </p:txBody>
      </p:sp>
      <p:sp>
        <p:nvSpPr>
          <p:cNvPr id="14348" name="Rectangle 564">
            <a:extLst>
              <a:ext uri="{FF2B5EF4-FFF2-40B4-BE49-F238E27FC236}">
                <a16:creationId xmlns:a16="http://schemas.microsoft.com/office/drawing/2014/main" id="{6F4EDD43-1AE3-473C-ABD6-82567A8B891A}"/>
              </a:ext>
            </a:extLst>
          </p:cNvPr>
          <p:cNvSpPr>
            <a:spLocks noChangeArrowheads="1"/>
          </p:cNvSpPr>
          <p:nvPr/>
        </p:nvSpPr>
        <p:spPr bwMode="auto">
          <a:xfrm>
            <a:off x="1268413" y="5899150"/>
            <a:ext cx="4729162"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1800" b="1">
                <a:latin typeface="メイリオ" panose="020B0604030504040204" pitchFamily="50" charset="-128"/>
                <a:ea typeface="メイリオ" panose="020B0604030504040204" pitchFamily="50" charset="-128"/>
              </a:rPr>
              <a:t>現状に満足せず、プロとしての意識を忘れずに、常に自らの技術を磨き続けるとともに新たな技術を習得し、お客様へ感動レベルの品質を提供します。</a:t>
            </a:r>
            <a:endParaRPr lang="en-US" altLang="ja-JP" sz="1800" b="1">
              <a:latin typeface="メイリオ" panose="020B0604030504040204" pitchFamily="50" charset="-128"/>
              <a:ea typeface="メイリオ" panose="020B0604030504040204" pitchFamily="50" charset="-128"/>
            </a:endParaRPr>
          </a:p>
        </p:txBody>
      </p:sp>
      <p:sp>
        <p:nvSpPr>
          <p:cNvPr id="16" name="Google Shape;1346;p122">
            <a:extLst>
              <a:ext uri="{FF2B5EF4-FFF2-40B4-BE49-F238E27FC236}">
                <a16:creationId xmlns:a16="http://schemas.microsoft.com/office/drawing/2014/main" id="{BE947D13-FFBA-4F49-9F6F-D825551A26B7}"/>
              </a:ext>
            </a:extLst>
          </p:cNvPr>
          <p:cNvSpPr txBox="1"/>
          <p:nvPr/>
        </p:nvSpPr>
        <p:spPr>
          <a:xfrm>
            <a:off x="6308725" y="8993188"/>
            <a:ext cx="538163" cy="158750"/>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86169A7A-5115-4D66-AEA4-DD234F444018}"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12</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AutoShape 3">
            <a:extLst>
              <a:ext uri="{FF2B5EF4-FFF2-40B4-BE49-F238E27FC236}">
                <a16:creationId xmlns:a16="http://schemas.microsoft.com/office/drawing/2014/main" id="{338F478E-17FE-4232-B67E-E3598C9F89FA}"/>
              </a:ext>
            </a:extLst>
          </p:cNvPr>
          <p:cNvSpPr>
            <a:spLocks noChangeArrowheads="1"/>
          </p:cNvSpPr>
          <p:nvPr/>
        </p:nvSpPr>
        <p:spPr bwMode="auto">
          <a:xfrm>
            <a:off x="990600" y="304800"/>
            <a:ext cx="4953000" cy="838200"/>
          </a:xfrm>
          <a:prstGeom prst="roundRect">
            <a:avLst>
              <a:gd name="adj" fmla="val 16667"/>
            </a:avLst>
          </a:prstGeom>
          <a:solidFill>
            <a:schemeClr val="bg1">
              <a:lumMod val="75000"/>
            </a:schemeClr>
          </a:solidFill>
          <a:ln>
            <a:noFill/>
          </a:ln>
        </p:spPr>
        <p:txBody>
          <a:bodyPr wrap="none"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defRPr/>
            </a:pPr>
            <a:endParaRPr lang="ja-JP" altLang="en-US" sz="3600">
              <a:latin typeface="メイリオ" panose="020B0604030504040204" pitchFamily="50" charset="-128"/>
              <a:ea typeface="メイリオ" panose="020B0604030504040204" pitchFamily="50" charset="-128"/>
            </a:endParaRPr>
          </a:p>
        </p:txBody>
      </p:sp>
      <p:sp>
        <p:nvSpPr>
          <p:cNvPr id="15363" name="Text Box 4">
            <a:extLst>
              <a:ext uri="{FF2B5EF4-FFF2-40B4-BE49-F238E27FC236}">
                <a16:creationId xmlns:a16="http://schemas.microsoft.com/office/drawing/2014/main" id="{99996003-59A3-4BA1-9ED8-169C886CEE57}"/>
              </a:ext>
            </a:extLst>
          </p:cNvPr>
          <p:cNvSpPr txBox="1">
            <a:spLocks noChangeArrowheads="1"/>
          </p:cNvSpPr>
          <p:nvPr/>
        </p:nvSpPr>
        <p:spPr bwMode="auto">
          <a:xfrm>
            <a:off x="1143000" y="365125"/>
            <a:ext cx="4648200" cy="701675"/>
          </a:xfrm>
          <a:prstGeom prst="rect">
            <a:avLst/>
          </a:prstGeom>
          <a:noFill/>
          <a:ln>
            <a:noFill/>
          </a:ln>
          <a:effectLst>
            <a:outerShdw dist="35921" dir="2700000" algn="ctr" rotWithShape="0">
              <a:srgbClr val="B2B2B2">
                <a:alpha val="5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50000"/>
              </a:spcBef>
              <a:buFontTx/>
              <a:buNone/>
            </a:pPr>
            <a:r>
              <a:rPr lang="ja-JP" altLang="en-US" sz="4000" b="1">
                <a:solidFill>
                  <a:srgbClr val="FF0000"/>
                </a:solidFill>
                <a:latin typeface="メイリオ" panose="020B0604030504040204" pitchFamily="50" charset="-128"/>
                <a:ea typeface="メイリオ" panose="020B0604030504040204" pitchFamily="50" charset="-128"/>
              </a:rPr>
              <a:t>組織理念</a:t>
            </a:r>
          </a:p>
        </p:txBody>
      </p:sp>
      <p:sp>
        <p:nvSpPr>
          <p:cNvPr id="15364" name="Rectangle 5">
            <a:extLst>
              <a:ext uri="{FF2B5EF4-FFF2-40B4-BE49-F238E27FC236}">
                <a16:creationId xmlns:a16="http://schemas.microsoft.com/office/drawing/2014/main" id="{0191132C-16B4-41B1-A48B-5FCA247DDA00}"/>
              </a:ext>
            </a:extLst>
          </p:cNvPr>
          <p:cNvSpPr>
            <a:spLocks noChangeArrowheads="1"/>
          </p:cNvSpPr>
          <p:nvPr/>
        </p:nvSpPr>
        <p:spPr bwMode="auto">
          <a:xfrm>
            <a:off x="609600" y="1676400"/>
            <a:ext cx="5943600" cy="127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just" eaLnBrk="1" hangingPunct="1">
              <a:lnSpc>
                <a:spcPct val="130000"/>
              </a:lnSpc>
              <a:buFontTx/>
              <a:buNone/>
            </a:pPr>
            <a:r>
              <a:rPr lang="en-US" altLang="ja-JP" sz="1800" b="1">
                <a:latin typeface="メイリオ" panose="020B0604030504040204" pitchFamily="50" charset="-128"/>
                <a:ea typeface="メイリオ" panose="020B0604030504040204" pitchFamily="50" charset="-128"/>
              </a:rPr>
              <a:t>●</a:t>
            </a:r>
            <a:r>
              <a:rPr lang="ja-JP" altLang="en-US" sz="1800" b="1">
                <a:latin typeface="メイリオ" panose="020B0604030504040204" pitchFamily="50" charset="-128"/>
                <a:ea typeface="メイリオ" panose="020B0604030504040204" pitchFamily="50" charset="-128"/>
              </a:rPr>
              <a:t>共感参画型組織　～夢を語り、自ら参画せよ～</a:t>
            </a:r>
          </a:p>
          <a:p>
            <a:pPr algn="just" eaLnBrk="1" hangingPunct="1">
              <a:lnSpc>
                <a:spcPct val="130000"/>
              </a:lnSpc>
              <a:buFontTx/>
              <a:buNone/>
            </a:pPr>
            <a:r>
              <a:rPr lang="ja-JP" altLang="en-US" sz="1800" b="1">
                <a:latin typeface="メイリオ" panose="020B0604030504040204" pitchFamily="50" charset="-128"/>
                <a:ea typeface="メイリオ" panose="020B0604030504040204" pitchFamily="50" charset="-128"/>
              </a:rPr>
              <a:t>●挑戦し続ける組織　～失敗や変化を恐れず挑戦せよ～</a:t>
            </a:r>
          </a:p>
          <a:p>
            <a:pPr algn="just" eaLnBrk="1" hangingPunct="1">
              <a:lnSpc>
                <a:spcPct val="130000"/>
              </a:lnSpc>
              <a:buFontTx/>
              <a:buNone/>
            </a:pPr>
            <a:r>
              <a:rPr lang="ja-JP" altLang="en-US" sz="1800" b="1">
                <a:latin typeface="メイリオ" panose="020B0604030504040204" pitchFamily="50" charset="-128"/>
                <a:ea typeface="メイリオ" panose="020B0604030504040204" pitchFamily="50" charset="-128"/>
              </a:rPr>
              <a:t>●チーム</a:t>
            </a:r>
            <a:r>
              <a:rPr lang="en-US" altLang="ja-JP" sz="1800" b="1">
                <a:latin typeface="メイリオ" panose="020B0604030504040204" pitchFamily="50" charset="-128"/>
                <a:ea typeface="メイリオ" panose="020B0604030504040204" pitchFamily="50" charset="-128"/>
              </a:rPr>
              <a:t>MMI</a:t>
            </a:r>
            <a:r>
              <a:rPr lang="ja-JP" altLang="en-US" sz="1800" b="1">
                <a:latin typeface="メイリオ" panose="020B0604030504040204" pitchFamily="50" charset="-128"/>
                <a:ea typeface="メイリオ" panose="020B0604030504040204" pitchFamily="50" charset="-128"/>
              </a:rPr>
              <a:t>　～</a:t>
            </a:r>
            <a:r>
              <a:rPr lang="en-US" altLang="ja-JP" sz="1800" b="1">
                <a:latin typeface="メイリオ" panose="020B0604030504040204" pitchFamily="50" charset="-128"/>
                <a:ea typeface="メイリオ" panose="020B0604030504040204" pitchFamily="50" charset="-128"/>
              </a:rPr>
              <a:t>I</a:t>
            </a:r>
            <a:r>
              <a:rPr lang="ja-JP" altLang="en-US" sz="1800" b="1">
                <a:latin typeface="メイリオ" panose="020B0604030504040204" pitchFamily="50" charset="-128"/>
                <a:ea typeface="メイリオ" panose="020B0604030504040204" pitchFamily="50" charset="-128"/>
              </a:rPr>
              <a:t>ではなく</a:t>
            </a:r>
            <a:r>
              <a:rPr lang="en-US" altLang="ja-JP" sz="1800" b="1">
                <a:latin typeface="メイリオ" panose="020B0604030504040204" pitchFamily="50" charset="-128"/>
                <a:ea typeface="メイリオ" panose="020B0604030504040204" pitchFamily="50" charset="-128"/>
              </a:rPr>
              <a:t>W</a:t>
            </a:r>
            <a:r>
              <a:rPr lang="ja-JP" altLang="en-US" sz="1800" b="1">
                <a:latin typeface="メイリオ" panose="020B0604030504040204" pitchFamily="50" charset="-128"/>
                <a:ea typeface="メイリオ" panose="020B0604030504040204" pitchFamily="50" charset="-128"/>
              </a:rPr>
              <a:t>ｅで考えよ～</a:t>
            </a:r>
          </a:p>
        </p:txBody>
      </p:sp>
      <p:sp>
        <p:nvSpPr>
          <p:cNvPr id="15365" name="Rectangle 1028">
            <a:extLst>
              <a:ext uri="{FF2B5EF4-FFF2-40B4-BE49-F238E27FC236}">
                <a16:creationId xmlns:a16="http://schemas.microsoft.com/office/drawing/2014/main" id="{44E175F0-9D10-475C-8162-F3B600D5A5A1}"/>
              </a:ext>
            </a:extLst>
          </p:cNvPr>
          <p:cNvSpPr>
            <a:spLocks noChangeArrowheads="1"/>
          </p:cNvSpPr>
          <p:nvPr/>
        </p:nvSpPr>
        <p:spPr bwMode="auto">
          <a:xfrm>
            <a:off x="4584700" y="-28575"/>
            <a:ext cx="226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dist" eaLnBrk="1" hangingPunct="1">
              <a:spcBef>
                <a:spcPct val="0"/>
              </a:spcBef>
              <a:buFontTx/>
              <a:buNone/>
            </a:pPr>
            <a:r>
              <a:rPr lang="ja-JP" altLang="en-US" sz="1600">
                <a:latin typeface="メイリオ" panose="020B0604030504040204" pitchFamily="50" charset="-128"/>
                <a:ea typeface="メイリオ" panose="020B0604030504040204" pitchFamily="50" charset="-128"/>
              </a:rPr>
              <a:t>組織理念</a:t>
            </a:r>
          </a:p>
        </p:txBody>
      </p:sp>
      <p:sp>
        <p:nvSpPr>
          <p:cNvPr id="8" name="Google Shape;1346;p122">
            <a:extLst>
              <a:ext uri="{FF2B5EF4-FFF2-40B4-BE49-F238E27FC236}">
                <a16:creationId xmlns:a16="http://schemas.microsoft.com/office/drawing/2014/main" id="{B38C288A-E7E0-42DE-AA74-3AA2146EC2BC}"/>
              </a:ext>
            </a:extLst>
          </p:cNvPr>
          <p:cNvSpPr txBox="1"/>
          <p:nvPr/>
        </p:nvSpPr>
        <p:spPr>
          <a:xfrm>
            <a:off x="6308725" y="8993188"/>
            <a:ext cx="538163" cy="158750"/>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E6F2137F-93EE-430D-A503-3A9F3FAC7080}"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13</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86" name="Group 20">
            <a:extLst>
              <a:ext uri="{FF2B5EF4-FFF2-40B4-BE49-F238E27FC236}">
                <a16:creationId xmlns:a16="http://schemas.microsoft.com/office/drawing/2014/main" id="{B1AB7A64-1E31-4B27-B2DA-24DFDFCA7D78}"/>
              </a:ext>
            </a:extLst>
          </p:cNvPr>
          <p:cNvGrpSpPr>
            <a:grpSpLocks/>
          </p:cNvGrpSpPr>
          <p:nvPr/>
        </p:nvGrpSpPr>
        <p:grpSpPr bwMode="auto">
          <a:xfrm>
            <a:off x="765175" y="533400"/>
            <a:ext cx="5562600" cy="2405063"/>
            <a:chOff x="567" y="125"/>
            <a:chExt cx="3129" cy="2353"/>
          </a:xfrm>
        </p:grpSpPr>
        <p:sp>
          <p:nvSpPr>
            <p:cNvPr id="16395" name="Rectangle 21">
              <a:extLst>
                <a:ext uri="{FF2B5EF4-FFF2-40B4-BE49-F238E27FC236}">
                  <a16:creationId xmlns:a16="http://schemas.microsoft.com/office/drawing/2014/main" id="{ECC3EFEB-C281-454F-B521-5B22ACF1FBC0}"/>
                </a:ext>
              </a:extLst>
            </p:cNvPr>
            <p:cNvSpPr>
              <a:spLocks noChangeArrowheads="1"/>
            </p:cNvSpPr>
            <p:nvPr/>
          </p:nvSpPr>
          <p:spPr bwMode="auto">
            <a:xfrm>
              <a:off x="593" y="151"/>
              <a:ext cx="3103" cy="2327"/>
            </a:xfrm>
            <a:prstGeom prst="rect">
              <a:avLst/>
            </a:prstGeom>
            <a:solidFill>
              <a:srgbClr val="000000"/>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b="1">
                <a:latin typeface="メイリオ" panose="020B0604030504040204" pitchFamily="50" charset="-128"/>
                <a:ea typeface="メイリオ" panose="020B0604030504040204" pitchFamily="50" charset="-128"/>
              </a:endParaRPr>
            </a:p>
          </p:txBody>
        </p:sp>
        <p:sp>
          <p:nvSpPr>
            <p:cNvPr id="16396" name="Rectangle 22">
              <a:extLst>
                <a:ext uri="{FF2B5EF4-FFF2-40B4-BE49-F238E27FC236}">
                  <a16:creationId xmlns:a16="http://schemas.microsoft.com/office/drawing/2014/main" id="{9F3459FE-FEFC-44B1-91B5-347778E9C576}"/>
                </a:ext>
              </a:extLst>
            </p:cNvPr>
            <p:cNvSpPr>
              <a:spLocks noChangeArrowheads="1"/>
            </p:cNvSpPr>
            <p:nvPr/>
          </p:nvSpPr>
          <p:spPr bwMode="auto">
            <a:xfrm>
              <a:off x="567" y="125"/>
              <a:ext cx="3103" cy="2327"/>
            </a:xfrm>
            <a:prstGeom prst="rect">
              <a:avLst/>
            </a:prstGeom>
            <a:solidFill>
              <a:srgbClr val="FFFFFF"/>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b="1">
                <a:latin typeface="メイリオ" panose="020B0604030504040204" pitchFamily="50" charset="-128"/>
                <a:ea typeface="メイリオ" panose="020B0604030504040204" pitchFamily="50" charset="-128"/>
              </a:endParaRPr>
            </a:p>
          </p:txBody>
        </p:sp>
      </p:grpSp>
      <p:sp>
        <p:nvSpPr>
          <p:cNvPr id="16387" name="Rectangle 12">
            <a:extLst>
              <a:ext uri="{FF2B5EF4-FFF2-40B4-BE49-F238E27FC236}">
                <a16:creationId xmlns:a16="http://schemas.microsoft.com/office/drawing/2014/main" id="{EE9C56A8-8703-4534-98CB-68CAD9D64076}"/>
              </a:ext>
            </a:extLst>
          </p:cNvPr>
          <p:cNvSpPr>
            <a:spLocks noChangeArrowheads="1"/>
          </p:cNvSpPr>
          <p:nvPr/>
        </p:nvSpPr>
        <p:spPr bwMode="auto">
          <a:xfrm>
            <a:off x="1119188" y="322263"/>
            <a:ext cx="418782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16388" name="Rectangle 13">
            <a:extLst>
              <a:ext uri="{FF2B5EF4-FFF2-40B4-BE49-F238E27FC236}">
                <a16:creationId xmlns:a16="http://schemas.microsoft.com/office/drawing/2014/main" id="{5BCA97F2-F202-47F2-83B7-5BA64B0D468D}"/>
              </a:ext>
            </a:extLst>
          </p:cNvPr>
          <p:cNvSpPr>
            <a:spLocks noChangeArrowheads="1"/>
          </p:cNvSpPr>
          <p:nvPr/>
        </p:nvSpPr>
        <p:spPr bwMode="auto">
          <a:xfrm>
            <a:off x="1219200" y="742950"/>
            <a:ext cx="48482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1800" b="1">
                <a:solidFill>
                  <a:srgbClr val="000000"/>
                </a:solidFill>
                <a:latin typeface="メイリオ" panose="020B0604030504040204" pitchFamily="50" charset="-128"/>
                <a:ea typeface="メイリオ" panose="020B0604030504040204" pitchFamily="50" charset="-128"/>
              </a:rPr>
              <a:t>共感参画型組織　～夢を語り、自ら参画せよ～</a:t>
            </a:r>
            <a:endParaRPr lang="ja-JP" altLang="en-US" sz="1800" b="1">
              <a:latin typeface="メイリオ" panose="020B0604030504040204" pitchFamily="50" charset="-128"/>
              <a:ea typeface="メイリオ" panose="020B0604030504040204" pitchFamily="50" charset="-128"/>
            </a:endParaRPr>
          </a:p>
        </p:txBody>
      </p:sp>
      <p:sp>
        <p:nvSpPr>
          <p:cNvPr id="16389" name="Rectangle 3">
            <a:extLst>
              <a:ext uri="{FF2B5EF4-FFF2-40B4-BE49-F238E27FC236}">
                <a16:creationId xmlns:a16="http://schemas.microsoft.com/office/drawing/2014/main" id="{C68300F7-3247-411F-AD2E-1C8762FD0143}"/>
              </a:ext>
            </a:extLst>
          </p:cNvPr>
          <p:cNvSpPr>
            <a:spLocks noChangeArrowheads="1"/>
          </p:cNvSpPr>
          <p:nvPr/>
        </p:nvSpPr>
        <p:spPr bwMode="auto">
          <a:xfrm>
            <a:off x="765175" y="4140200"/>
            <a:ext cx="5759450"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lnSpc>
                <a:spcPct val="130000"/>
              </a:lnSpc>
              <a:buFontTx/>
              <a:buNone/>
            </a:pPr>
            <a:endParaRPr lang="ja-JP" altLang="en-US" sz="1200"/>
          </a:p>
        </p:txBody>
      </p:sp>
      <p:sp>
        <p:nvSpPr>
          <p:cNvPr id="16390" name="Rectangle 23">
            <a:extLst>
              <a:ext uri="{FF2B5EF4-FFF2-40B4-BE49-F238E27FC236}">
                <a16:creationId xmlns:a16="http://schemas.microsoft.com/office/drawing/2014/main" id="{CF092E60-F499-42AC-A46B-B85D231E9AFA}"/>
              </a:ext>
            </a:extLst>
          </p:cNvPr>
          <p:cNvSpPr>
            <a:spLocks noChangeArrowheads="1"/>
          </p:cNvSpPr>
          <p:nvPr/>
        </p:nvSpPr>
        <p:spPr bwMode="auto">
          <a:xfrm>
            <a:off x="1143000" y="1392238"/>
            <a:ext cx="4724400" cy="130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100000"/>
              </a:spcBef>
              <a:buFontTx/>
              <a:buNone/>
            </a:pPr>
            <a:r>
              <a:rPr lang="ja-JP" altLang="en-US" sz="1700" b="1">
                <a:latin typeface="メイリオ" panose="020B0604030504040204" pitchFamily="50" charset="-128"/>
                <a:ea typeface="メイリオ" panose="020B0604030504040204" pitchFamily="50" charset="-128"/>
              </a:rPr>
              <a:t>私たちはまだ見ぬ夢やビジョンに共感して</a:t>
            </a:r>
          </a:p>
          <a:p>
            <a:pPr eaLnBrk="1" hangingPunct="1">
              <a:spcBef>
                <a:spcPct val="100000"/>
              </a:spcBef>
              <a:buFontTx/>
              <a:buNone/>
            </a:pPr>
            <a:r>
              <a:rPr lang="ja-JP" altLang="en-US" sz="1700" b="1">
                <a:latin typeface="メイリオ" panose="020B0604030504040204" pitchFamily="50" charset="-128"/>
                <a:ea typeface="メイリオ" panose="020B0604030504040204" pitchFamily="50" charset="-128"/>
              </a:rPr>
              <a:t>自ら</a:t>
            </a:r>
            <a:r>
              <a:rPr lang="en-US" altLang="ja-JP" sz="1700" b="1">
                <a:latin typeface="メイリオ" panose="020B0604030504040204" pitchFamily="50" charset="-128"/>
                <a:ea typeface="メイリオ" panose="020B0604030504040204" pitchFamily="50" charset="-128"/>
              </a:rPr>
              <a:t>MMI</a:t>
            </a:r>
            <a:r>
              <a:rPr lang="ja-JP" altLang="en-US" sz="1700" b="1">
                <a:latin typeface="メイリオ" panose="020B0604030504040204" pitchFamily="50" charset="-128"/>
                <a:ea typeface="メイリオ" panose="020B0604030504040204" pitchFamily="50" charset="-128"/>
              </a:rPr>
              <a:t>に参画し、熱い想いを持って、</a:t>
            </a:r>
          </a:p>
          <a:p>
            <a:pPr eaLnBrk="1" hangingPunct="1">
              <a:spcBef>
                <a:spcPct val="100000"/>
              </a:spcBef>
              <a:buFontTx/>
              <a:buNone/>
            </a:pPr>
            <a:r>
              <a:rPr lang="ja-JP" altLang="en-US" sz="1700" b="1">
                <a:latin typeface="メイリオ" panose="020B0604030504040204" pitchFamily="50" charset="-128"/>
                <a:ea typeface="メイリオ" panose="020B0604030504040204" pitchFamily="50" charset="-128"/>
              </a:rPr>
              <a:t>共に夢の実現に向かう組織であり続けます。</a:t>
            </a:r>
          </a:p>
        </p:txBody>
      </p:sp>
      <p:sp>
        <p:nvSpPr>
          <p:cNvPr id="16391" name="Line 24">
            <a:extLst>
              <a:ext uri="{FF2B5EF4-FFF2-40B4-BE49-F238E27FC236}">
                <a16:creationId xmlns:a16="http://schemas.microsoft.com/office/drawing/2014/main" id="{27DB1E5A-8B90-4B89-838B-ADA3EAD3B6CA}"/>
              </a:ext>
            </a:extLst>
          </p:cNvPr>
          <p:cNvSpPr>
            <a:spLocks noChangeShapeType="1"/>
          </p:cNvSpPr>
          <p:nvPr/>
        </p:nvSpPr>
        <p:spPr bwMode="auto">
          <a:xfrm flipV="1">
            <a:off x="1219200" y="1042988"/>
            <a:ext cx="4154488" cy="23812"/>
          </a:xfrm>
          <a:prstGeom prst="line">
            <a:avLst/>
          </a:prstGeom>
          <a:noFill/>
          <a:ln w="69850" cmpd="thinThick">
            <a:solidFill>
              <a:schemeClr val="bg2"/>
            </a:solidFill>
            <a:round/>
            <a:headEnd/>
            <a:tailEnd/>
          </a:ln>
          <a:effectLst>
            <a:outerShdw dist="148106" dir="1857825" algn="ctr" rotWithShape="0">
              <a:srgbClr val="DDDDDD"/>
            </a:outerShdw>
          </a:effectLst>
          <a:extLst>
            <a:ext uri="{909E8E84-426E-40DD-AFC4-6F175D3DCCD1}">
              <a14:hiddenFill xmlns:a14="http://schemas.microsoft.com/office/drawing/2010/main">
                <a:noFill/>
              </a14:hiddenFill>
            </a:ext>
          </a:extLst>
        </p:spPr>
        <p:txBody>
          <a:bodyPr/>
          <a:lstStyle/>
          <a:p>
            <a:endParaRPr lang="ja-JP" altLang="en-US"/>
          </a:p>
        </p:txBody>
      </p:sp>
      <p:sp>
        <p:nvSpPr>
          <p:cNvPr id="17417" name="Rectangle 2060">
            <a:extLst>
              <a:ext uri="{FF2B5EF4-FFF2-40B4-BE49-F238E27FC236}">
                <a16:creationId xmlns:a16="http://schemas.microsoft.com/office/drawing/2014/main" id="{69173387-E995-41E7-B8E8-AB4B559E02F4}"/>
              </a:ext>
            </a:extLst>
          </p:cNvPr>
          <p:cNvSpPr>
            <a:spLocks noChangeArrowheads="1"/>
          </p:cNvSpPr>
          <p:nvPr/>
        </p:nvSpPr>
        <p:spPr bwMode="auto">
          <a:xfrm>
            <a:off x="704850" y="3209925"/>
            <a:ext cx="5562600" cy="5087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lnSpc>
                <a:spcPct val="130000"/>
              </a:lnSpc>
              <a:buFontTx/>
              <a:buNone/>
              <a:defRPr/>
            </a:pPr>
            <a:r>
              <a:rPr lang="ja-JP" altLang="en-US" sz="1200" dirty="0">
                <a:latin typeface="+mj-ea"/>
                <a:ea typeface="+mj-ea"/>
              </a:rPr>
              <a:t>　私たちはビルメン業界のパイオニアとして、様々なチャレンジに取り組んできました。</a:t>
            </a:r>
          </a:p>
          <a:p>
            <a:pPr eaLnBrk="1" hangingPunct="1">
              <a:lnSpc>
                <a:spcPct val="130000"/>
              </a:lnSpc>
              <a:buFontTx/>
              <a:buNone/>
              <a:defRPr/>
            </a:pPr>
            <a:r>
              <a:rPr lang="ja-JP" altLang="en-US" sz="1200" dirty="0">
                <a:latin typeface="+mj-ea"/>
                <a:ea typeface="+mj-ea"/>
              </a:rPr>
              <a:t>　「清掃に接客は関係ない」という考え方に異を唱え、接客ができる清掃スタッフを目指して清掃作業に笑顔や挨拶といった「サービス」を取り入れました。その結果、ギャンブル好きの男性しかいないパチンコ店を、女性のお客様にも楽しんでもらえる場所へと変えることに貢献しました。今では、お客様から「いつも綺麗にしてくれたありがとう」という言葉をいただくことも珍しくありません。</a:t>
            </a:r>
            <a:endParaRPr lang="en-US" altLang="ja-JP" sz="1200" dirty="0">
              <a:latin typeface="+mj-ea"/>
              <a:ea typeface="+mj-ea"/>
            </a:endParaRPr>
          </a:p>
          <a:p>
            <a:pPr eaLnBrk="1" hangingPunct="1">
              <a:lnSpc>
                <a:spcPct val="130000"/>
              </a:lnSpc>
              <a:buFontTx/>
              <a:buNone/>
              <a:defRPr/>
            </a:pPr>
            <a:endParaRPr lang="en-US" altLang="ja-JP" sz="1200" dirty="0">
              <a:latin typeface="+mj-ea"/>
              <a:ea typeface="+mj-ea"/>
            </a:endParaRPr>
          </a:p>
          <a:p>
            <a:pPr eaLnBrk="1" hangingPunct="1">
              <a:lnSpc>
                <a:spcPct val="130000"/>
              </a:lnSpc>
              <a:buFontTx/>
              <a:buNone/>
              <a:defRPr/>
            </a:pPr>
            <a:r>
              <a:rPr lang="ja-JP" altLang="en-US" sz="1200" dirty="0">
                <a:latin typeface="+mj-ea"/>
                <a:ea typeface="+mj-ea"/>
              </a:rPr>
              <a:t>　また、「清掃は一人でやるもの」という考え方に固執することなく、一つの箇所をチームで清掃する「チーム式清掃」を開発しました。チームで清掃することで、清掃をコミュニケーションや心身の運動の場へと変え、仕事の価値そのものを高めてきました。</a:t>
            </a:r>
            <a:endParaRPr lang="en-US" altLang="ja-JP" sz="1200" dirty="0">
              <a:latin typeface="+mj-ea"/>
              <a:ea typeface="+mj-ea"/>
            </a:endParaRPr>
          </a:p>
          <a:p>
            <a:pPr eaLnBrk="1" hangingPunct="1">
              <a:lnSpc>
                <a:spcPct val="130000"/>
              </a:lnSpc>
              <a:buFontTx/>
              <a:buNone/>
              <a:defRPr/>
            </a:pPr>
            <a:r>
              <a:rPr lang="ja-JP" altLang="en-US" sz="1200" dirty="0">
                <a:latin typeface="+mj-ea"/>
                <a:ea typeface="+mj-ea"/>
              </a:rPr>
              <a:t>　私たちは、「まだ見ぬ夢」　を描き合い、語り合い、共感し合ったからこそ、組織は強くつながり合い、「実現できた夢」　も少なくありません。しかし、その結果、「今、エムエムインターナショナルに既にあるものが良いから、エムエムインターナショナルに参加する」ということも増えました。私たちは　「今、目に見えて、あるもの」　に共感し、それを維持する為の組織で終わってはなりません。夢やビジョンなど、「目に見えない、将来のもの」でつながるからこそ、組織は強くつながり合うことができるのです。</a:t>
            </a:r>
            <a:endParaRPr lang="en-US" altLang="ja-JP" sz="1200" dirty="0">
              <a:latin typeface="+mj-ea"/>
              <a:ea typeface="+mj-ea"/>
            </a:endParaRPr>
          </a:p>
          <a:p>
            <a:pPr eaLnBrk="1" hangingPunct="1">
              <a:lnSpc>
                <a:spcPct val="130000"/>
              </a:lnSpc>
              <a:buFontTx/>
              <a:buNone/>
              <a:defRPr/>
            </a:pPr>
            <a:endParaRPr lang="en-US" altLang="ja-JP" sz="1200" dirty="0">
              <a:latin typeface="+mj-ea"/>
              <a:ea typeface="+mj-ea"/>
            </a:endParaRPr>
          </a:p>
          <a:p>
            <a:pPr eaLnBrk="1" hangingPunct="1">
              <a:lnSpc>
                <a:spcPct val="130000"/>
              </a:lnSpc>
              <a:buFontTx/>
              <a:buNone/>
              <a:defRPr/>
            </a:pPr>
            <a:r>
              <a:rPr lang="ja-JP" altLang="en-US" sz="1200" dirty="0">
                <a:latin typeface="+mj-ea"/>
                <a:ea typeface="+mj-ea"/>
              </a:rPr>
              <a:t>　「自分たちが描く以上の存在にはなることができない」と言われます。将来やビジョンを自ら描き、その夢を熱く語り合い、仲間の夢に皆で共感し、誰に強要されるでもなく、自らの意思で深く参加する　「参加者」　ではなく　「参画者」　同士でありましょう。</a:t>
            </a:r>
            <a:endParaRPr lang="en-US" altLang="ja-JP" sz="1200" dirty="0">
              <a:latin typeface="+mj-ea"/>
              <a:ea typeface="+mj-ea"/>
            </a:endParaRPr>
          </a:p>
        </p:txBody>
      </p:sp>
      <p:sp>
        <p:nvSpPr>
          <p:cNvPr id="16393" name="Rectangle 1028">
            <a:extLst>
              <a:ext uri="{FF2B5EF4-FFF2-40B4-BE49-F238E27FC236}">
                <a16:creationId xmlns:a16="http://schemas.microsoft.com/office/drawing/2014/main" id="{5B15B712-1DAB-4660-AD2C-B523F103AC2D}"/>
              </a:ext>
            </a:extLst>
          </p:cNvPr>
          <p:cNvSpPr>
            <a:spLocks noChangeArrowheads="1"/>
          </p:cNvSpPr>
          <p:nvPr/>
        </p:nvSpPr>
        <p:spPr bwMode="auto">
          <a:xfrm>
            <a:off x="4584700" y="-28575"/>
            <a:ext cx="226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dist" eaLnBrk="1" hangingPunct="1">
              <a:spcBef>
                <a:spcPct val="0"/>
              </a:spcBef>
              <a:buFontTx/>
              <a:buNone/>
            </a:pPr>
            <a:r>
              <a:rPr lang="ja-JP" altLang="en-US" sz="1600">
                <a:latin typeface="メイリオ" panose="020B0604030504040204" pitchFamily="50" charset="-128"/>
                <a:ea typeface="メイリオ" panose="020B0604030504040204" pitchFamily="50" charset="-128"/>
              </a:rPr>
              <a:t>組織理念</a:t>
            </a:r>
          </a:p>
        </p:txBody>
      </p:sp>
      <p:sp>
        <p:nvSpPr>
          <p:cNvPr id="14" name="Google Shape;1346;p122">
            <a:extLst>
              <a:ext uri="{FF2B5EF4-FFF2-40B4-BE49-F238E27FC236}">
                <a16:creationId xmlns:a16="http://schemas.microsoft.com/office/drawing/2014/main" id="{11A4BE14-9B25-4AB9-9763-6ACE938F2FD2}"/>
              </a:ext>
            </a:extLst>
          </p:cNvPr>
          <p:cNvSpPr txBox="1"/>
          <p:nvPr/>
        </p:nvSpPr>
        <p:spPr>
          <a:xfrm>
            <a:off x="6308725" y="8993188"/>
            <a:ext cx="538163" cy="158750"/>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F53FE43E-3AEB-481F-8642-4C1573B4A6F1}"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14</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410" name="Group 2">
            <a:extLst>
              <a:ext uri="{FF2B5EF4-FFF2-40B4-BE49-F238E27FC236}">
                <a16:creationId xmlns:a16="http://schemas.microsoft.com/office/drawing/2014/main" id="{4FCE5753-757F-408B-981B-1BBC509BFC9A}"/>
              </a:ext>
            </a:extLst>
          </p:cNvPr>
          <p:cNvGrpSpPr>
            <a:grpSpLocks/>
          </p:cNvGrpSpPr>
          <p:nvPr/>
        </p:nvGrpSpPr>
        <p:grpSpPr bwMode="auto">
          <a:xfrm>
            <a:off x="571500" y="457200"/>
            <a:ext cx="5907088" cy="2746375"/>
            <a:chOff x="567" y="125"/>
            <a:chExt cx="3129" cy="2353"/>
          </a:xfrm>
        </p:grpSpPr>
        <p:sp>
          <p:nvSpPr>
            <p:cNvPr id="17418" name="Rectangle 3">
              <a:extLst>
                <a:ext uri="{FF2B5EF4-FFF2-40B4-BE49-F238E27FC236}">
                  <a16:creationId xmlns:a16="http://schemas.microsoft.com/office/drawing/2014/main" id="{78FB7F1F-5B11-4075-9F6E-E8803698377C}"/>
                </a:ext>
              </a:extLst>
            </p:cNvPr>
            <p:cNvSpPr>
              <a:spLocks noChangeArrowheads="1"/>
            </p:cNvSpPr>
            <p:nvPr/>
          </p:nvSpPr>
          <p:spPr bwMode="auto">
            <a:xfrm>
              <a:off x="593" y="151"/>
              <a:ext cx="3103" cy="2327"/>
            </a:xfrm>
            <a:prstGeom prst="rect">
              <a:avLst/>
            </a:prstGeom>
            <a:solidFill>
              <a:srgbClr val="000000"/>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17419" name="Rectangle 4">
              <a:extLst>
                <a:ext uri="{FF2B5EF4-FFF2-40B4-BE49-F238E27FC236}">
                  <a16:creationId xmlns:a16="http://schemas.microsoft.com/office/drawing/2014/main" id="{10E2CF1D-429D-40F6-84BF-AC6C444D6454}"/>
                </a:ext>
              </a:extLst>
            </p:cNvPr>
            <p:cNvSpPr>
              <a:spLocks noChangeArrowheads="1"/>
            </p:cNvSpPr>
            <p:nvPr/>
          </p:nvSpPr>
          <p:spPr bwMode="auto">
            <a:xfrm>
              <a:off x="567" y="125"/>
              <a:ext cx="3103" cy="2327"/>
            </a:xfrm>
            <a:prstGeom prst="rect">
              <a:avLst/>
            </a:prstGeom>
            <a:solidFill>
              <a:srgbClr val="FFFFFF"/>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grpSp>
      <p:sp>
        <p:nvSpPr>
          <p:cNvPr id="17411" name="Rectangle 5">
            <a:extLst>
              <a:ext uri="{FF2B5EF4-FFF2-40B4-BE49-F238E27FC236}">
                <a16:creationId xmlns:a16="http://schemas.microsoft.com/office/drawing/2014/main" id="{56B1A4DA-3CF2-445A-92B9-A8926EFA9909}"/>
              </a:ext>
            </a:extLst>
          </p:cNvPr>
          <p:cNvSpPr>
            <a:spLocks noChangeArrowheads="1"/>
          </p:cNvSpPr>
          <p:nvPr/>
        </p:nvSpPr>
        <p:spPr bwMode="auto">
          <a:xfrm>
            <a:off x="928688" y="322263"/>
            <a:ext cx="418782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17412" name="Rectangle 6">
            <a:extLst>
              <a:ext uri="{FF2B5EF4-FFF2-40B4-BE49-F238E27FC236}">
                <a16:creationId xmlns:a16="http://schemas.microsoft.com/office/drawing/2014/main" id="{ABD3E501-D610-426E-B7AA-2BF0E4242108}"/>
              </a:ext>
            </a:extLst>
          </p:cNvPr>
          <p:cNvSpPr>
            <a:spLocks noChangeArrowheads="1"/>
          </p:cNvSpPr>
          <p:nvPr/>
        </p:nvSpPr>
        <p:spPr bwMode="auto">
          <a:xfrm>
            <a:off x="1028700" y="742950"/>
            <a:ext cx="53863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1800" b="1" dirty="0">
                <a:solidFill>
                  <a:srgbClr val="000000"/>
                </a:solidFill>
                <a:latin typeface="メイリオ" panose="020B0604030504040204" pitchFamily="50" charset="-128"/>
                <a:ea typeface="メイリオ" panose="020B0604030504040204" pitchFamily="50" charset="-128"/>
              </a:rPr>
              <a:t>挑戦し続ける組織 ～失敗や変化を恐れず挑戦せよ～</a:t>
            </a:r>
            <a:endParaRPr lang="ja-JP" altLang="en-US" sz="1800" b="1" dirty="0">
              <a:latin typeface="メイリオ" panose="020B0604030504040204" pitchFamily="50" charset="-128"/>
              <a:ea typeface="メイリオ" panose="020B0604030504040204" pitchFamily="50" charset="-128"/>
            </a:endParaRPr>
          </a:p>
        </p:txBody>
      </p:sp>
      <p:sp>
        <p:nvSpPr>
          <p:cNvPr id="17413" name="Rectangle 9">
            <a:extLst>
              <a:ext uri="{FF2B5EF4-FFF2-40B4-BE49-F238E27FC236}">
                <a16:creationId xmlns:a16="http://schemas.microsoft.com/office/drawing/2014/main" id="{04E2F522-44C5-49FF-93FC-C4F2885D9AB4}"/>
              </a:ext>
            </a:extLst>
          </p:cNvPr>
          <p:cNvSpPr>
            <a:spLocks noChangeArrowheads="1"/>
          </p:cNvSpPr>
          <p:nvPr/>
        </p:nvSpPr>
        <p:spPr bwMode="auto">
          <a:xfrm>
            <a:off x="952500" y="1476375"/>
            <a:ext cx="4949825" cy="130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100000"/>
              </a:spcBef>
              <a:buFontTx/>
              <a:buNone/>
            </a:pPr>
            <a:r>
              <a:rPr lang="ja-JP" altLang="en-US" sz="1700" b="1">
                <a:latin typeface="メイリオ" panose="020B0604030504040204" pitchFamily="50" charset="-128"/>
                <a:ea typeface="メイリオ" panose="020B0604030504040204" pitchFamily="50" charset="-128"/>
              </a:rPr>
              <a:t>私たちは次の</a:t>
            </a:r>
            <a:r>
              <a:rPr lang="en-US" altLang="ja-JP" sz="1700" b="1">
                <a:latin typeface="メイリオ" panose="020B0604030504040204" pitchFamily="50" charset="-128"/>
                <a:ea typeface="メイリオ" panose="020B0604030504040204" pitchFamily="50" charset="-128"/>
              </a:rPr>
              <a:t>MMI</a:t>
            </a:r>
            <a:r>
              <a:rPr lang="ja-JP" altLang="en-US" sz="1700" b="1">
                <a:latin typeface="メイリオ" panose="020B0604030504040204" pitchFamily="50" charset="-128"/>
                <a:ea typeface="メイリオ" panose="020B0604030504040204" pitchFamily="50" charset="-128"/>
              </a:rPr>
              <a:t>を切り拓くために、</a:t>
            </a:r>
          </a:p>
          <a:p>
            <a:pPr eaLnBrk="1" hangingPunct="1">
              <a:spcBef>
                <a:spcPct val="100000"/>
              </a:spcBef>
              <a:buFontTx/>
              <a:buNone/>
            </a:pPr>
            <a:r>
              <a:rPr lang="ja-JP" altLang="en-US" sz="1700" b="1">
                <a:latin typeface="メイリオ" panose="020B0604030504040204" pitchFamily="50" charset="-128"/>
                <a:ea typeface="メイリオ" panose="020B0604030504040204" pitchFamily="50" charset="-128"/>
              </a:rPr>
              <a:t>常に現状に満足せず、</a:t>
            </a:r>
          </a:p>
          <a:p>
            <a:pPr eaLnBrk="1" hangingPunct="1">
              <a:spcBef>
                <a:spcPct val="100000"/>
              </a:spcBef>
              <a:buFontTx/>
              <a:buNone/>
            </a:pPr>
            <a:r>
              <a:rPr lang="ja-JP" altLang="en-US" sz="1700" b="1">
                <a:latin typeface="メイリオ" panose="020B0604030504040204" pitchFamily="50" charset="-128"/>
                <a:ea typeface="メイリオ" panose="020B0604030504040204" pitchFamily="50" charset="-128"/>
              </a:rPr>
              <a:t>チャレンジによって進化する組織であり続けます。</a:t>
            </a:r>
          </a:p>
        </p:txBody>
      </p:sp>
      <p:sp>
        <p:nvSpPr>
          <p:cNvPr id="17414" name="Line 10">
            <a:extLst>
              <a:ext uri="{FF2B5EF4-FFF2-40B4-BE49-F238E27FC236}">
                <a16:creationId xmlns:a16="http://schemas.microsoft.com/office/drawing/2014/main" id="{1611E8AE-578C-4AD8-9056-677B79A32265}"/>
              </a:ext>
            </a:extLst>
          </p:cNvPr>
          <p:cNvSpPr>
            <a:spLocks noChangeShapeType="1"/>
          </p:cNvSpPr>
          <p:nvPr/>
        </p:nvSpPr>
        <p:spPr bwMode="auto">
          <a:xfrm flipV="1">
            <a:off x="1028700" y="1042988"/>
            <a:ext cx="4657725" cy="23812"/>
          </a:xfrm>
          <a:prstGeom prst="line">
            <a:avLst/>
          </a:prstGeom>
          <a:noFill/>
          <a:ln w="69850" cmpd="thinThick">
            <a:solidFill>
              <a:schemeClr val="bg2"/>
            </a:solidFill>
            <a:round/>
            <a:headEnd/>
            <a:tailEnd/>
          </a:ln>
          <a:effectLst>
            <a:outerShdw dist="148106" dir="1857825" algn="ctr" rotWithShape="0">
              <a:srgbClr val="DDDDDD"/>
            </a:outerShdw>
          </a:effectLst>
          <a:extLst>
            <a:ext uri="{909E8E84-426E-40DD-AFC4-6F175D3DCCD1}">
              <a14:hiddenFill xmlns:a14="http://schemas.microsoft.com/office/drawing/2010/main">
                <a:noFill/>
              </a14:hiddenFill>
            </a:ext>
          </a:extLst>
        </p:spPr>
        <p:txBody>
          <a:bodyPr/>
          <a:lstStyle/>
          <a:p>
            <a:endParaRPr lang="ja-JP" altLang="en-US"/>
          </a:p>
        </p:txBody>
      </p:sp>
      <p:sp>
        <p:nvSpPr>
          <p:cNvPr id="18440" name="Rectangle 2060">
            <a:extLst>
              <a:ext uri="{FF2B5EF4-FFF2-40B4-BE49-F238E27FC236}">
                <a16:creationId xmlns:a16="http://schemas.microsoft.com/office/drawing/2014/main" id="{4D108F2A-850F-46F0-8124-576B090E0F5D}"/>
              </a:ext>
            </a:extLst>
          </p:cNvPr>
          <p:cNvSpPr>
            <a:spLocks noChangeArrowheads="1"/>
          </p:cNvSpPr>
          <p:nvPr/>
        </p:nvSpPr>
        <p:spPr bwMode="auto">
          <a:xfrm>
            <a:off x="703263" y="3438525"/>
            <a:ext cx="5562600" cy="436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lnSpc>
                <a:spcPct val="130000"/>
              </a:lnSpc>
              <a:buFontTx/>
              <a:buNone/>
              <a:defRPr/>
            </a:pPr>
            <a:r>
              <a:rPr lang="ja-JP" altLang="en-US" sz="1200" dirty="0">
                <a:latin typeface="+mj-ea"/>
                <a:ea typeface="+mj-ea"/>
              </a:rPr>
              <a:t>　世の中に企業はたくさん存在します。多くの企業では、従業員たちが自分の立場を守る為に保守的になったり、他部門や上司、または経営者を恐れ、ベストだと思うことを主張しなくなったり、また失敗をしないよう小さくまとまることがあります。そんな例は、珍しいことではありません。</a:t>
            </a:r>
          </a:p>
          <a:p>
            <a:pPr eaLnBrk="1" hangingPunct="1">
              <a:lnSpc>
                <a:spcPct val="130000"/>
              </a:lnSpc>
              <a:buFontTx/>
              <a:buNone/>
              <a:defRPr/>
            </a:pPr>
            <a:endParaRPr lang="ja-JP" altLang="en-US" sz="1200" dirty="0">
              <a:latin typeface="+mj-ea"/>
              <a:ea typeface="+mj-ea"/>
            </a:endParaRPr>
          </a:p>
          <a:p>
            <a:pPr eaLnBrk="1" hangingPunct="1">
              <a:lnSpc>
                <a:spcPct val="130000"/>
              </a:lnSpc>
              <a:buFontTx/>
              <a:buNone/>
              <a:defRPr/>
            </a:pPr>
            <a:r>
              <a:rPr lang="ja-JP" altLang="en-US" sz="1200" dirty="0">
                <a:latin typeface="+mj-ea"/>
                <a:ea typeface="+mj-ea"/>
              </a:rPr>
              <a:t>　しかし、私たちは世の中によくある、「輝きを失った企業」をつくる為に集まったのではありません。私たちは　「エムエムインターナショナルらしさ」　を考え、強化し、エムエムインターナショナルだけのオリジナルを追求することにこだわります。その為には、多くの挑戦が必要です。</a:t>
            </a:r>
            <a:endParaRPr lang="en-US" altLang="ja-JP" sz="1200" dirty="0">
              <a:latin typeface="+mj-ea"/>
              <a:ea typeface="+mj-ea"/>
            </a:endParaRPr>
          </a:p>
          <a:p>
            <a:pPr eaLnBrk="1" hangingPunct="1">
              <a:lnSpc>
                <a:spcPct val="130000"/>
              </a:lnSpc>
              <a:buFontTx/>
              <a:buNone/>
              <a:defRPr/>
            </a:pPr>
            <a:endParaRPr lang="en-US" altLang="ja-JP" sz="1200" dirty="0">
              <a:latin typeface="+mj-ea"/>
              <a:ea typeface="+mj-ea"/>
            </a:endParaRPr>
          </a:p>
          <a:p>
            <a:pPr eaLnBrk="1" hangingPunct="1">
              <a:lnSpc>
                <a:spcPct val="130000"/>
              </a:lnSpc>
              <a:buFontTx/>
              <a:buNone/>
              <a:defRPr/>
            </a:pPr>
            <a:r>
              <a:rPr lang="ja-JP" altLang="en-US" sz="1200" dirty="0">
                <a:latin typeface="+mj-ea"/>
                <a:ea typeface="+mj-ea"/>
              </a:rPr>
              <a:t>　多くの挑戦に、多くの失敗はつきものです。その「挑戦」が、根拠なく進める無謀なものではなく、次のエムエムインターナショナルを切り拓くために考え抜き、ベストを尽くしたものであれば、結果が「失敗」だとしても私たちはそこから学び、次の飛躍に繋げる前向きな「失敗」にすることができます。</a:t>
            </a:r>
            <a:endParaRPr lang="en-US" altLang="ja-JP" sz="1200" dirty="0">
              <a:latin typeface="+mj-ea"/>
              <a:ea typeface="+mj-ea"/>
            </a:endParaRPr>
          </a:p>
          <a:p>
            <a:pPr eaLnBrk="1" hangingPunct="1">
              <a:lnSpc>
                <a:spcPct val="130000"/>
              </a:lnSpc>
              <a:buFontTx/>
              <a:buNone/>
              <a:defRPr/>
            </a:pPr>
            <a:r>
              <a:rPr lang="ja-JP" altLang="en-US" sz="1200" dirty="0">
                <a:latin typeface="+mj-ea"/>
                <a:ea typeface="+mj-ea"/>
              </a:rPr>
              <a:t>　</a:t>
            </a:r>
            <a:endParaRPr lang="en-US" altLang="ja-JP" sz="1200" dirty="0">
              <a:latin typeface="+mj-ea"/>
              <a:ea typeface="+mj-ea"/>
            </a:endParaRPr>
          </a:p>
          <a:p>
            <a:pPr eaLnBrk="1" hangingPunct="1">
              <a:lnSpc>
                <a:spcPct val="130000"/>
              </a:lnSpc>
              <a:buFontTx/>
              <a:buNone/>
              <a:defRPr/>
            </a:pPr>
            <a:r>
              <a:rPr lang="ja-JP" altLang="en-US" sz="1200" dirty="0">
                <a:latin typeface="+mj-ea"/>
                <a:ea typeface="+mj-ea"/>
              </a:rPr>
              <a:t>　チャレンジするから失敗があります。逆を言えば、チャレンジしなければ失敗もありません。私たちはベストを尽くした失敗を許容し、「挑戦すること」を選択します。</a:t>
            </a:r>
          </a:p>
        </p:txBody>
      </p:sp>
      <p:sp>
        <p:nvSpPr>
          <p:cNvPr id="17416" name="Rectangle 1028">
            <a:extLst>
              <a:ext uri="{FF2B5EF4-FFF2-40B4-BE49-F238E27FC236}">
                <a16:creationId xmlns:a16="http://schemas.microsoft.com/office/drawing/2014/main" id="{305DC77A-BC91-40E9-9060-0C758399C6A3}"/>
              </a:ext>
            </a:extLst>
          </p:cNvPr>
          <p:cNvSpPr>
            <a:spLocks noChangeArrowheads="1"/>
          </p:cNvSpPr>
          <p:nvPr/>
        </p:nvSpPr>
        <p:spPr bwMode="auto">
          <a:xfrm>
            <a:off x="4584700" y="-28575"/>
            <a:ext cx="226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dist" eaLnBrk="1" hangingPunct="1">
              <a:spcBef>
                <a:spcPct val="0"/>
              </a:spcBef>
              <a:buFontTx/>
              <a:buNone/>
            </a:pPr>
            <a:r>
              <a:rPr lang="ja-JP" altLang="en-US" sz="1600">
                <a:latin typeface="メイリオ" panose="020B0604030504040204" pitchFamily="50" charset="-128"/>
                <a:ea typeface="メイリオ" panose="020B0604030504040204" pitchFamily="50" charset="-128"/>
              </a:rPr>
              <a:t>組織理念</a:t>
            </a:r>
          </a:p>
        </p:txBody>
      </p:sp>
      <p:sp>
        <p:nvSpPr>
          <p:cNvPr id="13" name="Google Shape;1346;p122">
            <a:extLst>
              <a:ext uri="{FF2B5EF4-FFF2-40B4-BE49-F238E27FC236}">
                <a16:creationId xmlns:a16="http://schemas.microsoft.com/office/drawing/2014/main" id="{F625EC8A-6476-47C2-BEFC-F1E6BC6B1316}"/>
              </a:ext>
            </a:extLst>
          </p:cNvPr>
          <p:cNvSpPr txBox="1"/>
          <p:nvPr/>
        </p:nvSpPr>
        <p:spPr>
          <a:xfrm>
            <a:off x="6308725" y="8993188"/>
            <a:ext cx="538163" cy="158750"/>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DE337A61-51E4-4790-9288-D7BC71A37AAB}"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15</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34" name="Group 2">
            <a:extLst>
              <a:ext uri="{FF2B5EF4-FFF2-40B4-BE49-F238E27FC236}">
                <a16:creationId xmlns:a16="http://schemas.microsoft.com/office/drawing/2014/main" id="{748A7AC8-2DC5-4B35-9483-EAAA8BE872FA}"/>
              </a:ext>
            </a:extLst>
          </p:cNvPr>
          <p:cNvGrpSpPr>
            <a:grpSpLocks/>
          </p:cNvGrpSpPr>
          <p:nvPr/>
        </p:nvGrpSpPr>
        <p:grpSpPr bwMode="auto">
          <a:xfrm>
            <a:off x="762000" y="457200"/>
            <a:ext cx="5562600" cy="2381250"/>
            <a:chOff x="567" y="125"/>
            <a:chExt cx="3129" cy="2353"/>
          </a:xfrm>
        </p:grpSpPr>
        <p:sp>
          <p:nvSpPr>
            <p:cNvPr id="18442" name="Rectangle 3">
              <a:extLst>
                <a:ext uri="{FF2B5EF4-FFF2-40B4-BE49-F238E27FC236}">
                  <a16:creationId xmlns:a16="http://schemas.microsoft.com/office/drawing/2014/main" id="{2DFD0047-7DC2-4475-B0FE-1DB33BA74449}"/>
                </a:ext>
              </a:extLst>
            </p:cNvPr>
            <p:cNvSpPr>
              <a:spLocks noChangeArrowheads="1"/>
            </p:cNvSpPr>
            <p:nvPr/>
          </p:nvSpPr>
          <p:spPr bwMode="auto">
            <a:xfrm>
              <a:off x="593" y="151"/>
              <a:ext cx="3103" cy="2327"/>
            </a:xfrm>
            <a:prstGeom prst="rect">
              <a:avLst/>
            </a:prstGeom>
            <a:solidFill>
              <a:srgbClr val="000000"/>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18443" name="Rectangle 4">
              <a:extLst>
                <a:ext uri="{FF2B5EF4-FFF2-40B4-BE49-F238E27FC236}">
                  <a16:creationId xmlns:a16="http://schemas.microsoft.com/office/drawing/2014/main" id="{8A99067F-2D83-4729-9994-70F6415E6D5F}"/>
                </a:ext>
              </a:extLst>
            </p:cNvPr>
            <p:cNvSpPr>
              <a:spLocks noChangeArrowheads="1"/>
            </p:cNvSpPr>
            <p:nvPr/>
          </p:nvSpPr>
          <p:spPr bwMode="auto">
            <a:xfrm>
              <a:off x="567" y="125"/>
              <a:ext cx="3103" cy="2327"/>
            </a:xfrm>
            <a:prstGeom prst="rect">
              <a:avLst/>
            </a:prstGeom>
            <a:solidFill>
              <a:srgbClr val="FFFFFF"/>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grpSp>
      <p:sp>
        <p:nvSpPr>
          <p:cNvPr id="18435" name="Rectangle 5">
            <a:extLst>
              <a:ext uri="{FF2B5EF4-FFF2-40B4-BE49-F238E27FC236}">
                <a16:creationId xmlns:a16="http://schemas.microsoft.com/office/drawing/2014/main" id="{22B55515-2B74-4C10-8877-7D0C5487E737}"/>
              </a:ext>
            </a:extLst>
          </p:cNvPr>
          <p:cNvSpPr>
            <a:spLocks noChangeArrowheads="1"/>
          </p:cNvSpPr>
          <p:nvPr/>
        </p:nvSpPr>
        <p:spPr bwMode="auto">
          <a:xfrm>
            <a:off x="1119188" y="322263"/>
            <a:ext cx="418782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18436" name="Rectangle 6">
            <a:extLst>
              <a:ext uri="{FF2B5EF4-FFF2-40B4-BE49-F238E27FC236}">
                <a16:creationId xmlns:a16="http://schemas.microsoft.com/office/drawing/2014/main" id="{EBC1A9F8-C495-4CC5-BAB3-38F083EDD742}"/>
              </a:ext>
            </a:extLst>
          </p:cNvPr>
          <p:cNvSpPr>
            <a:spLocks noChangeArrowheads="1"/>
          </p:cNvSpPr>
          <p:nvPr/>
        </p:nvSpPr>
        <p:spPr bwMode="auto">
          <a:xfrm>
            <a:off x="1219200" y="714375"/>
            <a:ext cx="42592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1800" b="1" dirty="0">
                <a:latin typeface="メイリオ" panose="020B0604030504040204" pitchFamily="50" charset="-128"/>
                <a:ea typeface="メイリオ" panose="020B0604030504040204" pitchFamily="50" charset="-128"/>
              </a:rPr>
              <a:t>チーム</a:t>
            </a:r>
            <a:r>
              <a:rPr lang="en-US" altLang="ja-JP" sz="1800" b="1" dirty="0">
                <a:latin typeface="メイリオ" panose="020B0604030504040204" pitchFamily="50" charset="-128"/>
                <a:ea typeface="メイリオ" panose="020B0604030504040204" pitchFamily="50" charset="-128"/>
              </a:rPr>
              <a:t>MMI</a:t>
            </a:r>
            <a:r>
              <a:rPr lang="ja-JP" altLang="en-US" sz="1800" b="1" dirty="0">
                <a:latin typeface="メイリオ" panose="020B0604030504040204" pitchFamily="50" charset="-128"/>
                <a:ea typeface="メイリオ" panose="020B0604030504040204" pitchFamily="50" charset="-128"/>
              </a:rPr>
              <a:t>　～</a:t>
            </a:r>
            <a:r>
              <a:rPr lang="en-US" altLang="ja-JP" sz="1800" b="1" dirty="0">
                <a:latin typeface="メイリオ" panose="020B0604030504040204" pitchFamily="50" charset="-128"/>
                <a:ea typeface="メイリオ" panose="020B0604030504040204" pitchFamily="50" charset="-128"/>
              </a:rPr>
              <a:t>I</a:t>
            </a:r>
            <a:r>
              <a:rPr lang="ja-JP" altLang="en-US" sz="1800" b="1" dirty="0">
                <a:latin typeface="メイリオ" panose="020B0604030504040204" pitchFamily="50" charset="-128"/>
                <a:ea typeface="メイリオ" panose="020B0604030504040204" pitchFamily="50" charset="-128"/>
              </a:rPr>
              <a:t>ではなく</a:t>
            </a:r>
            <a:r>
              <a:rPr lang="en-US" altLang="ja-JP" sz="1800" b="1" dirty="0">
                <a:latin typeface="メイリオ" panose="020B0604030504040204" pitchFamily="50" charset="-128"/>
                <a:ea typeface="メイリオ" panose="020B0604030504040204" pitchFamily="50" charset="-128"/>
              </a:rPr>
              <a:t>We</a:t>
            </a:r>
            <a:r>
              <a:rPr lang="ja-JP" altLang="en-US" sz="1800" b="1" dirty="0">
                <a:latin typeface="メイリオ" panose="020B0604030504040204" pitchFamily="50" charset="-128"/>
                <a:ea typeface="メイリオ" panose="020B0604030504040204" pitchFamily="50" charset="-128"/>
              </a:rPr>
              <a:t>で考えよ～</a:t>
            </a:r>
          </a:p>
        </p:txBody>
      </p:sp>
      <p:sp>
        <p:nvSpPr>
          <p:cNvPr id="18437" name="Rectangle 9">
            <a:extLst>
              <a:ext uri="{FF2B5EF4-FFF2-40B4-BE49-F238E27FC236}">
                <a16:creationId xmlns:a16="http://schemas.microsoft.com/office/drawing/2014/main" id="{F2CFC232-5F6A-4983-8B0C-7EB3F3E6CBC5}"/>
              </a:ext>
            </a:extLst>
          </p:cNvPr>
          <p:cNvSpPr>
            <a:spLocks noChangeArrowheads="1"/>
          </p:cNvSpPr>
          <p:nvPr/>
        </p:nvSpPr>
        <p:spPr bwMode="auto">
          <a:xfrm>
            <a:off x="1143000" y="1270000"/>
            <a:ext cx="4878388" cy="130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100000"/>
              </a:spcBef>
              <a:buFontTx/>
              <a:buNone/>
            </a:pPr>
            <a:r>
              <a:rPr lang="ja-JP" altLang="en-US" sz="1700" b="1">
                <a:latin typeface="メイリオ" panose="020B0604030504040204" pitchFamily="50" charset="-128"/>
                <a:ea typeface="メイリオ" panose="020B0604030504040204" pitchFamily="50" charset="-128"/>
              </a:rPr>
              <a:t>私たちはお互いに喜びを分かち合い、</a:t>
            </a:r>
          </a:p>
          <a:p>
            <a:pPr eaLnBrk="1" hangingPunct="1">
              <a:spcBef>
                <a:spcPct val="100000"/>
              </a:spcBef>
              <a:buFontTx/>
              <a:buNone/>
            </a:pPr>
            <a:r>
              <a:rPr lang="ja-JP" altLang="en-US" sz="1700" b="1">
                <a:latin typeface="メイリオ" panose="020B0604030504040204" pitchFamily="50" charset="-128"/>
                <a:ea typeface="メイリオ" panose="020B0604030504040204" pitchFamily="50" charset="-128"/>
              </a:rPr>
              <a:t>助け合い、高め合えるような、強い絆で結ばれた</a:t>
            </a:r>
          </a:p>
          <a:p>
            <a:pPr eaLnBrk="1" hangingPunct="1">
              <a:spcBef>
                <a:spcPct val="100000"/>
              </a:spcBef>
              <a:buFontTx/>
              <a:buNone/>
            </a:pPr>
            <a:r>
              <a:rPr lang="ja-JP" altLang="en-US" sz="1700" b="1">
                <a:latin typeface="メイリオ" panose="020B0604030504040204" pitchFamily="50" charset="-128"/>
                <a:ea typeface="メイリオ" panose="020B0604030504040204" pitchFamily="50" charset="-128"/>
              </a:rPr>
              <a:t>自立した組織であり続けます。</a:t>
            </a:r>
            <a:endParaRPr lang="en-US" altLang="ja-JP" sz="1700" b="1">
              <a:latin typeface="メイリオ" panose="020B0604030504040204" pitchFamily="50" charset="-128"/>
              <a:ea typeface="メイリオ" panose="020B0604030504040204" pitchFamily="50" charset="-128"/>
            </a:endParaRPr>
          </a:p>
        </p:txBody>
      </p:sp>
      <p:sp>
        <p:nvSpPr>
          <p:cNvPr id="18438" name="Line 10">
            <a:extLst>
              <a:ext uri="{FF2B5EF4-FFF2-40B4-BE49-F238E27FC236}">
                <a16:creationId xmlns:a16="http://schemas.microsoft.com/office/drawing/2014/main" id="{E8248A4B-7E19-4659-9E32-C303A63E5D79}"/>
              </a:ext>
            </a:extLst>
          </p:cNvPr>
          <p:cNvSpPr>
            <a:spLocks noChangeShapeType="1"/>
          </p:cNvSpPr>
          <p:nvPr/>
        </p:nvSpPr>
        <p:spPr bwMode="auto">
          <a:xfrm flipV="1">
            <a:off x="1219200" y="1042988"/>
            <a:ext cx="4657725" cy="23812"/>
          </a:xfrm>
          <a:prstGeom prst="line">
            <a:avLst/>
          </a:prstGeom>
          <a:noFill/>
          <a:ln w="69850" cmpd="thinThick">
            <a:solidFill>
              <a:schemeClr val="bg2"/>
            </a:solidFill>
            <a:round/>
            <a:headEnd/>
            <a:tailEnd/>
          </a:ln>
          <a:effectLst>
            <a:outerShdw dist="148106" dir="1857825" algn="ctr" rotWithShape="0">
              <a:srgbClr val="DDDDDD"/>
            </a:outerShdw>
          </a:effectLst>
          <a:extLst>
            <a:ext uri="{909E8E84-426E-40DD-AFC4-6F175D3DCCD1}">
              <a14:hiddenFill xmlns:a14="http://schemas.microsoft.com/office/drawing/2010/main">
                <a:noFill/>
              </a14:hiddenFill>
            </a:ext>
          </a:extLst>
        </p:spPr>
        <p:txBody>
          <a:bodyPr/>
          <a:lstStyle/>
          <a:p>
            <a:endParaRPr lang="ja-JP" altLang="en-US"/>
          </a:p>
        </p:txBody>
      </p:sp>
      <p:sp>
        <p:nvSpPr>
          <p:cNvPr id="19465" name="Rectangle 2060">
            <a:extLst>
              <a:ext uri="{FF2B5EF4-FFF2-40B4-BE49-F238E27FC236}">
                <a16:creationId xmlns:a16="http://schemas.microsoft.com/office/drawing/2014/main" id="{B2CD4549-23F7-473C-A726-9E3349981CD0}"/>
              </a:ext>
            </a:extLst>
          </p:cNvPr>
          <p:cNvSpPr>
            <a:spLocks noChangeArrowheads="1"/>
          </p:cNvSpPr>
          <p:nvPr/>
        </p:nvSpPr>
        <p:spPr bwMode="auto">
          <a:xfrm>
            <a:off x="765175" y="2933700"/>
            <a:ext cx="5562600" cy="591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lnSpc>
                <a:spcPct val="130000"/>
              </a:lnSpc>
              <a:buFontTx/>
              <a:buNone/>
              <a:defRPr/>
            </a:pPr>
            <a:r>
              <a:rPr lang="ja-JP" altLang="en-US" sz="1200" dirty="0">
                <a:latin typeface="+mj-ea"/>
                <a:ea typeface="+mj-ea"/>
              </a:rPr>
              <a:t>　私たちは一人ではありません。喜びや、時に苦しみも分かち合える仲間がエムエムインターナショナルにはいます。</a:t>
            </a:r>
            <a:endParaRPr lang="en-US" altLang="ja-JP" sz="1200" dirty="0">
              <a:latin typeface="+mj-ea"/>
              <a:ea typeface="+mj-ea"/>
            </a:endParaRPr>
          </a:p>
          <a:p>
            <a:pPr eaLnBrk="1" hangingPunct="1">
              <a:lnSpc>
                <a:spcPct val="130000"/>
              </a:lnSpc>
              <a:buFontTx/>
              <a:buNone/>
              <a:defRPr/>
            </a:pPr>
            <a:endParaRPr lang="en-US" altLang="ja-JP" sz="1200" dirty="0">
              <a:latin typeface="+mj-ea"/>
              <a:ea typeface="+mj-ea"/>
            </a:endParaRPr>
          </a:p>
          <a:p>
            <a:pPr eaLnBrk="1" hangingPunct="1">
              <a:lnSpc>
                <a:spcPct val="130000"/>
              </a:lnSpc>
              <a:buFontTx/>
              <a:buNone/>
              <a:defRPr/>
            </a:pPr>
            <a:r>
              <a:rPr lang="ja-JP" altLang="en-US" sz="1200" dirty="0">
                <a:latin typeface="+mj-ea"/>
                <a:ea typeface="+mj-ea"/>
              </a:rPr>
              <a:t>　「あの人がいたから、今の私がいる」</a:t>
            </a:r>
            <a:endParaRPr lang="en-US" altLang="ja-JP" sz="1200" dirty="0">
              <a:latin typeface="+mj-ea"/>
              <a:ea typeface="+mj-ea"/>
            </a:endParaRPr>
          </a:p>
          <a:p>
            <a:pPr eaLnBrk="1" hangingPunct="1">
              <a:lnSpc>
                <a:spcPct val="130000"/>
              </a:lnSpc>
              <a:buFontTx/>
              <a:buNone/>
              <a:defRPr/>
            </a:pPr>
            <a:endParaRPr lang="en-US" altLang="ja-JP" sz="1200" dirty="0">
              <a:latin typeface="+mj-ea"/>
              <a:ea typeface="+mj-ea"/>
            </a:endParaRPr>
          </a:p>
          <a:p>
            <a:pPr eaLnBrk="1" hangingPunct="1">
              <a:lnSpc>
                <a:spcPct val="130000"/>
              </a:lnSpc>
              <a:buFontTx/>
              <a:buNone/>
              <a:defRPr/>
            </a:pPr>
            <a:r>
              <a:rPr lang="ja-JP" altLang="en-US" sz="1200" dirty="0">
                <a:latin typeface="+mj-ea"/>
                <a:ea typeface="+mj-ea"/>
              </a:rPr>
              <a:t>　そんな「絆」で結ばれた組織が、エムエムインターナショナルです。絆で結ばれたチームは、メンバー１人１人の挑戦を可能にします。助け合い、補い合う精神を持ち、その精神を広げていくことができます。上司や部下、同僚との関係、部署間やグループ企業間の連携などはもちろんのこと、日ごろから私たちエムエムインターナショナルをサポートして下さる多くの取引業者さまに至るまでを、「チームＭＭＩ」として捉えることもできます。</a:t>
            </a:r>
          </a:p>
          <a:p>
            <a:pPr eaLnBrk="1" hangingPunct="1">
              <a:lnSpc>
                <a:spcPct val="130000"/>
              </a:lnSpc>
              <a:buFontTx/>
              <a:buNone/>
              <a:defRPr/>
            </a:pPr>
            <a:endParaRPr lang="en-US" altLang="ja-JP" sz="1200" dirty="0">
              <a:latin typeface="+mj-ea"/>
              <a:ea typeface="+mj-ea"/>
            </a:endParaRPr>
          </a:p>
          <a:p>
            <a:pPr eaLnBrk="1" hangingPunct="1">
              <a:lnSpc>
                <a:spcPct val="130000"/>
              </a:lnSpc>
              <a:buFontTx/>
              <a:buNone/>
              <a:defRPr/>
            </a:pPr>
            <a:r>
              <a:rPr lang="ja-JP" altLang="en-US" sz="1200" dirty="0">
                <a:latin typeface="+mj-ea"/>
                <a:ea typeface="+mj-ea"/>
              </a:rPr>
              <a:t>「チーム</a:t>
            </a:r>
            <a:r>
              <a:rPr lang="en-US" altLang="ja-JP" sz="1200" dirty="0">
                <a:latin typeface="+mj-ea"/>
                <a:ea typeface="+mj-ea"/>
              </a:rPr>
              <a:t>MMI</a:t>
            </a:r>
            <a:r>
              <a:rPr lang="ja-JP" altLang="en-US" sz="1200" dirty="0">
                <a:latin typeface="+mj-ea"/>
                <a:ea typeface="+mj-ea"/>
              </a:rPr>
              <a:t>」</a:t>
            </a:r>
          </a:p>
          <a:p>
            <a:pPr eaLnBrk="1" hangingPunct="1">
              <a:lnSpc>
                <a:spcPct val="130000"/>
              </a:lnSpc>
              <a:buFontTx/>
              <a:buNone/>
              <a:defRPr/>
            </a:pPr>
            <a:endParaRPr lang="en-US" altLang="ja-JP" sz="1200" dirty="0">
              <a:latin typeface="+mj-ea"/>
              <a:ea typeface="+mj-ea"/>
            </a:endParaRPr>
          </a:p>
          <a:p>
            <a:pPr eaLnBrk="1" hangingPunct="1">
              <a:lnSpc>
                <a:spcPct val="130000"/>
              </a:lnSpc>
              <a:buFontTx/>
              <a:buNone/>
              <a:defRPr/>
            </a:pPr>
            <a:r>
              <a:rPr lang="ja-JP" altLang="en-US" sz="1200" dirty="0">
                <a:latin typeface="+mj-ea"/>
                <a:ea typeface="+mj-ea"/>
              </a:rPr>
              <a:t>　この実現のために、敢えて「自立した組織」　という表現を入れました。「自立した組織」では、「１人１人の自立の成長」　があります。逆に、組織に対する依存や、他人への責任転嫁はありません。相手の立場に立ち、支えることができることこそ、本当の自立です。そして、そうしたメンバー同士、組織同士が、チームとしての力を発揮するのです。</a:t>
            </a:r>
            <a:endParaRPr lang="en-US" altLang="ja-JP" sz="1200" dirty="0">
              <a:latin typeface="+mj-ea"/>
              <a:ea typeface="+mj-ea"/>
            </a:endParaRPr>
          </a:p>
          <a:p>
            <a:pPr eaLnBrk="1" hangingPunct="1">
              <a:lnSpc>
                <a:spcPct val="130000"/>
              </a:lnSpc>
              <a:buFontTx/>
              <a:buNone/>
              <a:defRPr/>
            </a:pPr>
            <a:r>
              <a:rPr lang="ja-JP" altLang="en-US" sz="1200" dirty="0">
                <a:latin typeface="+mj-ea"/>
                <a:ea typeface="+mj-ea"/>
              </a:rPr>
              <a:t>　「会社は社会責任を負うものだから、人を替えてでも目標を実現することが正論」とされることがあります。しかし、エムエムインターナショナルは、今いるメンバーの皆で成長し、支え合い、未だ見ぬ夢を描き挑戦していきたいと考えます。そんな思いを込めた</a:t>
            </a:r>
            <a:r>
              <a:rPr lang="ja-JP" altLang="en-US" sz="1200">
                <a:latin typeface="+mj-ea"/>
                <a:ea typeface="+mj-ea"/>
              </a:rPr>
              <a:t>「チーム</a:t>
            </a:r>
            <a:r>
              <a:rPr lang="en-US" altLang="ja-JP" sz="1200">
                <a:latin typeface="+mj-ea"/>
                <a:ea typeface="+mj-ea"/>
              </a:rPr>
              <a:t>MMI</a:t>
            </a:r>
            <a:r>
              <a:rPr lang="ja-JP" altLang="en-US" sz="1200" dirty="0">
                <a:latin typeface="+mj-ea"/>
                <a:ea typeface="+mj-ea"/>
              </a:rPr>
              <a:t>」です。</a:t>
            </a:r>
          </a:p>
        </p:txBody>
      </p:sp>
      <p:sp>
        <p:nvSpPr>
          <p:cNvPr id="18440" name="Rectangle 1028">
            <a:extLst>
              <a:ext uri="{FF2B5EF4-FFF2-40B4-BE49-F238E27FC236}">
                <a16:creationId xmlns:a16="http://schemas.microsoft.com/office/drawing/2014/main" id="{C5AB856F-115A-4C02-9A7E-E79A9FF018CA}"/>
              </a:ext>
            </a:extLst>
          </p:cNvPr>
          <p:cNvSpPr>
            <a:spLocks noChangeArrowheads="1"/>
          </p:cNvSpPr>
          <p:nvPr/>
        </p:nvSpPr>
        <p:spPr bwMode="auto">
          <a:xfrm>
            <a:off x="4584700" y="-28575"/>
            <a:ext cx="226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dist" eaLnBrk="1" hangingPunct="1">
              <a:spcBef>
                <a:spcPct val="0"/>
              </a:spcBef>
              <a:buFontTx/>
              <a:buNone/>
            </a:pPr>
            <a:r>
              <a:rPr lang="ja-JP" altLang="en-US" sz="1600">
                <a:latin typeface="メイリオ" panose="020B0604030504040204" pitchFamily="50" charset="-128"/>
                <a:ea typeface="メイリオ" panose="020B0604030504040204" pitchFamily="50" charset="-128"/>
              </a:rPr>
              <a:t>組織理念</a:t>
            </a:r>
          </a:p>
        </p:txBody>
      </p:sp>
      <p:sp>
        <p:nvSpPr>
          <p:cNvPr id="14" name="Google Shape;1346;p122">
            <a:extLst>
              <a:ext uri="{FF2B5EF4-FFF2-40B4-BE49-F238E27FC236}">
                <a16:creationId xmlns:a16="http://schemas.microsoft.com/office/drawing/2014/main" id="{9AA726AC-99EA-4972-86BF-9D5C4500A4BF}"/>
              </a:ext>
            </a:extLst>
          </p:cNvPr>
          <p:cNvSpPr txBox="1"/>
          <p:nvPr/>
        </p:nvSpPr>
        <p:spPr>
          <a:xfrm>
            <a:off x="6308725" y="8993188"/>
            <a:ext cx="538163" cy="158750"/>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A7895982-A443-41B6-8512-1150BB6B2FDC}"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16</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AutoShape 7">
            <a:extLst>
              <a:ext uri="{FF2B5EF4-FFF2-40B4-BE49-F238E27FC236}">
                <a16:creationId xmlns:a16="http://schemas.microsoft.com/office/drawing/2014/main" id="{0F378411-482B-411D-9EFA-1DCE23D42C64}"/>
              </a:ext>
            </a:extLst>
          </p:cNvPr>
          <p:cNvSpPr>
            <a:spLocks noChangeArrowheads="1"/>
          </p:cNvSpPr>
          <p:nvPr/>
        </p:nvSpPr>
        <p:spPr bwMode="auto">
          <a:xfrm>
            <a:off x="990600" y="330200"/>
            <a:ext cx="4953000" cy="838200"/>
          </a:xfrm>
          <a:prstGeom prst="roundRect">
            <a:avLst>
              <a:gd name="adj" fmla="val 16667"/>
            </a:avLst>
          </a:prstGeom>
          <a:solidFill>
            <a:schemeClr val="bg1">
              <a:lumMod val="75000"/>
            </a:schemeClr>
          </a:solidFill>
          <a:ln>
            <a:noFill/>
          </a:ln>
        </p:spPr>
        <p:txBody>
          <a:bodyPr wrap="none"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defRPr/>
            </a:pPr>
            <a:endParaRPr lang="ja-JP" altLang="en-US" sz="3600">
              <a:latin typeface="メイリオ" panose="020B0604030504040204" pitchFamily="50" charset="-128"/>
              <a:ea typeface="メイリオ" panose="020B0604030504040204" pitchFamily="50" charset="-128"/>
            </a:endParaRPr>
          </a:p>
        </p:txBody>
      </p:sp>
      <p:sp>
        <p:nvSpPr>
          <p:cNvPr id="19459" name="Text Box 8">
            <a:extLst>
              <a:ext uri="{FF2B5EF4-FFF2-40B4-BE49-F238E27FC236}">
                <a16:creationId xmlns:a16="http://schemas.microsoft.com/office/drawing/2014/main" id="{AF8E0B09-9A80-4D78-9368-E194FF7A6EB1}"/>
              </a:ext>
            </a:extLst>
          </p:cNvPr>
          <p:cNvSpPr txBox="1">
            <a:spLocks noChangeArrowheads="1"/>
          </p:cNvSpPr>
          <p:nvPr/>
        </p:nvSpPr>
        <p:spPr bwMode="auto">
          <a:xfrm>
            <a:off x="1143000" y="390525"/>
            <a:ext cx="4648200" cy="701675"/>
          </a:xfrm>
          <a:prstGeom prst="rect">
            <a:avLst/>
          </a:prstGeom>
          <a:noFill/>
          <a:ln>
            <a:noFill/>
          </a:ln>
          <a:effectLst>
            <a:outerShdw dist="35921" dir="2700000" algn="ctr" rotWithShape="0">
              <a:srgbClr val="B2B2B2">
                <a:alpha val="5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50000"/>
              </a:spcBef>
              <a:buFontTx/>
              <a:buNone/>
            </a:pPr>
            <a:r>
              <a:rPr lang="ja-JP" altLang="en-US" sz="4000" b="1">
                <a:solidFill>
                  <a:srgbClr val="FF0000"/>
                </a:solidFill>
                <a:latin typeface="メイリオ" panose="020B0604030504040204" pitchFamily="50" charset="-128"/>
                <a:ea typeface="メイリオ" panose="020B0604030504040204" pitchFamily="50" charset="-128"/>
              </a:rPr>
              <a:t>行動指針</a:t>
            </a:r>
          </a:p>
        </p:txBody>
      </p:sp>
      <p:sp>
        <p:nvSpPr>
          <p:cNvPr id="19460" name="Rectangle 9">
            <a:extLst>
              <a:ext uri="{FF2B5EF4-FFF2-40B4-BE49-F238E27FC236}">
                <a16:creationId xmlns:a16="http://schemas.microsoft.com/office/drawing/2014/main" id="{3CACCEF4-0D84-4C43-991D-3C1B135FA669}"/>
              </a:ext>
            </a:extLst>
          </p:cNvPr>
          <p:cNvSpPr>
            <a:spLocks noChangeArrowheads="1"/>
          </p:cNvSpPr>
          <p:nvPr/>
        </p:nvSpPr>
        <p:spPr bwMode="auto">
          <a:xfrm>
            <a:off x="609600" y="1701800"/>
            <a:ext cx="5943600" cy="292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just" eaLnBrk="1" hangingPunct="1">
              <a:lnSpc>
                <a:spcPct val="130000"/>
              </a:lnSpc>
              <a:buFontTx/>
              <a:buNone/>
            </a:pPr>
            <a:r>
              <a:rPr lang="en-US" altLang="ja-JP" sz="1800" b="1" dirty="0">
                <a:latin typeface="メイリオ" panose="020B0604030504040204" pitchFamily="50" charset="-128"/>
                <a:ea typeface="メイリオ" panose="020B0604030504040204" pitchFamily="50" charset="-128"/>
              </a:rPr>
              <a:t>●</a:t>
            </a:r>
            <a:r>
              <a:rPr lang="ja-JP" altLang="en-US" sz="1800" b="1" dirty="0">
                <a:latin typeface="メイリオ" panose="020B0604030504040204" pitchFamily="50" charset="-128"/>
                <a:ea typeface="メイリオ" panose="020B0604030504040204" pitchFamily="50" charset="-128"/>
              </a:rPr>
              <a:t>判断基準はお客様</a:t>
            </a:r>
          </a:p>
          <a:p>
            <a:pPr algn="just" eaLnBrk="1" hangingPunct="1">
              <a:lnSpc>
                <a:spcPct val="130000"/>
              </a:lnSpc>
              <a:buFontTx/>
              <a:buNone/>
            </a:pPr>
            <a:r>
              <a:rPr lang="ja-JP" altLang="en-US" sz="1800" b="1" dirty="0">
                <a:latin typeface="メイリオ" panose="020B0604030504040204" pitchFamily="50" charset="-128"/>
                <a:ea typeface="メイリオ" panose="020B0604030504040204" pitchFamily="50" charset="-128"/>
              </a:rPr>
              <a:t>●</a:t>
            </a:r>
            <a:r>
              <a:rPr lang="en-US" altLang="ja-JP" sz="1800" b="1" dirty="0">
                <a:latin typeface="メイリオ" panose="020B0604030504040204" pitchFamily="50" charset="-128"/>
                <a:ea typeface="メイリオ" panose="020B0604030504040204" pitchFamily="50" charset="-128"/>
              </a:rPr>
              <a:t>MMI</a:t>
            </a:r>
            <a:r>
              <a:rPr lang="ja-JP" altLang="en-US" sz="1800" b="1" dirty="0">
                <a:latin typeface="メイリオ" panose="020B0604030504040204" pitchFamily="50" charset="-128"/>
                <a:ea typeface="メイリオ" panose="020B0604030504040204" pitchFamily="50" charset="-128"/>
              </a:rPr>
              <a:t>ファンの創造</a:t>
            </a:r>
          </a:p>
          <a:p>
            <a:pPr algn="just" eaLnBrk="1" hangingPunct="1">
              <a:lnSpc>
                <a:spcPct val="130000"/>
              </a:lnSpc>
              <a:buFontTx/>
              <a:buNone/>
            </a:pPr>
            <a:r>
              <a:rPr lang="ja-JP" altLang="en-US" sz="1800" b="1" dirty="0">
                <a:latin typeface="メイリオ" panose="020B0604030504040204" pitchFamily="50" charset="-128"/>
                <a:ea typeface="メイリオ" panose="020B0604030504040204" pitchFamily="50" charset="-128"/>
              </a:rPr>
              <a:t>●ベストの追求～感動創造～</a:t>
            </a:r>
          </a:p>
          <a:p>
            <a:pPr algn="just" eaLnBrk="1" hangingPunct="1">
              <a:lnSpc>
                <a:spcPct val="130000"/>
              </a:lnSpc>
              <a:buFontTx/>
              <a:buNone/>
            </a:pPr>
            <a:r>
              <a:rPr lang="ja-JP" altLang="en-US" sz="1800" b="1" dirty="0">
                <a:latin typeface="メイリオ" panose="020B0604030504040204" pitchFamily="50" charset="-128"/>
                <a:ea typeface="メイリオ" panose="020B0604030504040204" pitchFamily="50" charset="-128"/>
              </a:rPr>
              <a:t>●依存ではなく自立</a:t>
            </a:r>
          </a:p>
          <a:p>
            <a:pPr algn="just" eaLnBrk="1" hangingPunct="1">
              <a:lnSpc>
                <a:spcPct val="130000"/>
              </a:lnSpc>
              <a:buFontTx/>
              <a:buNone/>
            </a:pPr>
            <a:r>
              <a:rPr lang="ja-JP" altLang="en-US" sz="1800" b="1" dirty="0">
                <a:latin typeface="メイリオ" panose="020B0604030504040204" pitchFamily="50" charset="-128"/>
                <a:ea typeface="メイリオ" panose="020B0604030504040204" pitchFamily="50" charset="-128"/>
              </a:rPr>
              <a:t>●１＋１＝３以上</a:t>
            </a:r>
          </a:p>
          <a:p>
            <a:pPr algn="just" eaLnBrk="1" hangingPunct="1">
              <a:lnSpc>
                <a:spcPct val="130000"/>
              </a:lnSpc>
              <a:buFontTx/>
              <a:buNone/>
            </a:pPr>
            <a:r>
              <a:rPr lang="ja-JP" altLang="en-US" sz="1800" b="1" dirty="0">
                <a:latin typeface="メイリオ" panose="020B0604030504040204" pitchFamily="50" charset="-128"/>
                <a:ea typeface="メイリオ" panose="020B0604030504040204" pitchFamily="50" charset="-128"/>
              </a:rPr>
              <a:t>●プラスのストローク</a:t>
            </a:r>
          </a:p>
          <a:p>
            <a:pPr algn="just" eaLnBrk="1" hangingPunct="1">
              <a:lnSpc>
                <a:spcPct val="130000"/>
              </a:lnSpc>
              <a:buFontTx/>
              <a:buNone/>
            </a:pPr>
            <a:r>
              <a:rPr lang="ja-JP" altLang="en-US" sz="1800" b="1" dirty="0">
                <a:latin typeface="メイリオ" panose="020B0604030504040204" pitchFamily="50" charset="-128"/>
                <a:ea typeface="メイリオ" panose="020B0604030504040204" pitchFamily="50" charset="-128"/>
              </a:rPr>
              <a:t>●正しいことは正しい　</a:t>
            </a:r>
          </a:p>
        </p:txBody>
      </p:sp>
      <p:sp>
        <p:nvSpPr>
          <p:cNvPr id="19461" name="Rectangle 1028">
            <a:extLst>
              <a:ext uri="{FF2B5EF4-FFF2-40B4-BE49-F238E27FC236}">
                <a16:creationId xmlns:a16="http://schemas.microsoft.com/office/drawing/2014/main" id="{7C055A98-437D-4E7F-BA46-DAED4B63007C}"/>
              </a:ext>
            </a:extLst>
          </p:cNvPr>
          <p:cNvSpPr>
            <a:spLocks noChangeArrowheads="1"/>
          </p:cNvSpPr>
          <p:nvPr/>
        </p:nvSpPr>
        <p:spPr bwMode="auto">
          <a:xfrm>
            <a:off x="4584700" y="-3175"/>
            <a:ext cx="226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dist" eaLnBrk="1" hangingPunct="1">
              <a:spcBef>
                <a:spcPct val="0"/>
              </a:spcBef>
              <a:buFontTx/>
              <a:buNone/>
            </a:pPr>
            <a:r>
              <a:rPr lang="ja-JP" altLang="en-US" sz="1600">
                <a:latin typeface="メイリオ" panose="020B0604030504040204" pitchFamily="50" charset="-128"/>
                <a:ea typeface="メイリオ" panose="020B0604030504040204" pitchFamily="50" charset="-128"/>
              </a:rPr>
              <a:t>行動指針</a:t>
            </a:r>
          </a:p>
        </p:txBody>
      </p:sp>
      <p:sp>
        <p:nvSpPr>
          <p:cNvPr id="8" name="Google Shape;1346;p122">
            <a:extLst>
              <a:ext uri="{FF2B5EF4-FFF2-40B4-BE49-F238E27FC236}">
                <a16:creationId xmlns:a16="http://schemas.microsoft.com/office/drawing/2014/main" id="{5DA20DFA-F493-4628-82DC-2FF29CAC5FF9}"/>
              </a:ext>
            </a:extLst>
          </p:cNvPr>
          <p:cNvSpPr txBox="1"/>
          <p:nvPr/>
        </p:nvSpPr>
        <p:spPr>
          <a:xfrm>
            <a:off x="6308725" y="8993188"/>
            <a:ext cx="538163" cy="158750"/>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A9A55EC4-DAF4-442B-9177-B55832DF2548}"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17</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吹き出し: 四角形 1">
            <a:extLst>
              <a:ext uri="{FF2B5EF4-FFF2-40B4-BE49-F238E27FC236}">
                <a16:creationId xmlns:a16="http://schemas.microsoft.com/office/drawing/2014/main" id="{EB8450CB-1EED-4A9E-BE87-543420BF4632}"/>
              </a:ext>
            </a:extLst>
          </p:cNvPr>
          <p:cNvSpPr/>
          <p:nvPr/>
        </p:nvSpPr>
        <p:spPr>
          <a:xfrm>
            <a:off x="3836988" y="6548438"/>
            <a:ext cx="2201862" cy="644525"/>
          </a:xfrm>
          <a:prstGeom prst="wedgeRectCallout">
            <a:avLst>
              <a:gd name="adj1" fmla="val -54063"/>
              <a:gd name="adj2" fmla="val 29359"/>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grpSp>
        <p:nvGrpSpPr>
          <p:cNvPr id="20483" name="Group 2">
            <a:extLst>
              <a:ext uri="{FF2B5EF4-FFF2-40B4-BE49-F238E27FC236}">
                <a16:creationId xmlns:a16="http://schemas.microsoft.com/office/drawing/2014/main" id="{9B2D0DD3-4CDF-492C-8CA4-83FC398A0E9C}"/>
              </a:ext>
            </a:extLst>
          </p:cNvPr>
          <p:cNvGrpSpPr>
            <a:grpSpLocks/>
          </p:cNvGrpSpPr>
          <p:nvPr/>
        </p:nvGrpSpPr>
        <p:grpSpPr bwMode="auto">
          <a:xfrm>
            <a:off x="762000" y="457200"/>
            <a:ext cx="5562600" cy="2455863"/>
            <a:chOff x="567" y="125"/>
            <a:chExt cx="3129" cy="2353"/>
          </a:xfrm>
        </p:grpSpPr>
        <p:sp>
          <p:nvSpPr>
            <p:cNvPr id="20507" name="Rectangle 3">
              <a:extLst>
                <a:ext uri="{FF2B5EF4-FFF2-40B4-BE49-F238E27FC236}">
                  <a16:creationId xmlns:a16="http://schemas.microsoft.com/office/drawing/2014/main" id="{9BAEF080-517D-4AF0-BB1F-0AA3A50B1A9A}"/>
                </a:ext>
              </a:extLst>
            </p:cNvPr>
            <p:cNvSpPr>
              <a:spLocks noChangeArrowheads="1"/>
            </p:cNvSpPr>
            <p:nvPr/>
          </p:nvSpPr>
          <p:spPr bwMode="auto">
            <a:xfrm>
              <a:off x="593" y="151"/>
              <a:ext cx="3103" cy="2327"/>
            </a:xfrm>
            <a:prstGeom prst="rect">
              <a:avLst/>
            </a:prstGeom>
            <a:solidFill>
              <a:srgbClr val="000000"/>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20508" name="Rectangle 4">
              <a:extLst>
                <a:ext uri="{FF2B5EF4-FFF2-40B4-BE49-F238E27FC236}">
                  <a16:creationId xmlns:a16="http://schemas.microsoft.com/office/drawing/2014/main" id="{8CBB91FB-8983-420A-8E20-7C81CC5311C2}"/>
                </a:ext>
              </a:extLst>
            </p:cNvPr>
            <p:cNvSpPr>
              <a:spLocks noChangeArrowheads="1"/>
            </p:cNvSpPr>
            <p:nvPr/>
          </p:nvSpPr>
          <p:spPr bwMode="auto">
            <a:xfrm>
              <a:off x="567" y="125"/>
              <a:ext cx="3103" cy="2327"/>
            </a:xfrm>
            <a:prstGeom prst="rect">
              <a:avLst/>
            </a:prstGeom>
            <a:solidFill>
              <a:srgbClr val="FFFFFF"/>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grpSp>
      <p:sp>
        <p:nvSpPr>
          <p:cNvPr id="20484" name="Rectangle 5">
            <a:extLst>
              <a:ext uri="{FF2B5EF4-FFF2-40B4-BE49-F238E27FC236}">
                <a16:creationId xmlns:a16="http://schemas.microsoft.com/office/drawing/2014/main" id="{155B76FC-7EA5-44D5-A8BC-551B4A664FFF}"/>
              </a:ext>
            </a:extLst>
          </p:cNvPr>
          <p:cNvSpPr>
            <a:spLocks noChangeArrowheads="1"/>
          </p:cNvSpPr>
          <p:nvPr/>
        </p:nvSpPr>
        <p:spPr bwMode="auto">
          <a:xfrm>
            <a:off x="1119188" y="322263"/>
            <a:ext cx="418782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20485" name="Rectangle 7">
            <a:extLst>
              <a:ext uri="{FF2B5EF4-FFF2-40B4-BE49-F238E27FC236}">
                <a16:creationId xmlns:a16="http://schemas.microsoft.com/office/drawing/2014/main" id="{BFD68FA7-8006-4F80-88A5-D973A88B5AA0}"/>
              </a:ext>
            </a:extLst>
          </p:cNvPr>
          <p:cNvSpPr>
            <a:spLocks noChangeArrowheads="1"/>
          </p:cNvSpPr>
          <p:nvPr/>
        </p:nvSpPr>
        <p:spPr bwMode="auto">
          <a:xfrm>
            <a:off x="836613" y="4284663"/>
            <a:ext cx="5580062"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lnSpc>
                <a:spcPct val="130000"/>
              </a:lnSpc>
              <a:buFontTx/>
              <a:buNone/>
            </a:pPr>
            <a:r>
              <a:rPr lang="ja-JP" altLang="en-US" sz="1200"/>
              <a:t>　</a:t>
            </a:r>
          </a:p>
        </p:txBody>
      </p:sp>
      <p:sp>
        <p:nvSpPr>
          <p:cNvPr id="20486" name="Rectangle 9">
            <a:extLst>
              <a:ext uri="{FF2B5EF4-FFF2-40B4-BE49-F238E27FC236}">
                <a16:creationId xmlns:a16="http://schemas.microsoft.com/office/drawing/2014/main" id="{948CD890-92E1-47BF-86F6-4BB5252B8DCA}"/>
              </a:ext>
            </a:extLst>
          </p:cNvPr>
          <p:cNvSpPr>
            <a:spLocks noChangeArrowheads="1"/>
          </p:cNvSpPr>
          <p:nvPr/>
        </p:nvSpPr>
        <p:spPr bwMode="auto">
          <a:xfrm>
            <a:off x="1143000" y="1273175"/>
            <a:ext cx="4724400" cy="151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60000"/>
              </a:spcBef>
              <a:buFontTx/>
              <a:buNone/>
            </a:pPr>
            <a:r>
              <a:rPr lang="ja-JP" altLang="en-US" sz="1700" b="1">
                <a:latin typeface="メイリオ" panose="020B0604030504040204" pitchFamily="50" charset="-128"/>
                <a:ea typeface="メイリオ" panose="020B0604030504040204" pitchFamily="50" charset="-128"/>
              </a:rPr>
              <a:t>私たちの使命は「お客様の満足」創造に</a:t>
            </a:r>
          </a:p>
          <a:p>
            <a:pPr eaLnBrk="1" hangingPunct="1">
              <a:spcBef>
                <a:spcPct val="60000"/>
              </a:spcBef>
              <a:buFontTx/>
              <a:buNone/>
            </a:pPr>
            <a:r>
              <a:rPr lang="ja-JP" altLang="en-US" sz="1700" b="1">
                <a:latin typeface="メイリオ" panose="020B0604030504040204" pitchFamily="50" charset="-128"/>
                <a:ea typeface="メイリオ" panose="020B0604030504040204" pitchFamily="50" charset="-128"/>
              </a:rPr>
              <a:t>あります。意見が分かれた時、迷った時は</a:t>
            </a:r>
          </a:p>
          <a:p>
            <a:pPr eaLnBrk="1" hangingPunct="1">
              <a:spcBef>
                <a:spcPct val="60000"/>
              </a:spcBef>
              <a:buFontTx/>
              <a:buNone/>
            </a:pPr>
            <a:r>
              <a:rPr lang="ja-JP" altLang="en-US" sz="1700" b="1">
                <a:latin typeface="メイリオ" panose="020B0604030504040204" pitchFamily="50" charset="-128"/>
                <a:ea typeface="メイリオ" panose="020B0604030504040204" pitchFamily="50" charset="-128"/>
              </a:rPr>
              <a:t>使命に立ち返り「よりお客様が満足される</a:t>
            </a:r>
          </a:p>
          <a:p>
            <a:pPr eaLnBrk="1" hangingPunct="1">
              <a:spcBef>
                <a:spcPct val="60000"/>
              </a:spcBef>
              <a:buFontTx/>
              <a:buNone/>
            </a:pPr>
            <a:r>
              <a:rPr lang="ja-JP" altLang="en-US" sz="1700" b="1">
                <a:latin typeface="メイリオ" panose="020B0604030504040204" pitchFamily="50" charset="-128"/>
                <a:ea typeface="メイリオ" panose="020B0604030504040204" pitchFamily="50" charset="-128"/>
              </a:rPr>
              <a:t>方法は何か」を考えて判断を行います。</a:t>
            </a:r>
          </a:p>
        </p:txBody>
      </p:sp>
      <p:sp>
        <p:nvSpPr>
          <p:cNvPr id="20487" name="Line 10">
            <a:extLst>
              <a:ext uri="{FF2B5EF4-FFF2-40B4-BE49-F238E27FC236}">
                <a16:creationId xmlns:a16="http://schemas.microsoft.com/office/drawing/2014/main" id="{4121D7E5-D368-495E-A012-E53E0BC7EED2}"/>
              </a:ext>
            </a:extLst>
          </p:cNvPr>
          <p:cNvSpPr>
            <a:spLocks noChangeShapeType="1"/>
          </p:cNvSpPr>
          <p:nvPr/>
        </p:nvSpPr>
        <p:spPr bwMode="auto">
          <a:xfrm>
            <a:off x="1219200" y="1066800"/>
            <a:ext cx="2497138" cy="17463"/>
          </a:xfrm>
          <a:prstGeom prst="line">
            <a:avLst/>
          </a:prstGeom>
          <a:noFill/>
          <a:ln w="69850" cmpd="thinThick">
            <a:solidFill>
              <a:schemeClr val="bg2"/>
            </a:solidFill>
            <a:round/>
            <a:headEnd/>
            <a:tailEnd/>
          </a:ln>
          <a:effectLst>
            <a:outerShdw dist="148106" dir="1857825" algn="ctr" rotWithShape="0">
              <a:srgbClr val="DDDDDD"/>
            </a:outerShdw>
          </a:effectLst>
          <a:extLst>
            <a:ext uri="{909E8E84-426E-40DD-AFC4-6F175D3DCCD1}">
              <a14:hiddenFill xmlns:a14="http://schemas.microsoft.com/office/drawing/2010/main">
                <a:noFill/>
              </a14:hiddenFill>
            </a:ext>
          </a:extLst>
        </p:spPr>
        <p:txBody>
          <a:bodyPr/>
          <a:lstStyle/>
          <a:p>
            <a:endParaRPr lang="ja-JP" altLang="en-US"/>
          </a:p>
        </p:txBody>
      </p:sp>
      <p:sp>
        <p:nvSpPr>
          <p:cNvPr id="21513" name="Rectangle 2060">
            <a:extLst>
              <a:ext uri="{FF2B5EF4-FFF2-40B4-BE49-F238E27FC236}">
                <a16:creationId xmlns:a16="http://schemas.microsoft.com/office/drawing/2014/main" id="{5A1ED2BD-8170-4F83-A6E0-4006B3AFE640}"/>
              </a:ext>
            </a:extLst>
          </p:cNvPr>
          <p:cNvSpPr>
            <a:spLocks noChangeArrowheads="1"/>
          </p:cNvSpPr>
          <p:nvPr/>
        </p:nvSpPr>
        <p:spPr bwMode="auto">
          <a:xfrm>
            <a:off x="508000" y="3001963"/>
            <a:ext cx="6048375" cy="321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lnSpc>
                <a:spcPct val="150000"/>
              </a:lnSpc>
              <a:buFontTx/>
              <a:buNone/>
              <a:defRPr/>
            </a:pPr>
            <a:r>
              <a:rPr lang="ja-JP" altLang="en-US" sz="1200" dirty="0">
                <a:latin typeface="+mj-ea"/>
                <a:ea typeface="+mj-ea"/>
              </a:rPr>
              <a:t>　私たちが目指す快適空間の創造は、ひとり一人のお客様に感じていただく小さな感動の積み重ねにより実現します。</a:t>
            </a:r>
            <a:endParaRPr lang="en-US" altLang="ja-JP" sz="1200" dirty="0">
              <a:latin typeface="+mj-ea"/>
              <a:ea typeface="+mj-ea"/>
            </a:endParaRPr>
          </a:p>
          <a:p>
            <a:pPr eaLnBrk="1" hangingPunct="1">
              <a:lnSpc>
                <a:spcPct val="150000"/>
              </a:lnSpc>
              <a:buFontTx/>
              <a:buNone/>
              <a:defRPr/>
            </a:pPr>
            <a:r>
              <a:rPr lang="ja-JP" altLang="en-US" sz="1200" dirty="0">
                <a:latin typeface="+mj-ea"/>
                <a:ea typeface="+mj-ea"/>
              </a:rPr>
              <a:t>　そのために、日常的に起こる判断に迷う場面では、従業員の都合で判断せず、お客様の満足を最優先に考えます。つまり、物事の見方を「判断基準はお客様」とすることです。</a:t>
            </a:r>
            <a:endParaRPr lang="en-US" altLang="ja-JP" sz="1200" dirty="0">
              <a:latin typeface="+mj-ea"/>
              <a:ea typeface="+mj-ea"/>
            </a:endParaRPr>
          </a:p>
          <a:p>
            <a:pPr eaLnBrk="1" hangingPunct="1">
              <a:lnSpc>
                <a:spcPct val="150000"/>
              </a:lnSpc>
              <a:buFontTx/>
              <a:buNone/>
              <a:defRPr/>
            </a:pPr>
            <a:r>
              <a:rPr lang="ja-JP" altLang="en-US" sz="1200" dirty="0">
                <a:latin typeface="+mj-ea"/>
                <a:ea typeface="+mj-ea"/>
              </a:rPr>
              <a:t>　お客様の満足を考える際に、近視眼的に捉えてはいけません。例えば、目先のお客様のワガママを優先してしまえば、その他お客様に迷惑がかかることが起こり得ます。お客様の満足を考える際には、広い視野</a:t>
            </a:r>
            <a:r>
              <a:rPr lang="en-US" altLang="ja-JP" sz="1200" dirty="0">
                <a:latin typeface="+mj-ea"/>
                <a:ea typeface="+mj-ea"/>
              </a:rPr>
              <a:t>､</a:t>
            </a:r>
            <a:r>
              <a:rPr lang="ja-JP" altLang="en-US" sz="1200" dirty="0">
                <a:latin typeface="+mj-ea"/>
                <a:ea typeface="+mj-ea"/>
              </a:rPr>
              <a:t>長い期間、長さで考えなくてはなりません。</a:t>
            </a:r>
            <a:endParaRPr lang="en-US" altLang="ja-JP" sz="1200" dirty="0">
              <a:latin typeface="+mj-ea"/>
              <a:ea typeface="+mj-ea"/>
            </a:endParaRPr>
          </a:p>
          <a:p>
            <a:pPr eaLnBrk="1" hangingPunct="1">
              <a:lnSpc>
                <a:spcPct val="150000"/>
              </a:lnSpc>
              <a:buFontTx/>
              <a:buNone/>
              <a:defRPr/>
            </a:pPr>
            <a:r>
              <a:rPr lang="ja-JP" altLang="en-US" sz="1200" dirty="0">
                <a:latin typeface="+mj-ea"/>
                <a:ea typeface="+mj-ea"/>
              </a:rPr>
              <a:t>　また、現場のスタッフだけでなく、間接部門のスタッフも、現場のエンドユーザーの満足を創造することが、「使命」があると考えます。現場のスタッフと間接部門のスタッフの各々が、お客様の満足を自分の役割から考え抜き、協力し、そして追求する時にこそ、私たちの目指すＣＳ（顧客満足）が実現されると考えます。</a:t>
            </a:r>
          </a:p>
        </p:txBody>
      </p:sp>
      <p:sp>
        <p:nvSpPr>
          <p:cNvPr id="3" name="楕円 2">
            <a:extLst>
              <a:ext uri="{FF2B5EF4-FFF2-40B4-BE49-F238E27FC236}">
                <a16:creationId xmlns:a16="http://schemas.microsoft.com/office/drawing/2014/main" id="{AAFB446C-E0B2-4E90-B4ED-513030E37D53}"/>
              </a:ext>
            </a:extLst>
          </p:cNvPr>
          <p:cNvSpPr/>
          <p:nvPr/>
        </p:nvSpPr>
        <p:spPr>
          <a:xfrm>
            <a:off x="2895600" y="6958013"/>
            <a:ext cx="865188" cy="820737"/>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dirty="0">
              <a:latin typeface="ＭＳ Ｐゴシック" panose="020B0600070205080204" pitchFamily="50" charset="-128"/>
            </a:endParaRPr>
          </a:p>
        </p:txBody>
      </p:sp>
      <p:sp>
        <p:nvSpPr>
          <p:cNvPr id="15" name="楕円 14">
            <a:extLst>
              <a:ext uri="{FF2B5EF4-FFF2-40B4-BE49-F238E27FC236}">
                <a16:creationId xmlns:a16="http://schemas.microsoft.com/office/drawing/2014/main" id="{F229F7E8-B566-46A7-9AC4-C9B67433D9A6}"/>
              </a:ext>
            </a:extLst>
          </p:cNvPr>
          <p:cNvSpPr/>
          <p:nvPr/>
        </p:nvSpPr>
        <p:spPr>
          <a:xfrm>
            <a:off x="2032000" y="8023225"/>
            <a:ext cx="863600" cy="820738"/>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16" name="楕円 15">
            <a:extLst>
              <a:ext uri="{FF2B5EF4-FFF2-40B4-BE49-F238E27FC236}">
                <a16:creationId xmlns:a16="http://schemas.microsoft.com/office/drawing/2014/main" id="{3F0B9E68-B087-478E-A87D-5148B95A4D9E}"/>
              </a:ext>
            </a:extLst>
          </p:cNvPr>
          <p:cNvSpPr/>
          <p:nvPr/>
        </p:nvSpPr>
        <p:spPr>
          <a:xfrm>
            <a:off x="3760788" y="8023225"/>
            <a:ext cx="863600" cy="820738"/>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4" name="矢印: 右 3">
            <a:extLst>
              <a:ext uri="{FF2B5EF4-FFF2-40B4-BE49-F238E27FC236}">
                <a16:creationId xmlns:a16="http://schemas.microsoft.com/office/drawing/2014/main" id="{A7EBDC35-DDBE-477F-9653-F7566F747090}"/>
              </a:ext>
            </a:extLst>
          </p:cNvPr>
          <p:cNvSpPr/>
          <p:nvPr/>
        </p:nvSpPr>
        <p:spPr>
          <a:xfrm rot="2676012">
            <a:off x="3768725" y="7735888"/>
            <a:ext cx="293688" cy="269875"/>
          </a:xfrm>
          <a:prstGeom prst="rightArrow">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18" name="矢印: 右 17">
            <a:extLst>
              <a:ext uri="{FF2B5EF4-FFF2-40B4-BE49-F238E27FC236}">
                <a16:creationId xmlns:a16="http://schemas.microsoft.com/office/drawing/2014/main" id="{374E3098-04D0-4822-866A-608D531A4DB0}"/>
              </a:ext>
            </a:extLst>
          </p:cNvPr>
          <p:cNvSpPr/>
          <p:nvPr/>
        </p:nvSpPr>
        <p:spPr>
          <a:xfrm rot="10800000">
            <a:off x="3209925" y="8343900"/>
            <a:ext cx="293688" cy="269875"/>
          </a:xfrm>
          <a:prstGeom prst="rightArrow">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19" name="矢印: 右 18">
            <a:extLst>
              <a:ext uri="{FF2B5EF4-FFF2-40B4-BE49-F238E27FC236}">
                <a16:creationId xmlns:a16="http://schemas.microsoft.com/office/drawing/2014/main" id="{D84A3B3F-5FD8-48D3-9BE7-73AB650E2F52}"/>
              </a:ext>
            </a:extLst>
          </p:cNvPr>
          <p:cNvSpPr/>
          <p:nvPr/>
        </p:nvSpPr>
        <p:spPr>
          <a:xfrm rot="19267630">
            <a:off x="2708275" y="7734300"/>
            <a:ext cx="295275" cy="269875"/>
          </a:xfrm>
          <a:prstGeom prst="rightArrow">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20495" name="Rectangle 6">
            <a:extLst>
              <a:ext uri="{FF2B5EF4-FFF2-40B4-BE49-F238E27FC236}">
                <a16:creationId xmlns:a16="http://schemas.microsoft.com/office/drawing/2014/main" id="{155FF11D-C9D4-4CCD-9D21-9FD723003E2B}"/>
              </a:ext>
            </a:extLst>
          </p:cNvPr>
          <p:cNvSpPr>
            <a:spLocks noChangeArrowheads="1"/>
          </p:cNvSpPr>
          <p:nvPr/>
        </p:nvSpPr>
        <p:spPr bwMode="auto">
          <a:xfrm>
            <a:off x="1249363" y="703263"/>
            <a:ext cx="22574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2200" b="1">
                <a:solidFill>
                  <a:srgbClr val="000000"/>
                </a:solidFill>
                <a:latin typeface="メイリオ" panose="020B0604030504040204" pitchFamily="50" charset="-128"/>
                <a:ea typeface="メイリオ" panose="020B0604030504040204" pitchFamily="50" charset="-128"/>
              </a:rPr>
              <a:t>判断基準はお客様</a:t>
            </a:r>
            <a:endParaRPr lang="ja-JP" altLang="en-US" sz="1400" b="1">
              <a:latin typeface="メイリオ" panose="020B0604030504040204" pitchFamily="50" charset="-128"/>
              <a:ea typeface="メイリオ" panose="020B0604030504040204" pitchFamily="50" charset="-128"/>
            </a:endParaRPr>
          </a:p>
        </p:txBody>
      </p:sp>
      <p:sp>
        <p:nvSpPr>
          <p:cNvPr id="20496" name="Rectangle 6">
            <a:extLst>
              <a:ext uri="{FF2B5EF4-FFF2-40B4-BE49-F238E27FC236}">
                <a16:creationId xmlns:a16="http://schemas.microsoft.com/office/drawing/2014/main" id="{3DC8AE68-25BB-4F7A-A4D4-6D5D52E1877F}"/>
              </a:ext>
            </a:extLst>
          </p:cNvPr>
          <p:cNvSpPr>
            <a:spLocks noChangeArrowheads="1"/>
          </p:cNvSpPr>
          <p:nvPr/>
        </p:nvSpPr>
        <p:spPr bwMode="auto">
          <a:xfrm>
            <a:off x="3873995" y="8205788"/>
            <a:ext cx="71814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0"/>
              </a:spcBef>
              <a:buFontTx/>
              <a:buNone/>
            </a:pPr>
            <a:r>
              <a:rPr lang="ja-JP" altLang="en-US" sz="1400" b="1" dirty="0">
                <a:solidFill>
                  <a:srgbClr val="000000"/>
                </a:solidFill>
                <a:latin typeface="メイリオ" panose="020B0604030504040204" pitchFamily="50" charset="-128"/>
                <a:ea typeface="メイリオ" panose="020B0604030504040204" pitchFamily="50" charset="-128"/>
              </a:rPr>
              <a:t>何を</a:t>
            </a:r>
            <a:endParaRPr lang="en-US" altLang="ja-JP" sz="1400" b="1" dirty="0">
              <a:solidFill>
                <a:srgbClr val="000000"/>
              </a:solidFill>
              <a:latin typeface="メイリオ" panose="020B0604030504040204" pitchFamily="50" charset="-128"/>
              <a:ea typeface="メイリオ" panose="020B0604030504040204" pitchFamily="50" charset="-128"/>
            </a:endParaRPr>
          </a:p>
          <a:p>
            <a:pPr algn="ctr" eaLnBrk="1" hangingPunct="1">
              <a:spcBef>
                <a:spcPct val="0"/>
              </a:spcBef>
              <a:buFontTx/>
              <a:buNone/>
            </a:pPr>
            <a:r>
              <a:rPr lang="ja-JP" altLang="en-US" sz="1400" b="1" dirty="0">
                <a:solidFill>
                  <a:srgbClr val="000000"/>
                </a:solidFill>
                <a:latin typeface="メイリオ" panose="020B0604030504040204" pitchFamily="50" charset="-128"/>
                <a:ea typeface="メイリオ" panose="020B0604030504040204" pitchFamily="50" charset="-128"/>
              </a:rPr>
              <a:t>するか？</a:t>
            </a:r>
            <a:endParaRPr lang="en-US" altLang="ja-JP" sz="1400" b="1" dirty="0">
              <a:solidFill>
                <a:srgbClr val="000000"/>
              </a:solidFill>
              <a:latin typeface="メイリオ" panose="020B0604030504040204" pitchFamily="50" charset="-128"/>
              <a:ea typeface="メイリオ" panose="020B0604030504040204" pitchFamily="50" charset="-128"/>
            </a:endParaRPr>
          </a:p>
        </p:txBody>
      </p:sp>
      <p:sp>
        <p:nvSpPr>
          <p:cNvPr id="20497" name="Rectangle 6">
            <a:extLst>
              <a:ext uri="{FF2B5EF4-FFF2-40B4-BE49-F238E27FC236}">
                <a16:creationId xmlns:a16="http://schemas.microsoft.com/office/drawing/2014/main" id="{34F9A49C-F9AA-4757-A0D6-4401D4EFF719}"/>
              </a:ext>
            </a:extLst>
          </p:cNvPr>
          <p:cNvSpPr>
            <a:spLocks noChangeArrowheads="1"/>
          </p:cNvSpPr>
          <p:nvPr/>
        </p:nvSpPr>
        <p:spPr bwMode="auto">
          <a:xfrm>
            <a:off x="3886200" y="6626225"/>
            <a:ext cx="2116138"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1100" b="1">
                <a:solidFill>
                  <a:srgbClr val="000000"/>
                </a:solidFill>
                <a:latin typeface="メイリオ" panose="020B0604030504040204" pitchFamily="50" charset="-128"/>
                <a:ea typeface="メイリオ" panose="020B0604030504040204" pitchFamily="50" charset="-128"/>
              </a:rPr>
              <a:t>どうやって見るか？</a:t>
            </a:r>
            <a:endParaRPr lang="en-US" altLang="ja-JP" sz="1100" b="1">
              <a:solidFill>
                <a:srgbClr val="000000"/>
              </a:solidFill>
              <a:latin typeface="メイリオ" panose="020B0604030504040204" pitchFamily="50" charset="-128"/>
              <a:ea typeface="メイリオ" panose="020B0604030504040204" pitchFamily="50" charset="-128"/>
            </a:endParaRPr>
          </a:p>
          <a:p>
            <a:pPr eaLnBrk="1" hangingPunct="1">
              <a:spcBef>
                <a:spcPct val="0"/>
              </a:spcBef>
              <a:buFontTx/>
              <a:buNone/>
            </a:pPr>
            <a:r>
              <a:rPr lang="ja-JP" altLang="en-US" sz="1100" b="1">
                <a:solidFill>
                  <a:srgbClr val="000000"/>
                </a:solidFill>
                <a:latin typeface="メイリオ" panose="020B0604030504040204" pitchFamily="50" charset="-128"/>
                <a:ea typeface="メイリオ" panose="020B0604030504040204" pitchFamily="50" charset="-128"/>
              </a:rPr>
              <a:t>→判断基準はお客様</a:t>
            </a:r>
            <a:endParaRPr lang="en-US" altLang="ja-JP" sz="1100" b="1">
              <a:solidFill>
                <a:srgbClr val="000000"/>
              </a:solidFill>
              <a:latin typeface="メイリオ" panose="020B0604030504040204" pitchFamily="50" charset="-128"/>
              <a:ea typeface="メイリオ" panose="020B0604030504040204" pitchFamily="50" charset="-128"/>
            </a:endParaRPr>
          </a:p>
          <a:p>
            <a:pPr eaLnBrk="1" hangingPunct="1">
              <a:spcBef>
                <a:spcPct val="0"/>
              </a:spcBef>
              <a:buFontTx/>
              <a:buNone/>
            </a:pPr>
            <a:r>
              <a:rPr lang="ja-JP" altLang="en-US" sz="1100" b="1">
                <a:solidFill>
                  <a:srgbClr val="000000"/>
                </a:solidFill>
                <a:latin typeface="メイリオ" panose="020B0604030504040204" pitchFamily="50" charset="-128"/>
                <a:ea typeface="メイリオ" panose="020B0604030504040204" pitchFamily="50" charset="-128"/>
              </a:rPr>
              <a:t>→お客様に快適空間を提供したい</a:t>
            </a:r>
            <a:endParaRPr lang="ja-JP" altLang="en-US" sz="800" b="1">
              <a:latin typeface="メイリオ" panose="020B0604030504040204" pitchFamily="50" charset="-128"/>
              <a:ea typeface="メイリオ" panose="020B0604030504040204" pitchFamily="50" charset="-128"/>
            </a:endParaRPr>
          </a:p>
        </p:txBody>
      </p:sp>
      <p:sp>
        <p:nvSpPr>
          <p:cNvPr id="20498" name="Rectangle 6">
            <a:extLst>
              <a:ext uri="{FF2B5EF4-FFF2-40B4-BE49-F238E27FC236}">
                <a16:creationId xmlns:a16="http://schemas.microsoft.com/office/drawing/2014/main" id="{A66731ED-CDD2-4155-A3A1-E366AC6C685F}"/>
              </a:ext>
            </a:extLst>
          </p:cNvPr>
          <p:cNvSpPr>
            <a:spLocks noChangeArrowheads="1"/>
          </p:cNvSpPr>
          <p:nvPr/>
        </p:nvSpPr>
        <p:spPr bwMode="auto">
          <a:xfrm>
            <a:off x="2112479" y="8273881"/>
            <a:ext cx="71814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0"/>
              </a:spcBef>
              <a:buFontTx/>
              <a:buNone/>
            </a:pPr>
            <a:r>
              <a:rPr lang="ja-JP" altLang="en-US" sz="1400" b="1" dirty="0">
                <a:solidFill>
                  <a:srgbClr val="000000"/>
                </a:solidFill>
                <a:latin typeface="メイリオ" panose="020B0604030504040204" pitchFamily="50" charset="-128"/>
                <a:ea typeface="メイリオ" panose="020B0604030504040204" pitchFamily="50" charset="-128"/>
              </a:rPr>
              <a:t>得られる</a:t>
            </a:r>
            <a:endParaRPr lang="en-US" altLang="ja-JP" sz="1400" b="1" dirty="0">
              <a:solidFill>
                <a:srgbClr val="000000"/>
              </a:solidFill>
              <a:latin typeface="メイリオ" panose="020B0604030504040204" pitchFamily="50" charset="-128"/>
              <a:ea typeface="メイリオ" panose="020B0604030504040204" pitchFamily="50" charset="-128"/>
            </a:endParaRPr>
          </a:p>
          <a:p>
            <a:pPr algn="ctr" eaLnBrk="1" hangingPunct="1">
              <a:spcBef>
                <a:spcPct val="0"/>
              </a:spcBef>
              <a:buFontTx/>
              <a:buNone/>
            </a:pPr>
            <a:r>
              <a:rPr lang="ja-JP" altLang="en-US" sz="1400" b="1" dirty="0">
                <a:solidFill>
                  <a:srgbClr val="000000"/>
                </a:solidFill>
                <a:latin typeface="メイリオ" panose="020B0604030504040204" pitchFamily="50" charset="-128"/>
                <a:ea typeface="メイリオ" panose="020B0604030504040204" pitchFamily="50" charset="-128"/>
              </a:rPr>
              <a:t>結果</a:t>
            </a:r>
            <a:endParaRPr lang="ja-JP" altLang="en-US" sz="1000" b="1" dirty="0">
              <a:latin typeface="メイリオ" panose="020B0604030504040204" pitchFamily="50" charset="-128"/>
              <a:ea typeface="メイリオ" panose="020B0604030504040204" pitchFamily="50" charset="-128"/>
            </a:endParaRPr>
          </a:p>
        </p:txBody>
      </p:sp>
      <p:sp>
        <p:nvSpPr>
          <p:cNvPr id="5" name="Rectangle 6">
            <a:extLst>
              <a:ext uri="{FF2B5EF4-FFF2-40B4-BE49-F238E27FC236}">
                <a16:creationId xmlns:a16="http://schemas.microsoft.com/office/drawing/2014/main" id="{F7220FBC-37B1-4504-9FB2-DBD77040490F}"/>
              </a:ext>
            </a:extLst>
          </p:cNvPr>
          <p:cNvSpPr>
            <a:spLocks noChangeArrowheads="1"/>
          </p:cNvSpPr>
          <p:nvPr/>
        </p:nvSpPr>
        <p:spPr bwMode="auto">
          <a:xfrm>
            <a:off x="88900" y="6421438"/>
            <a:ext cx="2659063"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defRPr/>
            </a:pPr>
            <a:r>
              <a:rPr lang="en-US" altLang="ja-JP" sz="1050" b="1" dirty="0">
                <a:solidFill>
                  <a:srgbClr val="000000"/>
                </a:solidFill>
                <a:latin typeface="ＭＳ Ｐゴシック" panose="020B0600070205080204" pitchFamily="50" charset="-128"/>
              </a:rPr>
              <a:t>【</a:t>
            </a:r>
            <a:r>
              <a:rPr lang="ja-JP" altLang="en-US" sz="1050" b="1" dirty="0">
                <a:solidFill>
                  <a:srgbClr val="000000"/>
                </a:solidFill>
                <a:latin typeface="ＭＳ Ｐゴシック" panose="020B0600070205080204" pitchFamily="50" charset="-128"/>
              </a:rPr>
              <a:t>解説</a:t>
            </a:r>
            <a:r>
              <a:rPr lang="en-US" altLang="ja-JP" sz="1050" b="1" dirty="0">
                <a:solidFill>
                  <a:srgbClr val="000000"/>
                </a:solidFill>
                <a:latin typeface="ＭＳ Ｐゴシック" panose="020B0600070205080204" pitchFamily="50" charset="-128"/>
              </a:rPr>
              <a:t>】</a:t>
            </a:r>
          </a:p>
          <a:p>
            <a:pPr eaLnBrk="1" hangingPunct="1">
              <a:spcBef>
                <a:spcPct val="0"/>
              </a:spcBef>
              <a:buFontTx/>
              <a:buNone/>
              <a:defRPr/>
            </a:pPr>
            <a:r>
              <a:rPr lang="ja-JP" altLang="en-US" sz="1050" b="1" dirty="0">
                <a:solidFill>
                  <a:srgbClr val="000000"/>
                </a:solidFill>
                <a:latin typeface="ＭＳ Ｐゴシック" panose="020B0600070205080204" pitchFamily="50" charset="-128"/>
              </a:rPr>
              <a:t>　</a:t>
            </a:r>
            <a:r>
              <a:rPr lang="en-US" altLang="ja-JP" sz="1050" b="1" dirty="0">
                <a:solidFill>
                  <a:srgbClr val="000000"/>
                </a:solidFill>
                <a:latin typeface="ＭＳ Ｐゴシック" panose="020B0600070205080204" pitchFamily="50" charset="-128"/>
              </a:rPr>
              <a:t>SEE</a:t>
            </a:r>
            <a:r>
              <a:rPr lang="ja-JP" altLang="en-US" sz="1050" b="1" dirty="0">
                <a:solidFill>
                  <a:srgbClr val="000000"/>
                </a:solidFill>
                <a:latin typeface="ＭＳ Ｐゴシック" panose="020B0600070205080204" pitchFamily="50" charset="-128"/>
              </a:rPr>
              <a:t>（物事の見方）の部分が変わると</a:t>
            </a:r>
            <a:endParaRPr lang="en-US" altLang="ja-JP" sz="1050" b="1" dirty="0">
              <a:solidFill>
                <a:srgbClr val="000000"/>
              </a:solidFill>
              <a:latin typeface="ＭＳ Ｐゴシック" panose="020B0600070205080204" pitchFamily="50" charset="-128"/>
            </a:endParaRPr>
          </a:p>
          <a:p>
            <a:pPr eaLnBrk="1" hangingPunct="1">
              <a:spcBef>
                <a:spcPct val="0"/>
              </a:spcBef>
              <a:buFontTx/>
              <a:buNone/>
              <a:defRPr/>
            </a:pPr>
            <a:r>
              <a:rPr lang="ja-JP" altLang="en-US" sz="1050" b="1" dirty="0">
                <a:solidFill>
                  <a:srgbClr val="000000"/>
                </a:solidFill>
                <a:latin typeface="ＭＳ Ｐゴシック" panose="020B0600070205080204" pitchFamily="50" charset="-128"/>
              </a:rPr>
              <a:t>　</a:t>
            </a:r>
            <a:r>
              <a:rPr lang="en-US" altLang="ja-JP" sz="1050" b="1" dirty="0">
                <a:solidFill>
                  <a:srgbClr val="000000"/>
                </a:solidFill>
                <a:latin typeface="ＭＳ Ｐゴシック" panose="020B0600070205080204" pitchFamily="50" charset="-128"/>
              </a:rPr>
              <a:t>DO</a:t>
            </a:r>
            <a:r>
              <a:rPr lang="ja-JP" altLang="en-US" sz="1050" b="1" dirty="0">
                <a:solidFill>
                  <a:srgbClr val="000000"/>
                </a:solidFill>
                <a:latin typeface="ＭＳ Ｐゴシック" panose="020B0600070205080204" pitchFamily="50" charset="-128"/>
              </a:rPr>
              <a:t>（行動）も変わり、</a:t>
            </a:r>
            <a:endParaRPr lang="en-US" altLang="ja-JP" sz="1050" b="1" dirty="0">
              <a:solidFill>
                <a:srgbClr val="000000"/>
              </a:solidFill>
              <a:latin typeface="ＭＳ Ｐゴシック" panose="020B0600070205080204" pitchFamily="50" charset="-128"/>
            </a:endParaRPr>
          </a:p>
          <a:p>
            <a:pPr eaLnBrk="1" hangingPunct="1">
              <a:spcBef>
                <a:spcPct val="0"/>
              </a:spcBef>
              <a:buFontTx/>
              <a:buNone/>
              <a:defRPr/>
            </a:pPr>
            <a:r>
              <a:rPr lang="ja-JP" altLang="en-US" sz="1050" b="1" dirty="0">
                <a:solidFill>
                  <a:srgbClr val="000000"/>
                </a:solidFill>
                <a:latin typeface="ＭＳ Ｐゴシック" panose="020B0600070205080204" pitchFamily="50" charset="-128"/>
              </a:rPr>
              <a:t>　</a:t>
            </a:r>
            <a:r>
              <a:rPr lang="en-US" altLang="ja-JP" sz="1050" b="1" dirty="0">
                <a:solidFill>
                  <a:srgbClr val="000000"/>
                </a:solidFill>
                <a:latin typeface="ＭＳ Ｐゴシック" panose="020B0600070205080204" pitchFamily="50" charset="-128"/>
              </a:rPr>
              <a:t>GET</a:t>
            </a:r>
            <a:r>
              <a:rPr lang="ja-JP" altLang="en-US" sz="1050" b="1" dirty="0">
                <a:solidFill>
                  <a:srgbClr val="000000"/>
                </a:solidFill>
                <a:latin typeface="ＭＳ Ｐゴシック" panose="020B0600070205080204" pitchFamily="50" charset="-128"/>
              </a:rPr>
              <a:t>（得られる結果）もより良いものになるが、</a:t>
            </a:r>
            <a:endParaRPr lang="en-US" altLang="ja-JP" sz="1050" b="1" dirty="0">
              <a:solidFill>
                <a:srgbClr val="000000"/>
              </a:solidFill>
              <a:latin typeface="ＭＳ Ｐゴシック" panose="020B0600070205080204" pitchFamily="50" charset="-128"/>
            </a:endParaRPr>
          </a:p>
          <a:p>
            <a:pPr eaLnBrk="1" hangingPunct="1">
              <a:spcBef>
                <a:spcPct val="0"/>
              </a:spcBef>
              <a:buFontTx/>
              <a:buNone/>
              <a:defRPr/>
            </a:pPr>
            <a:r>
              <a:rPr lang="ja-JP" altLang="en-US" sz="1050" b="1" dirty="0">
                <a:solidFill>
                  <a:srgbClr val="000000"/>
                </a:solidFill>
                <a:latin typeface="ＭＳ Ｐゴシック" panose="020B0600070205080204" pitchFamily="50" charset="-128"/>
              </a:rPr>
              <a:t>　</a:t>
            </a:r>
            <a:r>
              <a:rPr lang="en-US" altLang="ja-JP" sz="1050" b="1" dirty="0">
                <a:solidFill>
                  <a:srgbClr val="000000"/>
                </a:solidFill>
                <a:latin typeface="ＭＳ Ｐゴシック" panose="020B0600070205080204" pitchFamily="50" charset="-128"/>
              </a:rPr>
              <a:t>SEE</a:t>
            </a:r>
            <a:r>
              <a:rPr lang="ja-JP" altLang="en-US" sz="1050" b="1" dirty="0">
                <a:solidFill>
                  <a:srgbClr val="000000"/>
                </a:solidFill>
                <a:latin typeface="ＭＳ Ｐゴシック" panose="020B0600070205080204" pitchFamily="50" charset="-128"/>
              </a:rPr>
              <a:t>が変わらないと成長できない</a:t>
            </a:r>
            <a:endParaRPr lang="en-US" altLang="ja-JP" sz="1050" b="1" dirty="0">
              <a:solidFill>
                <a:srgbClr val="000000"/>
              </a:solidFill>
              <a:latin typeface="ＭＳ Ｐゴシック" panose="020B0600070205080204" pitchFamily="50" charset="-128"/>
            </a:endParaRPr>
          </a:p>
        </p:txBody>
      </p:sp>
      <p:sp>
        <p:nvSpPr>
          <p:cNvPr id="20500" name="Rectangle 1028">
            <a:extLst>
              <a:ext uri="{FF2B5EF4-FFF2-40B4-BE49-F238E27FC236}">
                <a16:creationId xmlns:a16="http://schemas.microsoft.com/office/drawing/2014/main" id="{9E9164D4-89DD-4AB3-B083-3665DC4CED17}"/>
              </a:ext>
            </a:extLst>
          </p:cNvPr>
          <p:cNvSpPr>
            <a:spLocks noChangeArrowheads="1"/>
          </p:cNvSpPr>
          <p:nvPr/>
        </p:nvSpPr>
        <p:spPr bwMode="auto">
          <a:xfrm>
            <a:off x="4584700" y="-28575"/>
            <a:ext cx="226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dist" eaLnBrk="1" hangingPunct="1">
              <a:spcBef>
                <a:spcPct val="0"/>
              </a:spcBef>
              <a:buFontTx/>
              <a:buNone/>
            </a:pPr>
            <a:r>
              <a:rPr lang="ja-JP" altLang="en-US" sz="1600">
                <a:latin typeface="メイリオ" panose="020B0604030504040204" pitchFamily="50" charset="-128"/>
                <a:ea typeface="メイリオ" panose="020B0604030504040204" pitchFamily="50" charset="-128"/>
              </a:rPr>
              <a:t>行動指針</a:t>
            </a:r>
          </a:p>
        </p:txBody>
      </p:sp>
      <p:sp>
        <p:nvSpPr>
          <p:cNvPr id="20501" name="Rectangle 6">
            <a:extLst>
              <a:ext uri="{FF2B5EF4-FFF2-40B4-BE49-F238E27FC236}">
                <a16:creationId xmlns:a16="http://schemas.microsoft.com/office/drawing/2014/main" id="{A0CF4D9A-441F-4431-9B7B-97D327DDAEA1}"/>
              </a:ext>
            </a:extLst>
          </p:cNvPr>
          <p:cNvSpPr>
            <a:spLocks noChangeArrowheads="1"/>
          </p:cNvSpPr>
          <p:nvPr/>
        </p:nvSpPr>
        <p:spPr bwMode="auto">
          <a:xfrm>
            <a:off x="3063062" y="7174722"/>
            <a:ext cx="53860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0"/>
              </a:spcBef>
              <a:buFontTx/>
              <a:buNone/>
            </a:pPr>
            <a:r>
              <a:rPr lang="ja-JP" altLang="en-US" sz="1400" b="1" dirty="0">
                <a:solidFill>
                  <a:srgbClr val="000000"/>
                </a:solidFill>
                <a:latin typeface="メイリオ" panose="020B0604030504040204" pitchFamily="50" charset="-128"/>
                <a:ea typeface="メイリオ" panose="020B0604030504040204" pitchFamily="50" charset="-128"/>
              </a:rPr>
              <a:t>物事の</a:t>
            </a:r>
            <a:endParaRPr lang="en-US" altLang="ja-JP" sz="1400" b="1" dirty="0">
              <a:solidFill>
                <a:srgbClr val="000000"/>
              </a:solidFill>
              <a:latin typeface="メイリオ" panose="020B0604030504040204" pitchFamily="50" charset="-128"/>
              <a:ea typeface="メイリオ" panose="020B0604030504040204" pitchFamily="50" charset="-128"/>
            </a:endParaRPr>
          </a:p>
          <a:p>
            <a:pPr algn="ctr" eaLnBrk="1" hangingPunct="1">
              <a:spcBef>
                <a:spcPct val="0"/>
              </a:spcBef>
              <a:buFontTx/>
              <a:buNone/>
            </a:pPr>
            <a:r>
              <a:rPr lang="ja-JP" altLang="en-US" sz="1400" b="1" dirty="0">
                <a:solidFill>
                  <a:srgbClr val="000000"/>
                </a:solidFill>
                <a:latin typeface="メイリオ" panose="020B0604030504040204" pitchFamily="50" charset="-128"/>
                <a:ea typeface="メイリオ" panose="020B0604030504040204" pitchFamily="50" charset="-128"/>
              </a:rPr>
              <a:t>見方</a:t>
            </a:r>
            <a:endParaRPr lang="en-US" altLang="ja-JP" sz="1400" b="1" dirty="0">
              <a:solidFill>
                <a:srgbClr val="000000"/>
              </a:solidFill>
              <a:latin typeface="メイリオ" panose="020B0604030504040204" pitchFamily="50" charset="-128"/>
              <a:ea typeface="メイリオ" panose="020B0604030504040204" pitchFamily="50" charset="-128"/>
            </a:endParaRPr>
          </a:p>
        </p:txBody>
      </p:sp>
      <p:sp>
        <p:nvSpPr>
          <p:cNvPr id="26" name="吹き出し: 四角形 25">
            <a:extLst>
              <a:ext uri="{FF2B5EF4-FFF2-40B4-BE49-F238E27FC236}">
                <a16:creationId xmlns:a16="http://schemas.microsoft.com/office/drawing/2014/main" id="{EE4C717C-915F-4758-B310-6328BB51DDE6}"/>
              </a:ext>
            </a:extLst>
          </p:cNvPr>
          <p:cNvSpPr/>
          <p:nvPr/>
        </p:nvSpPr>
        <p:spPr>
          <a:xfrm>
            <a:off x="4760913" y="7693025"/>
            <a:ext cx="1666875" cy="644525"/>
          </a:xfrm>
          <a:prstGeom prst="wedgeRectCallout">
            <a:avLst>
              <a:gd name="adj1" fmla="val -65090"/>
              <a:gd name="adj2" fmla="val 39716"/>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20503" name="Rectangle 6">
            <a:extLst>
              <a:ext uri="{FF2B5EF4-FFF2-40B4-BE49-F238E27FC236}">
                <a16:creationId xmlns:a16="http://schemas.microsoft.com/office/drawing/2014/main" id="{692F05DC-D443-434C-9285-E989AF40445E}"/>
              </a:ext>
            </a:extLst>
          </p:cNvPr>
          <p:cNvSpPr>
            <a:spLocks noChangeArrowheads="1"/>
          </p:cNvSpPr>
          <p:nvPr/>
        </p:nvSpPr>
        <p:spPr bwMode="auto">
          <a:xfrm>
            <a:off x="4835525" y="7781925"/>
            <a:ext cx="14097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1100" b="1">
                <a:solidFill>
                  <a:srgbClr val="000000"/>
                </a:solidFill>
                <a:latin typeface="メイリオ" panose="020B0604030504040204" pitchFamily="50" charset="-128"/>
                <a:ea typeface="メイリオ" panose="020B0604030504040204" pitchFamily="50" charset="-128"/>
              </a:rPr>
              <a:t>→お客様の立場で</a:t>
            </a:r>
            <a:endParaRPr lang="en-US" altLang="ja-JP" sz="1100" b="1">
              <a:solidFill>
                <a:srgbClr val="000000"/>
              </a:solidFill>
              <a:latin typeface="メイリオ" panose="020B0604030504040204" pitchFamily="50" charset="-128"/>
              <a:ea typeface="メイリオ" panose="020B0604030504040204" pitchFamily="50" charset="-128"/>
            </a:endParaRPr>
          </a:p>
          <a:p>
            <a:pPr eaLnBrk="1" hangingPunct="1">
              <a:spcBef>
                <a:spcPct val="0"/>
              </a:spcBef>
              <a:buFontTx/>
              <a:buNone/>
            </a:pPr>
            <a:r>
              <a:rPr lang="ja-JP" altLang="en-US" sz="1100" b="1">
                <a:solidFill>
                  <a:srgbClr val="000000"/>
                </a:solidFill>
                <a:latin typeface="メイリオ" panose="020B0604030504040204" pitchFamily="50" charset="-128"/>
                <a:ea typeface="メイリオ" panose="020B0604030504040204" pitchFamily="50" charset="-128"/>
              </a:rPr>
              <a:t>→お客様に喜んで</a:t>
            </a:r>
            <a:endParaRPr lang="en-US" altLang="ja-JP" sz="1100" b="1">
              <a:solidFill>
                <a:srgbClr val="000000"/>
              </a:solidFill>
              <a:latin typeface="メイリオ" panose="020B0604030504040204" pitchFamily="50" charset="-128"/>
              <a:ea typeface="メイリオ" panose="020B0604030504040204" pitchFamily="50" charset="-128"/>
            </a:endParaRPr>
          </a:p>
          <a:p>
            <a:pPr eaLnBrk="1" hangingPunct="1">
              <a:spcBef>
                <a:spcPct val="0"/>
              </a:spcBef>
              <a:buFontTx/>
              <a:buNone/>
            </a:pPr>
            <a:r>
              <a:rPr lang="ja-JP" altLang="en-US" sz="1100" b="1">
                <a:solidFill>
                  <a:srgbClr val="000000"/>
                </a:solidFill>
                <a:latin typeface="メイリオ" panose="020B0604030504040204" pitchFamily="50" charset="-128"/>
                <a:ea typeface="メイリオ" panose="020B0604030504040204" pitchFamily="50" charset="-128"/>
              </a:rPr>
              <a:t>　もらえる行動をする</a:t>
            </a:r>
            <a:endParaRPr lang="ja-JP" altLang="en-US" sz="1100" b="1">
              <a:latin typeface="メイリオ" panose="020B0604030504040204" pitchFamily="50" charset="-128"/>
              <a:ea typeface="メイリオ" panose="020B0604030504040204" pitchFamily="50" charset="-128"/>
            </a:endParaRPr>
          </a:p>
        </p:txBody>
      </p:sp>
      <p:sp>
        <p:nvSpPr>
          <p:cNvPr id="28" name="吹き出し: 四角形 27">
            <a:extLst>
              <a:ext uri="{FF2B5EF4-FFF2-40B4-BE49-F238E27FC236}">
                <a16:creationId xmlns:a16="http://schemas.microsoft.com/office/drawing/2014/main" id="{53337D17-AE92-4595-AC74-E8FDF33A6802}"/>
              </a:ext>
            </a:extLst>
          </p:cNvPr>
          <p:cNvSpPr/>
          <p:nvPr/>
        </p:nvSpPr>
        <p:spPr>
          <a:xfrm>
            <a:off x="303213" y="7620743"/>
            <a:ext cx="1666875" cy="644525"/>
          </a:xfrm>
          <a:prstGeom prst="wedgeRectCallout">
            <a:avLst>
              <a:gd name="adj1" fmla="val 62321"/>
              <a:gd name="adj2" fmla="val 4267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20505" name="Rectangle 6">
            <a:extLst>
              <a:ext uri="{FF2B5EF4-FFF2-40B4-BE49-F238E27FC236}">
                <a16:creationId xmlns:a16="http://schemas.microsoft.com/office/drawing/2014/main" id="{FF35BB64-1169-4F60-9496-5FAC0E322ED9}"/>
              </a:ext>
            </a:extLst>
          </p:cNvPr>
          <p:cNvSpPr>
            <a:spLocks noChangeArrowheads="1"/>
          </p:cNvSpPr>
          <p:nvPr/>
        </p:nvSpPr>
        <p:spPr bwMode="auto">
          <a:xfrm>
            <a:off x="369888" y="7905750"/>
            <a:ext cx="1552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1100" b="1">
                <a:solidFill>
                  <a:srgbClr val="000000"/>
                </a:solidFill>
                <a:latin typeface="メイリオ" panose="020B0604030504040204" pitchFamily="50" charset="-128"/>
                <a:ea typeface="メイリオ" panose="020B0604030504040204" pitchFamily="50" charset="-128"/>
              </a:rPr>
              <a:t>→お客様と心が通い合い</a:t>
            </a:r>
            <a:endParaRPr lang="en-US" altLang="ja-JP" sz="1100" b="1">
              <a:solidFill>
                <a:srgbClr val="000000"/>
              </a:solidFill>
              <a:latin typeface="メイリオ" panose="020B0604030504040204" pitchFamily="50" charset="-128"/>
              <a:ea typeface="メイリオ" panose="020B0604030504040204" pitchFamily="50" charset="-128"/>
            </a:endParaRPr>
          </a:p>
          <a:p>
            <a:pPr eaLnBrk="1" hangingPunct="1">
              <a:spcBef>
                <a:spcPct val="0"/>
              </a:spcBef>
              <a:buFontTx/>
              <a:buNone/>
            </a:pPr>
            <a:r>
              <a:rPr lang="ja-JP" altLang="en-US" sz="1100" b="1">
                <a:solidFill>
                  <a:srgbClr val="000000"/>
                </a:solidFill>
                <a:latin typeface="メイリオ" panose="020B0604030504040204" pitchFamily="50" charset="-128"/>
                <a:ea typeface="メイリオ" panose="020B0604030504040204" pitchFamily="50" charset="-128"/>
              </a:rPr>
              <a:t>→またご来店頂ける</a:t>
            </a:r>
            <a:endParaRPr lang="ja-JP" altLang="en-US" sz="1100" b="1">
              <a:latin typeface="メイリオ" panose="020B0604030504040204" pitchFamily="50" charset="-128"/>
              <a:ea typeface="メイリオ" panose="020B0604030504040204" pitchFamily="50" charset="-128"/>
            </a:endParaRPr>
          </a:p>
        </p:txBody>
      </p:sp>
      <p:sp>
        <p:nvSpPr>
          <p:cNvPr id="30" name="Google Shape;1346;p122">
            <a:extLst>
              <a:ext uri="{FF2B5EF4-FFF2-40B4-BE49-F238E27FC236}">
                <a16:creationId xmlns:a16="http://schemas.microsoft.com/office/drawing/2014/main" id="{5A7F2AC9-151F-4C22-B452-DFFC7BD4E9F9}"/>
              </a:ext>
            </a:extLst>
          </p:cNvPr>
          <p:cNvSpPr txBox="1"/>
          <p:nvPr/>
        </p:nvSpPr>
        <p:spPr>
          <a:xfrm>
            <a:off x="6308725" y="8993188"/>
            <a:ext cx="538163" cy="158750"/>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D8D57512-320C-4A11-9BB8-3E49955B8E81}"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18</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sp>
        <p:nvSpPr>
          <p:cNvPr id="29" name="Rectangle 6">
            <a:extLst>
              <a:ext uri="{FF2B5EF4-FFF2-40B4-BE49-F238E27FC236}">
                <a16:creationId xmlns:a16="http://schemas.microsoft.com/office/drawing/2014/main" id="{54BCF90B-0E41-4D28-B610-555CD41BC723}"/>
              </a:ext>
            </a:extLst>
          </p:cNvPr>
          <p:cNvSpPr>
            <a:spLocks noChangeArrowheads="1"/>
          </p:cNvSpPr>
          <p:nvPr/>
        </p:nvSpPr>
        <p:spPr bwMode="auto">
          <a:xfrm>
            <a:off x="3145927" y="6732240"/>
            <a:ext cx="35586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0"/>
              </a:spcBef>
              <a:buFontTx/>
              <a:buNone/>
            </a:pPr>
            <a:r>
              <a:rPr lang="en-US" altLang="ja-JP" sz="1400" b="1" dirty="0">
                <a:solidFill>
                  <a:srgbClr val="000000"/>
                </a:solidFill>
                <a:latin typeface="メイリオ" panose="020B0604030504040204" pitchFamily="50" charset="-128"/>
                <a:ea typeface="メイリオ" panose="020B0604030504040204" pitchFamily="50" charset="-128"/>
              </a:rPr>
              <a:t>SEE</a:t>
            </a:r>
          </a:p>
        </p:txBody>
      </p:sp>
      <p:sp>
        <p:nvSpPr>
          <p:cNvPr id="31" name="Rectangle 6">
            <a:extLst>
              <a:ext uri="{FF2B5EF4-FFF2-40B4-BE49-F238E27FC236}">
                <a16:creationId xmlns:a16="http://schemas.microsoft.com/office/drawing/2014/main" id="{5DBDBED3-72B5-457F-B67F-BF8576112914}"/>
              </a:ext>
            </a:extLst>
          </p:cNvPr>
          <p:cNvSpPr>
            <a:spLocks noChangeArrowheads="1"/>
          </p:cNvSpPr>
          <p:nvPr/>
        </p:nvSpPr>
        <p:spPr bwMode="auto">
          <a:xfrm>
            <a:off x="4109780" y="8880676"/>
            <a:ext cx="28533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0"/>
              </a:spcBef>
              <a:buFontTx/>
              <a:buNone/>
            </a:pPr>
            <a:r>
              <a:rPr lang="en-US" altLang="ja-JP" sz="1400" b="1" dirty="0">
                <a:solidFill>
                  <a:srgbClr val="000000"/>
                </a:solidFill>
                <a:latin typeface="メイリオ" panose="020B0604030504040204" pitchFamily="50" charset="-128"/>
                <a:ea typeface="メイリオ" panose="020B0604030504040204" pitchFamily="50" charset="-128"/>
              </a:rPr>
              <a:t>DO</a:t>
            </a:r>
          </a:p>
        </p:txBody>
      </p:sp>
      <p:sp>
        <p:nvSpPr>
          <p:cNvPr id="32" name="Rectangle 6">
            <a:extLst>
              <a:ext uri="{FF2B5EF4-FFF2-40B4-BE49-F238E27FC236}">
                <a16:creationId xmlns:a16="http://schemas.microsoft.com/office/drawing/2014/main" id="{B5A20726-F0BD-4F30-8A5E-65C10CD9E681}"/>
              </a:ext>
            </a:extLst>
          </p:cNvPr>
          <p:cNvSpPr>
            <a:spLocks noChangeArrowheads="1"/>
          </p:cNvSpPr>
          <p:nvPr/>
        </p:nvSpPr>
        <p:spPr bwMode="auto">
          <a:xfrm>
            <a:off x="2271314" y="8880676"/>
            <a:ext cx="373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0"/>
              </a:spcBef>
              <a:buFontTx/>
              <a:buNone/>
            </a:pPr>
            <a:r>
              <a:rPr lang="en-US" altLang="ja-JP" sz="1400" b="1" dirty="0">
                <a:solidFill>
                  <a:srgbClr val="000000"/>
                </a:solidFill>
                <a:latin typeface="メイリオ" panose="020B0604030504040204" pitchFamily="50" charset="-128"/>
                <a:ea typeface="メイリオ" panose="020B0604030504040204" pitchFamily="50" charset="-128"/>
              </a:rPr>
              <a:t>GET</a:t>
            </a:r>
            <a:endParaRPr lang="ja-JP" altLang="en-US" sz="1000" b="1" dirty="0">
              <a:latin typeface="メイリオ" panose="020B0604030504040204" pitchFamily="50" charset="-128"/>
              <a:ea typeface="メイリオ" panose="020B0604030504040204" pitchFamily="50" charset="-128"/>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グループ化 4">
            <a:extLst>
              <a:ext uri="{FF2B5EF4-FFF2-40B4-BE49-F238E27FC236}">
                <a16:creationId xmlns:a16="http://schemas.microsoft.com/office/drawing/2014/main" id="{D1CD502B-8084-4417-A023-0723B2C9344E}"/>
              </a:ext>
            </a:extLst>
          </p:cNvPr>
          <p:cNvGrpSpPr/>
          <p:nvPr/>
        </p:nvGrpSpPr>
        <p:grpSpPr>
          <a:xfrm>
            <a:off x="11112" y="8425413"/>
            <a:ext cx="6834185" cy="718587"/>
            <a:chOff x="11112" y="8425413"/>
            <a:chExt cx="6834185" cy="718587"/>
          </a:xfrm>
        </p:grpSpPr>
        <p:pic>
          <p:nvPicPr>
            <p:cNvPr id="23" name="図 22">
              <a:extLst>
                <a:ext uri="{FF2B5EF4-FFF2-40B4-BE49-F238E27FC236}">
                  <a16:creationId xmlns:a16="http://schemas.microsoft.com/office/drawing/2014/main" id="{00000000-0008-0000-0100-000004000000}"/>
                </a:ext>
              </a:extLst>
            </p:cNvPr>
            <p:cNvPicPr>
              <a:picLocks noChangeAspect="1"/>
            </p:cNvPicPr>
            <p:nvPr/>
          </p:nvPicPr>
          <p:blipFill rotWithShape="1">
            <a:blip r:embed="rId2">
              <a:extLst>
                <a:ext uri="{28A0092B-C50C-407E-A947-70E740481C1C}">
                  <a14:useLocalDpi xmlns:a14="http://schemas.microsoft.com/office/drawing/2010/main" val="0"/>
                </a:ext>
              </a:extLst>
            </a:blip>
            <a:srcRect l="59538" t="56963"/>
            <a:stretch/>
          </p:blipFill>
          <p:spPr>
            <a:xfrm>
              <a:off x="1124744" y="8789560"/>
              <a:ext cx="5720553" cy="354439"/>
            </a:xfrm>
            <a:prstGeom prst="rect">
              <a:avLst/>
            </a:prstGeom>
          </p:spPr>
        </p:pic>
        <p:pic>
          <p:nvPicPr>
            <p:cNvPr id="24" name="図 23">
              <a:extLst>
                <a:ext uri="{FF2B5EF4-FFF2-40B4-BE49-F238E27FC236}">
                  <a16:creationId xmlns:a16="http://schemas.microsoft.com/office/drawing/2014/main" id="{00000000-0008-0000-0100-000005000000}"/>
                </a:ext>
              </a:extLst>
            </p:cNvPr>
            <p:cNvPicPr>
              <a:picLocks noChangeAspect="1"/>
            </p:cNvPicPr>
            <p:nvPr/>
          </p:nvPicPr>
          <p:blipFill rotWithShape="1">
            <a:blip r:embed="rId2">
              <a:extLst>
                <a:ext uri="{28A0092B-C50C-407E-A947-70E740481C1C}">
                  <a14:useLocalDpi xmlns:a14="http://schemas.microsoft.com/office/drawing/2010/main" val="0"/>
                </a:ext>
              </a:extLst>
            </a:blip>
            <a:srcRect r="28008"/>
            <a:stretch/>
          </p:blipFill>
          <p:spPr>
            <a:xfrm>
              <a:off x="11112" y="8425413"/>
              <a:ext cx="1545680" cy="718587"/>
            </a:xfrm>
            <a:prstGeom prst="rect">
              <a:avLst/>
            </a:prstGeom>
          </p:spPr>
        </p:pic>
        <p:pic>
          <p:nvPicPr>
            <p:cNvPr id="25" name="Picture 2" descr="C:\Users\user\Desktop\MMIロゴ.jpg">
              <a:extLst>
                <a:ext uri="{FF2B5EF4-FFF2-40B4-BE49-F238E27FC236}">
                  <a16:creationId xmlns:a16="http://schemas.microsoft.com/office/drawing/2014/main" id="{00000000-0008-0000-0100-00000600000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42465" y="8706936"/>
              <a:ext cx="668079" cy="218539"/>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13" name="Google Shape;1346;p122">
            <a:extLst>
              <a:ext uri="{FF2B5EF4-FFF2-40B4-BE49-F238E27FC236}">
                <a16:creationId xmlns:a16="http://schemas.microsoft.com/office/drawing/2014/main" id="{21C730A1-4F84-45C2-89AE-120EFB8A06B8}"/>
              </a:ext>
            </a:extLst>
          </p:cNvPr>
          <p:cNvSpPr txBox="1"/>
          <p:nvPr/>
        </p:nvSpPr>
        <p:spPr>
          <a:xfrm>
            <a:off x="6308725" y="8993188"/>
            <a:ext cx="538163" cy="158750"/>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728D71D6-3455-4614-AB48-1DC83F526FD5}"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19</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sp>
        <p:nvSpPr>
          <p:cNvPr id="14" name="Rectangle 26">
            <a:extLst>
              <a:ext uri="{FF2B5EF4-FFF2-40B4-BE49-F238E27FC236}">
                <a16:creationId xmlns:a16="http://schemas.microsoft.com/office/drawing/2014/main" id="{00000000-0008-0000-0100-000003000000}"/>
              </a:ext>
            </a:extLst>
          </p:cNvPr>
          <p:cNvSpPr>
            <a:spLocks noChangeArrowheads="1"/>
          </p:cNvSpPr>
          <p:nvPr/>
        </p:nvSpPr>
        <p:spPr bwMode="auto">
          <a:xfrm rot="10800000">
            <a:off x="12698" y="-6188"/>
            <a:ext cx="6845301" cy="369795"/>
          </a:xfrm>
          <a:prstGeom prst="rect">
            <a:avLst/>
          </a:prstGeom>
          <a:solidFill>
            <a:srgbClr val="FF9999"/>
          </a:solidFill>
          <a:ln w="9525">
            <a:noFill/>
            <a:miter lim="800000"/>
            <a:headEnd/>
            <a:tailEnd/>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r" rtl="1">
              <a:defRPr sz="1000"/>
            </a:pPr>
            <a:endParaRPr lang="en-US" altLang="ja-JP" sz="1800" b="1" i="0" strike="noStrike">
              <a:solidFill>
                <a:schemeClr val="tx1"/>
              </a:solidFill>
              <a:latin typeface="+mj-ea"/>
              <a:ea typeface="+mj-ea"/>
            </a:endParaRPr>
          </a:p>
        </p:txBody>
      </p:sp>
      <p:sp>
        <p:nvSpPr>
          <p:cNvPr id="15" name="テキスト ボックス 8">
            <a:extLst>
              <a:ext uri="{FF2B5EF4-FFF2-40B4-BE49-F238E27FC236}">
                <a16:creationId xmlns:a16="http://schemas.microsoft.com/office/drawing/2014/main" id="{A8419715-4FC4-4D62-BCD2-A0664A6EB391}"/>
              </a:ext>
            </a:extLst>
          </p:cNvPr>
          <p:cNvSpPr txBox="1"/>
          <p:nvPr/>
        </p:nvSpPr>
        <p:spPr>
          <a:xfrm>
            <a:off x="1844824" y="-44896"/>
            <a:ext cx="5000477" cy="443141"/>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r"/>
            <a:r>
              <a:rPr lang="ja-JP" altLang="en-US" sz="1400" b="1" dirty="0">
                <a:latin typeface="メイリオ" panose="020B0604030504040204" pitchFamily="50" charset="-128"/>
                <a:ea typeface="メイリオ" panose="020B0604030504040204" pitchFamily="50" charset="-128"/>
              </a:rPr>
              <a:t>イズム </a:t>
            </a:r>
            <a:r>
              <a:rPr lang="en-US" altLang="ja-JP" sz="1400" b="1" dirty="0">
                <a:latin typeface="メイリオ" panose="020B0604030504040204" pitchFamily="50" charset="-128"/>
                <a:ea typeface="メイリオ" panose="020B0604030504040204" pitchFamily="50" charset="-128"/>
              </a:rPr>
              <a:t>of</a:t>
            </a:r>
            <a:r>
              <a:rPr lang="ja-JP" altLang="en-US" sz="1400" b="1" dirty="0">
                <a:latin typeface="メイリオ" panose="020B0604030504040204" pitchFamily="50" charset="-128"/>
                <a:ea typeface="メイリオ" panose="020B0604030504040204" pitchFamily="50" charset="-128"/>
              </a:rPr>
              <a:t> </a:t>
            </a:r>
            <a:r>
              <a:rPr lang="en-US" altLang="ja-JP" sz="1400" b="1" dirty="0">
                <a:latin typeface="メイリオ" panose="020B0604030504040204" pitchFamily="50" charset="-128"/>
                <a:ea typeface="メイリオ" panose="020B0604030504040204" pitchFamily="50" charset="-128"/>
              </a:rPr>
              <a:t>Month</a:t>
            </a:r>
            <a:r>
              <a:rPr kumimoji="1" lang="en-US" altLang="ja-JP" sz="1400" b="1" dirty="0">
                <a:latin typeface="メイリオ" panose="020B0604030504040204" pitchFamily="50" charset="-128"/>
                <a:ea typeface="メイリオ" panose="020B0604030504040204" pitchFamily="50" charset="-128"/>
              </a:rPr>
              <a:t> </a:t>
            </a:r>
            <a:r>
              <a:rPr kumimoji="1" lang="ja-JP" altLang="en-US" sz="1400" b="1" dirty="0">
                <a:latin typeface="メイリオ" panose="020B0604030504040204" pitchFamily="50" charset="-128"/>
                <a:ea typeface="メイリオ" panose="020B0604030504040204" pitchFamily="50" charset="-128"/>
              </a:rPr>
              <a:t>～</a:t>
            </a:r>
            <a:r>
              <a:rPr kumimoji="1" lang="en-US" altLang="ja-JP" sz="1400" b="1" dirty="0">
                <a:latin typeface="メイリオ" panose="020B0604030504040204" pitchFamily="50" charset="-128"/>
                <a:ea typeface="メイリオ" panose="020B0604030504040204" pitchFamily="50" charset="-128"/>
              </a:rPr>
              <a:t>2021</a:t>
            </a:r>
            <a:r>
              <a:rPr kumimoji="1" lang="ja-JP" altLang="en-US" sz="1400" b="1" dirty="0">
                <a:latin typeface="メイリオ" panose="020B0604030504040204" pitchFamily="50" charset="-128"/>
                <a:ea typeface="メイリオ" panose="020B0604030504040204" pitchFamily="50" charset="-128"/>
              </a:rPr>
              <a:t>年</a:t>
            </a:r>
            <a:r>
              <a:rPr kumimoji="1" lang="en-US" altLang="ja-JP" sz="1400" b="1" dirty="0">
                <a:latin typeface="メイリオ" panose="020B0604030504040204" pitchFamily="50" charset="-128"/>
                <a:ea typeface="メイリオ" panose="020B0604030504040204" pitchFamily="50" charset="-128"/>
              </a:rPr>
              <a:t>5</a:t>
            </a:r>
            <a:r>
              <a:rPr kumimoji="1" lang="ja-JP" altLang="en-US" sz="1400" b="1" dirty="0">
                <a:latin typeface="メイリオ" panose="020B0604030504040204" pitchFamily="50" charset="-128"/>
                <a:ea typeface="メイリオ" panose="020B0604030504040204" pitchFamily="50" charset="-128"/>
              </a:rPr>
              <a:t>月度代表エピソード～</a:t>
            </a:r>
          </a:p>
        </p:txBody>
      </p:sp>
      <p:pic>
        <p:nvPicPr>
          <p:cNvPr id="16" name="図 15">
            <a:extLst>
              <a:ext uri="{FF2B5EF4-FFF2-40B4-BE49-F238E27FC236}">
                <a16:creationId xmlns:a16="http://schemas.microsoft.com/office/drawing/2014/main" id="{00000000-0008-0000-0100-000002000000}"/>
              </a:ext>
            </a:extLst>
          </p:cNvPr>
          <p:cNvPicPr>
            <a:picLocks noChangeAspect="1"/>
          </p:cNvPicPr>
          <p:nvPr/>
        </p:nvPicPr>
        <p:blipFill rotWithShape="1">
          <a:blip r:embed="rId4">
            <a:extLst>
              <a:ext uri="{28A0092B-C50C-407E-A947-70E740481C1C}">
                <a14:useLocalDpi xmlns:a14="http://schemas.microsoft.com/office/drawing/2010/main" val="0"/>
              </a:ext>
            </a:extLst>
          </a:blip>
          <a:srcRect l="10629" t="50589" b="27489"/>
          <a:stretch/>
        </p:blipFill>
        <p:spPr>
          <a:xfrm flipH="1">
            <a:off x="-1" y="954708"/>
            <a:ext cx="6845298" cy="354833"/>
          </a:xfrm>
          <a:prstGeom prst="rect">
            <a:avLst/>
          </a:prstGeom>
        </p:spPr>
      </p:pic>
      <p:graphicFrame>
        <p:nvGraphicFramePr>
          <p:cNvPr id="3" name="表 2">
            <a:extLst>
              <a:ext uri="{FF2B5EF4-FFF2-40B4-BE49-F238E27FC236}">
                <a16:creationId xmlns:a16="http://schemas.microsoft.com/office/drawing/2014/main" id="{8C139B86-40AC-45F7-87DB-228867D7DFA6}"/>
              </a:ext>
            </a:extLst>
          </p:cNvPr>
          <p:cNvGraphicFramePr>
            <a:graphicFrameLocks noGrp="1"/>
          </p:cNvGraphicFramePr>
          <p:nvPr>
            <p:extLst>
              <p:ext uri="{D42A27DB-BD31-4B8C-83A1-F6EECF244321}">
                <p14:modId xmlns:p14="http://schemas.microsoft.com/office/powerpoint/2010/main" val="1052159424"/>
              </p:ext>
            </p:extLst>
          </p:nvPr>
        </p:nvGraphicFramePr>
        <p:xfrm>
          <a:off x="0" y="586160"/>
          <a:ext cx="6858000" cy="354439"/>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3352499802"/>
                    </a:ext>
                  </a:extLst>
                </a:gridCol>
              </a:tblGrid>
              <a:tr h="354439">
                <a:tc>
                  <a:txBody>
                    <a:bodyPr/>
                    <a:lstStyle/>
                    <a:p>
                      <a:pPr algn="ctr" fontAlgn="ctr"/>
                      <a:r>
                        <a:rPr lang="ja-JP" altLang="en-US" sz="2000" b="1" i="0" u="none" strike="noStrike" dirty="0">
                          <a:effectLst/>
                          <a:latin typeface="メイリオ" panose="020B0604030504040204" pitchFamily="50" charset="-128"/>
                          <a:ea typeface="メイリオ" panose="020B0604030504040204" pitchFamily="50" charset="-128"/>
                        </a:rPr>
                        <a:t>失敗から学んだこと</a:t>
                      </a:r>
                    </a:p>
                  </a:txBody>
                  <a:tcPr marL="0" marR="0" marT="0" marB="0" anchor="ctr">
                    <a:noFill/>
                  </a:tcPr>
                </a:tc>
                <a:extLst>
                  <a:ext uri="{0D108BD9-81ED-4DB2-BD59-A6C34878D82A}">
                    <a16:rowId xmlns:a16="http://schemas.microsoft.com/office/drawing/2014/main" val="51326532"/>
                  </a:ext>
                </a:extLst>
              </a:tr>
            </a:tbl>
          </a:graphicData>
        </a:graphic>
      </p:graphicFrame>
      <p:graphicFrame>
        <p:nvGraphicFramePr>
          <p:cNvPr id="20" name="表 19">
            <a:extLst>
              <a:ext uri="{FF2B5EF4-FFF2-40B4-BE49-F238E27FC236}">
                <a16:creationId xmlns:a16="http://schemas.microsoft.com/office/drawing/2014/main" id="{AF3D3932-C55C-4445-AEFA-77BB58B79194}"/>
              </a:ext>
            </a:extLst>
          </p:cNvPr>
          <p:cNvGraphicFramePr>
            <a:graphicFrameLocks noGrp="1"/>
          </p:cNvGraphicFramePr>
          <p:nvPr>
            <p:extLst>
              <p:ext uri="{D42A27DB-BD31-4B8C-83A1-F6EECF244321}">
                <p14:modId xmlns:p14="http://schemas.microsoft.com/office/powerpoint/2010/main" val="41376225"/>
              </p:ext>
            </p:extLst>
          </p:nvPr>
        </p:nvGraphicFramePr>
        <p:xfrm>
          <a:off x="-3" y="1259632"/>
          <a:ext cx="6858000" cy="354439"/>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3352499802"/>
                    </a:ext>
                  </a:extLst>
                </a:gridCol>
              </a:tblGrid>
              <a:tr h="354439">
                <a:tc>
                  <a:txBody>
                    <a:bodyPr/>
                    <a:lstStyle/>
                    <a:p>
                      <a:pPr algn="ctr" fontAlgn="ctr"/>
                      <a:r>
                        <a:rPr lang="ja-JP" altLang="en-US" sz="1600" b="1" i="0" u="none" strike="noStrike" dirty="0">
                          <a:effectLst/>
                          <a:latin typeface="メイリオ" panose="020B0604030504040204" pitchFamily="50" charset="-128"/>
                          <a:ea typeface="メイリオ" panose="020B0604030504040204" pitchFamily="50" charset="-128"/>
                        </a:rPr>
                        <a:t>関連するイズム：判断基準はお客様</a:t>
                      </a:r>
                    </a:p>
                  </a:txBody>
                  <a:tcPr marL="0" marR="0" marT="0" marB="0" anchor="ctr">
                    <a:noFill/>
                  </a:tcPr>
                </a:tc>
                <a:extLst>
                  <a:ext uri="{0D108BD9-81ED-4DB2-BD59-A6C34878D82A}">
                    <a16:rowId xmlns:a16="http://schemas.microsoft.com/office/drawing/2014/main" val="51326532"/>
                  </a:ext>
                </a:extLst>
              </a:tr>
            </a:tbl>
          </a:graphicData>
        </a:graphic>
      </p:graphicFrame>
      <p:graphicFrame>
        <p:nvGraphicFramePr>
          <p:cNvPr id="21" name="表 20">
            <a:extLst>
              <a:ext uri="{FF2B5EF4-FFF2-40B4-BE49-F238E27FC236}">
                <a16:creationId xmlns:a16="http://schemas.microsoft.com/office/drawing/2014/main" id="{3EF87205-649E-42A4-A0E3-F2150B4E37B8}"/>
              </a:ext>
            </a:extLst>
          </p:cNvPr>
          <p:cNvGraphicFramePr>
            <a:graphicFrameLocks noGrp="1"/>
          </p:cNvGraphicFramePr>
          <p:nvPr>
            <p:extLst>
              <p:ext uri="{D42A27DB-BD31-4B8C-83A1-F6EECF244321}">
                <p14:modId xmlns:p14="http://schemas.microsoft.com/office/powerpoint/2010/main" val="4227187802"/>
              </p:ext>
            </p:extLst>
          </p:nvPr>
        </p:nvGraphicFramePr>
        <p:xfrm>
          <a:off x="254296" y="1681784"/>
          <a:ext cx="6336704" cy="6447184"/>
        </p:xfrm>
        <a:graphic>
          <a:graphicData uri="http://schemas.openxmlformats.org/drawingml/2006/table">
            <a:tbl>
              <a:tblPr>
                <a:tableStyleId>{5C22544A-7EE6-4342-B048-85BDC9FD1C3A}</a:tableStyleId>
              </a:tblPr>
              <a:tblGrid>
                <a:gridCol w="6336704">
                  <a:extLst>
                    <a:ext uri="{9D8B030D-6E8A-4147-A177-3AD203B41FA5}">
                      <a16:colId xmlns:a16="http://schemas.microsoft.com/office/drawing/2014/main" val="3352499802"/>
                    </a:ext>
                  </a:extLst>
                </a:gridCol>
              </a:tblGrid>
              <a:tr h="6447184">
                <a:tc>
                  <a:txBody>
                    <a:bodyPr/>
                    <a:lstStyle/>
                    <a:p>
                      <a:pPr algn="l" fontAlgn="ctr"/>
                      <a:r>
                        <a:rPr lang="ja-JP" altLang="en-US" sz="1200" b="0" i="0" u="none" strike="noStrike" dirty="0">
                          <a:effectLst/>
                          <a:latin typeface="メイリオ" panose="020B0604030504040204" pitchFamily="50" charset="-128"/>
                          <a:ea typeface="メイリオ" panose="020B0604030504040204" pitchFamily="50" charset="-128"/>
                        </a:rPr>
                        <a:t>恥ずかしながら、前年度は失敗で締めくくってしまったというエピソードを、みなさんへ共有します。長文ですが、お付き合い下さい。</a:t>
                      </a:r>
                    </a:p>
                    <a:p>
                      <a:pPr algn="l" fontAlgn="ctr"/>
                      <a:endParaRPr lang="ja-JP" altLang="en-US" sz="1200" b="0" i="0" u="none" strike="noStrike" dirty="0">
                        <a:effectLst/>
                        <a:latin typeface="メイリオ" panose="020B0604030504040204" pitchFamily="50" charset="-128"/>
                        <a:ea typeface="メイリオ" panose="020B0604030504040204" pitchFamily="50" charset="-128"/>
                      </a:endParaRPr>
                    </a:p>
                    <a:p>
                      <a:pPr algn="l" fontAlgn="ctr"/>
                      <a:r>
                        <a:rPr lang="ja-JP" altLang="en-US" sz="1200" b="0" i="0" u="none" strike="noStrike" dirty="0">
                          <a:effectLst/>
                          <a:latin typeface="メイリオ" panose="020B0604030504040204" pitchFamily="50" charset="-128"/>
                          <a:ea typeface="メイリオ" panose="020B0604030504040204" pitchFamily="50" charset="-128"/>
                        </a:rPr>
                        <a:t>日常清掃業務の再委託が決定し、採用業務を進めるなかで、各店舗へ採用の進捗状況をお伝えするためにクリーンコーポレーション様が担当する店舗の店長へ電話をしました。幸いにも２名が復帰を果たし、</a:t>
                      </a:r>
                      <a:r>
                        <a:rPr lang="en-US" altLang="ja-JP" sz="1200" b="0" i="0" u="none" strike="noStrike" dirty="0">
                          <a:effectLst/>
                          <a:latin typeface="メイリオ" panose="020B0604030504040204" pitchFamily="50" charset="-128"/>
                          <a:ea typeface="メイリオ" panose="020B0604030504040204" pitchFamily="50" charset="-128"/>
                        </a:rPr>
                        <a:t>4/1</a:t>
                      </a:r>
                      <a:r>
                        <a:rPr lang="ja-JP" altLang="en-US" sz="1200" b="0" i="0" u="none" strike="noStrike" dirty="0">
                          <a:effectLst/>
                          <a:latin typeface="メイリオ" panose="020B0604030504040204" pitchFamily="50" charset="-128"/>
                          <a:ea typeface="メイリオ" panose="020B0604030504040204" pitchFamily="50" charset="-128"/>
                        </a:rPr>
                        <a:t>から良いスタートを切ることができると安堵していました。</a:t>
                      </a:r>
                      <a:endParaRPr lang="en-US" altLang="ja-JP" sz="1200" b="0" i="0" u="none" strike="noStrike" dirty="0">
                        <a:effectLst/>
                        <a:latin typeface="メイリオ" panose="020B0604030504040204" pitchFamily="50" charset="-128"/>
                        <a:ea typeface="メイリオ" panose="020B0604030504040204" pitchFamily="50" charset="-128"/>
                      </a:endParaRPr>
                    </a:p>
                    <a:p>
                      <a:pPr algn="l" fontAlgn="ctr"/>
                      <a:endParaRPr lang="ja-JP" altLang="en-US" sz="1200" b="0" i="0" u="none" strike="noStrike" dirty="0">
                        <a:effectLst/>
                        <a:latin typeface="メイリオ" panose="020B0604030504040204" pitchFamily="50" charset="-128"/>
                        <a:ea typeface="メイリオ" panose="020B0604030504040204" pitchFamily="50" charset="-128"/>
                      </a:endParaRPr>
                    </a:p>
                    <a:p>
                      <a:pPr algn="l" fontAlgn="ctr"/>
                      <a:r>
                        <a:rPr lang="ja-JP" altLang="en-US" sz="1200" b="0" i="0" u="none" strike="noStrike" dirty="0">
                          <a:effectLst/>
                          <a:latin typeface="メイリオ" panose="020B0604030504040204" pitchFamily="50" charset="-128"/>
                          <a:ea typeface="メイリオ" panose="020B0604030504040204" pitchFamily="50" charset="-128"/>
                        </a:rPr>
                        <a:t>店長から時間の確認をされたので「配置時間は</a:t>
                      </a:r>
                      <a:r>
                        <a:rPr lang="en-US" altLang="ja-JP" sz="1200" b="0" i="0" u="none" strike="noStrike" dirty="0">
                          <a:effectLst/>
                          <a:latin typeface="メイリオ" panose="020B0604030504040204" pitchFamily="50" charset="-128"/>
                          <a:ea typeface="メイリオ" panose="020B0604030504040204" pitchFamily="50" charset="-128"/>
                        </a:rPr>
                        <a:t>12</a:t>
                      </a:r>
                      <a:r>
                        <a:rPr lang="ja-JP" altLang="en-US" sz="1200" b="0" i="0" u="none" strike="noStrike" dirty="0">
                          <a:effectLst/>
                          <a:latin typeface="メイリオ" panose="020B0604030504040204" pitchFamily="50" charset="-128"/>
                          <a:ea typeface="メイリオ" panose="020B0604030504040204" pitchFamily="50" charset="-128"/>
                        </a:rPr>
                        <a:t>時～</a:t>
                      </a:r>
                      <a:r>
                        <a:rPr lang="en-US" altLang="ja-JP" sz="1200" b="0" i="0" u="none" strike="noStrike" dirty="0">
                          <a:effectLst/>
                          <a:latin typeface="メイリオ" panose="020B0604030504040204" pitchFamily="50" charset="-128"/>
                          <a:ea typeface="メイリオ" panose="020B0604030504040204" pitchFamily="50" charset="-128"/>
                        </a:rPr>
                        <a:t>18</a:t>
                      </a:r>
                      <a:r>
                        <a:rPr lang="ja-JP" altLang="en-US" sz="1200" b="0" i="0" u="none" strike="noStrike" dirty="0">
                          <a:effectLst/>
                          <a:latin typeface="メイリオ" panose="020B0604030504040204" pitchFamily="50" charset="-128"/>
                          <a:ea typeface="メイリオ" panose="020B0604030504040204" pitchFamily="50" charset="-128"/>
                        </a:rPr>
                        <a:t>時</a:t>
                      </a:r>
                      <a:r>
                        <a:rPr lang="en-US" altLang="ja-JP" sz="1200" b="0" i="0" u="none" strike="noStrike" dirty="0">
                          <a:effectLst/>
                          <a:latin typeface="メイリオ" panose="020B0604030504040204" pitchFamily="50" charset="-128"/>
                          <a:ea typeface="メイリオ" panose="020B0604030504040204" pitchFamily="50" charset="-128"/>
                        </a:rPr>
                        <a:t>30</a:t>
                      </a:r>
                      <a:r>
                        <a:rPr lang="ja-JP" altLang="en-US" sz="1200" b="0" i="0" u="none" strike="noStrike" dirty="0">
                          <a:effectLst/>
                          <a:latin typeface="メイリオ" panose="020B0604030504040204" pitchFamily="50" charset="-128"/>
                          <a:ea typeface="メイリオ" panose="020B0604030504040204" pitchFamily="50" charset="-128"/>
                        </a:rPr>
                        <a:t>分です」と伝えると、「</a:t>
                      </a:r>
                      <a:r>
                        <a:rPr lang="en-US" altLang="ja-JP" sz="1200" b="0" i="0" u="none" strike="noStrike" dirty="0">
                          <a:effectLst/>
                          <a:latin typeface="メイリオ" panose="020B0604030504040204" pitchFamily="50" charset="-128"/>
                          <a:ea typeface="メイリオ" panose="020B0604030504040204" pitchFamily="50" charset="-128"/>
                        </a:rPr>
                        <a:t>12</a:t>
                      </a:r>
                      <a:r>
                        <a:rPr lang="ja-JP" altLang="en-US" sz="1200" b="0" i="0" u="none" strike="noStrike" dirty="0">
                          <a:effectLst/>
                          <a:latin typeface="メイリオ" panose="020B0604030504040204" pitchFamily="50" charset="-128"/>
                          <a:ea typeface="メイリオ" panose="020B0604030504040204" pitchFamily="50" charset="-128"/>
                        </a:rPr>
                        <a:t>時？</a:t>
                      </a:r>
                      <a:r>
                        <a:rPr lang="en-US" altLang="ja-JP" sz="1200" b="0" i="0" u="none" strike="noStrike" dirty="0">
                          <a:effectLst/>
                          <a:latin typeface="メイリオ" panose="020B0604030504040204" pitchFamily="50" charset="-128"/>
                          <a:ea typeface="メイリオ" panose="020B0604030504040204" pitchFamily="50" charset="-128"/>
                        </a:rPr>
                        <a:t>12</a:t>
                      </a:r>
                      <a:r>
                        <a:rPr lang="ja-JP" altLang="en-US" sz="1200" b="0" i="0" u="none" strike="noStrike" dirty="0">
                          <a:effectLst/>
                          <a:latin typeface="メイリオ" panose="020B0604030504040204" pitchFamily="50" charset="-128"/>
                          <a:ea typeface="メイリオ" panose="020B0604030504040204" pitchFamily="50" charset="-128"/>
                        </a:rPr>
                        <a:t>時って言いましたか？</a:t>
                      </a:r>
                      <a:r>
                        <a:rPr lang="en-US" altLang="ja-JP" sz="1200" b="0" i="0" u="none" strike="noStrike" dirty="0">
                          <a:effectLst/>
                          <a:latin typeface="メイリオ" panose="020B0604030504040204" pitchFamily="50" charset="-128"/>
                          <a:ea typeface="メイリオ" panose="020B0604030504040204" pitchFamily="50" charset="-128"/>
                        </a:rPr>
                        <a:t>13</a:t>
                      </a:r>
                      <a:r>
                        <a:rPr lang="ja-JP" altLang="en-US" sz="1200" b="0" i="0" u="none" strike="noStrike" dirty="0">
                          <a:effectLst/>
                          <a:latin typeface="メイリオ" panose="020B0604030504040204" pitchFamily="50" charset="-128"/>
                          <a:ea typeface="メイリオ" panose="020B0604030504040204" pitchFamily="50" charset="-128"/>
                        </a:rPr>
                        <a:t>時からですよね？」と少し強い口調で言われました。私は、「</a:t>
                      </a:r>
                      <a:r>
                        <a:rPr lang="en-US" altLang="ja-JP" sz="1200" b="0" i="0" u="none" strike="noStrike" dirty="0">
                          <a:effectLst/>
                          <a:latin typeface="メイリオ" panose="020B0604030504040204" pitchFamily="50" charset="-128"/>
                          <a:ea typeface="メイリオ" panose="020B0604030504040204" pitchFamily="50" charset="-128"/>
                        </a:rPr>
                        <a:t>12</a:t>
                      </a:r>
                      <a:r>
                        <a:rPr lang="ja-JP" altLang="en-US" sz="1200" b="0" i="0" u="none" strike="noStrike" dirty="0">
                          <a:effectLst/>
                          <a:latin typeface="メイリオ" panose="020B0604030504040204" pitchFamily="50" charset="-128"/>
                          <a:ea typeface="メイリオ" panose="020B0604030504040204" pitchFamily="50" charset="-128"/>
                        </a:rPr>
                        <a:t>時だよな？店長と電話で</a:t>
                      </a:r>
                      <a:r>
                        <a:rPr lang="en-US" altLang="ja-JP" sz="1200" b="0" i="0" u="none" strike="noStrike" dirty="0">
                          <a:effectLst/>
                          <a:latin typeface="メイリオ" panose="020B0604030504040204" pitchFamily="50" charset="-128"/>
                          <a:ea typeface="メイリオ" panose="020B0604030504040204" pitchFamily="50" charset="-128"/>
                        </a:rPr>
                        <a:t>12</a:t>
                      </a:r>
                      <a:r>
                        <a:rPr lang="ja-JP" altLang="en-US" sz="1200" b="0" i="0" u="none" strike="noStrike" dirty="0">
                          <a:effectLst/>
                          <a:latin typeface="メイリオ" panose="020B0604030504040204" pitchFamily="50" charset="-128"/>
                          <a:ea typeface="メイリオ" panose="020B0604030504040204" pitchFamily="50" charset="-128"/>
                        </a:rPr>
                        <a:t>時と確認し記載もしてる・・・でも私の勘違いか？」と迷ってしまい、とっさに「</a:t>
                      </a:r>
                      <a:r>
                        <a:rPr lang="en-US" altLang="ja-JP" sz="1200" b="0" i="0" u="none" strike="noStrike" dirty="0">
                          <a:effectLst/>
                          <a:latin typeface="メイリオ" panose="020B0604030504040204" pitchFamily="50" charset="-128"/>
                          <a:ea typeface="メイリオ" panose="020B0604030504040204" pitchFamily="50" charset="-128"/>
                        </a:rPr>
                        <a:t>12</a:t>
                      </a:r>
                      <a:r>
                        <a:rPr lang="ja-JP" altLang="en-US" sz="1200" b="0" i="0" u="none" strike="noStrike" dirty="0">
                          <a:effectLst/>
                          <a:latin typeface="メイリオ" panose="020B0604030504040204" pitchFamily="50" charset="-128"/>
                          <a:ea typeface="メイリオ" panose="020B0604030504040204" pitchFamily="50" charset="-128"/>
                        </a:rPr>
                        <a:t>時では無くて</a:t>
                      </a:r>
                      <a:r>
                        <a:rPr lang="en-US" altLang="ja-JP" sz="1200" b="0" i="0" u="none" strike="noStrike" dirty="0">
                          <a:effectLst/>
                          <a:latin typeface="メイリオ" panose="020B0604030504040204" pitchFamily="50" charset="-128"/>
                          <a:ea typeface="メイリオ" panose="020B0604030504040204" pitchFamily="50" charset="-128"/>
                        </a:rPr>
                        <a:t>13</a:t>
                      </a:r>
                      <a:r>
                        <a:rPr lang="ja-JP" altLang="en-US" sz="1200" b="0" i="0" u="none" strike="noStrike" dirty="0">
                          <a:effectLst/>
                          <a:latin typeface="メイリオ" panose="020B0604030504040204" pitchFamily="50" charset="-128"/>
                          <a:ea typeface="メイリオ" panose="020B0604030504040204" pitchFamily="50" charset="-128"/>
                        </a:rPr>
                        <a:t>時スタートですか？その方が店舗様はご都合がよろしいのでしょうか？時間の変更が必要ですか？」と尋ねました。すると文章では伝えられませんが、口調は更に強くなり、お叱りを受けました。</a:t>
                      </a:r>
                      <a:endParaRPr lang="en-US" altLang="ja-JP" sz="1200" b="0" i="0" u="none" strike="noStrike" dirty="0">
                        <a:effectLst/>
                        <a:latin typeface="メイリオ" panose="020B0604030504040204" pitchFamily="50" charset="-128"/>
                        <a:ea typeface="メイリオ" panose="020B0604030504040204" pitchFamily="50" charset="-128"/>
                      </a:endParaRPr>
                    </a:p>
                    <a:p>
                      <a:pPr algn="l" fontAlgn="ctr"/>
                      <a:endParaRPr lang="ja-JP" altLang="en-US" sz="1200" b="0" i="0" u="none" strike="noStrike" dirty="0">
                        <a:effectLst/>
                        <a:latin typeface="メイリオ" panose="020B0604030504040204" pitchFamily="50" charset="-128"/>
                        <a:ea typeface="メイリオ" panose="020B0604030504040204" pitchFamily="50" charset="-128"/>
                      </a:endParaRPr>
                    </a:p>
                    <a:p>
                      <a:pPr algn="l" fontAlgn="ctr"/>
                      <a:r>
                        <a:rPr lang="ja-JP" altLang="en-US" sz="1200" b="0" i="0" u="none" strike="noStrike" dirty="0">
                          <a:effectLst/>
                          <a:latin typeface="メイリオ" panose="020B0604030504040204" pitchFamily="50" charset="-128"/>
                          <a:ea typeface="メイリオ" panose="020B0604030504040204" pitchFamily="50" charset="-128"/>
                        </a:rPr>
                        <a:t>店長が一番気にされていたのは、復帰されるスタッフの働く環境を考えると、業務開始時間をこちらの都合だけで</a:t>
                      </a:r>
                      <a:r>
                        <a:rPr lang="en-US" altLang="ja-JP" sz="1200" b="0" i="0" u="none" strike="noStrike" dirty="0">
                          <a:effectLst/>
                          <a:latin typeface="メイリオ" panose="020B0604030504040204" pitchFamily="50" charset="-128"/>
                          <a:ea typeface="メイリオ" panose="020B0604030504040204" pitchFamily="50" charset="-128"/>
                        </a:rPr>
                        <a:t>13</a:t>
                      </a:r>
                      <a:r>
                        <a:rPr lang="ja-JP" altLang="en-US" sz="1200" b="0" i="0" u="none" strike="noStrike" dirty="0">
                          <a:effectLst/>
                          <a:latin typeface="メイリオ" panose="020B0604030504040204" pitchFamily="50" charset="-128"/>
                          <a:ea typeface="メイリオ" panose="020B0604030504040204" pitchFamily="50" charset="-128"/>
                        </a:rPr>
                        <a:t>時に変更するのは失礼だろうということでした。心が折れそうでしたが、おっしゃることはごもっともだと思いました。しかしその数分後、私と電話した日にち、配置時間</a:t>
                      </a:r>
                      <a:r>
                        <a:rPr lang="en-US" altLang="ja-JP" sz="1200" b="0" i="0" u="none" strike="noStrike" dirty="0">
                          <a:effectLst/>
                          <a:latin typeface="メイリオ" panose="020B0604030504040204" pitchFamily="50" charset="-128"/>
                          <a:ea typeface="メイリオ" panose="020B0604030504040204" pitchFamily="50" charset="-128"/>
                        </a:rPr>
                        <a:t>12</a:t>
                      </a:r>
                      <a:r>
                        <a:rPr lang="ja-JP" altLang="en-US" sz="1200" b="0" i="0" u="none" strike="noStrike" dirty="0">
                          <a:effectLst/>
                          <a:latin typeface="メイリオ" panose="020B0604030504040204" pitchFamily="50" charset="-128"/>
                          <a:ea typeface="メイリオ" panose="020B0604030504040204" pitchFamily="50" charset="-128"/>
                        </a:rPr>
                        <a:t>時からと記載したスプレッドシートが残っていたこと、自分の勘違いだったと店長から謝罪の電話がありました。私へ言ってしまった後悔からか店長のしどろもどろな言葉に、私も不信感を与え不安な思いをさせてしまったことを謝罪しました。正直、悔しい思いもありましたが、ハッキリと言えずに伝え方が良くなかったこと、店舗を優先しクリーンスタッフへの配慮に欠けていたことを反省しました。</a:t>
                      </a:r>
                    </a:p>
                    <a:p>
                      <a:pPr algn="l" fontAlgn="ctr"/>
                      <a:endParaRPr lang="ja-JP" altLang="en-US" sz="1200" b="0" i="0" u="none" strike="noStrike" dirty="0">
                        <a:effectLst/>
                        <a:latin typeface="メイリオ" panose="020B0604030504040204" pitchFamily="50" charset="-128"/>
                        <a:ea typeface="メイリオ" panose="020B0604030504040204" pitchFamily="50" charset="-128"/>
                      </a:endParaRPr>
                    </a:p>
                    <a:p>
                      <a:pPr algn="l" fontAlgn="ctr"/>
                      <a:r>
                        <a:rPr lang="ja-JP" altLang="en-US" sz="1200" b="0" i="0" u="none" strike="noStrike" dirty="0">
                          <a:effectLst/>
                          <a:latin typeface="メイリオ" panose="020B0604030504040204" pitchFamily="50" charset="-128"/>
                          <a:ea typeface="メイリオ" panose="020B0604030504040204" pitchFamily="50" charset="-128"/>
                        </a:rPr>
                        <a:t>お客様の満足とは、お客様のまたお客様、関わる方全てが満足しなければ意味がないということです。満足を追求するためには、ハッキリと伝えるべきことは伝える、そのための準備をするということです。</a:t>
                      </a:r>
                    </a:p>
                    <a:p>
                      <a:pPr algn="l" fontAlgn="ctr"/>
                      <a:endParaRPr lang="ja-JP" altLang="en-US" sz="1200" b="0" i="0" u="none" strike="noStrike" dirty="0">
                        <a:effectLst/>
                        <a:latin typeface="メイリオ" panose="020B0604030504040204" pitchFamily="50" charset="-128"/>
                        <a:ea typeface="メイリオ" panose="020B0604030504040204" pitchFamily="50" charset="-128"/>
                      </a:endParaRPr>
                    </a:p>
                    <a:p>
                      <a:pPr algn="l" fontAlgn="ctr"/>
                      <a:r>
                        <a:rPr lang="ja-JP" altLang="en-US" sz="1200" b="0" i="0" u="none" strike="noStrike" dirty="0">
                          <a:effectLst/>
                          <a:latin typeface="メイリオ" panose="020B0604030504040204" pitchFamily="50" charset="-128"/>
                          <a:ea typeface="メイリオ" panose="020B0604030504040204" pitchFamily="50" charset="-128"/>
                        </a:rPr>
                        <a:t>着任されてから、まだ一度もお会いしたことのない店長です。辛い出来事ではありましたが</a:t>
                      </a:r>
                    </a:p>
                    <a:p>
                      <a:pPr algn="l" fontAlgn="ctr"/>
                      <a:r>
                        <a:rPr lang="ja-JP" altLang="en-US" sz="1200" b="0" i="0" u="none" strike="noStrike" dirty="0">
                          <a:effectLst/>
                          <a:latin typeface="メイリオ" panose="020B0604030504040204" pitchFamily="50" charset="-128"/>
                          <a:ea typeface="メイリオ" panose="020B0604030504040204" pitchFamily="50" charset="-128"/>
                        </a:rPr>
                        <a:t>今は店長のことをもっと知りたいと思うようになりました。かなり緊張はしますが・・・これからコツコツと信頼残高を増やし、次回は明るいエピソードを共有できるように関係性を深めていきたいと思います！</a:t>
                      </a:r>
                    </a:p>
                  </a:txBody>
                  <a:tcPr marL="0" marR="0" marT="0" marB="0" anchor="ctr">
                    <a:noFill/>
                  </a:tcPr>
                </a:tc>
                <a:extLst>
                  <a:ext uri="{0D108BD9-81ED-4DB2-BD59-A6C34878D82A}">
                    <a16:rowId xmlns:a16="http://schemas.microsoft.com/office/drawing/2014/main" val="51326532"/>
                  </a:ext>
                </a:extLst>
              </a:tr>
            </a:tbl>
          </a:graphicData>
        </a:graphic>
      </p:graphicFrame>
      <p:graphicFrame>
        <p:nvGraphicFramePr>
          <p:cNvPr id="4" name="表 3">
            <a:extLst>
              <a:ext uri="{FF2B5EF4-FFF2-40B4-BE49-F238E27FC236}">
                <a16:creationId xmlns:a16="http://schemas.microsoft.com/office/drawing/2014/main" id="{B79B7192-0D9C-4382-8D0B-167C3C35CE90}"/>
              </a:ext>
            </a:extLst>
          </p:cNvPr>
          <p:cNvGraphicFramePr>
            <a:graphicFrameLocks noGrp="1"/>
          </p:cNvGraphicFramePr>
          <p:nvPr>
            <p:extLst>
              <p:ext uri="{D42A27DB-BD31-4B8C-83A1-F6EECF244321}">
                <p14:modId xmlns:p14="http://schemas.microsoft.com/office/powerpoint/2010/main" val="2801786309"/>
              </p:ext>
            </p:extLst>
          </p:nvPr>
        </p:nvGraphicFramePr>
        <p:xfrm>
          <a:off x="704849" y="8143446"/>
          <a:ext cx="6140447" cy="605018"/>
        </p:xfrm>
        <a:graphic>
          <a:graphicData uri="http://schemas.openxmlformats.org/drawingml/2006/table">
            <a:tbl>
              <a:tblPr/>
              <a:tblGrid>
                <a:gridCol w="313857">
                  <a:extLst>
                    <a:ext uri="{9D8B030D-6E8A-4147-A177-3AD203B41FA5}">
                      <a16:colId xmlns:a16="http://schemas.microsoft.com/office/drawing/2014/main" val="4026392200"/>
                    </a:ext>
                  </a:extLst>
                </a:gridCol>
                <a:gridCol w="617588">
                  <a:extLst>
                    <a:ext uri="{9D8B030D-6E8A-4147-A177-3AD203B41FA5}">
                      <a16:colId xmlns:a16="http://schemas.microsoft.com/office/drawing/2014/main" val="2265573359"/>
                    </a:ext>
                  </a:extLst>
                </a:gridCol>
                <a:gridCol w="2885454">
                  <a:extLst>
                    <a:ext uri="{9D8B030D-6E8A-4147-A177-3AD203B41FA5}">
                      <a16:colId xmlns:a16="http://schemas.microsoft.com/office/drawing/2014/main" val="2831491253"/>
                    </a:ext>
                  </a:extLst>
                </a:gridCol>
                <a:gridCol w="2323548">
                  <a:extLst>
                    <a:ext uri="{9D8B030D-6E8A-4147-A177-3AD203B41FA5}">
                      <a16:colId xmlns:a16="http://schemas.microsoft.com/office/drawing/2014/main" val="2078562565"/>
                    </a:ext>
                  </a:extLst>
                </a:gridCol>
              </a:tblGrid>
              <a:tr h="302509">
                <a:tc>
                  <a:txBody>
                    <a:bodyPr/>
                    <a:lstStyle/>
                    <a:p>
                      <a:pPr algn="l" fontAlgn="ctr"/>
                      <a:endParaRPr lang="ja-JP" altLang="en-US" sz="900" b="1" i="0" u="none" strike="noStrike">
                        <a:effectLst/>
                        <a:latin typeface="メイリオ" panose="020B0604030504040204" pitchFamily="50" charset="-128"/>
                        <a:ea typeface="メイリオ" panose="020B0604030504040204" pitchFamily="50" charset="-128"/>
                      </a:endParaRPr>
                    </a:p>
                  </a:txBody>
                  <a:tcPr marL="7203" marR="7203" marT="7203" marB="0" anchor="ctr">
                    <a:lnL>
                      <a:noFill/>
                    </a:lnL>
                    <a:lnR>
                      <a:noFill/>
                    </a:lnR>
                    <a:lnT>
                      <a:noFill/>
                    </a:lnT>
                    <a:lnB>
                      <a:noFill/>
                    </a:lnB>
                  </a:tcPr>
                </a:tc>
                <a:tc>
                  <a:txBody>
                    <a:bodyPr/>
                    <a:lstStyle/>
                    <a:p>
                      <a:pPr algn="l" fontAlgn="ctr"/>
                      <a:endParaRPr lang="ja-JP" altLang="en-US" sz="1200" b="1" i="0" u="none" strike="noStrike">
                        <a:effectLst/>
                        <a:latin typeface="メイリオ" panose="020B0604030504040204" pitchFamily="50" charset="-128"/>
                        <a:ea typeface="メイリオ" panose="020B0604030504040204" pitchFamily="50" charset="-128"/>
                      </a:endParaRPr>
                    </a:p>
                  </a:txBody>
                  <a:tcPr marL="7203" marR="7203" marT="7203" marB="0" anchor="ctr">
                    <a:lnL>
                      <a:noFill/>
                    </a:lnL>
                    <a:lnR>
                      <a:noFill/>
                    </a:lnR>
                    <a:lnT>
                      <a:noFill/>
                    </a:lnT>
                    <a:lnB>
                      <a:noFill/>
                    </a:lnB>
                  </a:tcPr>
                </a:tc>
                <a:tc>
                  <a:txBody>
                    <a:bodyPr/>
                    <a:lstStyle/>
                    <a:p>
                      <a:pPr algn="ctr" fontAlgn="ctr"/>
                      <a:r>
                        <a:rPr lang="ja-JP" altLang="en-US" sz="1200" b="1" i="0" u="none" strike="noStrike" dirty="0">
                          <a:effectLst/>
                          <a:latin typeface="メイリオ" panose="020B0604030504040204" pitchFamily="50" charset="-128"/>
                          <a:ea typeface="メイリオ" panose="020B0604030504040204" pitchFamily="50" charset="-128"/>
                        </a:rPr>
                        <a:t>（所属）</a:t>
                      </a:r>
                    </a:p>
                  </a:txBody>
                  <a:tcPr marL="7203" marR="7203" marT="7203" marB="0" anchor="ctr">
                    <a:lnL>
                      <a:noFill/>
                    </a:lnL>
                    <a:lnR>
                      <a:noFill/>
                    </a:lnR>
                    <a:lnT>
                      <a:noFill/>
                    </a:lnT>
                    <a:lnB>
                      <a:noFill/>
                    </a:lnB>
                  </a:tcPr>
                </a:tc>
                <a:tc>
                  <a:txBody>
                    <a:bodyPr/>
                    <a:lstStyle/>
                    <a:p>
                      <a:pPr algn="ctr" fontAlgn="ctr"/>
                      <a:r>
                        <a:rPr lang="ja-JP" altLang="en-US" sz="1200" b="1" i="0" u="none" strike="noStrike" dirty="0">
                          <a:effectLst/>
                          <a:latin typeface="メイリオ" panose="020B0604030504040204" pitchFamily="50" charset="-128"/>
                          <a:ea typeface="メイリオ" panose="020B0604030504040204" pitchFamily="50" charset="-128"/>
                        </a:rPr>
                        <a:t>（氏名）</a:t>
                      </a:r>
                    </a:p>
                  </a:txBody>
                  <a:tcPr marL="7203" marR="7203" marT="7203" marB="0" anchor="ctr">
                    <a:lnL>
                      <a:noFill/>
                    </a:lnL>
                    <a:lnR>
                      <a:noFill/>
                    </a:lnR>
                    <a:lnT>
                      <a:noFill/>
                    </a:lnT>
                    <a:lnB>
                      <a:noFill/>
                    </a:lnB>
                  </a:tcPr>
                </a:tc>
                <a:extLst>
                  <a:ext uri="{0D108BD9-81ED-4DB2-BD59-A6C34878D82A}">
                    <a16:rowId xmlns:a16="http://schemas.microsoft.com/office/drawing/2014/main" val="2937889479"/>
                  </a:ext>
                </a:extLst>
              </a:tr>
              <a:tr h="302509">
                <a:tc gridSpan="2">
                  <a:txBody>
                    <a:bodyPr/>
                    <a:lstStyle/>
                    <a:p>
                      <a:pPr algn="ctr" fontAlgn="ctr"/>
                      <a:r>
                        <a:rPr lang="ja-JP" altLang="en-US" sz="1200" b="1" i="0" u="none" strike="noStrike" dirty="0">
                          <a:effectLst/>
                          <a:latin typeface="メイリオ" panose="020B0604030504040204" pitchFamily="50" charset="-128"/>
                          <a:ea typeface="メイリオ" panose="020B0604030504040204" pitchFamily="50" charset="-128"/>
                        </a:rPr>
                        <a:t>寄稿者</a:t>
                      </a:r>
                    </a:p>
                  </a:txBody>
                  <a:tcPr marL="7203" marR="7203" marT="7203" marB="0" anchor="ctr">
                    <a:lnL>
                      <a:noFill/>
                    </a:lnL>
                    <a:lnR>
                      <a:noFill/>
                    </a:lnR>
                    <a:lnT>
                      <a:noFill/>
                    </a:lnT>
                    <a:lnB>
                      <a:noFill/>
                    </a:lnB>
                  </a:tcPr>
                </a:tc>
                <a:tc hMerge="1">
                  <a:txBody>
                    <a:bodyPr/>
                    <a:lstStyle/>
                    <a:p>
                      <a:endParaRPr kumimoji="1" lang="ja-JP" altLang="en-US"/>
                    </a:p>
                  </a:txBody>
                  <a:tcPr/>
                </a:tc>
                <a:tc>
                  <a:txBody>
                    <a:bodyPr/>
                    <a:lstStyle/>
                    <a:p>
                      <a:pPr algn="ctr" fontAlgn="ctr"/>
                      <a:r>
                        <a:rPr lang="ja-JP" altLang="en-US" sz="1400" b="1" i="0" u="none" strike="noStrike" dirty="0">
                          <a:effectLst/>
                          <a:latin typeface="メイリオ" panose="020B0604030504040204" pitchFamily="50" charset="-128"/>
                          <a:ea typeface="メイリオ" panose="020B0604030504040204" pitchFamily="50" charset="-128"/>
                        </a:rPr>
                        <a:t>営業推進チーム</a:t>
                      </a:r>
                    </a:p>
                  </a:txBody>
                  <a:tcPr marL="7203" marR="7203" marT="7203" marB="0" anchor="ctr">
                    <a:lnL>
                      <a:noFill/>
                    </a:lnL>
                    <a:lnR>
                      <a:noFill/>
                    </a:lnR>
                    <a:lnT>
                      <a:noFill/>
                    </a:lnT>
                    <a:lnB>
                      <a:noFill/>
                    </a:lnB>
                  </a:tcPr>
                </a:tc>
                <a:tc>
                  <a:txBody>
                    <a:bodyPr/>
                    <a:lstStyle/>
                    <a:p>
                      <a:pPr algn="ctr" fontAlgn="ctr"/>
                      <a:r>
                        <a:rPr lang="ja-JP" altLang="en-US" sz="1400" b="1" i="0" u="none" strike="noStrike" dirty="0">
                          <a:effectLst/>
                          <a:latin typeface="メイリオ" panose="020B0604030504040204" pitchFamily="50" charset="-128"/>
                          <a:ea typeface="メイリオ" panose="020B0604030504040204" pitchFamily="50" charset="-128"/>
                        </a:rPr>
                        <a:t>工藤　純子</a:t>
                      </a:r>
                    </a:p>
                  </a:txBody>
                  <a:tcPr marL="7203" marR="7203" marT="7203" marB="0" anchor="ctr">
                    <a:lnL>
                      <a:noFill/>
                    </a:lnL>
                    <a:lnR>
                      <a:noFill/>
                    </a:lnR>
                    <a:lnT>
                      <a:noFill/>
                    </a:lnT>
                    <a:lnB>
                      <a:noFill/>
                    </a:lnB>
                  </a:tcPr>
                </a:tc>
                <a:extLst>
                  <a:ext uri="{0D108BD9-81ED-4DB2-BD59-A6C34878D82A}">
                    <a16:rowId xmlns:a16="http://schemas.microsoft.com/office/drawing/2014/main" val="4267474516"/>
                  </a:ext>
                </a:extLst>
              </a:tr>
            </a:tbl>
          </a:graphicData>
        </a:graphic>
      </p:graphicFrame>
    </p:spTree>
    <p:extLst>
      <p:ext uri="{BB962C8B-B14F-4D97-AF65-F5344CB8AC3E}">
        <p14:creationId xmlns:p14="http://schemas.microsoft.com/office/powerpoint/2010/main" val="754532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グループ化 4">
            <a:extLst>
              <a:ext uri="{FF2B5EF4-FFF2-40B4-BE49-F238E27FC236}">
                <a16:creationId xmlns:a16="http://schemas.microsoft.com/office/drawing/2014/main" id="{D1CD502B-8084-4417-A023-0723B2C9344E}"/>
              </a:ext>
            </a:extLst>
          </p:cNvPr>
          <p:cNvGrpSpPr/>
          <p:nvPr/>
        </p:nvGrpSpPr>
        <p:grpSpPr>
          <a:xfrm>
            <a:off x="11112" y="8425413"/>
            <a:ext cx="6834185" cy="718587"/>
            <a:chOff x="11112" y="8425413"/>
            <a:chExt cx="6834185" cy="718587"/>
          </a:xfrm>
        </p:grpSpPr>
        <p:pic>
          <p:nvPicPr>
            <p:cNvPr id="23" name="図 22">
              <a:extLst>
                <a:ext uri="{FF2B5EF4-FFF2-40B4-BE49-F238E27FC236}">
                  <a16:creationId xmlns:a16="http://schemas.microsoft.com/office/drawing/2014/main" id="{00000000-0008-0000-0100-000004000000}"/>
                </a:ext>
              </a:extLst>
            </p:cNvPr>
            <p:cNvPicPr>
              <a:picLocks noChangeAspect="1"/>
            </p:cNvPicPr>
            <p:nvPr/>
          </p:nvPicPr>
          <p:blipFill rotWithShape="1">
            <a:blip r:embed="rId2">
              <a:extLst>
                <a:ext uri="{28A0092B-C50C-407E-A947-70E740481C1C}">
                  <a14:useLocalDpi xmlns:a14="http://schemas.microsoft.com/office/drawing/2010/main" val="0"/>
                </a:ext>
              </a:extLst>
            </a:blip>
            <a:srcRect l="59538" t="56963"/>
            <a:stretch/>
          </p:blipFill>
          <p:spPr>
            <a:xfrm>
              <a:off x="1124744" y="8789560"/>
              <a:ext cx="5720553" cy="354439"/>
            </a:xfrm>
            <a:prstGeom prst="rect">
              <a:avLst/>
            </a:prstGeom>
          </p:spPr>
        </p:pic>
        <p:pic>
          <p:nvPicPr>
            <p:cNvPr id="24" name="図 23">
              <a:extLst>
                <a:ext uri="{FF2B5EF4-FFF2-40B4-BE49-F238E27FC236}">
                  <a16:creationId xmlns:a16="http://schemas.microsoft.com/office/drawing/2014/main" id="{00000000-0008-0000-0100-000005000000}"/>
                </a:ext>
              </a:extLst>
            </p:cNvPr>
            <p:cNvPicPr>
              <a:picLocks noChangeAspect="1"/>
            </p:cNvPicPr>
            <p:nvPr/>
          </p:nvPicPr>
          <p:blipFill rotWithShape="1">
            <a:blip r:embed="rId2">
              <a:extLst>
                <a:ext uri="{28A0092B-C50C-407E-A947-70E740481C1C}">
                  <a14:useLocalDpi xmlns:a14="http://schemas.microsoft.com/office/drawing/2010/main" val="0"/>
                </a:ext>
              </a:extLst>
            </a:blip>
            <a:srcRect r="28008"/>
            <a:stretch/>
          </p:blipFill>
          <p:spPr>
            <a:xfrm>
              <a:off x="11112" y="8425413"/>
              <a:ext cx="1545680" cy="718587"/>
            </a:xfrm>
            <a:prstGeom prst="rect">
              <a:avLst/>
            </a:prstGeom>
          </p:spPr>
        </p:pic>
        <p:pic>
          <p:nvPicPr>
            <p:cNvPr id="25" name="Picture 2" descr="C:\Users\user\Desktop\MMIロゴ.jpg">
              <a:extLst>
                <a:ext uri="{FF2B5EF4-FFF2-40B4-BE49-F238E27FC236}">
                  <a16:creationId xmlns:a16="http://schemas.microsoft.com/office/drawing/2014/main" id="{00000000-0008-0000-0100-00000600000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42465" y="8706936"/>
              <a:ext cx="668079" cy="218539"/>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13" name="Google Shape;1346;p122">
            <a:extLst>
              <a:ext uri="{FF2B5EF4-FFF2-40B4-BE49-F238E27FC236}">
                <a16:creationId xmlns:a16="http://schemas.microsoft.com/office/drawing/2014/main" id="{21C730A1-4F84-45C2-89AE-120EFB8A06B8}"/>
              </a:ext>
            </a:extLst>
          </p:cNvPr>
          <p:cNvSpPr txBox="1"/>
          <p:nvPr/>
        </p:nvSpPr>
        <p:spPr>
          <a:xfrm>
            <a:off x="6308725" y="8993188"/>
            <a:ext cx="538163" cy="158750"/>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728D71D6-3455-4614-AB48-1DC83F526FD5}"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20</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sp>
        <p:nvSpPr>
          <p:cNvPr id="14" name="Rectangle 26">
            <a:extLst>
              <a:ext uri="{FF2B5EF4-FFF2-40B4-BE49-F238E27FC236}">
                <a16:creationId xmlns:a16="http://schemas.microsoft.com/office/drawing/2014/main" id="{00000000-0008-0000-0100-000003000000}"/>
              </a:ext>
            </a:extLst>
          </p:cNvPr>
          <p:cNvSpPr>
            <a:spLocks noChangeArrowheads="1"/>
          </p:cNvSpPr>
          <p:nvPr/>
        </p:nvSpPr>
        <p:spPr bwMode="auto">
          <a:xfrm rot="10800000">
            <a:off x="12698" y="-6188"/>
            <a:ext cx="6845301" cy="369795"/>
          </a:xfrm>
          <a:prstGeom prst="rect">
            <a:avLst/>
          </a:prstGeom>
          <a:solidFill>
            <a:srgbClr val="FF9999"/>
          </a:solidFill>
          <a:ln w="9525">
            <a:noFill/>
            <a:miter lim="800000"/>
            <a:headEnd/>
            <a:tailEnd/>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r" rtl="1">
              <a:defRPr sz="1000"/>
            </a:pPr>
            <a:endParaRPr lang="en-US" altLang="ja-JP" sz="1800" b="1" i="0" strike="noStrike">
              <a:solidFill>
                <a:schemeClr val="tx1"/>
              </a:solidFill>
              <a:latin typeface="+mj-ea"/>
              <a:ea typeface="+mj-ea"/>
            </a:endParaRPr>
          </a:p>
        </p:txBody>
      </p:sp>
      <p:sp>
        <p:nvSpPr>
          <p:cNvPr id="15" name="テキスト ボックス 8">
            <a:extLst>
              <a:ext uri="{FF2B5EF4-FFF2-40B4-BE49-F238E27FC236}">
                <a16:creationId xmlns:a16="http://schemas.microsoft.com/office/drawing/2014/main" id="{A8419715-4FC4-4D62-BCD2-A0664A6EB391}"/>
              </a:ext>
            </a:extLst>
          </p:cNvPr>
          <p:cNvSpPr txBox="1"/>
          <p:nvPr/>
        </p:nvSpPr>
        <p:spPr>
          <a:xfrm>
            <a:off x="1844824" y="-44896"/>
            <a:ext cx="5000477" cy="443141"/>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r"/>
            <a:r>
              <a:rPr lang="ja-JP" altLang="en-US" sz="1400" b="1" dirty="0">
                <a:latin typeface="メイリオ" panose="020B0604030504040204" pitchFamily="50" charset="-128"/>
                <a:ea typeface="メイリオ" panose="020B0604030504040204" pitchFamily="50" charset="-128"/>
              </a:rPr>
              <a:t>イズム </a:t>
            </a:r>
            <a:r>
              <a:rPr lang="en-US" altLang="ja-JP" sz="1400" b="1" dirty="0">
                <a:latin typeface="メイリオ" panose="020B0604030504040204" pitchFamily="50" charset="-128"/>
                <a:ea typeface="メイリオ" panose="020B0604030504040204" pitchFamily="50" charset="-128"/>
              </a:rPr>
              <a:t>of</a:t>
            </a:r>
            <a:r>
              <a:rPr lang="ja-JP" altLang="en-US" sz="1400" b="1" dirty="0">
                <a:latin typeface="メイリオ" panose="020B0604030504040204" pitchFamily="50" charset="-128"/>
                <a:ea typeface="メイリオ" panose="020B0604030504040204" pitchFamily="50" charset="-128"/>
              </a:rPr>
              <a:t> </a:t>
            </a:r>
            <a:r>
              <a:rPr lang="en-US" altLang="ja-JP" sz="1400" b="1" dirty="0">
                <a:latin typeface="メイリオ" panose="020B0604030504040204" pitchFamily="50" charset="-128"/>
                <a:ea typeface="メイリオ" panose="020B0604030504040204" pitchFamily="50" charset="-128"/>
              </a:rPr>
              <a:t>Month</a:t>
            </a:r>
            <a:r>
              <a:rPr kumimoji="1" lang="en-US" altLang="ja-JP" sz="1400" b="1" dirty="0">
                <a:latin typeface="メイリオ" panose="020B0604030504040204" pitchFamily="50" charset="-128"/>
                <a:ea typeface="メイリオ" panose="020B0604030504040204" pitchFamily="50" charset="-128"/>
              </a:rPr>
              <a:t> </a:t>
            </a:r>
            <a:r>
              <a:rPr kumimoji="1" lang="ja-JP" altLang="en-US" sz="1400" b="1" dirty="0">
                <a:latin typeface="メイリオ" panose="020B0604030504040204" pitchFamily="50" charset="-128"/>
                <a:ea typeface="メイリオ" panose="020B0604030504040204" pitchFamily="50" charset="-128"/>
              </a:rPr>
              <a:t>～</a:t>
            </a:r>
            <a:r>
              <a:rPr kumimoji="1" lang="en-US" altLang="ja-JP" sz="1400" b="1" dirty="0">
                <a:latin typeface="メイリオ" panose="020B0604030504040204" pitchFamily="50" charset="-128"/>
                <a:ea typeface="メイリオ" panose="020B0604030504040204" pitchFamily="50" charset="-128"/>
              </a:rPr>
              <a:t>2021</a:t>
            </a:r>
            <a:r>
              <a:rPr kumimoji="1" lang="ja-JP" altLang="en-US" sz="1400" b="1" dirty="0">
                <a:latin typeface="メイリオ" panose="020B0604030504040204" pitchFamily="50" charset="-128"/>
                <a:ea typeface="メイリオ" panose="020B0604030504040204" pitchFamily="50" charset="-128"/>
              </a:rPr>
              <a:t>年</a:t>
            </a:r>
            <a:r>
              <a:rPr lang="en-US" altLang="ja-JP" sz="1400" b="1" dirty="0">
                <a:latin typeface="メイリオ" panose="020B0604030504040204" pitchFamily="50" charset="-128"/>
                <a:ea typeface="メイリオ" panose="020B0604030504040204" pitchFamily="50" charset="-128"/>
              </a:rPr>
              <a:t>6</a:t>
            </a:r>
            <a:r>
              <a:rPr kumimoji="1" lang="ja-JP" altLang="en-US" sz="1400" b="1" dirty="0">
                <a:latin typeface="メイリオ" panose="020B0604030504040204" pitchFamily="50" charset="-128"/>
                <a:ea typeface="メイリオ" panose="020B0604030504040204" pitchFamily="50" charset="-128"/>
              </a:rPr>
              <a:t>月度代表エピソード～</a:t>
            </a:r>
          </a:p>
        </p:txBody>
      </p:sp>
      <p:pic>
        <p:nvPicPr>
          <p:cNvPr id="16" name="図 15">
            <a:extLst>
              <a:ext uri="{FF2B5EF4-FFF2-40B4-BE49-F238E27FC236}">
                <a16:creationId xmlns:a16="http://schemas.microsoft.com/office/drawing/2014/main" id="{00000000-0008-0000-0100-000002000000}"/>
              </a:ext>
            </a:extLst>
          </p:cNvPr>
          <p:cNvPicPr>
            <a:picLocks noChangeAspect="1"/>
          </p:cNvPicPr>
          <p:nvPr/>
        </p:nvPicPr>
        <p:blipFill rotWithShape="1">
          <a:blip r:embed="rId4">
            <a:extLst>
              <a:ext uri="{28A0092B-C50C-407E-A947-70E740481C1C}">
                <a14:useLocalDpi xmlns:a14="http://schemas.microsoft.com/office/drawing/2010/main" val="0"/>
              </a:ext>
            </a:extLst>
          </a:blip>
          <a:srcRect l="10629" t="50589" b="27489"/>
          <a:stretch/>
        </p:blipFill>
        <p:spPr>
          <a:xfrm flipH="1">
            <a:off x="-1" y="954708"/>
            <a:ext cx="6845298" cy="354833"/>
          </a:xfrm>
          <a:prstGeom prst="rect">
            <a:avLst/>
          </a:prstGeom>
        </p:spPr>
      </p:pic>
      <p:graphicFrame>
        <p:nvGraphicFramePr>
          <p:cNvPr id="3" name="表 2">
            <a:extLst>
              <a:ext uri="{FF2B5EF4-FFF2-40B4-BE49-F238E27FC236}">
                <a16:creationId xmlns:a16="http://schemas.microsoft.com/office/drawing/2014/main" id="{8C139B86-40AC-45F7-87DB-228867D7DFA6}"/>
              </a:ext>
            </a:extLst>
          </p:cNvPr>
          <p:cNvGraphicFramePr>
            <a:graphicFrameLocks noGrp="1"/>
          </p:cNvGraphicFramePr>
          <p:nvPr>
            <p:extLst>
              <p:ext uri="{D42A27DB-BD31-4B8C-83A1-F6EECF244321}">
                <p14:modId xmlns:p14="http://schemas.microsoft.com/office/powerpoint/2010/main" val="4054071358"/>
              </p:ext>
            </p:extLst>
          </p:nvPr>
        </p:nvGraphicFramePr>
        <p:xfrm>
          <a:off x="0" y="586160"/>
          <a:ext cx="6858000" cy="354439"/>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3352499802"/>
                    </a:ext>
                  </a:extLst>
                </a:gridCol>
              </a:tblGrid>
              <a:tr h="354439">
                <a:tc>
                  <a:txBody>
                    <a:bodyPr/>
                    <a:lstStyle/>
                    <a:p>
                      <a:pPr algn="ctr" fontAlgn="ctr"/>
                      <a:r>
                        <a:rPr lang="ja-JP" altLang="en-US" sz="2000" b="1" i="0" u="none" strike="noStrike" dirty="0">
                          <a:effectLst/>
                          <a:latin typeface="メイリオ" panose="020B0604030504040204" pitchFamily="50" charset="-128"/>
                          <a:ea typeface="メイリオ" panose="020B0604030504040204" pitchFamily="50" charset="-128"/>
                        </a:rPr>
                        <a:t>主語がもうすでに</a:t>
                      </a:r>
                    </a:p>
                  </a:txBody>
                  <a:tcPr marL="0" marR="0" marT="0" marB="0" anchor="ctr">
                    <a:noFill/>
                  </a:tcPr>
                </a:tc>
                <a:extLst>
                  <a:ext uri="{0D108BD9-81ED-4DB2-BD59-A6C34878D82A}">
                    <a16:rowId xmlns:a16="http://schemas.microsoft.com/office/drawing/2014/main" val="51326532"/>
                  </a:ext>
                </a:extLst>
              </a:tr>
            </a:tbl>
          </a:graphicData>
        </a:graphic>
      </p:graphicFrame>
      <p:graphicFrame>
        <p:nvGraphicFramePr>
          <p:cNvPr id="20" name="表 19">
            <a:extLst>
              <a:ext uri="{FF2B5EF4-FFF2-40B4-BE49-F238E27FC236}">
                <a16:creationId xmlns:a16="http://schemas.microsoft.com/office/drawing/2014/main" id="{AF3D3932-C55C-4445-AEFA-77BB58B79194}"/>
              </a:ext>
            </a:extLst>
          </p:cNvPr>
          <p:cNvGraphicFramePr>
            <a:graphicFrameLocks noGrp="1"/>
          </p:cNvGraphicFramePr>
          <p:nvPr/>
        </p:nvGraphicFramePr>
        <p:xfrm>
          <a:off x="-3" y="1259632"/>
          <a:ext cx="6858000" cy="354439"/>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3352499802"/>
                    </a:ext>
                  </a:extLst>
                </a:gridCol>
              </a:tblGrid>
              <a:tr h="354439">
                <a:tc>
                  <a:txBody>
                    <a:bodyPr/>
                    <a:lstStyle/>
                    <a:p>
                      <a:pPr algn="ctr" fontAlgn="ctr"/>
                      <a:r>
                        <a:rPr lang="ja-JP" altLang="en-US" sz="1600" b="1" i="0" u="none" strike="noStrike" dirty="0">
                          <a:effectLst/>
                          <a:latin typeface="メイリオ" panose="020B0604030504040204" pitchFamily="50" charset="-128"/>
                          <a:ea typeface="メイリオ" panose="020B0604030504040204" pitchFamily="50" charset="-128"/>
                        </a:rPr>
                        <a:t>関連するイズム：判断基準はお客様</a:t>
                      </a:r>
                    </a:p>
                  </a:txBody>
                  <a:tcPr marL="0" marR="0" marT="0" marB="0" anchor="ctr">
                    <a:noFill/>
                  </a:tcPr>
                </a:tc>
                <a:extLst>
                  <a:ext uri="{0D108BD9-81ED-4DB2-BD59-A6C34878D82A}">
                    <a16:rowId xmlns:a16="http://schemas.microsoft.com/office/drawing/2014/main" val="51326532"/>
                  </a:ext>
                </a:extLst>
              </a:tr>
            </a:tbl>
          </a:graphicData>
        </a:graphic>
      </p:graphicFrame>
      <p:graphicFrame>
        <p:nvGraphicFramePr>
          <p:cNvPr id="21" name="表 20">
            <a:extLst>
              <a:ext uri="{FF2B5EF4-FFF2-40B4-BE49-F238E27FC236}">
                <a16:creationId xmlns:a16="http://schemas.microsoft.com/office/drawing/2014/main" id="{3EF87205-649E-42A4-A0E3-F2150B4E37B8}"/>
              </a:ext>
            </a:extLst>
          </p:cNvPr>
          <p:cNvGraphicFramePr>
            <a:graphicFrameLocks noGrp="1"/>
          </p:cNvGraphicFramePr>
          <p:nvPr>
            <p:extLst>
              <p:ext uri="{D42A27DB-BD31-4B8C-83A1-F6EECF244321}">
                <p14:modId xmlns:p14="http://schemas.microsoft.com/office/powerpoint/2010/main" val="122896459"/>
              </p:ext>
            </p:extLst>
          </p:nvPr>
        </p:nvGraphicFramePr>
        <p:xfrm>
          <a:off x="254296" y="1797224"/>
          <a:ext cx="6336704" cy="6447184"/>
        </p:xfrm>
        <a:graphic>
          <a:graphicData uri="http://schemas.openxmlformats.org/drawingml/2006/table">
            <a:tbl>
              <a:tblPr>
                <a:tableStyleId>{5C22544A-7EE6-4342-B048-85BDC9FD1C3A}</a:tableStyleId>
              </a:tblPr>
              <a:tblGrid>
                <a:gridCol w="6336704">
                  <a:extLst>
                    <a:ext uri="{9D8B030D-6E8A-4147-A177-3AD203B41FA5}">
                      <a16:colId xmlns:a16="http://schemas.microsoft.com/office/drawing/2014/main" val="3352499802"/>
                    </a:ext>
                  </a:extLst>
                </a:gridCol>
              </a:tblGrid>
              <a:tr h="6447184">
                <a:tc>
                  <a:txBody>
                    <a:bodyPr/>
                    <a:lstStyle/>
                    <a:p>
                      <a:pPr algn="l" fontAlgn="ctr"/>
                      <a:r>
                        <a:rPr lang="ja-JP" altLang="en-US" sz="1350" b="0" i="0" u="none" strike="noStrike" dirty="0">
                          <a:effectLst/>
                          <a:latin typeface="メイリオ" panose="020B0604030504040204" pitchFamily="50" charset="-128"/>
                          <a:ea typeface="メイリオ" panose="020B0604030504040204" pitchFamily="50" charset="-128"/>
                        </a:rPr>
                        <a:t>こんにちは！最近は美味しい食べ物をたくさん食べている深澤です。最近はまぐろ鉄火丼と麻婆豆腐とからあげとラーメンがすごく美味しいです。</a:t>
                      </a:r>
                    </a:p>
                    <a:p>
                      <a:pPr algn="l" fontAlgn="ctr"/>
                      <a:endParaRPr lang="ja-JP" altLang="en-US" sz="1350" b="0" i="0" u="none" strike="noStrike" dirty="0">
                        <a:effectLst/>
                        <a:latin typeface="メイリオ" panose="020B0604030504040204" pitchFamily="50" charset="-128"/>
                        <a:ea typeface="メイリオ" panose="020B0604030504040204" pitchFamily="50" charset="-128"/>
                      </a:endParaRPr>
                    </a:p>
                    <a:p>
                      <a:pPr algn="l" fontAlgn="ctr"/>
                      <a:r>
                        <a:rPr lang="ja-JP" altLang="en-US" sz="1350" b="0" i="0" u="none" strike="noStrike" dirty="0">
                          <a:effectLst/>
                          <a:latin typeface="メイリオ" panose="020B0604030504040204" pitchFamily="50" charset="-128"/>
                          <a:ea typeface="メイリオ" panose="020B0604030504040204" pitchFamily="50" charset="-128"/>
                        </a:rPr>
                        <a:t>今回はある日のクリーンスタッフさんとの会話の中で「スゴい！」と感じたことを共有させていただきます。主役は、マルハン袖師店のリセット清掃のリーダー海野留美さんです。実は私は入社前、お仕事体験ということで袖師店のリセット清掃にお邪魔したことがありました。その時には、リーダーだけでなく現場のスタッフ全員に温かく迎えて頂いた印象が強く、自宅から一番近い担当店舗ということもあり、袖師店は私にとって思い入れのある店舗です。</a:t>
                      </a:r>
                    </a:p>
                    <a:p>
                      <a:pPr algn="l" fontAlgn="ctr"/>
                      <a:endParaRPr lang="ja-JP" altLang="en-US" sz="1350" b="0" i="0" u="none" strike="noStrike" dirty="0">
                        <a:effectLst/>
                        <a:latin typeface="メイリオ" panose="020B0604030504040204" pitchFamily="50" charset="-128"/>
                        <a:ea typeface="メイリオ" panose="020B0604030504040204" pitchFamily="50" charset="-128"/>
                      </a:endParaRPr>
                    </a:p>
                    <a:p>
                      <a:pPr algn="l" fontAlgn="ctr"/>
                      <a:r>
                        <a:rPr lang="ja-JP" altLang="en-US" sz="1350" b="0" i="0" u="none" strike="noStrike" dirty="0">
                          <a:effectLst/>
                          <a:latin typeface="メイリオ" panose="020B0604030504040204" pitchFamily="50" charset="-128"/>
                          <a:ea typeface="メイリオ" panose="020B0604030504040204" pitchFamily="50" charset="-128"/>
                        </a:rPr>
                        <a:t>海野さんは報告や相談ごとがあればすぐに連絡してくださり、とても連携の取りやすいリーダーです。そのため、</a:t>
                      </a:r>
                      <a:r>
                        <a:rPr lang="en-US" altLang="ja-JP" sz="1350" b="0" i="0" u="none" strike="noStrike" dirty="0">
                          <a:effectLst/>
                          <a:latin typeface="メイリオ" panose="020B0604030504040204" pitchFamily="50" charset="-128"/>
                          <a:ea typeface="メイリオ" panose="020B0604030504040204" pitchFamily="50" charset="-128"/>
                        </a:rPr>
                        <a:t>4</a:t>
                      </a:r>
                      <a:r>
                        <a:rPr lang="ja-JP" altLang="en-US" sz="1350" b="0" i="0" u="none" strike="noStrike" dirty="0">
                          <a:effectLst/>
                          <a:latin typeface="メイリオ" panose="020B0604030504040204" pitchFamily="50" charset="-128"/>
                          <a:ea typeface="メイリオ" panose="020B0604030504040204" pitchFamily="50" charset="-128"/>
                        </a:rPr>
                        <a:t>月からの清掃仕様がガラッと変わるタイミングや、その前後にもメールでやりとりしたり巡回時に直接話すことが多かったのですが、海野さんは意見を述べるときや、こちらが何かを相談したとき</a:t>
                      </a:r>
                    </a:p>
                    <a:p>
                      <a:pPr algn="l" fontAlgn="ctr"/>
                      <a:endParaRPr lang="en-US" altLang="ja-JP" sz="1350" b="0" i="0" u="none" strike="noStrike" dirty="0">
                        <a:effectLst/>
                        <a:latin typeface="メイリオ" panose="020B0604030504040204" pitchFamily="50" charset="-128"/>
                        <a:ea typeface="メイリオ" panose="020B0604030504040204" pitchFamily="50" charset="-128"/>
                      </a:endParaRPr>
                    </a:p>
                    <a:p>
                      <a:pPr algn="l" fontAlgn="ctr"/>
                      <a:r>
                        <a:rPr lang="ja-JP" altLang="en-US" sz="1350" b="0" i="0" u="none" strike="noStrike" dirty="0">
                          <a:effectLst/>
                          <a:latin typeface="メイリオ" panose="020B0604030504040204" pitchFamily="50" charset="-128"/>
                          <a:ea typeface="メイリオ" panose="020B0604030504040204" pitchFamily="50" charset="-128"/>
                        </a:rPr>
                        <a:t>「お客様は〇〇だから、こうした方がいいのかな？」</a:t>
                      </a:r>
                    </a:p>
                    <a:p>
                      <a:pPr algn="l" fontAlgn="ctr"/>
                      <a:r>
                        <a:rPr lang="ja-JP" altLang="en-US" sz="1350" b="0" i="0" u="none" strike="noStrike" dirty="0">
                          <a:effectLst/>
                          <a:latin typeface="メイリオ" panose="020B0604030504040204" pitchFamily="50" charset="-128"/>
                          <a:ea typeface="メイリオ" panose="020B0604030504040204" pitchFamily="50" charset="-128"/>
                        </a:rPr>
                        <a:t>「私がお客様だったら〇〇かもしれないけど、どうなんだろう？」</a:t>
                      </a:r>
                    </a:p>
                    <a:p>
                      <a:pPr algn="l" fontAlgn="ctr"/>
                      <a:endParaRPr lang="en-US" altLang="ja-JP" sz="1350" b="0" i="0" u="none" strike="noStrike" dirty="0">
                        <a:effectLst/>
                        <a:latin typeface="メイリオ" panose="020B0604030504040204" pitchFamily="50" charset="-128"/>
                        <a:ea typeface="メイリオ" panose="020B0604030504040204" pitchFamily="50" charset="-128"/>
                      </a:endParaRPr>
                    </a:p>
                    <a:p>
                      <a:pPr algn="l" fontAlgn="ctr"/>
                      <a:r>
                        <a:rPr lang="ja-JP" altLang="en-US" sz="1350" b="0" i="0" u="none" strike="noStrike" dirty="0">
                          <a:effectLst/>
                          <a:latin typeface="メイリオ" panose="020B0604030504040204" pitchFamily="50" charset="-128"/>
                          <a:ea typeface="メイリオ" panose="020B0604030504040204" pitchFamily="50" charset="-128"/>
                        </a:rPr>
                        <a:t>などなど、主語が「自分が～」ではなく、「お客様が～」と始まることが多いのです。</a:t>
                      </a:r>
                    </a:p>
                    <a:p>
                      <a:pPr algn="l" fontAlgn="ctr"/>
                      <a:endParaRPr lang="ja-JP" altLang="en-US" sz="1350" b="0" i="0" u="none" strike="noStrike" dirty="0">
                        <a:effectLst/>
                        <a:latin typeface="メイリオ" panose="020B0604030504040204" pitchFamily="50" charset="-128"/>
                        <a:ea typeface="メイリオ" panose="020B0604030504040204" pitchFamily="50" charset="-128"/>
                      </a:endParaRPr>
                    </a:p>
                    <a:p>
                      <a:pPr algn="l" fontAlgn="ctr"/>
                      <a:r>
                        <a:rPr lang="ja-JP" altLang="en-US" sz="1350" b="0" i="0" u="none" strike="noStrike" dirty="0">
                          <a:effectLst/>
                          <a:latin typeface="メイリオ" panose="020B0604030504040204" pitchFamily="50" charset="-128"/>
                          <a:ea typeface="メイリオ" panose="020B0604030504040204" pitchFamily="50" charset="-128"/>
                        </a:rPr>
                        <a:t>自分の感覚や意見ではなく、お客様の目線に立って考えたり、相手の気持ちになって物事を伝えられることが自然にできていて、普段から</a:t>
                      </a:r>
                      <a:r>
                        <a:rPr lang="en-US" altLang="ja-JP" sz="1350" b="0" i="0" u="none" strike="noStrike" dirty="0">
                          <a:effectLst/>
                          <a:latin typeface="メイリオ" panose="020B0604030504040204" pitchFamily="50" charset="-128"/>
                          <a:ea typeface="メイリオ" panose="020B0604030504040204" pitchFamily="50" charset="-128"/>
                        </a:rPr>
                        <a:t>【</a:t>
                      </a:r>
                      <a:r>
                        <a:rPr lang="ja-JP" altLang="en-US" sz="1350" b="0" i="0" u="none" strike="noStrike" dirty="0">
                          <a:effectLst/>
                          <a:latin typeface="メイリオ" panose="020B0604030504040204" pitchFamily="50" charset="-128"/>
                          <a:ea typeface="メイリオ" panose="020B0604030504040204" pitchFamily="50" charset="-128"/>
                        </a:rPr>
                        <a:t>判断基準はお客様</a:t>
                      </a:r>
                      <a:r>
                        <a:rPr lang="en-US" altLang="ja-JP" sz="1350" b="0" i="0" u="none" strike="noStrike" dirty="0">
                          <a:effectLst/>
                          <a:latin typeface="メイリオ" panose="020B0604030504040204" pitchFamily="50" charset="-128"/>
                          <a:ea typeface="メイリオ" panose="020B0604030504040204" pitchFamily="50" charset="-128"/>
                        </a:rPr>
                        <a:t>】</a:t>
                      </a:r>
                      <a:r>
                        <a:rPr lang="ja-JP" altLang="en-US" sz="1350" b="0" i="0" u="none" strike="noStrike" dirty="0">
                          <a:effectLst/>
                          <a:latin typeface="メイリオ" panose="020B0604030504040204" pitchFamily="50" charset="-128"/>
                          <a:ea typeface="メイリオ" panose="020B0604030504040204" pitchFamily="50" charset="-128"/>
                        </a:rPr>
                        <a:t>を実践している人でないとこれはできないなと思いました。素晴らしい！</a:t>
                      </a:r>
                    </a:p>
                    <a:p>
                      <a:pPr algn="l" fontAlgn="ctr"/>
                      <a:endParaRPr lang="ja-JP" altLang="en-US" sz="1350" b="0" i="0" u="none" strike="noStrike" dirty="0">
                        <a:effectLst/>
                        <a:latin typeface="メイリオ" panose="020B0604030504040204" pitchFamily="50" charset="-128"/>
                        <a:ea typeface="メイリオ" panose="020B0604030504040204" pitchFamily="50" charset="-128"/>
                      </a:endParaRPr>
                    </a:p>
                    <a:p>
                      <a:pPr algn="l" fontAlgn="ctr"/>
                      <a:r>
                        <a:rPr lang="ja-JP" altLang="en-US" sz="1350" b="0" i="0" u="none" strike="noStrike" dirty="0">
                          <a:effectLst/>
                          <a:latin typeface="メイリオ" panose="020B0604030504040204" pitchFamily="50" charset="-128"/>
                          <a:ea typeface="メイリオ" panose="020B0604030504040204" pitchFamily="50" charset="-128"/>
                        </a:rPr>
                        <a:t>そんな素晴らしい海野さんだからこそ、現場のスタッフさんはついていくんだなと感じました。そして、私はそんな素晴らしい海野さんから良い影響を受けているので、何か迷ったときや悩んだときは、海野さんのように「お客様にとってベストな選択」を心がけて日々のお仕事に取り組んでいきます。</a:t>
                      </a:r>
                    </a:p>
                    <a:p>
                      <a:pPr algn="l" fontAlgn="ctr"/>
                      <a:endParaRPr lang="ja-JP" altLang="en-US" sz="1350" b="0" i="0" u="none" strike="noStrike" dirty="0">
                        <a:effectLst/>
                        <a:latin typeface="メイリオ" panose="020B0604030504040204" pitchFamily="50" charset="-128"/>
                        <a:ea typeface="メイリオ" panose="020B0604030504040204" pitchFamily="50" charset="-128"/>
                      </a:endParaRPr>
                    </a:p>
                  </a:txBody>
                  <a:tcPr marL="0" marR="0" marT="0" marB="0" anchor="ctr">
                    <a:noFill/>
                  </a:tcPr>
                </a:tc>
                <a:extLst>
                  <a:ext uri="{0D108BD9-81ED-4DB2-BD59-A6C34878D82A}">
                    <a16:rowId xmlns:a16="http://schemas.microsoft.com/office/drawing/2014/main" val="51326532"/>
                  </a:ext>
                </a:extLst>
              </a:tr>
            </a:tbl>
          </a:graphicData>
        </a:graphic>
      </p:graphicFrame>
      <p:graphicFrame>
        <p:nvGraphicFramePr>
          <p:cNvPr id="4" name="表 3">
            <a:extLst>
              <a:ext uri="{FF2B5EF4-FFF2-40B4-BE49-F238E27FC236}">
                <a16:creationId xmlns:a16="http://schemas.microsoft.com/office/drawing/2014/main" id="{B79B7192-0D9C-4382-8D0B-167C3C35CE90}"/>
              </a:ext>
            </a:extLst>
          </p:cNvPr>
          <p:cNvGraphicFramePr>
            <a:graphicFrameLocks noGrp="1"/>
          </p:cNvGraphicFramePr>
          <p:nvPr>
            <p:extLst>
              <p:ext uri="{D42A27DB-BD31-4B8C-83A1-F6EECF244321}">
                <p14:modId xmlns:p14="http://schemas.microsoft.com/office/powerpoint/2010/main" val="3684978135"/>
              </p:ext>
            </p:extLst>
          </p:nvPr>
        </p:nvGraphicFramePr>
        <p:xfrm>
          <a:off x="704849" y="8143446"/>
          <a:ext cx="6140447" cy="605018"/>
        </p:xfrm>
        <a:graphic>
          <a:graphicData uri="http://schemas.openxmlformats.org/drawingml/2006/table">
            <a:tbl>
              <a:tblPr/>
              <a:tblGrid>
                <a:gridCol w="313857">
                  <a:extLst>
                    <a:ext uri="{9D8B030D-6E8A-4147-A177-3AD203B41FA5}">
                      <a16:colId xmlns:a16="http://schemas.microsoft.com/office/drawing/2014/main" val="4026392200"/>
                    </a:ext>
                  </a:extLst>
                </a:gridCol>
                <a:gridCol w="617588">
                  <a:extLst>
                    <a:ext uri="{9D8B030D-6E8A-4147-A177-3AD203B41FA5}">
                      <a16:colId xmlns:a16="http://schemas.microsoft.com/office/drawing/2014/main" val="2265573359"/>
                    </a:ext>
                  </a:extLst>
                </a:gridCol>
                <a:gridCol w="2885454">
                  <a:extLst>
                    <a:ext uri="{9D8B030D-6E8A-4147-A177-3AD203B41FA5}">
                      <a16:colId xmlns:a16="http://schemas.microsoft.com/office/drawing/2014/main" val="2831491253"/>
                    </a:ext>
                  </a:extLst>
                </a:gridCol>
                <a:gridCol w="2323548">
                  <a:extLst>
                    <a:ext uri="{9D8B030D-6E8A-4147-A177-3AD203B41FA5}">
                      <a16:colId xmlns:a16="http://schemas.microsoft.com/office/drawing/2014/main" val="2078562565"/>
                    </a:ext>
                  </a:extLst>
                </a:gridCol>
              </a:tblGrid>
              <a:tr h="302509">
                <a:tc>
                  <a:txBody>
                    <a:bodyPr/>
                    <a:lstStyle/>
                    <a:p>
                      <a:pPr algn="l" fontAlgn="ctr"/>
                      <a:endParaRPr lang="ja-JP" altLang="en-US" sz="900" b="1" i="0" u="none" strike="noStrike">
                        <a:effectLst/>
                        <a:latin typeface="メイリオ" panose="020B0604030504040204" pitchFamily="50" charset="-128"/>
                        <a:ea typeface="メイリオ" panose="020B0604030504040204" pitchFamily="50" charset="-128"/>
                      </a:endParaRPr>
                    </a:p>
                  </a:txBody>
                  <a:tcPr marL="7203" marR="7203" marT="7203" marB="0" anchor="ctr">
                    <a:lnL>
                      <a:noFill/>
                    </a:lnL>
                    <a:lnR>
                      <a:noFill/>
                    </a:lnR>
                    <a:lnT>
                      <a:noFill/>
                    </a:lnT>
                    <a:lnB>
                      <a:noFill/>
                    </a:lnB>
                  </a:tcPr>
                </a:tc>
                <a:tc>
                  <a:txBody>
                    <a:bodyPr/>
                    <a:lstStyle/>
                    <a:p>
                      <a:pPr algn="l" fontAlgn="ctr"/>
                      <a:endParaRPr lang="ja-JP" altLang="en-US" sz="1200" b="1" i="0" u="none" strike="noStrike">
                        <a:effectLst/>
                        <a:latin typeface="メイリオ" panose="020B0604030504040204" pitchFamily="50" charset="-128"/>
                        <a:ea typeface="メイリオ" panose="020B0604030504040204" pitchFamily="50" charset="-128"/>
                      </a:endParaRPr>
                    </a:p>
                  </a:txBody>
                  <a:tcPr marL="7203" marR="7203" marT="7203" marB="0" anchor="ctr">
                    <a:lnL>
                      <a:noFill/>
                    </a:lnL>
                    <a:lnR>
                      <a:noFill/>
                    </a:lnR>
                    <a:lnT>
                      <a:noFill/>
                    </a:lnT>
                    <a:lnB>
                      <a:noFill/>
                    </a:lnB>
                  </a:tcPr>
                </a:tc>
                <a:tc>
                  <a:txBody>
                    <a:bodyPr/>
                    <a:lstStyle/>
                    <a:p>
                      <a:pPr algn="ctr" fontAlgn="ctr"/>
                      <a:r>
                        <a:rPr lang="ja-JP" altLang="en-US" sz="1200" b="1" i="0" u="none" strike="noStrike" dirty="0">
                          <a:effectLst/>
                          <a:latin typeface="メイリオ" panose="020B0604030504040204" pitchFamily="50" charset="-128"/>
                          <a:ea typeface="メイリオ" panose="020B0604030504040204" pitchFamily="50" charset="-128"/>
                        </a:rPr>
                        <a:t>（所属）</a:t>
                      </a:r>
                    </a:p>
                  </a:txBody>
                  <a:tcPr marL="7203" marR="7203" marT="7203" marB="0" anchor="ctr">
                    <a:lnL>
                      <a:noFill/>
                    </a:lnL>
                    <a:lnR>
                      <a:noFill/>
                    </a:lnR>
                    <a:lnT>
                      <a:noFill/>
                    </a:lnT>
                    <a:lnB>
                      <a:noFill/>
                    </a:lnB>
                  </a:tcPr>
                </a:tc>
                <a:tc>
                  <a:txBody>
                    <a:bodyPr/>
                    <a:lstStyle/>
                    <a:p>
                      <a:pPr algn="ctr" fontAlgn="ctr"/>
                      <a:r>
                        <a:rPr lang="ja-JP" altLang="en-US" sz="1200" b="1" i="0" u="none" strike="noStrike" dirty="0">
                          <a:effectLst/>
                          <a:latin typeface="メイリオ" panose="020B0604030504040204" pitchFamily="50" charset="-128"/>
                          <a:ea typeface="メイリオ" panose="020B0604030504040204" pitchFamily="50" charset="-128"/>
                        </a:rPr>
                        <a:t>（氏名）</a:t>
                      </a:r>
                    </a:p>
                  </a:txBody>
                  <a:tcPr marL="7203" marR="7203" marT="7203" marB="0" anchor="ctr">
                    <a:lnL>
                      <a:noFill/>
                    </a:lnL>
                    <a:lnR>
                      <a:noFill/>
                    </a:lnR>
                    <a:lnT>
                      <a:noFill/>
                    </a:lnT>
                    <a:lnB>
                      <a:noFill/>
                    </a:lnB>
                  </a:tcPr>
                </a:tc>
                <a:extLst>
                  <a:ext uri="{0D108BD9-81ED-4DB2-BD59-A6C34878D82A}">
                    <a16:rowId xmlns:a16="http://schemas.microsoft.com/office/drawing/2014/main" val="2937889479"/>
                  </a:ext>
                </a:extLst>
              </a:tr>
              <a:tr h="302509">
                <a:tc gridSpan="2">
                  <a:txBody>
                    <a:bodyPr/>
                    <a:lstStyle/>
                    <a:p>
                      <a:pPr algn="ctr" fontAlgn="ctr"/>
                      <a:r>
                        <a:rPr lang="ja-JP" altLang="en-US" sz="1200" b="1" i="0" u="none" strike="noStrike" dirty="0">
                          <a:effectLst/>
                          <a:latin typeface="メイリオ" panose="020B0604030504040204" pitchFamily="50" charset="-128"/>
                          <a:ea typeface="メイリオ" panose="020B0604030504040204" pitchFamily="50" charset="-128"/>
                        </a:rPr>
                        <a:t>寄稿者</a:t>
                      </a:r>
                    </a:p>
                  </a:txBody>
                  <a:tcPr marL="7203" marR="7203" marT="7203" marB="0" anchor="ctr">
                    <a:lnL>
                      <a:noFill/>
                    </a:lnL>
                    <a:lnR>
                      <a:noFill/>
                    </a:lnR>
                    <a:lnT>
                      <a:noFill/>
                    </a:lnT>
                    <a:lnB>
                      <a:noFill/>
                    </a:lnB>
                  </a:tcPr>
                </a:tc>
                <a:tc hMerge="1">
                  <a:txBody>
                    <a:bodyPr/>
                    <a:lstStyle/>
                    <a:p>
                      <a:endParaRPr kumimoji="1" lang="ja-JP" altLang="en-US"/>
                    </a:p>
                  </a:txBody>
                  <a:tcPr/>
                </a:tc>
                <a:tc>
                  <a:txBody>
                    <a:bodyPr/>
                    <a:lstStyle/>
                    <a:p>
                      <a:pPr algn="ctr" fontAlgn="ctr"/>
                      <a:r>
                        <a:rPr lang="ja-JP" altLang="en-US" sz="1400" b="1" i="0" u="none" strike="noStrike" dirty="0">
                          <a:effectLst/>
                          <a:latin typeface="メイリオ" panose="020B0604030504040204" pitchFamily="50" charset="-128"/>
                          <a:ea typeface="メイリオ" panose="020B0604030504040204" pitchFamily="50" charset="-128"/>
                        </a:rPr>
                        <a:t>営業推進チーム</a:t>
                      </a:r>
                    </a:p>
                  </a:txBody>
                  <a:tcPr marL="7203" marR="7203" marT="7203" marB="0" anchor="ctr">
                    <a:lnL>
                      <a:noFill/>
                    </a:lnL>
                    <a:lnR>
                      <a:noFill/>
                    </a:lnR>
                    <a:lnT>
                      <a:noFill/>
                    </a:lnT>
                    <a:lnB>
                      <a:noFill/>
                    </a:lnB>
                  </a:tcPr>
                </a:tc>
                <a:tc>
                  <a:txBody>
                    <a:bodyPr/>
                    <a:lstStyle/>
                    <a:p>
                      <a:pPr algn="ctr" fontAlgn="ctr"/>
                      <a:r>
                        <a:rPr lang="ja-JP" altLang="en-US" sz="1400" b="1" i="0" u="none" strike="noStrike" dirty="0">
                          <a:effectLst/>
                          <a:latin typeface="メイリオ" panose="020B0604030504040204" pitchFamily="50" charset="-128"/>
                          <a:ea typeface="メイリオ" panose="020B0604030504040204" pitchFamily="50" charset="-128"/>
                        </a:rPr>
                        <a:t>深澤　友美</a:t>
                      </a:r>
                    </a:p>
                  </a:txBody>
                  <a:tcPr marL="7203" marR="7203" marT="7203" marB="0" anchor="ctr">
                    <a:lnL>
                      <a:noFill/>
                    </a:lnL>
                    <a:lnR>
                      <a:noFill/>
                    </a:lnR>
                    <a:lnT>
                      <a:noFill/>
                    </a:lnT>
                    <a:lnB>
                      <a:noFill/>
                    </a:lnB>
                  </a:tcPr>
                </a:tc>
                <a:extLst>
                  <a:ext uri="{0D108BD9-81ED-4DB2-BD59-A6C34878D82A}">
                    <a16:rowId xmlns:a16="http://schemas.microsoft.com/office/drawing/2014/main" val="4267474516"/>
                  </a:ext>
                </a:extLst>
              </a:tr>
            </a:tbl>
          </a:graphicData>
        </a:graphic>
      </p:graphicFrame>
    </p:spTree>
    <p:extLst>
      <p:ext uri="{BB962C8B-B14F-4D97-AF65-F5344CB8AC3E}">
        <p14:creationId xmlns:p14="http://schemas.microsoft.com/office/powerpoint/2010/main" val="23791785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正方形/長方形 21">
            <a:extLst>
              <a:ext uri="{FF2B5EF4-FFF2-40B4-BE49-F238E27FC236}">
                <a16:creationId xmlns:a16="http://schemas.microsoft.com/office/drawing/2014/main" id="{81E63FD5-3F6F-41D9-96EA-772ECC95B203}"/>
              </a:ext>
            </a:extLst>
          </p:cNvPr>
          <p:cNvSpPr/>
          <p:nvPr/>
        </p:nvSpPr>
        <p:spPr>
          <a:xfrm>
            <a:off x="4756150" y="5937250"/>
            <a:ext cx="542925" cy="1152525"/>
          </a:xfrm>
          <a:prstGeom prst="rect">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1100" b="1">
              <a:latin typeface="メイリオ" panose="020B0604030504040204" pitchFamily="50" charset="-128"/>
              <a:ea typeface="メイリオ" panose="020B0604030504040204" pitchFamily="50" charset="-128"/>
            </a:endParaRPr>
          </a:p>
        </p:txBody>
      </p:sp>
      <p:sp>
        <p:nvSpPr>
          <p:cNvPr id="4" name="矢印: 右 3">
            <a:extLst>
              <a:ext uri="{FF2B5EF4-FFF2-40B4-BE49-F238E27FC236}">
                <a16:creationId xmlns:a16="http://schemas.microsoft.com/office/drawing/2014/main" id="{D1A6F78C-14CA-40BE-BA84-658D6B0FCC6D}"/>
              </a:ext>
            </a:extLst>
          </p:cNvPr>
          <p:cNvSpPr/>
          <p:nvPr/>
        </p:nvSpPr>
        <p:spPr>
          <a:xfrm>
            <a:off x="1924050" y="6300788"/>
            <a:ext cx="1111250" cy="434975"/>
          </a:xfrm>
          <a:prstGeom prst="rightArrow">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1100" b="1">
              <a:latin typeface="メイリオ" panose="020B0604030504040204" pitchFamily="50" charset="-128"/>
              <a:ea typeface="メイリオ" panose="020B0604030504040204" pitchFamily="50" charset="-128"/>
            </a:endParaRPr>
          </a:p>
        </p:txBody>
      </p:sp>
      <p:sp>
        <p:nvSpPr>
          <p:cNvPr id="26" name="正方形/長方形 25">
            <a:extLst>
              <a:ext uri="{FF2B5EF4-FFF2-40B4-BE49-F238E27FC236}">
                <a16:creationId xmlns:a16="http://schemas.microsoft.com/office/drawing/2014/main" id="{A1702815-DE57-43F0-A104-A142FD96AA90}"/>
              </a:ext>
            </a:extLst>
          </p:cNvPr>
          <p:cNvSpPr/>
          <p:nvPr/>
        </p:nvSpPr>
        <p:spPr>
          <a:xfrm>
            <a:off x="2133600" y="5937250"/>
            <a:ext cx="539750" cy="1152525"/>
          </a:xfrm>
          <a:prstGeom prst="rect">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1100" b="1">
              <a:solidFill>
                <a:schemeClr val="tx1"/>
              </a:solidFill>
              <a:latin typeface="メイリオ" panose="020B0604030504040204" pitchFamily="50" charset="-128"/>
              <a:ea typeface="メイリオ" panose="020B0604030504040204" pitchFamily="50" charset="-128"/>
            </a:endParaRPr>
          </a:p>
        </p:txBody>
      </p:sp>
      <p:sp>
        <p:nvSpPr>
          <p:cNvPr id="19" name="矢印: 右 18">
            <a:extLst>
              <a:ext uri="{FF2B5EF4-FFF2-40B4-BE49-F238E27FC236}">
                <a16:creationId xmlns:a16="http://schemas.microsoft.com/office/drawing/2014/main" id="{FFD7FCC2-DD99-4F4C-A15B-1CE7EDDD30FB}"/>
              </a:ext>
            </a:extLst>
          </p:cNvPr>
          <p:cNvSpPr/>
          <p:nvPr/>
        </p:nvSpPr>
        <p:spPr>
          <a:xfrm>
            <a:off x="4408488" y="6300788"/>
            <a:ext cx="263525" cy="433387"/>
          </a:xfrm>
          <a:prstGeom prst="rightArrow">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1100" b="1">
              <a:solidFill>
                <a:schemeClr val="tx1"/>
              </a:solidFill>
              <a:latin typeface="メイリオ" panose="020B0604030504040204" pitchFamily="50" charset="-128"/>
              <a:ea typeface="メイリオ" panose="020B0604030504040204" pitchFamily="50" charset="-128"/>
            </a:endParaRPr>
          </a:p>
        </p:txBody>
      </p:sp>
      <p:grpSp>
        <p:nvGrpSpPr>
          <p:cNvPr id="22534" name="Group 19">
            <a:extLst>
              <a:ext uri="{FF2B5EF4-FFF2-40B4-BE49-F238E27FC236}">
                <a16:creationId xmlns:a16="http://schemas.microsoft.com/office/drawing/2014/main" id="{E67E27C3-A287-4DA2-99AC-80F1FCADA261}"/>
              </a:ext>
            </a:extLst>
          </p:cNvPr>
          <p:cNvGrpSpPr>
            <a:grpSpLocks/>
          </p:cNvGrpSpPr>
          <p:nvPr/>
        </p:nvGrpSpPr>
        <p:grpSpPr bwMode="auto">
          <a:xfrm>
            <a:off x="762000" y="457200"/>
            <a:ext cx="5638800" cy="2582863"/>
            <a:chOff x="567" y="125"/>
            <a:chExt cx="3129" cy="2353"/>
          </a:xfrm>
        </p:grpSpPr>
        <p:sp>
          <p:nvSpPr>
            <p:cNvPr id="22572" name="Rectangle 20">
              <a:extLst>
                <a:ext uri="{FF2B5EF4-FFF2-40B4-BE49-F238E27FC236}">
                  <a16:creationId xmlns:a16="http://schemas.microsoft.com/office/drawing/2014/main" id="{A34E3698-3B7C-45C5-9376-88A1FE3AD81E}"/>
                </a:ext>
              </a:extLst>
            </p:cNvPr>
            <p:cNvSpPr>
              <a:spLocks noChangeArrowheads="1"/>
            </p:cNvSpPr>
            <p:nvPr/>
          </p:nvSpPr>
          <p:spPr bwMode="auto">
            <a:xfrm>
              <a:off x="593" y="151"/>
              <a:ext cx="3103" cy="2327"/>
            </a:xfrm>
            <a:prstGeom prst="rect">
              <a:avLst/>
            </a:prstGeom>
            <a:solidFill>
              <a:srgbClr val="000000"/>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22573" name="Rectangle 21">
              <a:extLst>
                <a:ext uri="{FF2B5EF4-FFF2-40B4-BE49-F238E27FC236}">
                  <a16:creationId xmlns:a16="http://schemas.microsoft.com/office/drawing/2014/main" id="{4C644AEF-2968-4624-B355-59FD20B0D2AD}"/>
                </a:ext>
              </a:extLst>
            </p:cNvPr>
            <p:cNvSpPr>
              <a:spLocks noChangeArrowheads="1"/>
            </p:cNvSpPr>
            <p:nvPr/>
          </p:nvSpPr>
          <p:spPr bwMode="auto">
            <a:xfrm>
              <a:off x="567" y="125"/>
              <a:ext cx="3103" cy="2327"/>
            </a:xfrm>
            <a:prstGeom prst="rect">
              <a:avLst/>
            </a:prstGeom>
            <a:solidFill>
              <a:srgbClr val="FFFFFF"/>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grpSp>
      <p:sp>
        <p:nvSpPr>
          <p:cNvPr id="22535" name="Rectangle 12">
            <a:extLst>
              <a:ext uri="{FF2B5EF4-FFF2-40B4-BE49-F238E27FC236}">
                <a16:creationId xmlns:a16="http://schemas.microsoft.com/office/drawing/2014/main" id="{58BDD36E-4E26-4F5B-8AB7-9D0A17B375C8}"/>
              </a:ext>
            </a:extLst>
          </p:cNvPr>
          <p:cNvSpPr>
            <a:spLocks noChangeArrowheads="1"/>
          </p:cNvSpPr>
          <p:nvPr/>
        </p:nvSpPr>
        <p:spPr bwMode="auto">
          <a:xfrm>
            <a:off x="1119188" y="322263"/>
            <a:ext cx="418782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22536" name="Rectangle 13">
            <a:extLst>
              <a:ext uri="{FF2B5EF4-FFF2-40B4-BE49-F238E27FC236}">
                <a16:creationId xmlns:a16="http://schemas.microsoft.com/office/drawing/2014/main" id="{348BA631-F468-48A0-907D-3D9E879CE37F}"/>
              </a:ext>
            </a:extLst>
          </p:cNvPr>
          <p:cNvSpPr>
            <a:spLocks noChangeArrowheads="1"/>
          </p:cNvSpPr>
          <p:nvPr/>
        </p:nvSpPr>
        <p:spPr bwMode="auto">
          <a:xfrm>
            <a:off x="1219200" y="685800"/>
            <a:ext cx="23495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2200" b="1">
                <a:solidFill>
                  <a:srgbClr val="000000"/>
                </a:solidFill>
                <a:latin typeface="メイリオ" panose="020B0604030504040204" pitchFamily="50" charset="-128"/>
                <a:ea typeface="メイリオ" panose="020B0604030504040204" pitchFamily="50" charset="-128"/>
              </a:rPr>
              <a:t>MMI</a:t>
            </a:r>
            <a:r>
              <a:rPr lang="ja-JP" altLang="en-US" sz="2200" b="1">
                <a:solidFill>
                  <a:srgbClr val="000000"/>
                </a:solidFill>
                <a:latin typeface="メイリオ" panose="020B0604030504040204" pitchFamily="50" charset="-128"/>
                <a:ea typeface="メイリオ" panose="020B0604030504040204" pitchFamily="50" charset="-128"/>
              </a:rPr>
              <a:t>ファンの創造</a:t>
            </a:r>
            <a:endParaRPr lang="ja-JP" altLang="en-US" sz="2200" b="1">
              <a:latin typeface="メイリオ" panose="020B0604030504040204" pitchFamily="50" charset="-128"/>
              <a:ea typeface="メイリオ" panose="020B0604030504040204" pitchFamily="50" charset="-128"/>
            </a:endParaRPr>
          </a:p>
        </p:txBody>
      </p:sp>
      <p:sp>
        <p:nvSpPr>
          <p:cNvPr id="22537" name="Rectangle 22">
            <a:extLst>
              <a:ext uri="{FF2B5EF4-FFF2-40B4-BE49-F238E27FC236}">
                <a16:creationId xmlns:a16="http://schemas.microsoft.com/office/drawing/2014/main" id="{A9BF0CF5-9B98-4FDC-9B6E-2BC30A49FBD9}"/>
              </a:ext>
            </a:extLst>
          </p:cNvPr>
          <p:cNvSpPr>
            <a:spLocks noChangeArrowheads="1"/>
          </p:cNvSpPr>
          <p:nvPr/>
        </p:nvSpPr>
        <p:spPr bwMode="auto">
          <a:xfrm>
            <a:off x="1143000" y="1312863"/>
            <a:ext cx="4724400" cy="145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lnSpc>
                <a:spcPct val="150000"/>
              </a:lnSpc>
              <a:spcBef>
                <a:spcPct val="60000"/>
              </a:spcBef>
              <a:buFontTx/>
              <a:buNone/>
            </a:pPr>
            <a:r>
              <a:rPr lang="ja-JP" altLang="en-US" sz="1700" b="1">
                <a:latin typeface="メイリオ" panose="020B0604030504040204" pitchFamily="50" charset="-128"/>
                <a:ea typeface="メイリオ" panose="020B0604030504040204" pitchFamily="50" charset="-128"/>
              </a:rPr>
              <a:t>私たちは常にお客様の視点で発想し、</a:t>
            </a:r>
            <a:endParaRPr lang="en-US" altLang="ja-JP" sz="1700" b="1">
              <a:latin typeface="メイリオ" panose="020B0604030504040204" pitchFamily="50" charset="-128"/>
              <a:ea typeface="メイリオ" panose="020B0604030504040204" pitchFamily="50" charset="-128"/>
            </a:endParaRPr>
          </a:p>
          <a:p>
            <a:pPr eaLnBrk="1" hangingPunct="1">
              <a:lnSpc>
                <a:spcPct val="150000"/>
              </a:lnSpc>
              <a:spcBef>
                <a:spcPct val="60000"/>
              </a:spcBef>
              <a:buFontTx/>
              <a:buNone/>
            </a:pPr>
            <a:r>
              <a:rPr lang="ja-JP" altLang="en-US" sz="1700" b="1">
                <a:latin typeface="メイリオ" panose="020B0604030504040204" pitchFamily="50" charset="-128"/>
                <a:ea typeface="メイリオ" panose="020B0604030504040204" pitchFamily="50" charset="-128"/>
              </a:rPr>
              <a:t>お客様と共に喜び楽しむことを通じて、</a:t>
            </a:r>
            <a:endParaRPr lang="en-US" altLang="ja-JP" sz="1700" b="1">
              <a:latin typeface="メイリオ" panose="020B0604030504040204" pitchFamily="50" charset="-128"/>
              <a:ea typeface="メイリオ" panose="020B0604030504040204" pitchFamily="50" charset="-128"/>
            </a:endParaRPr>
          </a:p>
          <a:p>
            <a:pPr eaLnBrk="1" hangingPunct="1">
              <a:lnSpc>
                <a:spcPct val="150000"/>
              </a:lnSpc>
              <a:spcBef>
                <a:spcPct val="60000"/>
              </a:spcBef>
              <a:buFontTx/>
              <a:buNone/>
            </a:pPr>
            <a:r>
              <a:rPr lang="ja-JP" altLang="en-US" sz="1700" b="1">
                <a:latin typeface="メイリオ" panose="020B0604030504040204" pitchFamily="50" charset="-128"/>
                <a:ea typeface="メイリオ" panose="020B0604030504040204" pitchFamily="50" charset="-128"/>
              </a:rPr>
              <a:t>一人でも多くの</a:t>
            </a:r>
            <a:r>
              <a:rPr lang="en-US" altLang="ja-JP" sz="1700" b="1">
                <a:latin typeface="メイリオ" panose="020B0604030504040204" pitchFamily="50" charset="-128"/>
                <a:ea typeface="メイリオ" panose="020B0604030504040204" pitchFamily="50" charset="-128"/>
              </a:rPr>
              <a:t>MMI</a:t>
            </a:r>
            <a:r>
              <a:rPr lang="ja-JP" altLang="en-US" sz="1700" b="1">
                <a:latin typeface="メイリオ" panose="020B0604030504040204" pitchFamily="50" charset="-128"/>
                <a:ea typeface="メイリオ" panose="020B0604030504040204" pitchFamily="50" charset="-128"/>
              </a:rPr>
              <a:t>ファンを創造していきます。</a:t>
            </a:r>
          </a:p>
        </p:txBody>
      </p:sp>
      <p:sp>
        <p:nvSpPr>
          <p:cNvPr id="22538" name="Line 23">
            <a:extLst>
              <a:ext uri="{FF2B5EF4-FFF2-40B4-BE49-F238E27FC236}">
                <a16:creationId xmlns:a16="http://schemas.microsoft.com/office/drawing/2014/main" id="{0E351AE0-48FE-402B-84D3-E28348363EFE}"/>
              </a:ext>
            </a:extLst>
          </p:cNvPr>
          <p:cNvSpPr>
            <a:spLocks noChangeShapeType="1"/>
          </p:cNvSpPr>
          <p:nvPr/>
        </p:nvSpPr>
        <p:spPr bwMode="auto">
          <a:xfrm flipV="1">
            <a:off x="1219200" y="1066800"/>
            <a:ext cx="2819400" cy="0"/>
          </a:xfrm>
          <a:prstGeom prst="line">
            <a:avLst/>
          </a:prstGeom>
          <a:noFill/>
          <a:ln w="69850" cmpd="thinThick">
            <a:solidFill>
              <a:schemeClr val="bg2"/>
            </a:solidFill>
            <a:round/>
            <a:headEnd/>
            <a:tailEnd/>
          </a:ln>
          <a:effectLst>
            <a:outerShdw dist="148106" dir="1857825" algn="ctr" rotWithShape="0">
              <a:srgbClr val="DDDDDD"/>
            </a:outerShdw>
          </a:effectLst>
          <a:extLst>
            <a:ext uri="{909E8E84-426E-40DD-AFC4-6F175D3DCCD1}">
              <a14:hiddenFill xmlns:a14="http://schemas.microsoft.com/office/drawing/2010/main">
                <a:noFill/>
              </a14:hiddenFill>
            </a:ext>
          </a:extLst>
        </p:spPr>
        <p:txBody>
          <a:bodyPr/>
          <a:lstStyle/>
          <a:p>
            <a:endParaRPr lang="ja-JP" altLang="en-US"/>
          </a:p>
        </p:txBody>
      </p:sp>
      <p:sp>
        <p:nvSpPr>
          <p:cNvPr id="23564" name="Rectangle 2060">
            <a:extLst>
              <a:ext uri="{FF2B5EF4-FFF2-40B4-BE49-F238E27FC236}">
                <a16:creationId xmlns:a16="http://schemas.microsoft.com/office/drawing/2014/main" id="{299C95B0-4B21-4632-9E2C-4C9FEB1A6B14}"/>
              </a:ext>
            </a:extLst>
          </p:cNvPr>
          <p:cNvSpPr>
            <a:spLocks noChangeArrowheads="1"/>
          </p:cNvSpPr>
          <p:nvPr/>
        </p:nvSpPr>
        <p:spPr bwMode="auto">
          <a:xfrm>
            <a:off x="476250" y="3133725"/>
            <a:ext cx="612140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lnSpc>
                <a:spcPct val="150000"/>
              </a:lnSpc>
              <a:buFontTx/>
              <a:buNone/>
              <a:defRPr/>
            </a:pPr>
            <a:r>
              <a:rPr lang="ja-JP" altLang="en-US" sz="1200" dirty="0">
                <a:latin typeface="+mj-ea"/>
                <a:ea typeface="+mj-ea"/>
              </a:rPr>
              <a:t>　私たちの使命は、日々の業務を通じてお客様に満足していていただくことです。そのために、お客様の視点で発想し行動を選択することを忘れてはいけません。お客様の側に寄り添い、お客様と同じ方向を向き、そして同じ目線の高さで考えることにより、お客様のご要望は何か、どんなことに不満を感じているのかなどの多くのことに気づくことができるはずです。</a:t>
            </a:r>
            <a:endParaRPr lang="en-US" altLang="ja-JP" sz="1200" dirty="0">
              <a:latin typeface="+mj-ea"/>
              <a:ea typeface="+mj-ea"/>
            </a:endParaRPr>
          </a:p>
          <a:p>
            <a:pPr eaLnBrk="1" hangingPunct="1">
              <a:lnSpc>
                <a:spcPct val="150000"/>
              </a:lnSpc>
              <a:buFontTx/>
              <a:buNone/>
              <a:defRPr/>
            </a:pPr>
            <a:r>
              <a:rPr lang="ja-JP" altLang="en-US" sz="1200" dirty="0">
                <a:latin typeface="+mj-ea"/>
                <a:ea typeface="+mj-ea"/>
              </a:rPr>
              <a:t>　また、お客様の喜びを共有することで、お客様の満足度をより高めることができます。</a:t>
            </a:r>
            <a:endParaRPr lang="en-US" altLang="ja-JP" sz="1200" dirty="0">
              <a:latin typeface="+mj-ea"/>
              <a:ea typeface="+mj-ea"/>
            </a:endParaRPr>
          </a:p>
          <a:p>
            <a:pPr eaLnBrk="1" hangingPunct="1">
              <a:lnSpc>
                <a:spcPct val="150000"/>
              </a:lnSpc>
              <a:buFontTx/>
              <a:buNone/>
              <a:defRPr/>
            </a:pPr>
            <a:r>
              <a:rPr lang="ja-JP" altLang="en-US" sz="1200" dirty="0">
                <a:latin typeface="+mj-ea"/>
                <a:ea typeface="+mj-ea"/>
              </a:rPr>
              <a:t>　その結果として、</a:t>
            </a:r>
            <a:r>
              <a:rPr lang="en-US" altLang="ja-JP" sz="1200" dirty="0">
                <a:latin typeface="+mj-ea"/>
                <a:ea typeface="+mj-ea"/>
              </a:rPr>
              <a:t>MMI</a:t>
            </a:r>
            <a:r>
              <a:rPr lang="ja-JP" altLang="en-US" sz="1200" dirty="0">
                <a:latin typeface="+mj-ea"/>
                <a:ea typeface="+mj-ea"/>
              </a:rPr>
              <a:t>のファンづくりにつながるのだと考えます。</a:t>
            </a:r>
          </a:p>
        </p:txBody>
      </p:sp>
      <p:sp>
        <p:nvSpPr>
          <p:cNvPr id="2" name="正方形/長方形 1">
            <a:extLst>
              <a:ext uri="{FF2B5EF4-FFF2-40B4-BE49-F238E27FC236}">
                <a16:creationId xmlns:a16="http://schemas.microsoft.com/office/drawing/2014/main" id="{5457A948-57A0-4E3A-A760-DD0627327D4A}"/>
              </a:ext>
            </a:extLst>
          </p:cNvPr>
          <p:cNvSpPr/>
          <p:nvPr/>
        </p:nvSpPr>
        <p:spPr>
          <a:xfrm>
            <a:off x="1322388" y="5937250"/>
            <a:ext cx="539750" cy="1152525"/>
          </a:xfrm>
          <a:prstGeom prst="rect">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1100" b="1" dirty="0">
              <a:latin typeface="メイリオ" panose="020B0604030504040204" pitchFamily="50" charset="-128"/>
              <a:ea typeface="メイリオ" panose="020B0604030504040204" pitchFamily="50" charset="-128"/>
            </a:endParaRPr>
          </a:p>
        </p:txBody>
      </p:sp>
      <p:sp>
        <p:nvSpPr>
          <p:cNvPr id="22541" name="テキスト ボックス 2">
            <a:extLst>
              <a:ext uri="{FF2B5EF4-FFF2-40B4-BE49-F238E27FC236}">
                <a16:creationId xmlns:a16="http://schemas.microsoft.com/office/drawing/2014/main" id="{076D0477-2F4B-44BF-BE18-2833DE5B56CA}"/>
              </a:ext>
            </a:extLst>
          </p:cNvPr>
          <p:cNvSpPr txBox="1">
            <a:spLocks noChangeArrowheads="1"/>
          </p:cNvSpPr>
          <p:nvPr/>
        </p:nvSpPr>
        <p:spPr bwMode="auto">
          <a:xfrm>
            <a:off x="1374775" y="5932488"/>
            <a:ext cx="369888"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a:spcBef>
                <a:spcPct val="0"/>
              </a:spcBef>
              <a:buFontTx/>
              <a:buNone/>
            </a:pPr>
            <a:r>
              <a:rPr lang="ja-JP" altLang="en-US" sz="1200" b="1">
                <a:latin typeface="メイリオ" panose="020B0604030504040204" pitchFamily="50" charset="-128"/>
                <a:ea typeface="メイリオ" panose="020B0604030504040204" pitchFamily="50" charset="-128"/>
              </a:rPr>
              <a:t>目的があいまい</a:t>
            </a:r>
          </a:p>
        </p:txBody>
      </p:sp>
      <p:sp>
        <p:nvSpPr>
          <p:cNvPr id="22542" name="テキスト ボックス 15">
            <a:extLst>
              <a:ext uri="{FF2B5EF4-FFF2-40B4-BE49-F238E27FC236}">
                <a16:creationId xmlns:a16="http://schemas.microsoft.com/office/drawing/2014/main" id="{1FCA7A52-9A26-447F-AAF3-8DE601605A23}"/>
              </a:ext>
            </a:extLst>
          </p:cNvPr>
          <p:cNvSpPr txBox="1">
            <a:spLocks noChangeArrowheads="1"/>
          </p:cNvSpPr>
          <p:nvPr/>
        </p:nvSpPr>
        <p:spPr bwMode="auto">
          <a:xfrm>
            <a:off x="2193925" y="5948363"/>
            <a:ext cx="369888" cy="115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a:spcBef>
                <a:spcPct val="0"/>
              </a:spcBef>
              <a:buFontTx/>
              <a:buNone/>
            </a:pPr>
            <a:r>
              <a:rPr lang="ja-JP" altLang="en-US" sz="1200" b="1">
                <a:latin typeface="メイリオ" panose="020B0604030504040204" pitchFamily="50" charset="-128"/>
                <a:ea typeface="メイリオ" panose="020B0604030504040204" pitchFamily="50" charset="-128"/>
              </a:rPr>
              <a:t>何をやる？</a:t>
            </a:r>
          </a:p>
        </p:txBody>
      </p:sp>
      <p:sp>
        <p:nvSpPr>
          <p:cNvPr id="5" name="爆発: 8 pt 4">
            <a:extLst>
              <a:ext uri="{FF2B5EF4-FFF2-40B4-BE49-F238E27FC236}">
                <a16:creationId xmlns:a16="http://schemas.microsoft.com/office/drawing/2014/main" id="{1F60C9BB-D9CA-42E6-9DEA-0019722348A7}"/>
              </a:ext>
            </a:extLst>
          </p:cNvPr>
          <p:cNvSpPr/>
          <p:nvPr/>
        </p:nvSpPr>
        <p:spPr>
          <a:xfrm>
            <a:off x="3087688" y="6153150"/>
            <a:ext cx="1246187" cy="773113"/>
          </a:xfrm>
          <a:prstGeom prst="irregularSeal1">
            <a:avLst/>
          </a:prstGeom>
          <a:solidFill>
            <a:schemeClr val="bg1">
              <a:lumMod val="85000"/>
            </a:schemeClr>
          </a:solidFill>
          <a:ln w="12700">
            <a:solidFill>
              <a:schemeClr val="bg1">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1100" b="1" dirty="0">
              <a:solidFill>
                <a:schemeClr val="tx1"/>
              </a:solidFill>
              <a:latin typeface="メイリオ" panose="020B0604030504040204" pitchFamily="50" charset="-128"/>
              <a:ea typeface="メイリオ" panose="020B0604030504040204" pitchFamily="50" charset="-128"/>
            </a:endParaRPr>
          </a:p>
        </p:txBody>
      </p:sp>
      <p:sp>
        <p:nvSpPr>
          <p:cNvPr id="22544" name="Rectangle 2060">
            <a:extLst>
              <a:ext uri="{FF2B5EF4-FFF2-40B4-BE49-F238E27FC236}">
                <a16:creationId xmlns:a16="http://schemas.microsoft.com/office/drawing/2014/main" id="{9CC0EBCF-57DC-4388-8A8C-9ECC9F5B7857}"/>
              </a:ext>
            </a:extLst>
          </p:cNvPr>
          <p:cNvSpPr>
            <a:spLocks noChangeArrowheads="1"/>
          </p:cNvSpPr>
          <p:nvPr/>
        </p:nvSpPr>
        <p:spPr bwMode="auto">
          <a:xfrm>
            <a:off x="3141663" y="6348413"/>
            <a:ext cx="1130300"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buFontTx/>
              <a:buNone/>
            </a:pPr>
            <a:r>
              <a:rPr lang="ja-JP" altLang="en-US" sz="1400" b="1" dirty="0">
                <a:latin typeface="メイリオ" panose="020B0604030504040204" pitchFamily="50" charset="-128"/>
                <a:ea typeface="メイリオ" panose="020B0604030504040204" pitchFamily="50" charset="-128"/>
              </a:rPr>
              <a:t>区別が</a:t>
            </a:r>
            <a:endParaRPr lang="en-US" altLang="ja-JP" sz="1400" b="1" dirty="0">
              <a:latin typeface="メイリオ" panose="020B0604030504040204" pitchFamily="50" charset="-128"/>
              <a:ea typeface="メイリオ" panose="020B0604030504040204" pitchFamily="50" charset="-128"/>
            </a:endParaRPr>
          </a:p>
          <a:p>
            <a:pPr algn="ctr" eaLnBrk="1" hangingPunct="1">
              <a:buFontTx/>
              <a:buNone/>
            </a:pPr>
            <a:r>
              <a:rPr lang="ja-JP" altLang="en-US" sz="1400" b="1" dirty="0">
                <a:latin typeface="メイリオ" panose="020B0604030504040204" pitchFamily="50" charset="-128"/>
                <a:ea typeface="メイリオ" panose="020B0604030504040204" pitchFamily="50" charset="-128"/>
              </a:rPr>
              <a:t>あいまい</a:t>
            </a:r>
            <a:endParaRPr lang="en-US" altLang="ja-JP" sz="1400" b="1" dirty="0">
              <a:latin typeface="メイリオ" panose="020B0604030504040204" pitchFamily="50" charset="-128"/>
              <a:ea typeface="メイリオ" panose="020B0604030504040204" pitchFamily="50" charset="-128"/>
            </a:endParaRPr>
          </a:p>
        </p:txBody>
      </p:sp>
      <p:sp>
        <p:nvSpPr>
          <p:cNvPr id="24" name="矢印: 右 23">
            <a:extLst>
              <a:ext uri="{FF2B5EF4-FFF2-40B4-BE49-F238E27FC236}">
                <a16:creationId xmlns:a16="http://schemas.microsoft.com/office/drawing/2014/main" id="{4780F9D0-C836-4827-8B1C-FFCF376A4CBD}"/>
              </a:ext>
            </a:extLst>
          </p:cNvPr>
          <p:cNvSpPr/>
          <p:nvPr/>
        </p:nvSpPr>
        <p:spPr>
          <a:xfrm>
            <a:off x="5354638" y="6300788"/>
            <a:ext cx="257175" cy="434975"/>
          </a:xfrm>
          <a:prstGeom prst="rightArrow">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1100" b="1">
              <a:latin typeface="メイリオ" panose="020B0604030504040204" pitchFamily="50" charset="-128"/>
              <a:ea typeface="メイリオ" panose="020B0604030504040204" pitchFamily="50" charset="-128"/>
            </a:endParaRPr>
          </a:p>
        </p:txBody>
      </p:sp>
      <p:sp>
        <p:nvSpPr>
          <p:cNvPr id="27" name="正方形/長方形 26">
            <a:extLst>
              <a:ext uri="{FF2B5EF4-FFF2-40B4-BE49-F238E27FC236}">
                <a16:creationId xmlns:a16="http://schemas.microsoft.com/office/drawing/2014/main" id="{531E3F75-7F8C-4231-AC25-685A6784FD91}"/>
              </a:ext>
            </a:extLst>
          </p:cNvPr>
          <p:cNvSpPr/>
          <p:nvPr/>
        </p:nvSpPr>
        <p:spPr>
          <a:xfrm>
            <a:off x="5665788" y="5937250"/>
            <a:ext cx="542925" cy="1152525"/>
          </a:xfrm>
          <a:prstGeom prst="rect">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1100" b="1">
              <a:latin typeface="メイリオ" panose="020B0604030504040204" pitchFamily="50" charset="-128"/>
              <a:ea typeface="メイリオ" panose="020B0604030504040204" pitchFamily="50" charset="-128"/>
            </a:endParaRPr>
          </a:p>
        </p:txBody>
      </p:sp>
      <p:sp>
        <p:nvSpPr>
          <p:cNvPr id="22547" name="テキスト ボックス 24">
            <a:extLst>
              <a:ext uri="{FF2B5EF4-FFF2-40B4-BE49-F238E27FC236}">
                <a16:creationId xmlns:a16="http://schemas.microsoft.com/office/drawing/2014/main" id="{CF910BF3-BB4E-44F5-84CE-0D5A9249906F}"/>
              </a:ext>
            </a:extLst>
          </p:cNvPr>
          <p:cNvSpPr txBox="1">
            <a:spLocks noChangeArrowheads="1"/>
          </p:cNvSpPr>
          <p:nvPr/>
        </p:nvSpPr>
        <p:spPr bwMode="auto">
          <a:xfrm>
            <a:off x="5645150" y="5946775"/>
            <a:ext cx="554038"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a:spcBef>
                <a:spcPct val="0"/>
              </a:spcBef>
              <a:buFontTx/>
              <a:buNone/>
            </a:pPr>
            <a:r>
              <a:rPr lang="ja-JP" altLang="en-US" sz="1200" b="1">
                <a:latin typeface="メイリオ" panose="020B0604030504040204" pitchFamily="50" charset="-128"/>
                <a:ea typeface="メイリオ" panose="020B0604030504040204" pitchFamily="50" charset="-128"/>
              </a:rPr>
              <a:t>目標達成に</a:t>
            </a:r>
            <a:endParaRPr lang="en-US" altLang="ja-JP" sz="1200" b="1">
              <a:latin typeface="メイリオ" panose="020B0604030504040204" pitchFamily="50" charset="-128"/>
              <a:ea typeface="メイリオ" panose="020B0604030504040204" pitchFamily="50" charset="-128"/>
            </a:endParaRPr>
          </a:p>
          <a:p>
            <a:pPr algn="ctr">
              <a:spcBef>
                <a:spcPct val="0"/>
              </a:spcBef>
              <a:buFontTx/>
              <a:buNone/>
            </a:pPr>
            <a:r>
              <a:rPr lang="ja-JP" altLang="en-US" sz="1200" b="1">
                <a:latin typeface="メイリオ" panose="020B0604030504040204" pitchFamily="50" charset="-128"/>
                <a:ea typeface="メイリオ" panose="020B0604030504040204" pitchFamily="50" charset="-128"/>
              </a:rPr>
              <a:t>向かえない</a:t>
            </a:r>
          </a:p>
        </p:txBody>
      </p:sp>
      <p:sp>
        <p:nvSpPr>
          <p:cNvPr id="22548" name="Rectangle 2060">
            <a:extLst>
              <a:ext uri="{FF2B5EF4-FFF2-40B4-BE49-F238E27FC236}">
                <a16:creationId xmlns:a16="http://schemas.microsoft.com/office/drawing/2014/main" id="{221E98D0-62A4-4C1F-80E7-461F474C84C1}"/>
              </a:ext>
            </a:extLst>
          </p:cNvPr>
          <p:cNvSpPr>
            <a:spLocks noChangeArrowheads="1"/>
          </p:cNvSpPr>
          <p:nvPr/>
        </p:nvSpPr>
        <p:spPr bwMode="auto">
          <a:xfrm>
            <a:off x="2689225" y="5865813"/>
            <a:ext cx="20637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buFontTx/>
              <a:buNone/>
            </a:pPr>
            <a:r>
              <a:rPr lang="ja-JP" altLang="en-US" sz="1400" b="1">
                <a:latin typeface="メイリオ" panose="020B0604030504040204" pitchFamily="50" charset="-128"/>
                <a:ea typeface="メイリオ" panose="020B0604030504040204" pitchFamily="50" charset="-128"/>
              </a:rPr>
              <a:t>やるべき？</a:t>
            </a:r>
            <a:endParaRPr lang="en-US" altLang="ja-JP" sz="1400" b="1">
              <a:latin typeface="メイリオ" panose="020B0604030504040204" pitchFamily="50" charset="-128"/>
              <a:ea typeface="メイリオ" panose="020B0604030504040204" pitchFamily="50" charset="-128"/>
            </a:endParaRPr>
          </a:p>
        </p:txBody>
      </p:sp>
      <p:sp>
        <p:nvSpPr>
          <p:cNvPr id="22549" name="Rectangle 2060">
            <a:extLst>
              <a:ext uri="{FF2B5EF4-FFF2-40B4-BE49-F238E27FC236}">
                <a16:creationId xmlns:a16="http://schemas.microsoft.com/office/drawing/2014/main" id="{EEE49A8D-42F5-4068-994C-E3D22DDFCC6A}"/>
              </a:ext>
            </a:extLst>
          </p:cNvPr>
          <p:cNvSpPr>
            <a:spLocks noChangeArrowheads="1"/>
          </p:cNvSpPr>
          <p:nvPr/>
        </p:nvSpPr>
        <p:spPr bwMode="auto">
          <a:xfrm>
            <a:off x="2689225" y="6975475"/>
            <a:ext cx="20637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buFontTx/>
              <a:buNone/>
            </a:pPr>
            <a:r>
              <a:rPr lang="ja-JP" altLang="en-US" sz="1400" b="1">
                <a:latin typeface="メイリオ" panose="020B0604030504040204" pitchFamily="50" charset="-128"/>
                <a:ea typeface="メイリオ" panose="020B0604030504040204" pitchFamily="50" charset="-128"/>
              </a:rPr>
              <a:t>やるべきでない？</a:t>
            </a:r>
            <a:endParaRPr lang="en-US" altLang="ja-JP" sz="1400" b="1">
              <a:latin typeface="メイリオ" panose="020B0604030504040204" pitchFamily="50" charset="-128"/>
              <a:ea typeface="メイリオ" panose="020B0604030504040204" pitchFamily="50" charset="-128"/>
            </a:endParaRPr>
          </a:p>
        </p:txBody>
      </p:sp>
      <p:sp>
        <p:nvSpPr>
          <p:cNvPr id="22550" name="テキスト ボックス 6">
            <a:extLst>
              <a:ext uri="{FF2B5EF4-FFF2-40B4-BE49-F238E27FC236}">
                <a16:creationId xmlns:a16="http://schemas.microsoft.com/office/drawing/2014/main" id="{2BE5D41F-52C5-4F34-8FF2-6E5D44DEB850}"/>
              </a:ext>
            </a:extLst>
          </p:cNvPr>
          <p:cNvSpPr txBox="1">
            <a:spLocks noChangeArrowheads="1"/>
          </p:cNvSpPr>
          <p:nvPr/>
        </p:nvSpPr>
        <p:spPr bwMode="auto">
          <a:xfrm>
            <a:off x="669925" y="5908675"/>
            <a:ext cx="492125"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a:spcBef>
                <a:spcPct val="0"/>
              </a:spcBef>
              <a:buFontTx/>
              <a:buNone/>
            </a:pPr>
            <a:r>
              <a:rPr lang="ja-JP" altLang="en-US" sz="2000" b="1">
                <a:latin typeface="メイリオ" panose="020B0604030504040204" pitchFamily="50" charset="-128"/>
                <a:ea typeface="メイリオ" panose="020B0604030504040204" pitchFamily="50" charset="-128"/>
              </a:rPr>
              <a:t>ＮＧ</a:t>
            </a:r>
            <a:endParaRPr lang="en-US" altLang="ja-JP" sz="2000" b="1">
              <a:latin typeface="メイリオ" panose="020B0604030504040204" pitchFamily="50" charset="-128"/>
              <a:ea typeface="メイリオ" panose="020B0604030504040204" pitchFamily="50" charset="-128"/>
            </a:endParaRPr>
          </a:p>
        </p:txBody>
      </p:sp>
      <p:sp>
        <p:nvSpPr>
          <p:cNvPr id="22551" name="テキスト ボックス 32">
            <a:extLst>
              <a:ext uri="{FF2B5EF4-FFF2-40B4-BE49-F238E27FC236}">
                <a16:creationId xmlns:a16="http://schemas.microsoft.com/office/drawing/2014/main" id="{21F48BEA-047A-4E43-A71F-1AB393D35A08}"/>
              </a:ext>
            </a:extLst>
          </p:cNvPr>
          <p:cNvSpPr txBox="1">
            <a:spLocks noChangeArrowheads="1"/>
          </p:cNvSpPr>
          <p:nvPr/>
        </p:nvSpPr>
        <p:spPr bwMode="auto">
          <a:xfrm>
            <a:off x="669925" y="7669213"/>
            <a:ext cx="492125"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a:spcBef>
                <a:spcPct val="0"/>
              </a:spcBef>
              <a:buFontTx/>
              <a:buNone/>
            </a:pPr>
            <a:r>
              <a:rPr lang="ja-JP" altLang="en-US" sz="2000" b="1">
                <a:latin typeface="メイリオ" panose="020B0604030504040204" pitchFamily="50" charset="-128"/>
                <a:ea typeface="メイリオ" panose="020B0604030504040204" pitchFamily="50" charset="-128"/>
              </a:rPr>
              <a:t>ＯＫ</a:t>
            </a:r>
            <a:endParaRPr lang="en-US" altLang="ja-JP" sz="2000" b="1">
              <a:latin typeface="メイリオ" panose="020B0604030504040204" pitchFamily="50" charset="-128"/>
              <a:ea typeface="メイリオ" panose="020B0604030504040204" pitchFamily="50" charset="-128"/>
            </a:endParaRPr>
          </a:p>
        </p:txBody>
      </p:sp>
      <p:sp>
        <p:nvSpPr>
          <p:cNvPr id="34" name="正方形/長方形 33">
            <a:extLst>
              <a:ext uri="{FF2B5EF4-FFF2-40B4-BE49-F238E27FC236}">
                <a16:creationId xmlns:a16="http://schemas.microsoft.com/office/drawing/2014/main" id="{F72910C8-AA6B-4195-8BEF-78EA61879E0C}"/>
              </a:ext>
            </a:extLst>
          </p:cNvPr>
          <p:cNvSpPr/>
          <p:nvPr/>
        </p:nvSpPr>
        <p:spPr>
          <a:xfrm>
            <a:off x="4749800" y="7681913"/>
            <a:ext cx="542925" cy="1150937"/>
          </a:xfrm>
          <a:prstGeom prst="rect">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1100" b="1">
              <a:latin typeface="メイリオ" panose="020B0604030504040204" pitchFamily="50" charset="-128"/>
              <a:ea typeface="メイリオ" panose="020B0604030504040204" pitchFamily="50" charset="-128"/>
            </a:endParaRPr>
          </a:p>
        </p:txBody>
      </p:sp>
      <p:sp>
        <p:nvSpPr>
          <p:cNvPr id="22553" name="テキスト ボックス 34">
            <a:extLst>
              <a:ext uri="{FF2B5EF4-FFF2-40B4-BE49-F238E27FC236}">
                <a16:creationId xmlns:a16="http://schemas.microsoft.com/office/drawing/2014/main" id="{34A5E113-4B89-42AA-AE2F-CD85518A47CE}"/>
              </a:ext>
            </a:extLst>
          </p:cNvPr>
          <p:cNvSpPr txBox="1">
            <a:spLocks noChangeArrowheads="1"/>
          </p:cNvSpPr>
          <p:nvPr/>
        </p:nvSpPr>
        <p:spPr bwMode="auto">
          <a:xfrm>
            <a:off x="4821238" y="7697788"/>
            <a:ext cx="369887"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a:spcBef>
                <a:spcPct val="0"/>
              </a:spcBef>
              <a:buFontTx/>
              <a:buNone/>
            </a:pPr>
            <a:r>
              <a:rPr lang="ja-JP" altLang="en-US" sz="1200" b="1" dirty="0">
                <a:latin typeface="メイリオ" panose="020B0604030504040204" pitchFamily="50" charset="-128"/>
                <a:ea typeface="メイリオ" panose="020B0604030504040204" pitchFamily="50" charset="-128"/>
              </a:rPr>
              <a:t>主体的に行動</a:t>
            </a:r>
          </a:p>
        </p:txBody>
      </p:sp>
      <p:sp>
        <p:nvSpPr>
          <p:cNvPr id="36" name="矢印: 右 35">
            <a:extLst>
              <a:ext uri="{FF2B5EF4-FFF2-40B4-BE49-F238E27FC236}">
                <a16:creationId xmlns:a16="http://schemas.microsoft.com/office/drawing/2014/main" id="{65E8D0CC-236C-4AD4-B57C-BE8BA4F1AA15}"/>
              </a:ext>
            </a:extLst>
          </p:cNvPr>
          <p:cNvSpPr/>
          <p:nvPr/>
        </p:nvSpPr>
        <p:spPr>
          <a:xfrm>
            <a:off x="1924050" y="7929562"/>
            <a:ext cx="2720975" cy="663612"/>
          </a:xfrm>
          <a:prstGeom prst="rightArrow">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1100" b="1">
              <a:latin typeface="メイリオ" panose="020B0604030504040204" pitchFamily="50" charset="-128"/>
              <a:ea typeface="メイリオ" panose="020B0604030504040204" pitchFamily="50" charset="-128"/>
            </a:endParaRPr>
          </a:p>
        </p:txBody>
      </p:sp>
      <p:sp>
        <p:nvSpPr>
          <p:cNvPr id="37" name="正方形/長方形 36">
            <a:extLst>
              <a:ext uri="{FF2B5EF4-FFF2-40B4-BE49-F238E27FC236}">
                <a16:creationId xmlns:a16="http://schemas.microsoft.com/office/drawing/2014/main" id="{065856DF-D4B4-4587-8C58-1BC4F7244432}"/>
              </a:ext>
            </a:extLst>
          </p:cNvPr>
          <p:cNvSpPr/>
          <p:nvPr/>
        </p:nvSpPr>
        <p:spPr>
          <a:xfrm>
            <a:off x="2133600" y="7681913"/>
            <a:ext cx="539750" cy="1150937"/>
          </a:xfrm>
          <a:prstGeom prst="rect">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1100" b="1">
              <a:solidFill>
                <a:schemeClr val="tx1"/>
              </a:solidFill>
              <a:latin typeface="メイリオ" panose="020B0604030504040204" pitchFamily="50" charset="-128"/>
              <a:ea typeface="メイリオ" panose="020B0604030504040204" pitchFamily="50" charset="-128"/>
            </a:endParaRPr>
          </a:p>
        </p:txBody>
      </p:sp>
      <p:sp>
        <p:nvSpPr>
          <p:cNvPr id="39" name="正方形/長方形 38">
            <a:extLst>
              <a:ext uri="{FF2B5EF4-FFF2-40B4-BE49-F238E27FC236}">
                <a16:creationId xmlns:a16="http://schemas.microsoft.com/office/drawing/2014/main" id="{3EF6A94D-5D2A-408F-8E30-399D50BC64B3}"/>
              </a:ext>
            </a:extLst>
          </p:cNvPr>
          <p:cNvSpPr/>
          <p:nvPr/>
        </p:nvSpPr>
        <p:spPr>
          <a:xfrm>
            <a:off x="1322388" y="7681913"/>
            <a:ext cx="539750" cy="1152525"/>
          </a:xfrm>
          <a:prstGeom prst="rect">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1100" b="1" dirty="0">
              <a:latin typeface="メイリオ" panose="020B0604030504040204" pitchFamily="50" charset="-128"/>
              <a:ea typeface="メイリオ" panose="020B0604030504040204" pitchFamily="50" charset="-128"/>
            </a:endParaRPr>
          </a:p>
        </p:txBody>
      </p:sp>
      <p:sp>
        <p:nvSpPr>
          <p:cNvPr id="22557" name="テキスト ボックス 40">
            <a:extLst>
              <a:ext uri="{FF2B5EF4-FFF2-40B4-BE49-F238E27FC236}">
                <a16:creationId xmlns:a16="http://schemas.microsoft.com/office/drawing/2014/main" id="{FC6EC3FC-04E7-4679-A2F0-949539C8B755}"/>
              </a:ext>
            </a:extLst>
          </p:cNvPr>
          <p:cNvSpPr txBox="1">
            <a:spLocks noChangeArrowheads="1"/>
          </p:cNvSpPr>
          <p:nvPr/>
        </p:nvSpPr>
        <p:spPr bwMode="auto">
          <a:xfrm>
            <a:off x="2208213" y="7699375"/>
            <a:ext cx="369887"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a:spcBef>
                <a:spcPct val="0"/>
              </a:spcBef>
              <a:buFontTx/>
              <a:buNone/>
            </a:pPr>
            <a:r>
              <a:rPr lang="ja-JP" altLang="en-US" sz="1200" b="1">
                <a:latin typeface="メイリオ" panose="020B0604030504040204" pitchFamily="50" charset="-128"/>
                <a:ea typeface="メイリオ" panose="020B0604030504040204" pitchFamily="50" charset="-128"/>
              </a:rPr>
              <a:t>何をやる？</a:t>
            </a:r>
          </a:p>
        </p:txBody>
      </p:sp>
      <p:sp>
        <p:nvSpPr>
          <p:cNvPr id="22558" name="Rectangle 2060">
            <a:extLst>
              <a:ext uri="{FF2B5EF4-FFF2-40B4-BE49-F238E27FC236}">
                <a16:creationId xmlns:a16="http://schemas.microsoft.com/office/drawing/2014/main" id="{11D64F59-5892-4401-998B-AEC7180C8E81}"/>
              </a:ext>
            </a:extLst>
          </p:cNvPr>
          <p:cNvSpPr>
            <a:spLocks noChangeArrowheads="1"/>
          </p:cNvSpPr>
          <p:nvPr/>
        </p:nvSpPr>
        <p:spPr bwMode="auto">
          <a:xfrm>
            <a:off x="3135313" y="8121650"/>
            <a:ext cx="11493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buFontTx/>
              <a:buNone/>
            </a:pPr>
            <a:r>
              <a:rPr lang="ja-JP" altLang="en-US" sz="1400" b="1" dirty="0">
                <a:latin typeface="メイリオ" panose="020B0604030504040204" pitchFamily="50" charset="-128"/>
                <a:ea typeface="メイリオ" panose="020B0604030504040204" pitchFamily="50" charset="-128"/>
              </a:rPr>
              <a:t>明確に区別</a:t>
            </a:r>
            <a:endParaRPr lang="en-US" altLang="ja-JP" sz="1400" b="1" dirty="0">
              <a:latin typeface="メイリオ" panose="020B0604030504040204" pitchFamily="50" charset="-128"/>
              <a:ea typeface="メイリオ" panose="020B0604030504040204" pitchFamily="50" charset="-128"/>
            </a:endParaRPr>
          </a:p>
        </p:txBody>
      </p:sp>
      <p:sp>
        <p:nvSpPr>
          <p:cNvPr id="44" name="矢印: 右 43">
            <a:extLst>
              <a:ext uri="{FF2B5EF4-FFF2-40B4-BE49-F238E27FC236}">
                <a16:creationId xmlns:a16="http://schemas.microsoft.com/office/drawing/2014/main" id="{1F4AAB18-8F8A-49AD-A5BE-C8E1F03098DF}"/>
              </a:ext>
            </a:extLst>
          </p:cNvPr>
          <p:cNvSpPr/>
          <p:nvPr/>
        </p:nvSpPr>
        <p:spPr>
          <a:xfrm>
            <a:off x="5354638" y="8053388"/>
            <a:ext cx="258762" cy="433387"/>
          </a:xfrm>
          <a:prstGeom prst="rightArrow">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1100" b="1">
              <a:latin typeface="メイリオ" panose="020B0604030504040204" pitchFamily="50" charset="-128"/>
              <a:ea typeface="メイリオ" panose="020B0604030504040204" pitchFamily="50" charset="-128"/>
            </a:endParaRPr>
          </a:p>
        </p:txBody>
      </p:sp>
      <p:sp>
        <p:nvSpPr>
          <p:cNvPr id="45" name="正方形/長方形 44">
            <a:extLst>
              <a:ext uri="{FF2B5EF4-FFF2-40B4-BE49-F238E27FC236}">
                <a16:creationId xmlns:a16="http://schemas.microsoft.com/office/drawing/2014/main" id="{CC2663D1-0697-49A5-B15A-E0727B4BC07E}"/>
              </a:ext>
            </a:extLst>
          </p:cNvPr>
          <p:cNvSpPr/>
          <p:nvPr/>
        </p:nvSpPr>
        <p:spPr>
          <a:xfrm>
            <a:off x="5675313" y="7681913"/>
            <a:ext cx="542925" cy="1152525"/>
          </a:xfrm>
          <a:prstGeom prst="rect">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1100" b="1">
              <a:latin typeface="メイリオ" panose="020B0604030504040204" pitchFamily="50" charset="-128"/>
              <a:ea typeface="メイリオ" panose="020B0604030504040204" pitchFamily="50" charset="-128"/>
            </a:endParaRPr>
          </a:p>
        </p:txBody>
      </p:sp>
      <p:sp>
        <p:nvSpPr>
          <p:cNvPr id="22561" name="テキスト ボックス 45">
            <a:extLst>
              <a:ext uri="{FF2B5EF4-FFF2-40B4-BE49-F238E27FC236}">
                <a16:creationId xmlns:a16="http://schemas.microsoft.com/office/drawing/2014/main" id="{DF2CB309-8DA6-47D9-8C10-3C931C298B0A}"/>
              </a:ext>
            </a:extLst>
          </p:cNvPr>
          <p:cNvSpPr txBox="1">
            <a:spLocks noChangeArrowheads="1"/>
          </p:cNvSpPr>
          <p:nvPr/>
        </p:nvSpPr>
        <p:spPr bwMode="auto">
          <a:xfrm>
            <a:off x="5649913" y="7807325"/>
            <a:ext cx="554037"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ja-JP" altLang="en-US" sz="1200" b="1">
                <a:latin typeface="メイリオ" panose="020B0604030504040204" pitchFamily="50" charset="-128"/>
                <a:ea typeface="メイリオ" panose="020B0604030504040204" pitchFamily="50" charset="-128"/>
              </a:rPr>
              <a:t>目標達成に</a:t>
            </a:r>
            <a:endParaRPr lang="en-US" altLang="ja-JP" sz="1200" b="1">
              <a:latin typeface="メイリオ" panose="020B0604030504040204" pitchFamily="50" charset="-128"/>
              <a:ea typeface="メイリオ" panose="020B0604030504040204" pitchFamily="50" charset="-128"/>
            </a:endParaRPr>
          </a:p>
          <a:p>
            <a:pPr>
              <a:spcBef>
                <a:spcPct val="0"/>
              </a:spcBef>
              <a:buFontTx/>
              <a:buNone/>
            </a:pPr>
            <a:r>
              <a:rPr lang="ja-JP" altLang="en-US" sz="1200" b="1">
                <a:latin typeface="メイリオ" panose="020B0604030504040204" pitchFamily="50" charset="-128"/>
                <a:ea typeface="メイリオ" panose="020B0604030504040204" pitchFamily="50" charset="-128"/>
              </a:rPr>
              <a:t>近づく</a:t>
            </a:r>
          </a:p>
        </p:txBody>
      </p:sp>
      <p:sp>
        <p:nvSpPr>
          <p:cNvPr id="22562" name="Rectangle 2060">
            <a:extLst>
              <a:ext uri="{FF2B5EF4-FFF2-40B4-BE49-F238E27FC236}">
                <a16:creationId xmlns:a16="http://schemas.microsoft.com/office/drawing/2014/main" id="{5B451622-F5B2-4738-83AB-D76C8CAF33D9}"/>
              </a:ext>
            </a:extLst>
          </p:cNvPr>
          <p:cNvSpPr>
            <a:spLocks noChangeArrowheads="1"/>
          </p:cNvSpPr>
          <p:nvPr/>
        </p:nvSpPr>
        <p:spPr bwMode="auto">
          <a:xfrm>
            <a:off x="2668588" y="7737475"/>
            <a:ext cx="20637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buFontTx/>
              <a:buNone/>
            </a:pPr>
            <a:r>
              <a:rPr lang="ja-JP" altLang="en-US" sz="1400" b="1">
                <a:latin typeface="メイリオ" panose="020B0604030504040204" pitchFamily="50" charset="-128"/>
                <a:ea typeface="メイリオ" panose="020B0604030504040204" pitchFamily="50" charset="-128"/>
              </a:rPr>
              <a:t>やるべき！</a:t>
            </a:r>
            <a:endParaRPr lang="en-US" altLang="ja-JP" sz="1400" b="1">
              <a:latin typeface="メイリオ" panose="020B0604030504040204" pitchFamily="50" charset="-128"/>
              <a:ea typeface="メイリオ" panose="020B0604030504040204" pitchFamily="50" charset="-128"/>
            </a:endParaRPr>
          </a:p>
        </p:txBody>
      </p:sp>
      <p:sp>
        <p:nvSpPr>
          <p:cNvPr id="22563" name="Rectangle 2060">
            <a:extLst>
              <a:ext uri="{FF2B5EF4-FFF2-40B4-BE49-F238E27FC236}">
                <a16:creationId xmlns:a16="http://schemas.microsoft.com/office/drawing/2014/main" id="{501BB6E9-7191-4407-A018-1EEBAD552AE6}"/>
              </a:ext>
            </a:extLst>
          </p:cNvPr>
          <p:cNvSpPr>
            <a:spLocks noChangeArrowheads="1"/>
          </p:cNvSpPr>
          <p:nvPr/>
        </p:nvSpPr>
        <p:spPr bwMode="auto">
          <a:xfrm>
            <a:off x="2714625" y="8575675"/>
            <a:ext cx="20335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buFontTx/>
              <a:buNone/>
            </a:pPr>
            <a:r>
              <a:rPr lang="ja-JP" altLang="en-US" sz="1400" b="1" dirty="0">
                <a:latin typeface="メイリオ" panose="020B0604030504040204" pitchFamily="50" charset="-128"/>
                <a:ea typeface="メイリオ" panose="020B0604030504040204" pitchFamily="50" charset="-128"/>
              </a:rPr>
              <a:t>やるべきでない！</a:t>
            </a:r>
            <a:endParaRPr lang="en-US" altLang="ja-JP" sz="1400" b="1" dirty="0">
              <a:latin typeface="メイリオ" panose="020B0604030504040204" pitchFamily="50" charset="-128"/>
              <a:ea typeface="メイリオ" panose="020B0604030504040204" pitchFamily="50" charset="-128"/>
            </a:endParaRPr>
          </a:p>
        </p:txBody>
      </p:sp>
      <p:sp>
        <p:nvSpPr>
          <p:cNvPr id="22564" name="Rectangle 1028">
            <a:extLst>
              <a:ext uri="{FF2B5EF4-FFF2-40B4-BE49-F238E27FC236}">
                <a16:creationId xmlns:a16="http://schemas.microsoft.com/office/drawing/2014/main" id="{E272BC39-98FE-450A-8EC9-E7C0B2A424E2}"/>
              </a:ext>
            </a:extLst>
          </p:cNvPr>
          <p:cNvSpPr>
            <a:spLocks noChangeArrowheads="1"/>
          </p:cNvSpPr>
          <p:nvPr/>
        </p:nvSpPr>
        <p:spPr bwMode="auto">
          <a:xfrm>
            <a:off x="4584700" y="-28575"/>
            <a:ext cx="226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dist" eaLnBrk="1" hangingPunct="1">
              <a:spcBef>
                <a:spcPct val="0"/>
              </a:spcBef>
              <a:buFontTx/>
              <a:buNone/>
            </a:pPr>
            <a:r>
              <a:rPr lang="ja-JP" altLang="en-US" sz="1600">
                <a:latin typeface="メイリオ" panose="020B0604030504040204" pitchFamily="50" charset="-128"/>
                <a:ea typeface="メイリオ" panose="020B0604030504040204" pitchFamily="50" charset="-128"/>
              </a:rPr>
              <a:t>行動指針</a:t>
            </a:r>
          </a:p>
        </p:txBody>
      </p:sp>
      <p:sp>
        <p:nvSpPr>
          <p:cNvPr id="22565" name="テキスト ボックス 19">
            <a:extLst>
              <a:ext uri="{FF2B5EF4-FFF2-40B4-BE49-F238E27FC236}">
                <a16:creationId xmlns:a16="http://schemas.microsoft.com/office/drawing/2014/main" id="{9053D306-8D50-4B09-8C56-0F1DF534E1D4}"/>
              </a:ext>
            </a:extLst>
          </p:cNvPr>
          <p:cNvSpPr txBox="1">
            <a:spLocks noChangeArrowheads="1"/>
          </p:cNvSpPr>
          <p:nvPr/>
        </p:nvSpPr>
        <p:spPr bwMode="auto">
          <a:xfrm>
            <a:off x="4718050" y="5937250"/>
            <a:ext cx="554038" cy="119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ja-JP" altLang="en-US" sz="1200" b="1">
                <a:latin typeface="メイリオ" panose="020B0604030504040204" pitchFamily="50" charset="-128"/>
                <a:ea typeface="メイリオ" panose="020B0604030504040204" pitchFamily="50" charset="-128"/>
              </a:rPr>
              <a:t>行動の判断基準があいまい</a:t>
            </a:r>
          </a:p>
        </p:txBody>
      </p:sp>
      <p:sp>
        <p:nvSpPr>
          <p:cNvPr id="22566" name="テキスト ボックス 39">
            <a:extLst>
              <a:ext uri="{FF2B5EF4-FFF2-40B4-BE49-F238E27FC236}">
                <a16:creationId xmlns:a16="http://schemas.microsoft.com/office/drawing/2014/main" id="{8B266F81-2649-472C-A107-209ABEE4DB9E}"/>
              </a:ext>
            </a:extLst>
          </p:cNvPr>
          <p:cNvSpPr txBox="1">
            <a:spLocks noChangeArrowheads="1"/>
          </p:cNvSpPr>
          <p:nvPr/>
        </p:nvSpPr>
        <p:spPr bwMode="auto">
          <a:xfrm>
            <a:off x="1392238" y="7681913"/>
            <a:ext cx="369887" cy="115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a:spcBef>
                <a:spcPct val="0"/>
              </a:spcBef>
              <a:buFontTx/>
              <a:buNone/>
            </a:pPr>
            <a:r>
              <a:rPr lang="ja-JP" altLang="en-US" sz="1200" b="1">
                <a:latin typeface="メイリオ" panose="020B0604030504040204" pitchFamily="50" charset="-128"/>
                <a:ea typeface="メイリオ" panose="020B0604030504040204" pitchFamily="50" charset="-128"/>
              </a:rPr>
              <a:t>目的が明確</a:t>
            </a:r>
          </a:p>
        </p:txBody>
      </p:sp>
      <p:sp>
        <p:nvSpPr>
          <p:cNvPr id="46" name="吹き出し: 四角形 45">
            <a:extLst>
              <a:ext uri="{FF2B5EF4-FFF2-40B4-BE49-F238E27FC236}">
                <a16:creationId xmlns:a16="http://schemas.microsoft.com/office/drawing/2014/main" id="{81EF3AB2-3A22-44CB-ACF0-ED15CE12B9AB}"/>
              </a:ext>
            </a:extLst>
          </p:cNvPr>
          <p:cNvSpPr/>
          <p:nvPr/>
        </p:nvSpPr>
        <p:spPr>
          <a:xfrm>
            <a:off x="46038" y="5451475"/>
            <a:ext cx="1798637" cy="403225"/>
          </a:xfrm>
          <a:prstGeom prst="wedgeRectCallout">
            <a:avLst>
              <a:gd name="adj1" fmla="val 33279"/>
              <a:gd name="adj2" fmla="val 79216"/>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dirty="0"/>
          </a:p>
        </p:txBody>
      </p:sp>
      <p:sp>
        <p:nvSpPr>
          <p:cNvPr id="22568" name="Rectangle 6">
            <a:extLst>
              <a:ext uri="{FF2B5EF4-FFF2-40B4-BE49-F238E27FC236}">
                <a16:creationId xmlns:a16="http://schemas.microsoft.com/office/drawing/2014/main" id="{EABD7700-048C-4C57-90C3-7B066A925EED}"/>
              </a:ext>
            </a:extLst>
          </p:cNvPr>
          <p:cNvSpPr>
            <a:spLocks noChangeArrowheads="1"/>
          </p:cNvSpPr>
          <p:nvPr/>
        </p:nvSpPr>
        <p:spPr bwMode="auto">
          <a:xfrm>
            <a:off x="125413" y="5581650"/>
            <a:ext cx="1692275" cy="16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1100" b="1">
                <a:solidFill>
                  <a:srgbClr val="000000"/>
                </a:solidFill>
                <a:latin typeface="メイリオ" panose="020B0604030504040204" pitchFamily="50" charset="-128"/>
                <a:ea typeface="メイリオ" panose="020B0604030504040204" pitchFamily="50" charset="-128"/>
              </a:rPr>
              <a:t>・・・・（なんだっけ？）</a:t>
            </a:r>
            <a:endParaRPr lang="ja-JP" altLang="en-US" sz="800" b="1">
              <a:latin typeface="メイリオ" panose="020B0604030504040204" pitchFamily="50" charset="-128"/>
              <a:ea typeface="メイリオ" panose="020B0604030504040204" pitchFamily="50" charset="-128"/>
            </a:endParaRPr>
          </a:p>
        </p:txBody>
      </p:sp>
      <p:sp>
        <p:nvSpPr>
          <p:cNvPr id="48" name="吹き出し: 四角形 47">
            <a:extLst>
              <a:ext uri="{FF2B5EF4-FFF2-40B4-BE49-F238E27FC236}">
                <a16:creationId xmlns:a16="http://schemas.microsoft.com/office/drawing/2014/main" id="{34022F6C-6776-4A4A-976F-837BAD010A67}"/>
              </a:ext>
            </a:extLst>
          </p:cNvPr>
          <p:cNvSpPr/>
          <p:nvPr/>
        </p:nvSpPr>
        <p:spPr>
          <a:xfrm>
            <a:off x="44450" y="7191375"/>
            <a:ext cx="1800225" cy="404813"/>
          </a:xfrm>
          <a:prstGeom prst="wedgeRectCallout">
            <a:avLst>
              <a:gd name="adj1" fmla="val 33279"/>
              <a:gd name="adj2" fmla="val 79216"/>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dirty="0"/>
          </a:p>
        </p:txBody>
      </p:sp>
      <p:sp>
        <p:nvSpPr>
          <p:cNvPr id="22570" name="Rectangle 6">
            <a:extLst>
              <a:ext uri="{FF2B5EF4-FFF2-40B4-BE49-F238E27FC236}">
                <a16:creationId xmlns:a16="http://schemas.microsoft.com/office/drawing/2014/main" id="{96D0B5E1-B6CA-4669-A162-252BA446C8F1}"/>
              </a:ext>
            </a:extLst>
          </p:cNvPr>
          <p:cNvSpPr>
            <a:spLocks noChangeArrowheads="1"/>
          </p:cNvSpPr>
          <p:nvPr/>
        </p:nvSpPr>
        <p:spPr bwMode="auto">
          <a:xfrm>
            <a:off x="276225" y="7334250"/>
            <a:ext cx="1411288" cy="16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1100" b="1">
                <a:solidFill>
                  <a:srgbClr val="000000"/>
                </a:solidFill>
                <a:latin typeface="メイリオ" panose="020B0604030504040204" pitchFamily="50" charset="-128"/>
                <a:ea typeface="メイリオ" panose="020B0604030504040204" pitchFamily="50" charset="-128"/>
              </a:rPr>
              <a:t>ＭＭＩファンの創造！</a:t>
            </a:r>
            <a:endParaRPr lang="ja-JP" altLang="en-US" sz="800" b="1">
              <a:latin typeface="メイリオ" panose="020B0604030504040204" pitchFamily="50" charset="-128"/>
              <a:ea typeface="メイリオ" panose="020B0604030504040204" pitchFamily="50" charset="-128"/>
            </a:endParaRPr>
          </a:p>
        </p:txBody>
      </p:sp>
      <p:sp>
        <p:nvSpPr>
          <p:cNvPr id="47" name="Google Shape;1346;p122">
            <a:extLst>
              <a:ext uri="{FF2B5EF4-FFF2-40B4-BE49-F238E27FC236}">
                <a16:creationId xmlns:a16="http://schemas.microsoft.com/office/drawing/2014/main" id="{8DD1D0E5-F39F-45D8-BBA4-AA66A3742EAC}"/>
              </a:ext>
            </a:extLst>
          </p:cNvPr>
          <p:cNvSpPr txBox="1"/>
          <p:nvPr/>
        </p:nvSpPr>
        <p:spPr>
          <a:xfrm>
            <a:off x="6308725" y="8993188"/>
            <a:ext cx="538163" cy="158750"/>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C2777260-A628-46C2-A209-D4FA6DBCE857}"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21</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グループ化 4">
            <a:extLst>
              <a:ext uri="{FF2B5EF4-FFF2-40B4-BE49-F238E27FC236}">
                <a16:creationId xmlns:a16="http://schemas.microsoft.com/office/drawing/2014/main" id="{D1CD502B-8084-4417-A023-0723B2C9344E}"/>
              </a:ext>
            </a:extLst>
          </p:cNvPr>
          <p:cNvGrpSpPr/>
          <p:nvPr/>
        </p:nvGrpSpPr>
        <p:grpSpPr>
          <a:xfrm>
            <a:off x="11112" y="8425413"/>
            <a:ext cx="6834185" cy="718587"/>
            <a:chOff x="11112" y="8425413"/>
            <a:chExt cx="6834185" cy="718587"/>
          </a:xfrm>
        </p:grpSpPr>
        <p:pic>
          <p:nvPicPr>
            <p:cNvPr id="23" name="図 22">
              <a:extLst>
                <a:ext uri="{FF2B5EF4-FFF2-40B4-BE49-F238E27FC236}">
                  <a16:creationId xmlns:a16="http://schemas.microsoft.com/office/drawing/2014/main" id="{00000000-0008-0000-0100-000004000000}"/>
                </a:ext>
              </a:extLst>
            </p:cNvPr>
            <p:cNvPicPr>
              <a:picLocks noChangeAspect="1"/>
            </p:cNvPicPr>
            <p:nvPr/>
          </p:nvPicPr>
          <p:blipFill rotWithShape="1">
            <a:blip r:embed="rId2">
              <a:extLst>
                <a:ext uri="{28A0092B-C50C-407E-A947-70E740481C1C}">
                  <a14:useLocalDpi xmlns:a14="http://schemas.microsoft.com/office/drawing/2010/main" val="0"/>
                </a:ext>
              </a:extLst>
            </a:blip>
            <a:srcRect l="59538" t="56963"/>
            <a:stretch/>
          </p:blipFill>
          <p:spPr>
            <a:xfrm>
              <a:off x="1124744" y="8789560"/>
              <a:ext cx="5720553" cy="354439"/>
            </a:xfrm>
            <a:prstGeom prst="rect">
              <a:avLst/>
            </a:prstGeom>
          </p:spPr>
        </p:pic>
        <p:pic>
          <p:nvPicPr>
            <p:cNvPr id="24" name="図 23">
              <a:extLst>
                <a:ext uri="{FF2B5EF4-FFF2-40B4-BE49-F238E27FC236}">
                  <a16:creationId xmlns:a16="http://schemas.microsoft.com/office/drawing/2014/main" id="{00000000-0008-0000-0100-000005000000}"/>
                </a:ext>
              </a:extLst>
            </p:cNvPr>
            <p:cNvPicPr>
              <a:picLocks noChangeAspect="1"/>
            </p:cNvPicPr>
            <p:nvPr/>
          </p:nvPicPr>
          <p:blipFill rotWithShape="1">
            <a:blip r:embed="rId2">
              <a:extLst>
                <a:ext uri="{28A0092B-C50C-407E-A947-70E740481C1C}">
                  <a14:useLocalDpi xmlns:a14="http://schemas.microsoft.com/office/drawing/2010/main" val="0"/>
                </a:ext>
              </a:extLst>
            </a:blip>
            <a:srcRect r="28008"/>
            <a:stretch/>
          </p:blipFill>
          <p:spPr>
            <a:xfrm>
              <a:off x="11112" y="8425413"/>
              <a:ext cx="1545680" cy="718587"/>
            </a:xfrm>
            <a:prstGeom prst="rect">
              <a:avLst/>
            </a:prstGeom>
          </p:spPr>
        </p:pic>
        <p:pic>
          <p:nvPicPr>
            <p:cNvPr id="25" name="Picture 2" descr="C:\Users\user\Desktop\MMIロゴ.jpg">
              <a:extLst>
                <a:ext uri="{FF2B5EF4-FFF2-40B4-BE49-F238E27FC236}">
                  <a16:creationId xmlns:a16="http://schemas.microsoft.com/office/drawing/2014/main" id="{00000000-0008-0000-0100-00000600000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42465" y="8706936"/>
              <a:ext cx="668079" cy="218539"/>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13" name="Google Shape;1346;p122">
            <a:extLst>
              <a:ext uri="{FF2B5EF4-FFF2-40B4-BE49-F238E27FC236}">
                <a16:creationId xmlns:a16="http://schemas.microsoft.com/office/drawing/2014/main" id="{21C730A1-4F84-45C2-89AE-120EFB8A06B8}"/>
              </a:ext>
            </a:extLst>
          </p:cNvPr>
          <p:cNvSpPr txBox="1"/>
          <p:nvPr/>
        </p:nvSpPr>
        <p:spPr>
          <a:xfrm>
            <a:off x="6308725" y="8993188"/>
            <a:ext cx="538163" cy="158750"/>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728D71D6-3455-4614-AB48-1DC83F526FD5}"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22</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sp>
        <p:nvSpPr>
          <p:cNvPr id="14" name="Rectangle 26">
            <a:extLst>
              <a:ext uri="{FF2B5EF4-FFF2-40B4-BE49-F238E27FC236}">
                <a16:creationId xmlns:a16="http://schemas.microsoft.com/office/drawing/2014/main" id="{00000000-0008-0000-0100-000003000000}"/>
              </a:ext>
            </a:extLst>
          </p:cNvPr>
          <p:cNvSpPr>
            <a:spLocks noChangeArrowheads="1"/>
          </p:cNvSpPr>
          <p:nvPr/>
        </p:nvSpPr>
        <p:spPr bwMode="auto">
          <a:xfrm rot="10800000">
            <a:off x="12698" y="-6188"/>
            <a:ext cx="6845301" cy="369795"/>
          </a:xfrm>
          <a:prstGeom prst="rect">
            <a:avLst/>
          </a:prstGeom>
          <a:solidFill>
            <a:srgbClr val="FF9999"/>
          </a:solidFill>
          <a:ln w="9525">
            <a:noFill/>
            <a:miter lim="800000"/>
            <a:headEnd/>
            <a:tailEnd/>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r" rtl="1">
              <a:defRPr sz="1000"/>
            </a:pPr>
            <a:endParaRPr lang="en-US" altLang="ja-JP" sz="1800" b="1" i="0" strike="noStrike">
              <a:solidFill>
                <a:schemeClr val="tx1"/>
              </a:solidFill>
              <a:latin typeface="+mj-ea"/>
              <a:ea typeface="+mj-ea"/>
            </a:endParaRPr>
          </a:p>
        </p:txBody>
      </p:sp>
      <p:sp>
        <p:nvSpPr>
          <p:cNvPr id="15" name="テキスト ボックス 8">
            <a:extLst>
              <a:ext uri="{FF2B5EF4-FFF2-40B4-BE49-F238E27FC236}">
                <a16:creationId xmlns:a16="http://schemas.microsoft.com/office/drawing/2014/main" id="{A8419715-4FC4-4D62-BCD2-A0664A6EB391}"/>
              </a:ext>
            </a:extLst>
          </p:cNvPr>
          <p:cNvSpPr txBox="1"/>
          <p:nvPr/>
        </p:nvSpPr>
        <p:spPr>
          <a:xfrm>
            <a:off x="1844824" y="-44896"/>
            <a:ext cx="5000477" cy="443141"/>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r"/>
            <a:r>
              <a:rPr lang="ja-JP" altLang="en-US" sz="1400" b="1" dirty="0">
                <a:latin typeface="メイリオ" panose="020B0604030504040204" pitchFamily="50" charset="-128"/>
                <a:ea typeface="メイリオ" panose="020B0604030504040204" pitchFamily="50" charset="-128"/>
              </a:rPr>
              <a:t>イズム </a:t>
            </a:r>
            <a:r>
              <a:rPr lang="en-US" altLang="ja-JP" sz="1400" b="1" dirty="0">
                <a:latin typeface="メイリオ" panose="020B0604030504040204" pitchFamily="50" charset="-128"/>
                <a:ea typeface="メイリオ" panose="020B0604030504040204" pitchFamily="50" charset="-128"/>
              </a:rPr>
              <a:t>of</a:t>
            </a:r>
            <a:r>
              <a:rPr lang="ja-JP" altLang="en-US" sz="1400" b="1" dirty="0">
                <a:latin typeface="メイリオ" panose="020B0604030504040204" pitchFamily="50" charset="-128"/>
                <a:ea typeface="メイリオ" panose="020B0604030504040204" pitchFamily="50" charset="-128"/>
              </a:rPr>
              <a:t> </a:t>
            </a:r>
            <a:r>
              <a:rPr lang="en-US" altLang="ja-JP" sz="1400" b="1" dirty="0">
                <a:latin typeface="メイリオ" panose="020B0604030504040204" pitchFamily="50" charset="-128"/>
                <a:ea typeface="メイリオ" panose="020B0604030504040204" pitchFamily="50" charset="-128"/>
              </a:rPr>
              <a:t>Month</a:t>
            </a:r>
            <a:r>
              <a:rPr kumimoji="1" lang="en-US" altLang="ja-JP" sz="1400" b="1" dirty="0">
                <a:latin typeface="メイリオ" panose="020B0604030504040204" pitchFamily="50" charset="-128"/>
                <a:ea typeface="メイリオ" panose="020B0604030504040204" pitchFamily="50" charset="-128"/>
              </a:rPr>
              <a:t> </a:t>
            </a:r>
            <a:r>
              <a:rPr kumimoji="1" lang="ja-JP" altLang="en-US" sz="1400" b="1" dirty="0">
                <a:latin typeface="メイリオ" panose="020B0604030504040204" pitchFamily="50" charset="-128"/>
                <a:ea typeface="メイリオ" panose="020B0604030504040204" pitchFamily="50" charset="-128"/>
              </a:rPr>
              <a:t>～</a:t>
            </a:r>
            <a:r>
              <a:rPr kumimoji="1" lang="en-US" altLang="ja-JP" sz="1400" b="1" dirty="0">
                <a:latin typeface="メイリオ" panose="020B0604030504040204" pitchFamily="50" charset="-128"/>
                <a:ea typeface="メイリオ" panose="020B0604030504040204" pitchFamily="50" charset="-128"/>
              </a:rPr>
              <a:t>2021</a:t>
            </a:r>
            <a:r>
              <a:rPr kumimoji="1" lang="ja-JP" altLang="en-US" sz="1400" b="1" dirty="0">
                <a:latin typeface="メイリオ" panose="020B0604030504040204" pitchFamily="50" charset="-128"/>
                <a:ea typeface="メイリオ" panose="020B0604030504040204" pitchFamily="50" charset="-128"/>
              </a:rPr>
              <a:t>年</a:t>
            </a:r>
            <a:r>
              <a:rPr kumimoji="1" lang="en-US" altLang="ja-JP" sz="1400" b="1" dirty="0">
                <a:latin typeface="メイリオ" panose="020B0604030504040204" pitchFamily="50" charset="-128"/>
                <a:ea typeface="メイリオ" panose="020B0604030504040204" pitchFamily="50" charset="-128"/>
              </a:rPr>
              <a:t>7</a:t>
            </a:r>
            <a:r>
              <a:rPr kumimoji="1" lang="ja-JP" altLang="en-US" sz="1400" b="1" dirty="0">
                <a:latin typeface="メイリオ" panose="020B0604030504040204" pitchFamily="50" charset="-128"/>
                <a:ea typeface="メイリオ" panose="020B0604030504040204" pitchFamily="50" charset="-128"/>
              </a:rPr>
              <a:t>月度代表エピソード～</a:t>
            </a:r>
          </a:p>
        </p:txBody>
      </p:sp>
      <p:pic>
        <p:nvPicPr>
          <p:cNvPr id="16" name="図 15">
            <a:extLst>
              <a:ext uri="{FF2B5EF4-FFF2-40B4-BE49-F238E27FC236}">
                <a16:creationId xmlns:a16="http://schemas.microsoft.com/office/drawing/2014/main" id="{00000000-0008-0000-0100-000002000000}"/>
              </a:ext>
            </a:extLst>
          </p:cNvPr>
          <p:cNvPicPr>
            <a:picLocks noChangeAspect="1"/>
          </p:cNvPicPr>
          <p:nvPr/>
        </p:nvPicPr>
        <p:blipFill rotWithShape="1">
          <a:blip r:embed="rId4">
            <a:extLst>
              <a:ext uri="{28A0092B-C50C-407E-A947-70E740481C1C}">
                <a14:useLocalDpi xmlns:a14="http://schemas.microsoft.com/office/drawing/2010/main" val="0"/>
              </a:ext>
            </a:extLst>
          </a:blip>
          <a:srcRect l="10629" t="50589" b="27489"/>
          <a:stretch/>
        </p:blipFill>
        <p:spPr>
          <a:xfrm flipH="1">
            <a:off x="-1" y="954708"/>
            <a:ext cx="6845298" cy="354833"/>
          </a:xfrm>
          <a:prstGeom prst="rect">
            <a:avLst/>
          </a:prstGeom>
        </p:spPr>
      </p:pic>
      <p:graphicFrame>
        <p:nvGraphicFramePr>
          <p:cNvPr id="3" name="表 2">
            <a:extLst>
              <a:ext uri="{FF2B5EF4-FFF2-40B4-BE49-F238E27FC236}">
                <a16:creationId xmlns:a16="http://schemas.microsoft.com/office/drawing/2014/main" id="{8C139B86-40AC-45F7-87DB-228867D7DFA6}"/>
              </a:ext>
            </a:extLst>
          </p:cNvPr>
          <p:cNvGraphicFramePr>
            <a:graphicFrameLocks noGrp="1"/>
          </p:cNvGraphicFramePr>
          <p:nvPr>
            <p:extLst>
              <p:ext uri="{D42A27DB-BD31-4B8C-83A1-F6EECF244321}">
                <p14:modId xmlns:p14="http://schemas.microsoft.com/office/powerpoint/2010/main" val="2290725241"/>
              </p:ext>
            </p:extLst>
          </p:nvPr>
        </p:nvGraphicFramePr>
        <p:xfrm>
          <a:off x="0" y="586160"/>
          <a:ext cx="6858000" cy="609600"/>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3352499802"/>
                    </a:ext>
                  </a:extLst>
                </a:gridCol>
              </a:tblGrid>
              <a:tr h="354439">
                <a:tc>
                  <a:txBody>
                    <a:bodyPr/>
                    <a:lstStyle/>
                    <a:p>
                      <a:pPr algn="ctr" fontAlgn="ctr"/>
                      <a:r>
                        <a:rPr lang="ja-JP" altLang="en-US" sz="2000" b="1" i="0" u="none" strike="noStrike" dirty="0">
                          <a:effectLst/>
                          <a:latin typeface="メイリオ" panose="020B0604030504040204" pitchFamily="50" charset="-128"/>
                          <a:ea typeface="メイリオ" panose="020B0604030504040204" pitchFamily="50" charset="-128"/>
                        </a:rPr>
                        <a:t>演じる田中さん</a:t>
                      </a:r>
                    </a:p>
                    <a:p>
                      <a:pPr algn="ctr" fontAlgn="ctr"/>
                      <a:endParaRPr lang="ja-JP" altLang="en-US" sz="2000" b="1" i="0" u="none" strike="noStrike" dirty="0">
                        <a:effectLst/>
                        <a:latin typeface="メイリオ" panose="020B0604030504040204" pitchFamily="50" charset="-128"/>
                        <a:ea typeface="メイリオ" panose="020B0604030504040204" pitchFamily="50" charset="-128"/>
                      </a:endParaRPr>
                    </a:p>
                  </a:txBody>
                  <a:tcPr marL="0" marR="0" marT="0" marB="0" anchor="ctr">
                    <a:noFill/>
                  </a:tcPr>
                </a:tc>
                <a:extLst>
                  <a:ext uri="{0D108BD9-81ED-4DB2-BD59-A6C34878D82A}">
                    <a16:rowId xmlns:a16="http://schemas.microsoft.com/office/drawing/2014/main" val="51326532"/>
                  </a:ext>
                </a:extLst>
              </a:tr>
            </a:tbl>
          </a:graphicData>
        </a:graphic>
      </p:graphicFrame>
      <p:graphicFrame>
        <p:nvGraphicFramePr>
          <p:cNvPr id="20" name="表 19">
            <a:extLst>
              <a:ext uri="{FF2B5EF4-FFF2-40B4-BE49-F238E27FC236}">
                <a16:creationId xmlns:a16="http://schemas.microsoft.com/office/drawing/2014/main" id="{AF3D3932-C55C-4445-AEFA-77BB58B79194}"/>
              </a:ext>
            </a:extLst>
          </p:cNvPr>
          <p:cNvGraphicFramePr>
            <a:graphicFrameLocks noGrp="1"/>
          </p:cNvGraphicFramePr>
          <p:nvPr>
            <p:extLst>
              <p:ext uri="{D42A27DB-BD31-4B8C-83A1-F6EECF244321}">
                <p14:modId xmlns:p14="http://schemas.microsoft.com/office/powerpoint/2010/main" val="3786044138"/>
              </p:ext>
            </p:extLst>
          </p:nvPr>
        </p:nvGraphicFramePr>
        <p:xfrm>
          <a:off x="-3" y="1481257"/>
          <a:ext cx="6858000" cy="354439"/>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3352499802"/>
                    </a:ext>
                  </a:extLst>
                </a:gridCol>
              </a:tblGrid>
              <a:tr h="354439">
                <a:tc>
                  <a:txBody>
                    <a:bodyPr/>
                    <a:lstStyle/>
                    <a:p>
                      <a:pPr algn="ctr" fontAlgn="ctr"/>
                      <a:r>
                        <a:rPr lang="ja-JP" altLang="en-US" sz="1600" b="1" i="0" u="none" strike="noStrike" dirty="0">
                          <a:effectLst/>
                          <a:latin typeface="メイリオ" panose="020B0604030504040204" pitchFamily="50" charset="-128"/>
                          <a:ea typeface="メイリオ" panose="020B0604030504040204" pitchFamily="50" charset="-128"/>
                        </a:rPr>
                        <a:t>関連するイズム：</a:t>
                      </a:r>
                      <a:r>
                        <a:rPr lang="en-US" altLang="ja-JP" sz="1600" b="1" i="0" u="none" strike="noStrike" dirty="0">
                          <a:effectLst/>
                          <a:latin typeface="メイリオ" panose="020B0604030504040204" pitchFamily="50" charset="-128"/>
                          <a:ea typeface="メイリオ" panose="020B0604030504040204" pitchFamily="50" charset="-128"/>
                        </a:rPr>
                        <a:t>MMI</a:t>
                      </a:r>
                      <a:r>
                        <a:rPr lang="ja-JP" altLang="en-US" sz="1600" b="1" i="0" u="none" strike="noStrike" dirty="0">
                          <a:effectLst/>
                          <a:latin typeface="メイリオ" panose="020B0604030504040204" pitchFamily="50" charset="-128"/>
                          <a:ea typeface="メイリオ" panose="020B0604030504040204" pitchFamily="50" charset="-128"/>
                        </a:rPr>
                        <a:t>ファンの創造</a:t>
                      </a:r>
                    </a:p>
                  </a:txBody>
                  <a:tcPr marL="0" marR="0" marT="0" marB="0" anchor="ctr">
                    <a:noFill/>
                  </a:tcPr>
                </a:tc>
                <a:extLst>
                  <a:ext uri="{0D108BD9-81ED-4DB2-BD59-A6C34878D82A}">
                    <a16:rowId xmlns:a16="http://schemas.microsoft.com/office/drawing/2014/main" val="51326532"/>
                  </a:ext>
                </a:extLst>
              </a:tr>
            </a:tbl>
          </a:graphicData>
        </a:graphic>
      </p:graphicFrame>
      <p:graphicFrame>
        <p:nvGraphicFramePr>
          <p:cNvPr id="21" name="表 20">
            <a:extLst>
              <a:ext uri="{FF2B5EF4-FFF2-40B4-BE49-F238E27FC236}">
                <a16:creationId xmlns:a16="http://schemas.microsoft.com/office/drawing/2014/main" id="{3EF87205-649E-42A4-A0E3-F2150B4E37B8}"/>
              </a:ext>
            </a:extLst>
          </p:cNvPr>
          <p:cNvGraphicFramePr>
            <a:graphicFrameLocks noGrp="1"/>
          </p:cNvGraphicFramePr>
          <p:nvPr>
            <p:extLst>
              <p:ext uri="{D42A27DB-BD31-4B8C-83A1-F6EECF244321}">
                <p14:modId xmlns:p14="http://schemas.microsoft.com/office/powerpoint/2010/main" val="609208681"/>
              </p:ext>
            </p:extLst>
          </p:nvPr>
        </p:nvGraphicFramePr>
        <p:xfrm>
          <a:off x="254296" y="1797224"/>
          <a:ext cx="6336704" cy="6447184"/>
        </p:xfrm>
        <a:graphic>
          <a:graphicData uri="http://schemas.openxmlformats.org/drawingml/2006/table">
            <a:tbl>
              <a:tblPr>
                <a:tableStyleId>{5C22544A-7EE6-4342-B048-85BDC9FD1C3A}</a:tableStyleId>
              </a:tblPr>
              <a:tblGrid>
                <a:gridCol w="6336704">
                  <a:extLst>
                    <a:ext uri="{9D8B030D-6E8A-4147-A177-3AD203B41FA5}">
                      <a16:colId xmlns:a16="http://schemas.microsoft.com/office/drawing/2014/main" val="3352499802"/>
                    </a:ext>
                  </a:extLst>
                </a:gridCol>
              </a:tblGrid>
              <a:tr h="6447184">
                <a:tc>
                  <a:txBody>
                    <a:bodyPr/>
                    <a:lstStyle/>
                    <a:p>
                      <a:pPr algn="l" fontAlgn="ctr"/>
                      <a:r>
                        <a:rPr lang="ja-JP" altLang="en-US" sz="1400" b="0" i="0" u="none" strike="noStrike" dirty="0">
                          <a:effectLst/>
                          <a:latin typeface="メイリオ" panose="020B0604030504040204" pitchFamily="50" charset="-128"/>
                          <a:ea typeface="メイリオ" panose="020B0604030504040204" pitchFamily="50" charset="-128"/>
                        </a:rPr>
                        <a:t>私たちは常にお客様の視点で発想し、お客様と共に喜び楽しむことを通じて一人でも多くの</a:t>
                      </a:r>
                      <a:r>
                        <a:rPr lang="en-US" altLang="ja-JP" sz="1400" b="0" i="0" u="none" strike="noStrike" dirty="0">
                          <a:effectLst/>
                          <a:latin typeface="メイリオ" panose="020B0604030504040204" pitchFamily="50" charset="-128"/>
                          <a:ea typeface="メイリオ" panose="020B0604030504040204" pitchFamily="50" charset="-128"/>
                        </a:rPr>
                        <a:t>MMI</a:t>
                      </a:r>
                      <a:r>
                        <a:rPr lang="ja-JP" altLang="en-US" sz="1400" b="0" i="0" u="none" strike="noStrike" dirty="0">
                          <a:effectLst/>
                          <a:latin typeface="メイリオ" panose="020B0604030504040204" pitchFamily="50" charset="-128"/>
                          <a:ea typeface="メイリオ" panose="020B0604030504040204" pitchFamily="50" charset="-128"/>
                        </a:rPr>
                        <a:t>ファンを創造していきます。</a:t>
                      </a:r>
                    </a:p>
                    <a:p>
                      <a:pPr algn="l" fontAlgn="ctr"/>
                      <a:endParaRPr lang="ja-JP" altLang="en-US" sz="1400" b="0" i="0" u="none" strike="noStrike" dirty="0">
                        <a:effectLst/>
                        <a:latin typeface="メイリオ" panose="020B0604030504040204" pitchFamily="50" charset="-128"/>
                        <a:ea typeface="メイリオ" panose="020B0604030504040204" pitchFamily="50" charset="-128"/>
                      </a:endParaRPr>
                    </a:p>
                    <a:p>
                      <a:pPr algn="l" fontAlgn="ctr"/>
                      <a:r>
                        <a:rPr lang="en-US" altLang="ja-JP" sz="1400" b="0" i="0" u="none" strike="noStrike" dirty="0">
                          <a:effectLst/>
                          <a:latin typeface="メイリオ" panose="020B0604030504040204" pitchFamily="50" charset="-128"/>
                          <a:ea typeface="メイリオ" panose="020B0604030504040204" pitchFamily="50" charset="-128"/>
                        </a:rPr>
                        <a:t>4</a:t>
                      </a:r>
                      <a:r>
                        <a:rPr lang="ja-JP" altLang="en-US" sz="1400" b="0" i="0" u="none" strike="noStrike" dirty="0">
                          <a:effectLst/>
                          <a:latin typeface="メイリオ" panose="020B0604030504040204" pitchFamily="50" charset="-128"/>
                          <a:ea typeface="メイリオ" panose="020B0604030504040204" pitchFamily="50" charset="-128"/>
                        </a:rPr>
                        <a:t>月に、田中宏樹さんと</a:t>
                      </a:r>
                      <a:r>
                        <a:rPr lang="en-US" altLang="ja-JP" sz="1400" b="0" i="0" u="none" strike="noStrike" dirty="0">
                          <a:effectLst/>
                          <a:latin typeface="メイリオ" panose="020B0604030504040204" pitchFamily="50" charset="-128"/>
                          <a:ea typeface="メイリオ" panose="020B0604030504040204" pitchFamily="50" charset="-128"/>
                        </a:rPr>
                        <a:t>2</a:t>
                      </a:r>
                      <a:r>
                        <a:rPr lang="ja-JP" altLang="en-US" sz="1400" b="0" i="0" u="none" strike="noStrike" dirty="0">
                          <a:effectLst/>
                          <a:latin typeface="メイリオ" panose="020B0604030504040204" pitchFamily="50" charset="-128"/>
                          <a:ea typeface="メイリオ" panose="020B0604030504040204" pitchFamily="50" charset="-128"/>
                        </a:rPr>
                        <a:t>人で茂原の</a:t>
                      </a:r>
                      <a:r>
                        <a:rPr lang="en-US" altLang="ja-JP" sz="1400" b="0" i="0" u="none" strike="noStrike" dirty="0">
                          <a:effectLst/>
                          <a:latin typeface="メイリオ" panose="020B0604030504040204" pitchFamily="50" charset="-128"/>
                          <a:ea typeface="メイリオ" panose="020B0604030504040204" pitchFamily="50" charset="-128"/>
                        </a:rPr>
                        <a:t>BUB</a:t>
                      </a:r>
                      <a:r>
                        <a:rPr lang="ja-JP" altLang="en-US" sz="1400" b="0" i="0" u="none" strike="noStrike" dirty="0">
                          <a:effectLst/>
                          <a:latin typeface="メイリオ" panose="020B0604030504040204" pitchFamily="50" charset="-128"/>
                          <a:ea typeface="メイリオ" panose="020B0604030504040204" pitchFamily="50" charset="-128"/>
                        </a:rPr>
                        <a:t>様へ御見積書の提出と打ち合わせに行かせて頂く機会がありました。様々な修羅場をくぐり、多くの武勇伝をお持ちの田中さんと一緒に外販のお客様へ営業に出かけるのは初めての経験で、とても楽しみでした。</a:t>
                      </a:r>
                    </a:p>
                    <a:p>
                      <a:pPr algn="l" fontAlgn="ctr"/>
                      <a:endParaRPr lang="ja-JP" altLang="en-US" sz="1400" b="0" i="0" u="none" strike="noStrike" dirty="0">
                        <a:effectLst/>
                        <a:latin typeface="メイリオ" panose="020B0604030504040204" pitchFamily="50" charset="-128"/>
                        <a:ea typeface="メイリオ" panose="020B0604030504040204" pitchFamily="50" charset="-128"/>
                      </a:endParaRPr>
                    </a:p>
                    <a:p>
                      <a:pPr algn="l" fontAlgn="ctr"/>
                      <a:r>
                        <a:rPr lang="ja-JP" altLang="en-US" sz="1400" b="0" i="0" u="none" strike="noStrike" dirty="0">
                          <a:effectLst/>
                          <a:latin typeface="メイリオ" panose="020B0604030504040204" pitchFamily="50" charset="-128"/>
                          <a:ea typeface="メイリオ" panose="020B0604030504040204" pitchFamily="50" charset="-128"/>
                        </a:rPr>
                        <a:t>現地では私は終始、御見積書の詳細説明や質問、受け答えばかりでしたが（カタブツでした</a:t>
                      </a:r>
                      <a:r>
                        <a:rPr lang="en-US" altLang="ja-JP" sz="1400" b="0" i="0" u="none" strike="noStrike" dirty="0">
                          <a:effectLst/>
                          <a:latin typeface="メイリオ" panose="020B0604030504040204" pitchFamily="50" charset="-128"/>
                          <a:ea typeface="メイリオ" panose="020B0604030504040204" pitchFamily="50" charset="-128"/>
                        </a:rPr>
                        <a:t>…</a:t>
                      </a:r>
                      <a:r>
                        <a:rPr lang="ja-JP" altLang="en-US" sz="1400" b="0" i="0" u="none" strike="noStrike" dirty="0">
                          <a:effectLst/>
                          <a:latin typeface="メイリオ" panose="020B0604030504040204" pitchFamily="50" charset="-128"/>
                          <a:ea typeface="メイリオ" panose="020B0604030504040204" pitchFamily="50" charset="-128"/>
                        </a:rPr>
                        <a:t>）田中さんはというと、こんなテンション高い田中さんは見たことないぞ、というくらい笑っていろいろなお話をされていました。正直この話今いります？と感じたり、そんなことも言うんですかー！？と思っていたのは内緒ですが、田中さんのお話で場が一気に和んだのを覚えています。ありがとうございます！</a:t>
                      </a:r>
                    </a:p>
                    <a:p>
                      <a:pPr algn="l" fontAlgn="ctr"/>
                      <a:endParaRPr lang="ja-JP" altLang="en-US" sz="1400" b="0" i="0" u="none" strike="noStrike" dirty="0">
                        <a:effectLst/>
                        <a:latin typeface="メイリオ" panose="020B0604030504040204" pitchFamily="50" charset="-128"/>
                        <a:ea typeface="メイリオ" panose="020B0604030504040204" pitchFamily="50" charset="-128"/>
                      </a:endParaRPr>
                    </a:p>
                    <a:p>
                      <a:pPr algn="l" fontAlgn="ctr"/>
                      <a:r>
                        <a:rPr lang="ja-JP" altLang="en-US" sz="1400" b="0" i="0" u="none" strike="noStrike" dirty="0">
                          <a:effectLst/>
                          <a:latin typeface="メイリオ" panose="020B0604030504040204" pitchFamily="50" charset="-128"/>
                          <a:ea typeface="メイリオ" panose="020B0604030504040204" pitchFamily="50" charset="-128"/>
                        </a:rPr>
                        <a:t>一通りのお話が終わって車へ向かって歩いている時に「田中さん随分テンション高かったですね」と話しかけると「引いた？あれね、俺のスタイルなの。さすがに演じてるよ？素じゃないよ？」とのことでした（笑）</a:t>
                      </a:r>
                    </a:p>
                    <a:p>
                      <a:pPr algn="l" fontAlgn="ctr"/>
                      <a:endParaRPr lang="ja-JP" altLang="en-US" sz="1400" b="0" i="0" u="none" strike="noStrike" dirty="0">
                        <a:effectLst/>
                        <a:latin typeface="メイリオ" panose="020B0604030504040204" pitchFamily="50" charset="-128"/>
                        <a:ea typeface="メイリオ" panose="020B0604030504040204" pitchFamily="50" charset="-128"/>
                      </a:endParaRPr>
                    </a:p>
                    <a:p>
                      <a:pPr algn="l" fontAlgn="ctr"/>
                      <a:r>
                        <a:rPr lang="ja-JP" altLang="en-US" sz="1400" b="0" i="0" u="none" strike="noStrike" dirty="0">
                          <a:effectLst/>
                          <a:latin typeface="メイリオ" panose="020B0604030504040204" pitchFamily="50" charset="-128"/>
                          <a:ea typeface="メイリオ" panose="020B0604030504040204" pitchFamily="50" charset="-128"/>
                        </a:rPr>
                        <a:t>きっと私がお堅いことばかり言っていたので、これじゃイカンとお客様の視点で発想し一肌脱いで「お客様と共に喜び楽しむこと」を実践してくださったんですね。ありがとうございます。</a:t>
                      </a:r>
                    </a:p>
                    <a:p>
                      <a:pPr algn="l" fontAlgn="ctr"/>
                      <a:endParaRPr lang="ja-JP" altLang="en-US" sz="1400" b="0" i="0" u="none" strike="noStrike" dirty="0">
                        <a:effectLst/>
                        <a:latin typeface="メイリオ" panose="020B0604030504040204" pitchFamily="50" charset="-128"/>
                        <a:ea typeface="メイリオ" panose="020B0604030504040204" pitchFamily="50" charset="-128"/>
                      </a:endParaRPr>
                    </a:p>
                    <a:p>
                      <a:pPr algn="l" fontAlgn="ctr"/>
                      <a:r>
                        <a:rPr lang="ja-JP" altLang="en-US" sz="1400" b="0" i="0" u="none" strike="noStrike" dirty="0">
                          <a:effectLst/>
                          <a:latin typeface="メイリオ" panose="020B0604030504040204" pitchFamily="50" charset="-128"/>
                          <a:ea typeface="メイリオ" panose="020B0604030504040204" pitchFamily="50" charset="-128"/>
                        </a:rPr>
                        <a:t>電話などで協力会社様やお客様からのご相談にもよく乗ってくださっている田中さんですが、こういった「演じる」積み重ねで田中ファンを増やしているんだな、と感じた出来事でした！</a:t>
                      </a:r>
                    </a:p>
                  </a:txBody>
                  <a:tcPr marL="0" marR="0" marT="0" marB="0" anchor="ctr">
                    <a:noFill/>
                  </a:tcPr>
                </a:tc>
                <a:extLst>
                  <a:ext uri="{0D108BD9-81ED-4DB2-BD59-A6C34878D82A}">
                    <a16:rowId xmlns:a16="http://schemas.microsoft.com/office/drawing/2014/main" val="51326532"/>
                  </a:ext>
                </a:extLst>
              </a:tr>
            </a:tbl>
          </a:graphicData>
        </a:graphic>
      </p:graphicFrame>
      <p:graphicFrame>
        <p:nvGraphicFramePr>
          <p:cNvPr id="4" name="表 3">
            <a:extLst>
              <a:ext uri="{FF2B5EF4-FFF2-40B4-BE49-F238E27FC236}">
                <a16:creationId xmlns:a16="http://schemas.microsoft.com/office/drawing/2014/main" id="{B79B7192-0D9C-4382-8D0B-167C3C35CE90}"/>
              </a:ext>
            </a:extLst>
          </p:cNvPr>
          <p:cNvGraphicFramePr>
            <a:graphicFrameLocks noGrp="1"/>
          </p:cNvGraphicFramePr>
          <p:nvPr>
            <p:extLst>
              <p:ext uri="{D42A27DB-BD31-4B8C-83A1-F6EECF244321}">
                <p14:modId xmlns:p14="http://schemas.microsoft.com/office/powerpoint/2010/main" val="3048388025"/>
              </p:ext>
            </p:extLst>
          </p:nvPr>
        </p:nvGraphicFramePr>
        <p:xfrm>
          <a:off x="704849" y="8143446"/>
          <a:ext cx="6140447" cy="605018"/>
        </p:xfrm>
        <a:graphic>
          <a:graphicData uri="http://schemas.openxmlformats.org/drawingml/2006/table">
            <a:tbl>
              <a:tblPr/>
              <a:tblGrid>
                <a:gridCol w="313857">
                  <a:extLst>
                    <a:ext uri="{9D8B030D-6E8A-4147-A177-3AD203B41FA5}">
                      <a16:colId xmlns:a16="http://schemas.microsoft.com/office/drawing/2014/main" val="4026392200"/>
                    </a:ext>
                  </a:extLst>
                </a:gridCol>
                <a:gridCol w="617588">
                  <a:extLst>
                    <a:ext uri="{9D8B030D-6E8A-4147-A177-3AD203B41FA5}">
                      <a16:colId xmlns:a16="http://schemas.microsoft.com/office/drawing/2014/main" val="2265573359"/>
                    </a:ext>
                  </a:extLst>
                </a:gridCol>
                <a:gridCol w="2885454">
                  <a:extLst>
                    <a:ext uri="{9D8B030D-6E8A-4147-A177-3AD203B41FA5}">
                      <a16:colId xmlns:a16="http://schemas.microsoft.com/office/drawing/2014/main" val="2831491253"/>
                    </a:ext>
                  </a:extLst>
                </a:gridCol>
                <a:gridCol w="2323548">
                  <a:extLst>
                    <a:ext uri="{9D8B030D-6E8A-4147-A177-3AD203B41FA5}">
                      <a16:colId xmlns:a16="http://schemas.microsoft.com/office/drawing/2014/main" val="2078562565"/>
                    </a:ext>
                  </a:extLst>
                </a:gridCol>
              </a:tblGrid>
              <a:tr h="302509">
                <a:tc>
                  <a:txBody>
                    <a:bodyPr/>
                    <a:lstStyle/>
                    <a:p>
                      <a:pPr algn="l" fontAlgn="ctr"/>
                      <a:endParaRPr lang="ja-JP" altLang="en-US" sz="900" b="1" i="0" u="none" strike="noStrike">
                        <a:effectLst/>
                        <a:latin typeface="メイリオ" panose="020B0604030504040204" pitchFamily="50" charset="-128"/>
                        <a:ea typeface="メイリオ" panose="020B0604030504040204" pitchFamily="50" charset="-128"/>
                      </a:endParaRPr>
                    </a:p>
                  </a:txBody>
                  <a:tcPr marL="7203" marR="7203" marT="7203" marB="0" anchor="ctr">
                    <a:lnL>
                      <a:noFill/>
                    </a:lnL>
                    <a:lnR>
                      <a:noFill/>
                    </a:lnR>
                    <a:lnT>
                      <a:noFill/>
                    </a:lnT>
                    <a:lnB>
                      <a:noFill/>
                    </a:lnB>
                  </a:tcPr>
                </a:tc>
                <a:tc>
                  <a:txBody>
                    <a:bodyPr/>
                    <a:lstStyle/>
                    <a:p>
                      <a:pPr algn="l" fontAlgn="ctr"/>
                      <a:endParaRPr lang="ja-JP" altLang="en-US" sz="1200" b="1" i="0" u="none" strike="noStrike">
                        <a:effectLst/>
                        <a:latin typeface="メイリオ" panose="020B0604030504040204" pitchFamily="50" charset="-128"/>
                        <a:ea typeface="メイリオ" panose="020B0604030504040204" pitchFamily="50" charset="-128"/>
                      </a:endParaRPr>
                    </a:p>
                  </a:txBody>
                  <a:tcPr marL="7203" marR="7203" marT="7203" marB="0" anchor="ctr">
                    <a:lnL>
                      <a:noFill/>
                    </a:lnL>
                    <a:lnR>
                      <a:noFill/>
                    </a:lnR>
                    <a:lnT>
                      <a:noFill/>
                    </a:lnT>
                    <a:lnB>
                      <a:noFill/>
                    </a:lnB>
                  </a:tcPr>
                </a:tc>
                <a:tc>
                  <a:txBody>
                    <a:bodyPr/>
                    <a:lstStyle/>
                    <a:p>
                      <a:pPr algn="ctr" fontAlgn="ctr"/>
                      <a:r>
                        <a:rPr lang="ja-JP" altLang="en-US" sz="1200" b="1" i="0" u="none" strike="noStrike" dirty="0">
                          <a:effectLst/>
                          <a:latin typeface="メイリオ" panose="020B0604030504040204" pitchFamily="50" charset="-128"/>
                          <a:ea typeface="メイリオ" panose="020B0604030504040204" pitchFamily="50" charset="-128"/>
                        </a:rPr>
                        <a:t>（所属）</a:t>
                      </a:r>
                    </a:p>
                  </a:txBody>
                  <a:tcPr marL="7203" marR="7203" marT="7203" marB="0" anchor="ctr">
                    <a:lnL>
                      <a:noFill/>
                    </a:lnL>
                    <a:lnR>
                      <a:noFill/>
                    </a:lnR>
                    <a:lnT>
                      <a:noFill/>
                    </a:lnT>
                    <a:lnB>
                      <a:noFill/>
                    </a:lnB>
                  </a:tcPr>
                </a:tc>
                <a:tc>
                  <a:txBody>
                    <a:bodyPr/>
                    <a:lstStyle/>
                    <a:p>
                      <a:pPr algn="ctr" fontAlgn="ctr"/>
                      <a:r>
                        <a:rPr lang="ja-JP" altLang="en-US" sz="1200" b="1" i="0" u="none" strike="noStrike" dirty="0">
                          <a:effectLst/>
                          <a:latin typeface="メイリオ" panose="020B0604030504040204" pitchFamily="50" charset="-128"/>
                          <a:ea typeface="メイリオ" panose="020B0604030504040204" pitchFamily="50" charset="-128"/>
                        </a:rPr>
                        <a:t>（氏名）</a:t>
                      </a:r>
                    </a:p>
                  </a:txBody>
                  <a:tcPr marL="7203" marR="7203" marT="7203" marB="0" anchor="ctr">
                    <a:lnL>
                      <a:noFill/>
                    </a:lnL>
                    <a:lnR>
                      <a:noFill/>
                    </a:lnR>
                    <a:lnT>
                      <a:noFill/>
                    </a:lnT>
                    <a:lnB>
                      <a:noFill/>
                    </a:lnB>
                  </a:tcPr>
                </a:tc>
                <a:extLst>
                  <a:ext uri="{0D108BD9-81ED-4DB2-BD59-A6C34878D82A}">
                    <a16:rowId xmlns:a16="http://schemas.microsoft.com/office/drawing/2014/main" val="2937889479"/>
                  </a:ext>
                </a:extLst>
              </a:tr>
              <a:tr h="302509">
                <a:tc gridSpan="2">
                  <a:txBody>
                    <a:bodyPr/>
                    <a:lstStyle/>
                    <a:p>
                      <a:pPr algn="ctr" fontAlgn="ctr"/>
                      <a:r>
                        <a:rPr lang="ja-JP" altLang="en-US" sz="1200" b="1" i="0" u="none" strike="noStrike" dirty="0">
                          <a:effectLst/>
                          <a:latin typeface="メイリオ" panose="020B0604030504040204" pitchFamily="50" charset="-128"/>
                          <a:ea typeface="メイリオ" panose="020B0604030504040204" pitchFamily="50" charset="-128"/>
                        </a:rPr>
                        <a:t>寄稿者</a:t>
                      </a:r>
                    </a:p>
                  </a:txBody>
                  <a:tcPr marL="7203" marR="7203" marT="7203" marB="0" anchor="ctr">
                    <a:lnL>
                      <a:noFill/>
                    </a:lnL>
                    <a:lnR>
                      <a:noFill/>
                    </a:lnR>
                    <a:lnT>
                      <a:noFill/>
                    </a:lnT>
                    <a:lnB>
                      <a:noFill/>
                    </a:lnB>
                  </a:tcPr>
                </a:tc>
                <a:tc hMerge="1">
                  <a:txBody>
                    <a:bodyPr/>
                    <a:lstStyle/>
                    <a:p>
                      <a:endParaRPr kumimoji="1" lang="ja-JP" altLang="en-US"/>
                    </a:p>
                  </a:txBody>
                  <a:tcPr/>
                </a:tc>
                <a:tc>
                  <a:txBody>
                    <a:bodyPr/>
                    <a:lstStyle/>
                    <a:p>
                      <a:pPr algn="ctr" fontAlgn="ctr"/>
                      <a:r>
                        <a:rPr lang="ja-JP" altLang="en-US" sz="1400" b="1" i="0" u="none" strike="noStrike" dirty="0">
                          <a:effectLst/>
                          <a:latin typeface="メイリオ" panose="020B0604030504040204" pitchFamily="50" charset="-128"/>
                          <a:ea typeface="メイリオ" panose="020B0604030504040204" pitchFamily="50" charset="-128"/>
                        </a:rPr>
                        <a:t>営業推進チーム</a:t>
                      </a:r>
                    </a:p>
                  </a:txBody>
                  <a:tcPr marL="7203" marR="7203" marT="7203" marB="0" anchor="ctr">
                    <a:lnL>
                      <a:noFill/>
                    </a:lnL>
                    <a:lnR>
                      <a:noFill/>
                    </a:lnR>
                    <a:lnT>
                      <a:noFill/>
                    </a:lnT>
                    <a:lnB>
                      <a:noFill/>
                    </a:lnB>
                  </a:tcPr>
                </a:tc>
                <a:tc>
                  <a:txBody>
                    <a:bodyPr/>
                    <a:lstStyle/>
                    <a:p>
                      <a:pPr algn="ctr" fontAlgn="ctr"/>
                      <a:r>
                        <a:rPr lang="ja-JP" altLang="en-US" sz="1400" b="1" i="0" u="none" strike="noStrike" dirty="0">
                          <a:effectLst/>
                          <a:latin typeface="メイリオ" panose="020B0604030504040204" pitchFamily="50" charset="-128"/>
                          <a:ea typeface="メイリオ" panose="020B0604030504040204" pitchFamily="50" charset="-128"/>
                        </a:rPr>
                        <a:t>清野　領生</a:t>
                      </a:r>
                    </a:p>
                  </a:txBody>
                  <a:tcPr marL="7203" marR="7203" marT="7203" marB="0" anchor="ctr">
                    <a:lnL>
                      <a:noFill/>
                    </a:lnL>
                    <a:lnR>
                      <a:noFill/>
                    </a:lnR>
                    <a:lnT>
                      <a:noFill/>
                    </a:lnT>
                    <a:lnB>
                      <a:noFill/>
                    </a:lnB>
                  </a:tcPr>
                </a:tc>
                <a:extLst>
                  <a:ext uri="{0D108BD9-81ED-4DB2-BD59-A6C34878D82A}">
                    <a16:rowId xmlns:a16="http://schemas.microsoft.com/office/drawing/2014/main" val="4267474516"/>
                  </a:ext>
                </a:extLst>
              </a:tr>
            </a:tbl>
          </a:graphicData>
        </a:graphic>
      </p:graphicFrame>
    </p:spTree>
    <p:extLst>
      <p:ext uri="{BB962C8B-B14F-4D97-AF65-F5344CB8AC3E}">
        <p14:creationId xmlns:p14="http://schemas.microsoft.com/office/powerpoint/2010/main" val="7269209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グループ化 4">
            <a:extLst>
              <a:ext uri="{FF2B5EF4-FFF2-40B4-BE49-F238E27FC236}">
                <a16:creationId xmlns:a16="http://schemas.microsoft.com/office/drawing/2014/main" id="{D1CD502B-8084-4417-A023-0723B2C9344E}"/>
              </a:ext>
            </a:extLst>
          </p:cNvPr>
          <p:cNvGrpSpPr/>
          <p:nvPr/>
        </p:nvGrpSpPr>
        <p:grpSpPr>
          <a:xfrm>
            <a:off x="11112" y="8425413"/>
            <a:ext cx="6834185" cy="718587"/>
            <a:chOff x="11112" y="8425413"/>
            <a:chExt cx="6834185" cy="718587"/>
          </a:xfrm>
        </p:grpSpPr>
        <p:pic>
          <p:nvPicPr>
            <p:cNvPr id="23" name="図 22">
              <a:extLst>
                <a:ext uri="{FF2B5EF4-FFF2-40B4-BE49-F238E27FC236}">
                  <a16:creationId xmlns:a16="http://schemas.microsoft.com/office/drawing/2014/main" id="{00000000-0008-0000-0100-000004000000}"/>
                </a:ext>
              </a:extLst>
            </p:cNvPr>
            <p:cNvPicPr>
              <a:picLocks noChangeAspect="1"/>
            </p:cNvPicPr>
            <p:nvPr/>
          </p:nvPicPr>
          <p:blipFill rotWithShape="1">
            <a:blip r:embed="rId2">
              <a:extLst>
                <a:ext uri="{28A0092B-C50C-407E-A947-70E740481C1C}">
                  <a14:useLocalDpi xmlns:a14="http://schemas.microsoft.com/office/drawing/2010/main" val="0"/>
                </a:ext>
              </a:extLst>
            </a:blip>
            <a:srcRect l="59538" t="56963"/>
            <a:stretch/>
          </p:blipFill>
          <p:spPr>
            <a:xfrm>
              <a:off x="1124744" y="8789560"/>
              <a:ext cx="5720553" cy="354439"/>
            </a:xfrm>
            <a:prstGeom prst="rect">
              <a:avLst/>
            </a:prstGeom>
          </p:spPr>
        </p:pic>
        <p:pic>
          <p:nvPicPr>
            <p:cNvPr id="24" name="図 23">
              <a:extLst>
                <a:ext uri="{FF2B5EF4-FFF2-40B4-BE49-F238E27FC236}">
                  <a16:creationId xmlns:a16="http://schemas.microsoft.com/office/drawing/2014/main" id="{00000000-0008-0000-0100-000005000000}"/>
                </a:ext>
              </a:extLst>
            </p:cNvPr>
            <p:cNvPicPr>
              <a:picLocks noChangeAspect="1"/>
            </p:cNvPicPr>
            <p:nvPr/>
          </p:nvPicPr>
          <p:blipFill rotWithShape="1">
            <a:blip r:embed="rId2">
              <a:extLst>
                <a:ext uri="{28A0092B-C50C-407E-A947-70E740481C1C}">
                  <a14:useLocalDpi xmlns:a14="http://schemas.microsoft.com/office/drawing/2010/main" val="0"/>
                </a:ext>
              </a:extLst>
            </a:blip>
            <a:srcRect r="28008"/>
            <a:stretch/>
          </p:blipFill>
          <p:spPr>
            <a:xfrm>
              <a:off x="11112" y="8425413"/>
              <a:ext cx="1545680" cy="718587"/>
            </a:xfrm>
            <a:prstGeom prst="rect">
              <a:avLst/>
            </a:prstGeom>
          </p:spPr>
        </p:pic>
        <p:pic>
          <p:nvPicPr>
            <p:cNvPr id="25" name="Picture 2" descr="C:\Users\user\Desktop\MMIロゴ.jpg">
              <a:extLst>
                <a:ext uri="{FF2B5EF4-FFF2-40B4-BE49-F238E27FC236}">
                  <a16:creationId xmlns:a16="http://schemas.microsoft.com/office/drawing/2014/main" id="{00000000-0008-0000-0100-00000600000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42465" y="8706936"/>
              <a:ext cx="668079" cy="218539"/>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13" name="Google Shape;1346;p122">
            <a:extLst>
              <a:ext uri="{FF2B5EF4-FFF2-40B4-BE49-F238E27FC236}">
                <a16:creationId xmlns:a16="http://schemas.microsoft.com/office/drawing/2014/main" id="{21C730A1-4F84-45C2-89AE-120EFB8A06B8}"/>
              </a:ext>
            </a:extLst>
          </p:cNvPr>
          <p:cNvSpPr txBox="1"/>
          <p:nvPr/>
        </p:nvSpPr>
        <p:spPr>
          <a:xfrm>
            <a:off x="6308725" y="8993188"/>
            <a:ext cx="538163" cy="158750"/>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728D71D6-3455-4614-AB48-1DC83F526FD5}"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23</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sp>
        <p:nvSpPr>
          <p:cNvPr id="14" name="Rectangle 26">
            <a:extLst>
              <a:ext uri="{FF2B5EF4-FFF2-40B4-BE49-F238E27FC236}">
                <a16:creationId xmlns:a16="http://schemas.microsoft.com/office/drawing/2014/main" id="{00000000-0008-0000-0100-000003000000}"/>
              </a:ext>
            </a:extLst>
          </p:cNvPr>
          <p:cNvSpPr>
            <a:spLocks noChangeArrowheads="1"/>
          </p:cNvSpPr>
          <p:nvPr/>
        </p:nvSpPr>
        <p:spPr bwMode="auto">
          <a:xfrm rot="10800000">
            <a:off x="12698" y="-6188"/>
            <a:ext cx="6845301" cy="369795"/>
          </a:xfrm>
          <a:prstGeom prst="rect">
            <a:avLst/>
          </a:prstGeom>
          <a:solidFill>
            <a:srgbClr val="FF9999"/>
          </a:solidFill>
          <a:ln w="9525">
            <a:noFill/>
            <a:miter lim="800000"/>
            <a:headEnd/>
            <a:tailEnd/>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r" rtl="1">
              <a:defRPr sz="1000"/>
            </a:pPr>
            <a:endParaRPr lang="en-US" altLang="ja-JP" sz="1800" b="1" i="0" strike="noStrike">
              <a:solidFill>
                <a:schemeClr val="tx1"/>
              </a:solidFill>
              <a:latin typeface="+mj-ea"/>
              <a:ea typeface="+mj-ea"/>
            </a:endParaRPr>
          </a:p>
        </p:txBody>
      </p:sp>
      <p:sp>
        <p:nvSpPr>
          <p:cNvPr id="15" name="テキスト ボックス 8">
            <a:extLst>
              <a:ext uri="{FF2B5EF4-FFF2-40B4-BE49-F238E27FC236}">
                <a16:creationId xmlns:a16="http://schemas.microsoft.com/office/drawing/2014/main" id="{A8419715-4FC4-4D62-BCD2-A0664A6EB391}"/>
              </a:ext>
            </a:extLst>
          </p:cNvPr>
          <p:cNvSpPr txBox="1"/>
          <p:nvPr/>
        </p:nvSpPr>
        <p:spPr>
          <a:xfrm>
            <a:off x="1844824" y="-44896"/>
            <a:ext cx="5000477" cy="443141"/>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r"/>
            <a:r>
              <a:rPr lang="ja-JP" altLang="en-US" sz="1400" b="1" dirty="0">
                <a:latin typeface="メイリオ" panose="020B0604030504040204" pitchFamily="50" charset="-128"/>
                <a:ea typeface="メイリオ" panose="020B0604030504040204" pitchFamily="50" charset="-128"/>
              </a:rPr>
              <a:t>イズム </a:t>
            </a:r>
            <a:r>
              <a:rPr lang="en-US" altLang="ja-JP" sz="1400" b="1" dirty="0">
                <a:latin typeface="メイリオ" panose="020B0604030504040204" pitchFamily="50" charset="-128"/>
                <a:ea typeface="メイリオ" panose="020B0604030504040204" pitchFamily="50" charset="-128"/>
              </a:rPr>
              <a:t>of</a:t>
            </a:r>
            <a:r>
              <a:rPr lang="ja-JP" altLang="en-US" sz="1400" b="1" dirty="0">
                <a:latin typeface="メイリオ" panose="020B0604030504040204" pitchFamily="50" charset="-128"/>
                <a:ea typeface="メイリオ" panose="020B0604030504040204" pitchFamily="50" charset="-128"/>
              </a:rPr>
              <a:t> </a:t>
            </a:r>
            <a:r>
              <a:rPr lang="en-US" altLang="ja-JP" sz="1400" b="1" dirty="0">
                <a:latin typeface="メイリオ" panose="020B0604030504040204" pitchFamily="50" charset="-128"/>
                <a:ea typeface="メイリオ" panose="020B0604030504040204" pitchFamily="50" charset="-128"/>
              </a:rPr>
              <a:t>Month</a:t>
            </a:r>
            <a:r>
              <a:rPr kumimoji="1" lang="en-US" altLang="ja-JP" sz="1400" b="1" dirty="0">
                <a:latin typeface="メイリオ" panose="020B0604030504040204" pitchFamily="50" charset="-128"/>
                <a:ea typeface="メイリオ" panose="020B0604030504040204" pitchFamily="50" charset="-128"/>
              </a:rPr>
              <a:t> </a:t>
            </a:r>
            <a:r>
              <a:rPr kumimoji="1" lang="ja-JP" altLang="en-US" sz="1400" b="1" dirty="0">
                <a:latin typeface="メイリオ" panose="020B0604030504040204" pitchFamily="50" charset="-128"/>
                <a:ea typeface="メイリオ" panose="020B0604030504040204" pitchFamily="50" charset="-128"/>
              </a:rPr>
              <a:t>～</a:t>
            </a:r>
            <a:r>
              <a:rPr kumimoji="1" lang="en-US" altLang="ja-JP" sz="1400" b="1" dirty="0">
                <a:latin typeface="メイリオ" panose="020B0604030504040204" pitchFamily="50" charset="-128"/>
                <a:ea typeface="メイリオ" panose="020B0604030504040204" pitchFamily="50" charset="-128"/>
              </a:rPr>
              <a:t>2021</a:t>
            </a:r>
            <a:r>
              <a:rPr kumimoji="1" lang="ja-JP" altLang="en-US" sz="1400" b="1" dirty="0">
                <a:latin typeface="メイリオ" panose="020B0604030504040204" pitchFamily="50" charset="-128"/>
                <a:ea typeface="メイリオ" panose="020B0604030504040204" pitchFamily="50" charset="-128"/>
              </a:rPr>
              <a:t>年</a:t>
            </a:r>
            <a:r>
              <a:rPr lang="en-US" altLang="ja-JP" sz="1400" b="1" dirty="0">
                <a:latin typeface="メイリオ" panose="020B0604030504040204" pitchFamily="50" charset="-128"/>
                <a:ea typeface="メイリオ" panose="020B0604030504040204" pitchFamily="50" charset="-128"/>
              </a:rPr>
              <a:t>8</a:t>
            </a:r>
            <a:r>
              <a:rPr kumimoji="1" lang="ja-JP" altLang="en-US" sz="1400" b="1" dirty="0">
                <a:latin typeface="メイリオ" panose="020B0604030504040204" pitchFamily="50" charset="-128"/>
                <a:ea typeface="メイリオ" panose="020B0604030504040204" pitchFamily="50" charset="-128"/>
              </a:rPr>
              <a:t>月度代表エピソード～</a:t>
            </a:r>
          </a:p>
        </p:txBody>
      </p:sp>
      <p:pic>
        <p:nvPicPr>
          <p:cNvPr id="16" name="図 15">
            <a:extLst>
              <a:ext uri="{FF2B5EF4-FFF2-40B4-BE49-F238E27FC236}">
                <a16:creationId xmlns:a16="http://schemas.microsoft.com/office/drawing/2014/main" id="{00000000-0008-0000-0100-000002000000}"/>
              </a:ext>
            </a:extLst>
          </p:cNvPr>
          <p:cNvPicPr>
            <a:picLocks noChangeAspect="1"/>
          </p:cNvPicPr>
          <p:nvPr/>
        </p:nvPicPr>
        <p:blipFill rotWithShape="1">
          <a:blip r:embed="rId4">
            <a:extLst>
              <a:ext uri="{28A0092B-C50C-407E-A947-70E740481C1C}">
                <a14:useLocalDpi xmlns:a14="http://schemas.microsoft.com/office/drawing/2010/main" val="0"/>
              </a:ext>
            </a:extLst>
          </a:blip>
          <a:srcRect l="10629" t="50589" b="27489"/>
          <a:stretch/>
        </p:blipFill>
        <p:spPr>
          <a:xfrm flipH="1">
            <a:off x="-1" y="954708"/>
            <a:ext cx="6845298" cy="354833"/>
          </a:xfrm>
          <a:prstGeom prst="rect">
            <a:avLst/>
          </a:prstGeom>
        </p:spPr>
      </p:pic>
      <p:graphicFrame>
        <p:nvGraphicFramePr>
          <p:cNvPr id="3" name="表 2">
            <a:extLst>
              <a:ext uri="{FF2B5EF4-FFF2-40B4-BE49-F238E27FC236}">
                <a16:creationId xmlns:a16="http://schemas.microsoft.com/office/drawing/2014/main" id="{8C139B86-40AC-45F7-87DB-228867D7DFA6}"/>
              </a:ext>
            </a:extLst>
          </p:cNvPr>
          <p:cNvGraphicFramePr>
            <a:graphicFrameLocks noGrp="1"/>
          </p:cNvGraphicFramePr>
          <p:nvPr>
            <p:extLst>
              <p:ext uri="{D42A27DB-BD31-4B8C-83A1-F6EECF244321}">
                <p14:modId xmlns:p14="http://schemas.microsoft.com/office/powerpoint/2010/main" val="1904795667"/>
              </p:ext>
            </p:extLst>
          </p:nvPr>
        </p:nvGraphicFramePr>
        <p:xfrm>
          <a:off x="0" y="586160"/>
          <a:ext cx="6858000" cy="609600"/>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3352499802"/>
                    </a:ext>
                  </a:extLst>
                </a:gridCol>
              </a:tblGrid>
              <a:tr h="354439">
                <a:tc>
                  <a:txBody>
                    <a:bodyPr/>
                    <a:lstStyle/>
                    <a:p>
                      <a:pPr algn="ctr" fontAlgn="ctr"/>
                      <a:r>
                        <a:rPr lang="ja-JP" altLang="en-US" sz="2000" b="1" i="0" u="none" strike="noStrike" dirty="0">
                          <a:effectLst/>
                          <a:latin typeface="メイリオ" panose="020B0604030504040204" pitchFamily="50" charset="-128"/>
                          <a:ea typeface="メイリオ" panose="020B0604030504040204" pitchFamily="50" charset="-128"/>
                        </a:rPr>
                        <a:t>笑顔が見られるために</a:t>
                      </a:r>
                    </a:p>
                    <a:p>
                      <a:pPr algn="ctr" fontAlgn="ctr"/>
                      <a:endParaRPr lang="ja-JP" altLang="en-US" sz="2000" b="1" i="0" u="none" strike="noStrike" dirty="0">
                        <a:effectLst/>
                        <a:latin typeface="メイリオ" panose="020B0604030504040204" pitchFamily="50" charset="-128"/>
                        <a:ea typeface="メイリオ" panose="020B0604030504040204" pitchFamily="50" charset="-128"/>
                      </a:endParaRPr>
                    </a:p>
                  </a:txBody>
                  <a:tcPr marL="0" marR="0" marT="0" marB="0" anchor="ctr">
                    <a:noFill/>
                  </a:tcPr>
                </a:tc>
                <a:extLst>
                  <a:ext uri="{0D108BD9-81ED-4DB2-BD59-A6C34878D82A}">
                    <a16:rowId xmlns:a16="http://schemas.microsoft.com/office/drawing/2014/main" val="51326532"/>
                  </a:ext>
                </a:extLst>
              </a:tr>
            </a:tbl>
          </a:graphicData>
        </a:graphic>
      </p:graphicFrame>
      <p:graphicFrame>
        <p:nvGraphicFramePr>
          <p:cNvPr id="20" name="表 19">
            <a:extLst>
              <a:ext uri="{FF2B5EF4-FFF2-40B4-BE49-F238E27FC236}">
                <a16:creationId xmlns:a16="http://schemas.microsoft.com/office/drawing/2014/main" id="{AF3D3932-C55C-4445-AEFA-77BB58B79194}"/>
              </a:ext>
            </a:extLst>
          </p:cNvPr>
          <p:cNvGraphicFramePr>
            <a:graphicFrameLocks noGrp="1"/>
          </p:cNvGraphicFramePr>
          <p:nvPr/>
        </p:nvGraphicFramePr>
        <p:xfrm>
          <a:off x="-3" y="1481257"/>
          <a:ext cx="6858000" cy="354439"/>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3352499802"/>
                    </a:ext>
                  </a:extLst>
                </a:gridCol>
              </a:tblGrid>
              <a:tr h="354439">
                <a:tc>
                  <a:txBody>
                    <a:bodyPr/>
                    <a:lstStyle/>
                    <a:p>
                      <a:pPr algn="ctr" fontAlgn="ctr"/>
                      <a:r>
                        <a:rPr lang="ja-JP" altLang="en-US" sz="1600" b="1" i="0" u="none" strike="noStrike" dirty="0">
                          <a:effectLst/>
                          <a:latin typeface="メイリオ" panose="020B0604030504040204" pitchFamily="50" charset="-128"/>
                          <a:ea typeface="メイリオ" panose="020B0604030504040204" pitchFamily="50" charset="-128"/>
                        </a:rPr>
                        <a:t>関連するイズム：</a:t>
                      </a:r>
                      <a:r>
                        <a:rPr lang="en-US" altLang="ja-JP" sz="1600" b="1" i="0" u="none" strike="noStrike" dirty="0">
                          <a:effectLst/>
                          <a:latin typeface="メイリオ" panose="020B0604030504040204" pitchFamily="50" charset="-128"/>
                          <a:ea typeface="メイリオ" panose="020B0604030504040204" pitchFamily="50" charset="-128"/>
                        </a:rPr>
                        <a:t>MMI</a:t>
                      </a:r>
                      <a:r>
                        <a:rPr lang="ja-JP" altLang="en-US" sz="1600" b="1" i="0" u="none" strike="noStrike" dirty="0">
                          <a:effectLst/>
                          <a:latin typeface="メイリオ" panose="020B0604030504040204" pitchFamily="50" charset="-128"/>
                          <a:ea typeface="メイリオ" panose="020B0604030504040204" pitchFamily="50" charset="-128"/>
                        </a:rPr>
                        <a:t>ファンの創造</a:t>
                      </a:r>
                    </a:p>
                  </a:txBody>
                  <a:tcPr marL="0" marR="0" marT="0" marB="0" anchor="ctr">
                    <a:noFill/>
                  </a:tcPr>
                </a:tc>
                <a:extLst>
                  <a:ext uri="{0D108BD9-81ED-4DB2-BD59-A6C34878D82A}">
                    <a16:rowId xmlns:a16="http://schemas.microsoft.com/office/drawing/2014/main" val="51326532"/>
                  </a:ext>
                </a:extLst>
              </a:tr>
            </a:tbl>
          </a:graphicData>
        </a:graphic>
      </p:graphicFrame>
      <p:graphicFrame>
        <p:nvGraphicFramePr>
          <p:cNvPr id="21" name="表 20">
            <a:extLst>
              <a:ext uri="{FF2B5EF4-FFF2-40B4-BE49-F238E27FC236}">
                <a16:creationId xmlns:a16="http://schemas.microsoft.com/office/drawing/2014/main" id="{3EF87205-649E-42A4-A0E3-F2150B4E37B8}"/>
              </a:ext>
            </a:extLst>
          </p:cNvPr>
          <p:cNvGraphicFramePr>
            <a:graphicFrameLocks noGrp="1"/>
          </p:cNvGraphicFramePr>
          <p:nvPr>
            <p:extLst>
              <p:ext uri="{D42A27DB-BD31-4B8C-83A1-F6EECF244321}">
                <p14:modId xmlns:p14="http://schemas.microsoft.com/office/powerpoint/2010/main" val="3761519224"/>
              </p:ext>
            </p:extLst>
          </p:nvPr>
        </p:nvGraphicFramePr>
        <p:xfrm>
          <a:off x="224644" y="1821110"/>
          <a:ext cx="6408712" cy="6447184"/>
        </p:xfrm>
        <a:graphic>
          <a:graphicData uri="http://schemas.openxmlformats.org/drawingml/2006/table">
            <a:tbl>
              <a:tblPr>
                <a:tableStyleId>{5C22544A-7EE6-4342-B048-85BDC9FD1C3A}</a:tableStyleId>
              </a:tblPr>
              <a:tblGrid>
                <a:gridCol w="6408712">
                  <a:extLst>
                    <a:ext uri="{9D8B030D-6E8A-4147-A177-3AD203B41FA5}">
                      <a16:colId xmlns:a16="http://schemas.microsoft.com/office/drawing/2014/main" val="3352499802"/>
                    </a:ext>
                  </a:extLst>
                </a:gridCol>
              </a:tblGrid>
              <a:tr h="6447184">
                <a:tc>
                  <a:txBody>
                    <a:bodyPr/>
                    <a:lstStyle/>
                    <a:p>
                      <a:pPr algn="l" fontAlgn="ctr"/>
                      <a:r>
                        <a:rPr lang="ja-JP" altLang="en-US" sz="1400" b="0" i="0" u="none" strike="noStrike" dirty="0">
                          <a:effectLst/>
                          <a:latin typeface="メイリオ" panose="020B0604030504040204" pitchFamily="50" charset="-128"/>
                          <a:ea typeface="メイリオ" panose="020B0604030504040204" pitchFamily="50" charset="-128"/>
                        </a:rPr>
                        <a:t>先日感動したスタッフの菅原さんとクラーク長岡さんのエピソードをご紹介いたします。</a:t>
                      </a:r>
                    </a:p>
                    <a:p>
                      <a:pPr algn="l" fontAlgn="ctr"/>
                      <a:endParaRPr lang="ja-JP" altLang="en-US" sz="1400" b="0" i="0" u="none" strike="noStrike" dirty="0">
                        <a:effectLst/>
                        <a:latin typeface="メイリオ" panose="020B0604030504040204" pitchFamily="50" charset="-128"/>
                        <a:ea typeface="メイリオ" panose="020B0604030504040204" pitchFamily="50" charset="-128"/>
                      </a:endParaRPr>
                    </a:p>
                    <a:p>
                      <a:pPr algn="l" fontAlgn="ctr"/>
                      <a:r>
                        <a:rPr lang="ja-JP" altLang="en-US" sz="1400" b="0" i="0" u="none" strike="noStrike" dirty="0">
                          <a:effectLst/>
                          <a:latin typeface="メイリオ" panose="020B0604030504040204" pitchFamily="50" charset="-128"/>
                          <a:ea typeface="メイリオ" panose="020B0604030504040204" pitchFamily="50" charset="-128"/>
                        </a:rPr>
                        <a:t>会津若松一箕店営業中の菅原さんが急に辞めたいと電話してきました。どうしてなのか？あんなに営業中の仕事が好きで戻ってきてくれたのに、と思いながら聞くと「どうしても作業報告書が、</a:t>
                      </a:r>
                      <a:r>
                        <a:rPr lang="en-US" altLang="ja-JP" sz="1400" b="0" i="0" u="none" strike="noStrike" dirty="0">
                          <a:effectLst/>
                          <a:latin typeface="メイリオ" panose="020B0604030504040204" pitchFamily="50" charset="-128"/>
                          <a:ea typeface="メイリオ" panose="020B0604030504040204" pitchFamily="50" charset="-128"/>
                        </a:rPr>
                        <a:t>iPad</a:t>
                      </a:r>
                      <a:r>
                        <a:rPr lang="ja-JP" altLang="en-US" sz="1400" b="0" i="0" u="none" strike="noStrike" dirty="0">
                          <a:effectLst/>
                          <a:latin typeface="メイリオ" panose="020B0604030504040204" pitchFamily="50" charset="-128"/>
                          <a:ea typeface="メイリオ" panose="020B0604030504040204" pitchFamily="50" charset="-128"/>
                        </a:rPr>
                        <a:t>でできない、忘れてしまう、阿部店長やクラーク長岡さんに教えていただくのも悪いから」と話してくれました。</a:t>
                      </a:r>
                    </a:p>
                    <a:p>
                      <a:pPr algn="l" fontAlgn="ctr"/>
                      <a:endParaRPr lang="en-US" altLang="ja-JP" sz="1400" b="0" i="0" u="none" strike="noStrike" dirty="0">
                        <a:effectLst/>
                        <a:latin typeface="メイリオ" panose="020B0604030504040204" pitchFamily="50" charset="-128"/>
                        <a:ea typeface="メイリオ" panose="020B0604030504040204" pitchFamily="50" charset="-128"/>
                      </a:endParaRPr>
                    </a:p>
                    <a:p>
                      <a:pPr algn="l" fontAlgn="ctr"/>
                      <a:r>
                        <a:rPr lang="ja-JP" altLang="en-US" sz="1400" b="0" i="0" u="none" strike="noStrike" dirty="0">
                          <a:effectLst/>
                          <a:latin typeface="メイリオ" panose="020B0604030504040204" pitchFamily="50" charset="-128"/>
                          <a:ea typeface="メイリオ" panose="020B0604030504040204" pitchFamily="50" charset="-128"/>
                        </a:rPr>
                        <a:t>そこで、私が「クラークさんに電話をしてちゃんと謝るし、やり方を教えてください、と話すから安心してほしい」と話しました。そしてすぐに店舗様に電話をかけて、長岡さんと話しました。「慣れるまでですからね！</a:t>
                      </a:r>
                      <a:r>
                        <a:rPr lang="en-US" altLang="ja-JP" sz="1400" b="0" i="0" u="none" strike="noStrike" dirty="0">
                          <a:effectLst/>
                          <a:latin typeface="メイリオ" panose="020B0604030504040204" pitchFamily="50" charset="-128"/>
                          <a:ea typeface="メイリオ" panose="020B0604030504040204" pitchFamily="50" charset="-128"/>
                        </a:rPr>
                        <a:t>iPad</a:t>
                      </a:r>
                      <a:r>
                        <a:rPr lang="ja-JP" altLang="en-US" sz="1400" b="0" i="0" u="none" strike="noStrike" dirty="0">
                          <a:effectLst/>
                          <a:latin typeface="メイリオ" panose="020B0604030504040204" pitchFamily="50" charset="-128"/>
                          <a:ea typeface="メイリオ" panose="020B0604030504040204" pitchFamily="50" charset="-128"/>
                        </a:rPr>
                        <a:t>がいやになって辞められたら大変ですからね」と優しい返事をいただきました。</a:t>
                      </a:r>
                      <a:endParaRPr lang="en-US" altLang="ja-JP" sz="1400" b="0" i="0" u="none" strike="noStrike" dirty="0">
                        <a:effectLst/>
                        <a:latin typeface="メイリオ" panose="020B0604030504040204" pitchFamily="50" charset="-128"/>
                        <a:ea typeface="メイリオ" panose="020B0604030504040204" pitchFamily="50" charset="-128"/>
                      </a:endParaRPr>
                    </a:p>
                    <a:p>
                      <a:pPr algn="l" fontAlgn="ctr"/>
                      <a:endParaRPr lang="en-US" altLang="ja-JP" sz="1400" b="0" i="0" u="none" strike="noStrike" dirty="0">
                        <a:effectLst/>
                        <a:latin typeface="メイリオ" panose="020B0604030504040204" pitchFamily="50" charset="-128"/>
                        <a:ea typeface="メイリオ" panose="020B0604030504040204" pitchFamily="50" charset="-128"/>
                      </a:endParaRPr>
                    </a:p>
                    <a:p>
                      <a:pPr algn="l" fontAlgn="ctr"/>
                      <a:r>
                        <a:rPr lang="ja-JP" altLang="en-US" sz="1400" b="0" i="0" u="none" strike="noStrike" dirty="0">
                          <a:effectLst/>
                          <a:latin typeface="メイリオ" panose="020B0604030504040204" pitchFamily="50" charset="-128"/>
                          <a:ea typeface="メイリオ" panose="020B0604030504040204" pitchFamily="50" charset="-128"/>
                        </a:rPr>
                        <a:t>その後店舗様に行き菅原さんと</a:t>
                      </a:r>
                      <a:r>
                        <a:rPr lang="en-US" altLang="ja-JP" sz="1400" b="0" i="0" u="none" strike="noStrike" dirty="0">
                          <a:effectLst/>
                          <a:latin typeface="メイリオ" panose="020B0604030504040204" pitchFamily="50" charset="-128"/>
                          <a:ea typeface="メイリオ" panose="020B0604030504040204" pitchFamily="50" charset="-128"/>
                        </a:rPr>
                        <a:t>iPad</a:t>
                      </a:r>
                      <a:r>
                        <a:rPr lang="ja-JP" altLang="en-US" sz="1400" b="0" i="0" u="none" strike="noStrike" dirty="0">
                          <a:effectLst/>
                          <a:latin typeface="メイリオ" panose="020B0604030504040204" pitchFamily="50" charset="-128"/>
                          <a:ea typeface="メイリオ" panose="020B0604030504040204" pitchFamily="50" charset="-128"/>
                        </a:rPr>
                        <a:t>の練習をしました。その時に菅原さんが取り出したものにびっくり！写真付きで大きな文字でわかりやすい手順書が書いてあったのです。「なにこれ？すごい！」と話すと「クラーク長岡さんが作ってくれて教えてくれたの</a:t>
                      </a:r>
                      <a:r>
                        <a:rPr lang="en-US" altLang="ja-JP" sz="1400" b="0" i="0" u="none" strike="noStrike" dirty="0">
                          <a:effectLst/>
                          <a:latin typeface="メイリオ" panose="020B0604030504040204" pitchFamily="50" charset="-128"/>
                          <a:ea typeface="メイリオ" panose="020B0604030504040204" pitchFamily="50" charset="-128"/>
                        </a:rPr>
                        <a:t>…</a:t>
                      </a:r>
                      <a:r>
                        <a:rPr lang="ja-JP" altLang="en-US" sz="1400" b="0" i="0" u="none" strike="noStrike" dirty="0">
                          <a:effectLst/>
                          <a:latin typeface="メイリオ" panose="020B0604030504040204" pitchFamily="50" charset="-128"/>
                          <a:ea typeface="メイリオ" panose="020B0604030504040204" pitchFamily="50" charset="-128"/>
                        </a:rPr>
                        <a:t>」とのこと。</a:t>
                      </a:r>
                    </a:p>
                    <a:p>
                      <a:pPr algn="l" fontAlgn="ctr"/>
                      <a:endParaRPr lang="ja-JP" altLang="en-US" sz="1400" b="0" i="0" u="none" strike="noStrike" dirty="0">
                        <a:effectLst/>
                        <a:latin typeface="メイリオ" panose="020B0604030504040204" pitchFamily="50" charset="-128"/>
                        <a:ea typeface="メイリオ" panose="020B0604030504040204" pitchFamily="50" charset="-128"/>
                      </a:endParaRPr>
                    </a:p>
                    <a:p>
                      <a:pPr algn="l" fontAlgn="ctr"/>
                      <a:r>
                        <a:rPr lang="ja-JP" altLang="en-US" sz="1400" b="0" i="0" u="none" strike="noStrike" dirty="0">
                          <a:effectLst/>
                          <a:latin typeface="メイリオ" panose="020B0604030504040204" pitchFamily="50" charset="-128"/>
                          <a:ea typeface="メイリオ" panose="020B0604030504040204" pitchFamily="50" charset="-128"/>
                        </a:rPr>
                        <a:t>　こんなに菅原さんのことを思ってくれ、よい方法を考えわざわざ作成してくれる・・・本来は、私がしなければならないことなのに</a:t>
                      </a:r>
                      <a:r>
                        <a:rPr lang="en-US" altLang="ja-JP" sz="1400" b="0" i="0" u="none" strike="noStrike" dirty="0">
                          <a:effectLst/>
                          <a:latin typeface="メイリオ" panose="020B0604030504040204" pitchFamily="50" charset="-128"/>
                          <a:ea typeface="メイリオ" panose="020B0604030504040204" pitchFamily="50" charset="-128"/>
                        </a:rPr>
                        <a:t>…</a:t>
                      </a:r>
                      <a:r>
                        <a:rPr lang="ja-JP" altLang="en-US" sz="1400" b="0" i="0" u="none" strike="noStrike" dirty="0">
                          <a:effectLst/>
                          <a:latin typeface="メイリオ" panose="020B0604030504040204" pitchFamily="50" charset="-128"/>
                          <a:ea typeface="メイリオ" panose="020B0604030504040204" pitchFamily="50" charset="-128"/>
                        </a:rPr>
                        <a:t>なんてすばらしいのかとありがたく温かい気持ちと感謝の思いに包まれました。お陰で菅原さんは少しずつできるようになったのです。</a:t>
                      </a:r>
                    </a:p>
                    <a:p>
                      <a:pPr algn="l" fontAlgn="ctr"/>
                      <a:endParaRPr lang="ja-JP" altLang="en-US" sz="1400" b="0" i="0" u="none" strike="noStrike" dirty="0">
                        <a:effectLst/>
                        <a:latin typeface="メイリオ" panose="020B0604030504040204" pitchFamily="50" charset="-128"/>
                        <a:ea typeface="メイリオ" panose="020B0604030504040204" pitchFamily="50" charset="-128"/>
                      </a:endParaRPr>
                    </a:p>
                    <a:p>
                      <a:pPr algn="l" fontAlgn="ctr"/>
                      <a:r>
                        <a:rPr lang="ja-JP" altLang="en-US" sz="1400" b="0" i="0" u="none" strike="noStrike" dirty="0">
                          <a:effectLst/>
                          <a:latin typeface="メイリオ" panose="020B0604030504040204" pitchFamily="50" charset="-128"/>
                          <a:ea typeface="メイリオ" panose="020B0604030504040204" pitchFamily="50" charset="-128"/>
                        </a:rPr>
                        <a:t>いつも黙々と働き、きれいにする完璧主義者の菅原さんは店舗様にもお客様にもファンをたくさん作っているのだと思います。</a:t>
                      </a:r>
                    </a:p>
                    <a:p>
                      <a:pPr algn="l" fontAlgn="ctr"/>
                      <a:endParaRPr lang="ja-JP" altLang="en-US" sz="1400" b="0" i="0" u="none" strike="noStrike" dirty="0">
                        <a:effectLst/>
                        <a:latin typeface="メイリオ" panose="020B0604030504040204" pitchFamily="50" charset="-128"/>
                        <a:ea typeface="メイリオ" panose="020B0604030504040204" pitchFamily="50" charset="-128"/>
                      </a:endParaRPr>
                    </a:p>
                    <a:p>
                      <a:pPr algn="l" fontAlgn="ctr"/>
                      <a:r>
                        <a:rPr lang="en-US" altLang="ja-JP" sz="1400" b="0" i="0" u="none" strike="noStrike" dirty="0">
                          <a:effectLst/>
                          <a:latin typeface="メイリオ" panose="020B0604030504040204" pitchFamily="50" charset="-128"/>
                          <a:ea typeface="メイリオ" panose="020B0604030504040204" pitchFamily="50" charset="-128"/>
                        </a:rPr>
                        <a:t>76</a:t>
                      </a:r>
                      <a:r>
                        <a:rPr lang="ja-JP" altLang="en-US" sz="1400" b="0" i="0" u="none" strike="noStrike" dirty="0">
                          <a:effectLst/>
                          <a:latin typeface="メイリオ" panose="020B0604030504040204" pitchFamily="50" charset="-128"/>
                          <a:ea typeface="メイリオ" panose="020B0604030504040204" pitchFamily="50" charset="-128"/>
                        </a:rPr>
                        <a:t>歳でもスマホを買って、これからも指先練習をしてもっともっと勉強するそうです。前向きで素晴らしい先輩スタッフ（菅原さん）と関われて最高です。私も負けずに日々成長します！</a:t>
                      </a:r>
                    </a:p>
                  </a:txBody>
                  <a:tcPr marL="0" marR="0" marT="0" marB="0" anchor="ctr">
                    <a:noFill/>
                  </a:tcPr>
                </a:tc>
                <a:extLst>
                  <a:ext uri="{0D108BD9-81ED-4DB2-BD59-A6C34878D82A}">
                    <a16:rowId xmlns:a16="http://schemas.microsoft.com/office/drawing/2014/main" val="51326532"/>
                  </a:ext>
                </a:extLst>
              </a:tr>
            </a:tbl>
          </a:graphicData>
        </a:graphic>
      </p:graphicFrame>
      <p:graphicFrame>
        <p:nvGraphicFramePr>
          <p:cNvPr id="4" name="表 3">
            <a:extLst>
              <a:ext uri="{FF2B5EF4-FFF2-40B4-BE49-F238E27FC236}">
                <a16:creationId xmlns:a16="http://schemas.microsoft.com/office/drawing/2014/main" id="{B79B7192-0D9C-4382-8D0B-167C3C35CE90}"/>
              </a:ext>
            </a:extLst>
          </p:cNvPr>
          <p:cNvGraphicFramePr>
            <a:graphicFrameLocks noGrp="1"/>
          </p:cNvGraphicFramePr>
          <p:nvPr>
            <p:extLst>
              <p:ext uri="{D42A27DB-BD31-4B8C-83A1-F6EECF244321}">
                <p14:modId xmlns:p14="http://schemas.microsoft.com/office/powerpoint/2010/main" val="332992470"/>
              </p:ext>
            </p:extLst>
          </p:nvPr>
        </p:nvGraphicFramePr>
        <p:xfrm>
          <a:off x="764704" y="8143446"/>
          <a:ext cx="6048672" cy="605018"/>
        </p:xfrm>
        <a:graphic>
          <a:graphicData uri="http://schemas.openxmlformats.org/drawingml/2006/table">
            <a:tbl>
              <a:tblPr/>
              <a:tblGrid>
                <a:gridCol w="254002">
                  <a:extLst>
                    <a:ext uri="{9D8B030D-6E8A-4147-A177-3AD203B41FA5}">
                      <a16:colId xmlns:a16="http://schemas.microsoft.com/office/drawing/2014/main" val="4026392200"/>
                    </a:ext>
                  </a:extLst>
                </a:gridCol>
                <a:gridCol w="617588">
                  <a:extLst>
                    <a:ext uri="{9D8B030D-6E8A-4147-A177-3AD203B41FA5}">
                      <a16:colId xmlns:a16="http://schemas.microsoft.com/office/drawing/2014/main" val="2265573359"/>
                    </a:ext>
                  </a:extLst>
                </a:gridCol>
                <a:gridCol w="2885454">
                  <a:extLst>
                    <a:ext uri="{9D8B030D-6E8A-4147-A177-3AD203B41FA5}">
                      <a16:colId xmlns:a16="http://schemas.microsoft.com/office/drawing/2014/main" val="2831491253"/>
                    </a:ext>
                  </a:extLst>
                </a:gridCol>
                <a:gridCol w="2291628">
                  <a:extLst>
                    <a:ext uri="{9D8B030D-6E8A-4147-A177-3AD203B41FA5}">
                      <a16:colId xmlns:a16="http://schemas.microsoft.com/office/drawing/2014/main" val="2078562565"/>
                    </a:ext>
                  </a:extLst>
                </a:gridCol>
              </a:tblGrid>
              <a:tr h="302509">
                <a:tc>
                  <a:txBody>
                    <a:bodyPr/>
                    <a:lstStyle/>
                    <a:p>
                      <a:pPr algn="l" fontAlgn="ctr"/>
                      <a:endParaRPr lang="ja-JP" altLang="en-US" sz="900" b="1" i="0" u="none" strike="noStrike" dirty="0">
                        <a:effectLst/>
                        <a:latin typeface="メイリオ" panose="020B0604030504040204" pitchFamily="50" charset="-128"/>
                        <a:ea typeface="メイリオ" panose="020B0604030504040204" pitchFamily="50" charset="-128"/>
                      </a:endParaRPr>
                    </a:p>
                  </a:txBody>
                  <a:tcPr marL="7203" marR="7203" marT="7203" marB="0" anchor="ctr">
                    <a:lnL>
                      <a:noFill/>
                    </a:lnL>
                    <a:lnR>
                      <a:noFill/>
                    </a:lnR>
                    <a:lnT>
                      <a:noFill/>
                    </a:lnT>
                    <a:lnB>
                      <a:noFill/>
                    </a:lnB>
                  </a:tcPr>
                </a:tc>
                <a:tc>
                  <a:txBody>
                    <a:bodyPr/>
                    <a:lstStyle/>
                    <a:p>
                      <a:pPr algn="l" fontAlgn="ctr"/>
                      <a:endParaRPr lang="ja-JP" altLang="en-US" sz="1200" b="1" i="0" u="none" strike="noStrike">
                        <a:effectLst/>
                        <a:latin typeface="メイリオ" panose="020B0604030504040204" pitchFamily="50" charset="-128"/>
                        <a:ea typeface="メイリオ" panose="020B0604030504040204" pitchFamily="50" charset="-128"/>
                      </a:endParaRPr>
                    </a:p>
                  </a:txBody>
                  <a:tcPr marL="7203" marR="7203" marT="7203" marB="0" anchor="ctr">
                    <a:lnL>
                      <a:noFill/>
                    </a:lnL>
                    <a:lnR>
                      <a:noFill/>
                    </a:lnR>
                    <a:lnT>
                      <a:noFill/>
                    </a:lnT>
                    <a:lnB>
                      <a:noFill/>
                    </a:lnB>
                  </a:tcPr>
                </a:tc>
                <a:tc>
                  <a:txBody>
                    <a:bodyPr/>
                    <a:lstStyle/>
                    <a:p>
                      <a:pPr algn="ctr" fontAlgn="ctr"/>
                      <a:r>
                        <a:rPr lang="ja-JP" altLang="en-US" sz="1200" b="1" i="0" u="none" strike="noStrike" dirty="0">
                          <a:effectLst/>
                          <a:latin typeface="メイリオ" panose="020B0604030504040204" pitchFamily="50" charset="-128"/>
                          <a:ea typeface="メイリオ" panose="020B0604030504040204" pitchFamily="50" charset="-128"/>
                        </a:rPr>
                        <a:t>（所属）</a:t>
                      </a:r>
                    </a:p>
                  </a:txBody>
                  <a:tcPr marL="7203" marR="7203" marT="7203" marB="0" anchor="ctr">
                    <a:lnL>
                      <a:noFill/>
                    </a:lnL>
                    <a:lnR>
                      <a:noFill/>
                    </a:lnR>
                    <a:lnT>
                      <a:noFill/>
                    </a:lnT>
                    <a:lnB>
                      <a:noFill/>
                    </a:lnB>
                  </a:tcPr>
                </a:tc>
                <a:tc>
                  <a:txBody>
                    <a:bodyPr/>
                    <a:lstStyle/>
                    <a:p>
                      <a:pPr algn="ctr" fontAlgn="ctr"/>
                      <a:r>
                        <a:rPr lang="ja-JP" altLang="en-US" sz="1200" b="1" i="0" u="none" strike="noStrike" dirty="0">
                          <a:effectLst/>
                          <a:latin typeface="メイリオ" panose="020B0604030504040204" pitchFamily="50" charset="-128"/>
                          <a:ea typeface="メイリオ" panose="020B0604030504040204" pitchFamily="50" charset="-128"/>
                        </a:rPr>
                        <a:t>（氏名）</a:t>
                      </a:r>
                    </a:p>
                  </a:txBody>
                  <a:tcPr marL="7203" marR="7203" marT="7203" marB="0" anchor="ctr">
                    <a:lnL>
                      <a:noFill/>
                    </a:lnL>
                    <a:lnR>
                      <a:noFill/>
                    </a:lnR>
                    <a:lnT>
                      <a:noFill/>
                    </a:lnT>
                    <a:lnB>
                      <a:noFill/>
                    </a:lnB>
                  </a:tcPr>
                </a:tc>
                <a:extLst>
                  <a:ext uri="{0D108BD9-81ED-4DB2-BD59-A6C34878D82A}">
                    <a16:rowId xmlns:a16="http://schemas.microsoft.com/office/drawing/2014/main" val="2937889479"/>
                  </a:ext>
                </a:extLst>
              </a:tr>
              <a:tr h="302509">
                <a:tc gridSpan="2">
                  <a:txBody>
                    <a:bodyPr/>
                    <a:lstStyle/>
                    <a:p>
                      <a:pPr algn="ctr" fontAlgn="ctr"/>
                      <a:r>
                        <a:rPr lang="ja-JP" altLang="en-US" sz="1200" b="1" i="0" u="none" strike="noStrike" dirty="0">
                          <a:effectLst/>
                          <a:latin typeface="メイリオ" panose="020B0604030504040204" pitchFamily="50" charset="-128"/>
                          <a:ea typeface="メイリオ" panose="020B0604030504040204" pitchFamily="50" charset="-128"/>
                        </a:rPr>
                        <a:t>寄稿者</a:t>
                      </a:r>
                    </a:p>
                  </a:txBody>
                  <a:tcPr marL="7203" marR="7203" marT="7203" marB="0" anchor="ctr">
                    <a:lnL>
                      <a:noFill/>
                    </a:lnL>
                    <a:lnR>
                      <a:noFill/>
                    </a:lnR>
                    <a:lnT>
                      <a:noFill/>
                    </a:lnT>
                    <a:lnB>
                      <a:noFill/>
                    </a:lnB>
                  </a:tcPr>
                </a:tc>
                <a:tc hMerge="1">
                  <a:txBody>
                    <a:bodyPr/>
                    <a:lstStyle/>
                    <a:p>
                      <a:endParaRPr kumimoji="1" lang="ja-JP" altLang="en-US"/>
                    </a:p>
                  </a:txBody>
                  <a:tcPr/>
                </a:tc>
                <a:tc>
                  <a:txBody>
                    <a:bodyPr/>
                    <a:lstStyle/>
                    <a:p>
                      <a:pPr algn="ctr" fontAlgn="ctr"/>
                      <a:r>
                        <a:rPr lang="ja-JP" altLang="en-US" sz="1400" b="1" i="0" u="none" strike="noStrike" dirty="0">
                          <a:effectLst/>
                          <a:latin typeface="メイリオ" panose="020B0604030504040204" pitchFamily="50" charset="-128"/>
                          <a:ea typeface="メイリオ" panose="020B0604030504040204" pitchFamily="50" charset="-128"/>
                        </a:rPr>
                        <a:t>営業推進チーム</a:t>
                      </a:r>
                    </a:p>
                  </a:txBody>
                  <a:tcPr marL="7203" marR="7203" marT="7203" marB="0" anchor="ctr">
                    <a:lnL>
                      <a:noFill/>
                    </a:lnL>
                    <a:lnR>
                      <a:noFill/>
                    </a:lnR>
                    <a:lnT>
                      <a:noFill/>
                    </a:lnT>
                    <a:lnB>
                      <a:noFill/>
                    </a:lnB>
                  </a:tcPr>
                </a:tc>
                <a:tc>
                  <a:txBody>
                    <a:bodyPr/>
                    <a:lstStyle/>
                    <a:p>
                      <a:pPr algn="ctr" fontAlgn="ctr"/>
                      <a:r>
                        <a:rPr lang="ja-JP" altLang="en-US" sz="1400" b="1" i="0" u="none" strike="noStrike" dirty="0">
                          <a:effectLst/>
                          <a:latin typeface="メイリオ" panose="020B0604030504040204" pitchFamily="50" charset="-128"/>
                          <a:ea typeface="メイリオ" panose="020B0604030504040204" pitchFamily="50" charset="-128"/>
                        </a:rPr>
                        <a:t>佐々木　恵美</a:t>
                      </a:r>
                    </a:p>
                  </a:txBody>
                  <a:tcPr marL="7203" marR="7203" marT="7203" marB="0" anchor="ctr">
                    <a:lnL>
                      <a:noFill/>
                    </a:lnL>
                    <a:lnR>
                      <a:noFill/>
                    </a:lnR>
                    <a:lnT>
                      <a:noFill/>
                    </a:lnT>
                    <a:lnB>
                      <a:noFill/>
                    </a:lnB>
                  </a:tcPr>
                </a:tc>
                <a:extLst>
                  <a:ext uri="{0D108BD9-81ED-4DB2-BD59-A6C34878D82A}">
                    <a16:rowId xmlns:a16="http://schemas.microsoft.com/office/drawing/2014/main" val="4267474516"/>
                  </a:ext>
                </a:extLst>
              </a:tr>
            </a:tbl>
          </a:graphicData>
        </a:graphic>
      </p:graphicFrame>
    </p:spTree>
    <p:extLst>
      <p:ext uri="{BB962C8B-B14F-4D97-AF65-F5344CB8AC3E}">
        <p14:creationId xmlns:p14="http://schemas.microsoft.com/office/powerpoint/2010/main" val="12932918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グループ化 4">
            <a:extLst>
              <a:ext uri="{FF2B5EF4-FFF2-40B4-BE49-F238E27FC236}">
                <a16:creationId xmlns:a16="http://schemas.microsoft.com/office/drawing/2014/main" id="{D1CD502B-8084-4417-A023-0723B2C9344E}"/>
              </a:ext>
            </a:extLst>
          </p:cNvPr>
          <p:cNvGrpSpPr/>
          <p:nvPr/>
        </p:nvGrpSpPr>
        <p:grpSpPr>
          <a:xfrm>
            <a:off x="11112" y="8425413"/>
            <a:ext cx="6834185" cy="718587"/>
            <a:chOff x="11112" y="8425413"/>
            <a:chExt cx="6834185" cy="718587"/>
          </a:xfrm>
        </p:grpSpPr>
        <p:pic>
          <p:nvPicPr>
            <p:cNvPr id="23" name="図 22">
              <a:extLst>
                <a:ext uri="{FF2B5EF4-FFF2-40B4-BE49-F238E27FC236}">
                  <a16:creationId xmlns:a16="http://schemas.microsoft.com/office/drawing/2014/main" id="{00000000-0008-0000-0100-000004000000}"/>
                </a:ext>
              </a:extLst>
            </p:cNvPr>
            <p:cNvPicPr>
              <a:picLocks noChangeAspect="1"/>
            </p:cNvPicPr>
            <p:nvPr/>
          </p:nvPicPr>
          <p:blipFill rotWithShape="1">
            <a:blip r:embed="rId2">
              <a:extLst>
                <a:ext uri="{28A0092B-C50C-407E-A947-70E740481C1C}">
                  <a14:useLocalDpi xmlns:a14="http://schemas.microsoft.com/office/drawing/2010/main" val="0"/>
                </a:ext>
              </a:extLst>
            </a:blip>
            <a:srcRect l="59538" t="56963"/>
            <a:stretch/>
          </p:blipFill>
          <p:spPr>
            <a:xfrm>
              <a:off x="1124744" y="8789560"/>
              <a:ext cx="5720553" cy="354439"/>
            </a:xfrm>
            <a:prstGeom prst="rect">
              <a:avLst/>
            </a:prstGeom>
          </p:spPr>
        </p:pic>
        <p:pic>
          <p:nvPicPr>
            <p:cNvPr id="24" name="図 23">
              <a:extLst>
                <a:ext uri="{FF2B5EF4-FFF2-40B4-BE49-F238E27FC236}">
                  <a16:creationId xmlns:a16="http://schemas.microsoft.com/office/drawing/2014/main" id="{00000000-0008-0000-0100-000005000000}"/>
                </a:ext>
              </a:extLst>
            </p:cNvPr>
            <p:cNvPicPr>
              <a:picLocks noChangeAspect="1"/>
            </p:cNvPicPr>
            <p:nvPr/>
          </p:nvPicPr>
          <p:blipFill rotWithShape="1">
            <a:blip r:embed="rId2">
              <a:extLst>
                <a:ext uri="{28A0092B-C50C-407E-A947-70E740481C1C}">
                  <a14:useLocalDpi xmlns:a14="http://schemas.microsoft.com/office/drawing/2010/main" val="0"/>
                </a:ext>
              </a:extLst>
            </a:blip>
            <a:srcRect r="28008"/>
            <a:stretch/>
          </p:blipFill>
          <p:spPr>
            <a:xfrm>
              <a:off x="11112" y="8425413"/>
              <a:ext cx="1545680" cy="718587"/>
            </a:xfrm>
            <a:prstGeom prst="rect">
              <a:avLst/>
            </a:prstGeom>
          </p:spPr>
        </p:pic>
        <p:pic>
          <p:nvPicPr>
            <p:cNvPr id="25" name="Picture 2" descr="C:\Users\user\Desktop\MMIロゴ.jpg">
              <a:extLst>
                <a:ext uri="{FF2B5EF4-FFF2-40B4-BE49-F238E27FC236}">
                  <a16:creationId xmlns:a16="http://schemas.microsoft.com/office/drawing/2014/main" id="{00000000-0008-0000-0100-00000600000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42465" y="8706936"/>
              <a:ext cx="668079" cy="218539"/>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13" name="Google Shape;1346;p122">
            <a:extLst>
              <a:ext uri="{FF2B5EF4-FFF2-40B4-BE49-F238E27FC236}">
                <a16:creationId xmlns:a16="http://schemas.microsoft.com/office/drawing/2014/main" id="{21C730A1-4F84-45C2-89AE-120EFB8A06B8}"/>
              </a:ext>
            </a:extLst>
          </p:cNvPr>
          <p:cNvSpPr txBox="1"/>
          <p:nvPr/>
        </p:nvSpPr>
        <p:spPr>
          <a:xfrm>
            <a:off x="6308725" y="8993188"/>
            <a:ext cx="538163" cy="158750"/>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728D71D6-3455-4614-AB48-1DC83F526FD5}"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24</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sp>
        <p:nvSpPr>
          <p:cNvPr id="14" name="Rectangle 26">
            <a:extLst>
              <a:ext uri="{FF2B5EF4-FFF2-40B4-BE49-F238E27FC236}">
                <a16:creationId xmlns:a16="http://schemas.microsoft.com/office/drawing/2014/main" id="{00000000-0008-0000-0100-000003000000}"/>
              </a:ext>
            </a:extLst>
          </p:cNvPr>
          <p:cNvSpPr>
            <a:spLocks noChangeArrowheads="1"/>
          </p:cNvSpPr>
          <p:nvPr/>
        </p:nvSpPr>
        <p:spPr bwMode="auto">
          <a:xfrm rot="10800000">
            <a:off x="12698" y="-6188"/>
            <a:ext cx="6845301" cy="369795"/>
          </a:xfrm>
          <a:prstGeom prst="rect">
            <a:avLst/>
          </a:prstGeom>
          <a:solidFill>
            <a:srgbClr val="FF9999"/>
          </a:solidFill>
          <a:ln w="9525">
            <a:noFill/>
            <a:miter lim="800000"/>
            <a:headEnd/>
            <a:tailEnd/>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r" rtl="1">
              <a:defRPr sz="1000"/>
            </a:pPr>
            <a:endParaRPr lang="en-US" altLang="ja-JP" sz="1800" b="1" i="0" strike="noStrike">
              <a:solidFill>
                <a:schemeClr val="tx1"/>
              </a:solidFill>
              <a:latin typeface="+mj-ea"/>
              <a:ea typeface="+mj-ea"/>
            </a:endParaRPr>
          </a:p>
        </p:txBody>
      </p:sp>
      <p:sp>
        <p:nvSpPr>
          <p:cNvPr id="15" name="テキスト ボックス 8">
            <a:extLst>
              <a:ext uri="{FF2B5EF4-FFF2-40B4-BE49-F238E27FC236}">
                <a16:creationId xmlns:a16="http://schemas.microsoft.com/office/drawing/2014/main" id="{A8419715-4FC4-4D62-BCD2-A0664A6EB391}"/>
              </a:ext>
            </a:extLst>
          </p:cNvPr>
          <p:cNvSpPr txBox="1"/>
          <p:nvPr/>
        </p:nvSpPr>
        <p:spPr>
          <a:xfrm>
            <a:off x="1844824" y="-44896"/>
            <a:ext cx="5000477" cy="443141"/>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r"/>
            <a:r>
              <a:rPr lang="ja-JP" altLang="en-US" sz="1400" b="1" dirty="0">
                <a:latin typeface="メイリオ" panose="020B0604030504040204" pitchFamily="50" charset="-128"/>
                <a:ea typeface="メイリオ" panose="020B0604030504040204" pitchFamily="50" charset="-128"/>
              </a:rPr>
              <a:t>イズム </a:t>
            </a:r>
            <a:r>
              <a:rPr lang="en-US" altLang="ja-JP" sz="1400" b="1" dirty="0">
                <a:latin typeface="メイリオ" panose="020B0604030504040204" pitchFamily="50" charset="-128"/>
                <a:ea typeface="メイリオ" panose="020B0604030504040204" pitchFamily="50" charset="-128"/>
              </a:rPr>
              <a:t>of</a:t>
            </a:r>
            <a:r>
              <a:rPr lang="ja-JP" altLang="en-US" sz="1400" b="1" dirty="0">
                <a:latin typeface="メイリオ" panose="020B0604030504040204" pitchFamily="50" charset="-128"/>
                <a:ea typeface="メイリオ" panose="020B0604030504040204" pitchFamily="50" charset="-128"/>
              </a:rPr>
              <a:t> </a:t>
            </a:r>
            <a:r>
              <a:rPr lang="en-US" altLang="ja-JP" sz="1400" b="1" dirty="0">
                <a:latin typeface="メイリオ" panose="020B0604030504040204" pitchFamily="50" charset="-128"/>
                <a:ea typeface="メイリオ" panose="020B0604030504040204" pitchFamily="50" charset="-128"/>
              </a:rPr>
              <a:t>Month</a:t>
            </a:r>
            <a:r>
              <a:rPr kumimoji="1" lang="en-US" altLang="ja-JP" sz="1400" b="1" dirty="0">
                <a:latin typeface="メイリオ" panose="020B0604030504040204" pitchFamily="50" charset="-128"/>
                <a:ea typeface="メイリオ" panose="020B0604030504040204" pitchFamily="50" charset="-128"/>
              </a:rPr>
              <a:t> </a:t>
            </a:r>
            <a:r>
              <a:rPr kumimoji="1" lang="ja-JP" altLang="en-US" sz="1400" b="1" dirty="0">
                <a:latin typeface="メイリオ" panose="020B0604030504040204" pitchFamily="50" charset="-128"/>
                <a:ea typeface="メイリオ" panose="020B0604030504040204" pitchFamily="50" charset="-128"/>
              </a:rPr>
              <a:t>～</a:t>
            </a:r>
            <a:r>
              <a:rPr kumimoji="1" lang="en-US" altLang="ja-JP" sz="1400" b="1" dirty="0">
                <a:latin typeface="メイリオ" panose="020B0604030504040204" pitchFamily="50" charset="-128"/>
                <a:ea typeface="メイリオ" panose="020B0604030504040204" pitchFamily="50" charset="-128"/>
              </a:rPr>
              <a:t>2021</a:t>
            </a:r>
            <a:r>
              <a:rPr kumimoji="1" lang="ja-JP" altLang="en-US" sz="1400" b="1" dirty="0">
                <a:latin typeface="メイリオ" panose="020B0604030504040204" pitchFamily="50" charset="-128"/>
                <a:ea typeface="メイリオ" panose="020B0604030504040204" pitchFamily="50" charset="-128"/>
              </a:rPr>
              <a:t>年</a:t>
            </a:r>
            <a:r>
              <a:rPr kumimoji="1" lang="en-US" altLang="ja-JP" sz="1400" b="1" dirty="0">
                <a:latin typeface="メイリオ" panose="020B0604030504040204" pitchFamily="50" charset="-128"/>
                <a:ea typeface="メイリオ" panose="020B0604030504040204" pitchFamily="50" charset="-128"/>
              </a:rPr>
              <a:t>9</a:t>
            </a:r>
            <a:r>
              <a:rPr kumimoji="1" lang="ja-JP" altLang="en-US" sz="1400" b="1" dirty="0">
                <a:latin typeface="メイリオ" panose="020B0604030504040204" pitchFamily="50" charset="-128"/>
                <a:ea typeface="メイリオ" panose="020B0604030504040204" pitchFamily="50" charset="-128"/>
              </a:rPr>
              <a:t>月度代表エピソード～</a:t>
            </a:r>
          </a:p>
        </p:txBody>
      </p:sp>
      <p:pic>
        <p:nvPicPr>
          <p:cNvPr id="16" name="図 15">
            <a:extLst>
              <a:ext uri="{FF2B5EF4-FFF2-40B4-BE49-F238E27FC236}">
                <a16:creationId xmlns:a16="http://schemas.microsoft.com/office/drawing/2014/main" id="{00000000-0008-0000-0100-000002000000}"/>
              </a:ext>
            </a:extLst>
          </p:cNvPr>
          <p:cNvPicPr>
            <a:picLocks noChangeAspect="1"/>
          </p:cNvPicPr>
          <p:nvPr/>
        </p:nvPicPr>
        <p:blipFill rotWithShape="1">
          <a:blip r:embed="rId4">
            <a:extLst>
              <a:ext uri="{28A0092B-C50C-407E-A947-70E740481C1C}">
                <a14:useLocalDpi xmlns:a14="http://schemas.microsoft.com/office/drawing/2010/main" val="0"/>
              </a:ext>
            </a:extLst>
          </a:blip>
          <a:srcRect l="10629" t="50589" b="27489"/>
          <a:stretch/>
        </p:blipFill>
        <p:spPr>
          <a:xfrm flipH="1">
            <a:off x="-1" y="954708"/>
            <a:ext cx="6845298" cy="354833"/>
          </a:xfrm>
          <a:prstGeom prst="rect">
            <a:avLst/>
          </a:prstGeom>
        </p:spPr>
      </p:pic>
      <p:graphicFrame>
        <p:nvGraphicFramePr>
          <p:cNvPr id="3" name="表 2">
            <a:extLst>
              <a:ext uri="{FF2B5EF4-FFF2-40B4-BE49-F238E27FC236}">
                <a16:creationId xmlns:a16="http://schemas.microsoft.com/office/drawing/2014/main" id="{8C139B86-40AC-45F7-87DB-228867D7DFA6}"/>
              </a:ext>
            </a:extLst>
          </p:cNvPr>
          <p:cNvGraphicFramePr>
            <a:graphicFrameLocks noGrp="1"/>
          </p:cNvGraphicFramePr>
          <p:nvPr>
            <p:extLst>
              <p:ext uri="{D42A27DB-BD31-4B8C-83A1-F6EECF244321}">
                <p14:modId xmlns:p14="http://schemas.microsoft.com/office/powerpoint/2010/main" val="2992429034"/>
              </p:ext>
            </p:extLst>
          </p:nvPr>
        </p:nvGraphicFramePr>
        <p:xfrm>
          <a:off x="0" y="586160"/>
          <a:ext cx="6858000" cy="609600"/>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3352499802"/>
                    </a:ext>
                  </a:extLst>
                </a:gridCol>
              </a:tblGrid>
              <a:tr h="354439">
                <a:tc>
                  <a:txBody>
                    <a:bodyPr/>
                    <a:lstStyle/>
                    <a:p>
                      <a:pPr algn="ctr" fontAlgn="ctr"/>
                      <a:r>
                        <a:rPr lang="ja-JP" altLang="en-US" sz="2000" b="1" i="0" u="none" strike="noStrike" dirty="0">
                          <a:effectLst/>
                          <a:latin typeface="メイリオ" panose="020B0604030504040204" pitchFamily="50" charset="-128"/>
                          <a:ea typeface="メイリオ" panose="020B0604030504040204" pitchFamily="50" charset="-128"/>
                        </a:rPr>
                        <a:t>嬉しい出会い</a:t>
                      </a:r>
                    </a:p>
                    <a:p>
                      <a:pPr algn="ctr" fontAlgn="ctr"/>
                      <a:endParaRPr lang="ja-JP" altLang="en-US" sz="2000" b="1" i="0" u="none" strike="noStrike" dirty="0">
                        <a:effectLst/>
                        <a:latin typeface="メイリオ" panose="020B0604030504040204" pitchFamily="50" charset="-128"/>
                        <a:ea typeface="メイリオ" panose="020B0604030504040204" pitchFamily="50" charset="-128"/>
                      </a:endParaRPr>
                    </a:p>
                  </a:txBody>
                  <a:tcPr marL="0" marR="0" marT="0" marB="0" anchor="ctr">
                    <a:noFill/>
                  </a:tcPr>
                </a:tc>
                <a:extLst>
                  <a:ext uri="{0D108BD9-81ED-4DB2-BD59-A6C34878D82A}">
                    <a16:rowId xmlns:a16="http://schemas.microsoft.com/office/drawing/2014/main" val="51326532"/>
                  </a:ext>
                </a:extLst>
              </a:tr>
            </a:tbl>
          </a:graphicData>
        </a:graphic>
      </p:graphicFrame>
      <p:graphicFrame>
        <p:nvGraphicFramePr>
          <p:cNvPr id="20" name="表 19">
            <a:extLst>
              <a:ext uri="{FF2B5EF4-FFF2-40B4-BE49-F238E27FC236}">
                <a16:creationId xmlns:a16="http://schemas.microsoft.com/office/drawing/2014/main" id="{AF3D3932-C55C-4445-AEFA-77BB58B79194}"/>
              </a:ext>
            </a:extLst>
          </p:cNvPr>
          <p:cNvGraphicFramePr>
            <a:graphicFrameLocks noGrp="1"/>
          </p:cNvGraphicFramePr>
          <p:nvPr>
            <p:extLst>
              <p:ext uri="{D42A27DB-BD31-4B8C-83A1-F6EECF244321}">
                <p14:modId xmlns:p14="http://schemas.microsoft.com/office/powerpoint/2010/main" val="3715776186"/>
              </p:ext>
            </p:extLst>
          </p:nvPr>
        </p:nvGraphicFramePr>
        <p:xfrm>
          <a:off x="-3" y="1187624"/>
          <a:ext cx="6858000" cy="354439"/>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3352499802"/>
                    </a:ext>
                  </a:extLst>
                </a:gridCol>
              </a:tblGrid>
              <a:tr h="354439">
                <a:tc>
                  <a:txBody>
                    <a:bodyPr/>
                    <a:lstStyle/>
                    <a:p>
                      <a:pPr algn="ctr" fontAlgn="ctr"/>
                      <a:r>
                        <a:rPr lang="ja-JP" altLang="en-US" sz="1600" b="1" i="0" u="none" strike="noStrike" dirty="0">
                          <a:effectLst/>
                          <a:latin typeface="メイリオ" panose="020B0604030504040204" pitchFamily="50" charset="-128"/>
                          <a:ea typeface="メイリオ" panose="020B0604030504040204" pitchFamily="50" charset="-128"/>
                        </a:rPr>
                        <a:t>関連するイズム：</a:t>
                      </a:r>
                      <a:r>
                        <a:rPr lang="en-US" altLang="ja-JP" sz="1600" b="1" i="0" u="none" strike="noStrike" dirty="0">
                          <a:effectLst/>
                          <a:latin typeface="メイリオ" panose="020B0604030504040204" pitchFamily="50" charset="-128"/>
                          <a:ea typeface="メイリオ" panose="020B0604030504040204" pitchFamily="50" charset="-128"/>
                        </a:rPr>
                        <a:t>MMI</a:t>
                      </a:r>
                      <a:r>
                        <a:rPr lang="ja-JP" altLang="en-US" sz="1600" b="1" i="0" u="none" strike="noStrike" dirty="0">
                          <a:effectLst/>
                          <a:latin typeface="メイリオ" panose="020B0604030504040204" pitchFamily="50" charset="-128"/>
                          <a:ea typeface="メイリオ" panose="020B0604030504040204" pitchFamily="50" charset="-128"/>
                        </a:rPr>
                        <a:t>ファンの創造</a:t>
                      </a:r>
                    </a:p>
                  </a:txBody>
                  <a:tcPr marL="0" marR="0" marT="0" marB="0" anchor="ctr">
                    <a:noFill/>
                  </a:tcPr>
                </a:tc>
                <a:extLst>
                  <a:ext uri="{0D108BD9-81ED-4DB2-BD59-A6C34878D82A}">
                    <a16:rowId xmlns:a16="http://schemas.microsoft.com/office/drawing/2014/main" val="51326532"/>
                  </a:ext>
                </a:extLst>
              </a:tr>
            </a:tbl>
          </a:graphicData>
        </a:graphic>
      </p:graphicFrame>
      <p:graphicFrame>
        <p:nvGraphicFramePr>
          <p:cNvPr id="21" name="表 20">
            <a:extLst>
              <a:ext uri="{FF2B5EF4-FFF2-40B4-BE49-F238E27FC236}">
                <a16:creationId xmlns:a16="http://schemas.microsoft.com/office/drawing/2014/main" id="{3EF87205-649E-42A4-A0E3-F2150B4E37B8}"/>
              </a:ext>
            </a:extLst>
          </p:cNvPr>
          <p:cNvGraphicFramePr>
            <a:graphicFrameLocks noGrp="1"/>
          </p:cNvGraphicFramePr>
          <p:nvPr>
            <p:extLst>
              <p:ext uri="{D42A27DB-BD31-4B8C-83A1-F6EECF244321}">
                <p14:modId xmlns:p14="http://schemas.microsoft.com/office/powerpoint/2010/main" val="1184005015"/>
              </p:ext>
            </p:extLst>
          </p:nvPr>
        </p:nvGraphicFramePr>
        <p:xfrm>
          <a:off x="224644" y="1653208"/>
          <a:ext cx="6408712" cy="6447184"/>
        </p:xfrm>
        <a:graphic>
          <a:graphicData uri="http://schemas.openxmlformats.org/drawingml/2006/table">
            <a:tbl>
              <a:tblPr>
                <a:tableStyleId>{5C22544A-7EE6-4342-B048-85BDC9FD1C3A}</a:tableStyleId>
              </a:tblPr>
              <a:tblGrid>
                <a:gridCol w="6408712">
                  <a:extLst>
                    <a:ext uri="{9D8B030D-6E8A-4147-A177-3AD203B41FA5}">
                      <a16:colId xmlns:a16="http://schemas.microsoft.com/office/drawing/2014/main" val="3352499802"/>
                    </a:ext>
                  </a:extLst>
                </a:gridCol>
              </a:tblGrid>
              <a:tr h="6447184">
                <a:tc>
                  <a:txBody>
                    <a:bodyPr/>
                    <a:lstStyle/>
                    <a:p>
                      <a:pPr algn="l" fontAlgn="ctr"/>
                      <a:r>
                        <a:rPr lang="ja-JP" altLang="en-US" sz="1200" b="0" i="0" u="none" strike="noStrike" dirty="0">
                          <a:effectLst/>
                          <a:latin typeface="メイリオ" panose="020B0604030504040204" pitchFamily="50" charset="-128"/>
                          <a:ea typeface="メイリオ" panose="020B0604030504040204" pitchFamily="50" charset="-128"/>
                        </a:rPr>
                        <a:t>とある店舗のお話しです。</a:t>
                      </a:r>
                    </a:p>
                    <a:p>
                      <a:pPr algn="l" fontAlgn="ctr"/>
                      <a:r>
                        <a:rPr lang="ja-JP" altLang="en-US" sz="1200" b="0" i="0" u="none" strike="noStrike" dirty="0">
                          <a:effectLst/>
                          <a:latin typeface="メイリオ" panose="020B0604030504040204" pitchFamily="50" charset="-128"/>
                          <a:ea typeface="メイリオ" panose="020B0604030504040204" pitchFamily="50" charset="-128"/>
                        </a:rPr>
                        <a:t>マルハン店舗の営業中清掃再開のため、求人を出していました。以前から求人を出しても応募がなかなかこない地域です。やはり今回も応募は少なく困っていたところに応募してくださった</a:t>
                      </a:r>
                      <a:r>
                        <a:rPr lang="en-US" altLang="ja-JP" sz="1200" b="0" i="0" u="none" strike="noStrike" dirty="0">
                          <a:effectLst/>
                          <a:latin typeface="メイリオ" panose="020B0604030504040204" pitchFamily="50" charset="-128"/>
                          <a:ea typeface="メイリオ" panose="020B0604030504040204" pitchFamily="50" charset="-128"/>
                        </a:rPr>
                        <a:t>K</a:t>
                      </a:r>
                      <a:r>
                        <a:rPr lang="ja-JP" altLang="en-US" sz="1200" b="0" i="0" u="none" strike="noStrike" dirty="0">
                          <a:effectLst/>
                          <a:latin typeface="メイリオ" panose="020B0604030504040204" pitchFamily="50" charset="-128"/>
                          <a:ea typeface="メイリオ" panose="020B0604030504040204" pitchFamily="50" charset="-128"/>
                        </a:rPr>
                        <a:t>さん。中国出身の方です。</a:t>
                      </a:r>
                    </a:p>
                    <a:p>
                      <a:pPr algn="l" fontAlgn="ctr"/>
                      <a:endParaRPr lang="en-US" altLang="ja-JP" sz="1200" b="0" i="0" u="none" strike="noStrike" dirty="0">
                        <a:effectLst/>
                        <a:latin typeface="メイリオ" panose="020B0604030504040204" pitchFamily="50" charset="-128"/>
                        <a:ea typeface="メイリオ" panose="020B0604030504040204" pitchFamily="50" charset="-128"/>
                      </a:endParaRPr>
                    </a:p>
                    <a:p>
                      <a:pPr algn="l" fontAlgn="ctr"/>
                      <a:r>
                        <a:rPr lang="ja-JP" altLang="en-US" sz="1200" b="0" i="0" u="none" strike="noStrike" dirty="0">
                          <a:effectLst/>
                          <a:latin typeface="メイリオ" panose="020B0604030504040204" pitchFamily="50" charset="-128"/>
                          <a:ea typeface="メイリオ" panose="020B0604030504040204" pitchFamily="50" charset="-128"/>
                        </a:rPr>
                        <a:t>面接のお約束のために電話をするときはドキドキ、ソワソワ。電話の向こうの</a:t>
                      </a:r>
                      <a:r>
                        <a:rPr lang="en-US" altLang="ja-JP" sz="1200" b="0" i="0" u="none" strike="noStrike" dirty="0">
                          <a:effectLst/>
                          <a:latin typeface="メイリオ" panose="020B0604030504040204" pitchFamily="50" charset="-128"/>
                          <a:ea typeface="メイリオ" panose="020B0604030504040204" pitchFamily="50" charset="-128"/>
                        </a:rPr>
                        <a:t>K</a:t>
                      </a:r>
                      <a:r>
                        <a:rPr lang="ja-JP" altLang="en-US" sz="1200" b="0" i="0" u="none" strike="noStrike" dirty="0">
                          <a:effectLst/>
                          <a:latin typeface="メイリオ" panose="020B0604030504040204" pitchFamily="50" charset="-128"/>
                          <a:ea typeface="メイリオ" panose="020B0604030504040204" pitchFamily="50" charset="-128"/>
                        </a:rPr>
                        <a:t>さんは日本語も話せ、私の話も理解していただける方でした。その後メールでのやり取りもスムーズに進み、面接・契約へとトントン拍子に入社が決まりました。</a:t>
                      </a:r>
                      <a:endParaRPr lang="en-US" altLang="ja-JP" sz="1200" b="0" i="0" u="none" strike="noStrike" dirty="0">
                        <a:effectLst/>
                        <a:latin typeface="メイリオ" panose="020B0604030504040204" pitchFamily="50" charset="-128"/>
                        <a:ea typeface="メイリオ" panose="020B0604030504040204" pitchFamily="50" charset="-128"/>
                      </a:endParaRPr>
                    </a:p>
                    <a:p>
                      <a:pPr algn="l" fontAlgn="ctr"/>
                      <a:endParaRPr lang="ja-JP" altLang="en-US" sz="1200" b="0" i="0" u="none" strike="noStrike" dirty="0">
                        <a:effectLst/>
                        <a:latin typeface="メイリオ" panose="020B0604030504040204" pitchFamily="50" charset="-128"/>
                        <a:ea typeface="メイリオ" panose="020B0604030504040204" pitchFamily="50" charset="-128"/>
                      </a:endParaRPr>
                    </a:p>
                    <a:p>
                      <a:pPr algn="l" fontAlgn="ctr"/>
                      <a:r>
                        <a:rPr lang="ja-JP" altLang="en-US" sz="1200" b="0" i="0" u="none" strike="noStrike" dirty="0">
                          <a:effectLst/>
                          <a:latin typeface="メイリオ" panose="020B0604030504040204" pitchFamily="50" charset="-128"/>
                          <a:ea typeface="メイリオ" panose="020B0604030504040204" pitchFamily="50" charset="-128"/>
                        </a:rPr>
                        <a:t>そして初出勤の研修の日、事件は起きました。一緒に作業に入っているときに、早くもトイレのいたずらの洗礼を受けてしまったのです。男性トイレの個室便器が詰まり水が溢れてしまい、</a:t>
                      </a:r>
                      <a:r>
                        <a:rPr lang="en-US" altLang="ja-JP" sz="1200" b="0" i="0" u="none" strike="noStrike" dirty="0">
                          <a:effectLst/>
                          <a:latin typeface="メイリオ" panose="020B0604030504040204" pitchFamily="50" charset="-128"/>
                          <a:ea typeface="メイリオ" panose="020B0604030504040204" pitchFamily="50" charset="-128"/>
                        </a:rPr>
                        <a:t>2</a:t>
                      </a:r>
                      <a:r>
                        <a:rPr lang="ja-JP" altLang="en-US" sz="1200" b="0" i="0" u="none" strike="noStrike" dirty="0">
                          <a:effectLst/>
                          <a:latin typeface="メイリオ" panose="020B0604030504040204" pitchFamily="50" charset="-128"/>
                          <a:ea typeface="メイリオ" panose="020B0604030504040204" pitchFamily="50" charset="-128"/>
                        </a:rPr>
                        <a:t>か所のトイレが水浸し状態。</a:t>
                      </a:r>
                      <a:r>
                        <a:rPr lang="en-US" altLang="ja-JP" sz="1200" b="0" i="0" u="none" strike="noStrike" dirty="0">
                          <a:effectLst/>
                          <a:latin typeface="メイリオ" panose="020B0604030504040204" pitchFamily="50" charset="-128"/>
                          <a:ea typeface="メイリオ" panose="020B0604030504040204" pitchFamily="50" charset="-128"/>
                        </a:rPr>
                        <a:t>K</a:t>
                      </a:r>
                      <a:r>
                        <a:rPr lang="ja-JP" altLang="en-US" sz="1200" b="0" i="0" u="none" strike="noStrike" dirty="0">
                          <a:effectLst/>
                          <a:latin typeface="メイリオ" panose="020B0604030504040204" pitchFamily="50" charset="-128"/>
                          <a:ea typeface="メイリオ" panose="020B0604030504040204" pitchFamily="50" charset="-128"/>
                        </a:rPr>
                        <a:t>さんと私の二人でモップで拭いては絞って、また拭いて絞ってを何十回も繰り返しました。その翌日もまたトイレの便座を汚されるいたずらにあってしました。真面目できれい好きな</a:t>
                      </a:r>
                      <a:r>
                        <a:rPr lang="en-US" altLang="ja-JP" sz="1200" b="0" i="0" u="none" strike="noStrike" dirty="0">
                          <a:effectLst/>
                          <a:latin typeface="メイリオ" panose="020B0604030504040204" pitchFamily="50" charset="-128"/>
                          <a:ea typeface="メイリオ" panose="020B0604030504040204" pitchFamily="50" charset="-128"/>
                        </a:rPr>
                        <a:t>K</a:t>
                      </a:r>
                      <a:r>
                        <a:rPr lang="ja-JP" altLang="en-US" sz="1200" b="0" i="0" u="none" strike="noStrike" dirty="0">
                          <a:effectLst/>
                          <a:latin typeface="メイリオ" panose="020B0604030504040204" pitchFamily="50" charset="-128"/>
                          <a:ea typeface="メイリオ" panose="020B0604030504040204" pitchFamily="50" charset="-128"/>
                        </a:rPr>
                        <a:t>さんにとっては、「何故こんなことするの！」と許せない様子。</a:t>
                      </a:r>
                    </a:p>
                    <a:p>
                      <a:pPr algn="l" fontAlgn="ctr"/>
                      <a:endParaRPr lang="en-US" altLang="ja-JP" sz="1200" b="0" i="0" u="none" strike="noStrike" dirty="0">
                        <a:effectLst/>
                        <a:latin typeface="メイリオ" panose="020B0604030504040204" pitchFamily="50" charset="-128"/>
                        <a:ea typeface="メイリオ" panose="020B0604030504040204" pitchFamily="50" charset="-128"/>
                      </a:endParaRPr>
                    </a:p>
                    <a:p>
                      <a:pPr algn="l" fontAlgn="ctr"/>
                      <a:r>
                        <a:rPr lang="ja-JP" altLang="en-US" sz="1200" b="0" i="0" u="none" strike="noStrike" dirty="0">
                          <a:effectLst/>
                          <a:latin typeface="メイリオ" panose="020B0604030504040204" pitchFamily="50" charset="-128"/>
                          <a:ea typeface="メイリオ" panose="020B0604030504040204" pitchFamily="50" charset="-128"/>
                        </a:rPr>
                        <a:t>入社から</a:t>
                      </a:r>
                      <a:r>
                        <a:rPr lang="en-US" altLang="ja-JP" sz="1200" b="0" i="0" u="none" strike="noStrike" dirty="0">
                          <a:effectLst/>
                          <a:latin typeface="メイリオ" panose="020B0604030504040204" pitchFamily="50" charset="-128"/>
                          <a:ea typeface="メイリオ" panose="020B0604030504040204" pitchFamily="50" charset="-128"/>
                        </a:rPr>
                        <a:t>1</a:t>
                      </a:r>
                      <a:r>
                        <a:rPr lang="ja-JP" altLang="en-US" sz="1200" b="0" i="0" u="none" strike="noStrike" dirty="0">
                          <a:effectLst/>
                          <a:latin typeface="メイリオ" panose="020B0604030504040204" pitchFamily="50" charset="-128"/>
                          <a:ea typeface="メイリオ" panose="020B0604030504040204" pitchFamily="50" charset="-128"/>
                        </a:rPr>
                        <a:t>週間後にこんなメールがきました。</a:t>
                      </a:r>
                      <a:endParaRPr lang="en-US" altLang="ja-JP" sz="1200" b="0" i="0" u="none" strike="noStrike" dirty="0">
                        <a:effectLst/>
                        <a:latin typeface="メイリオ" panose="020B0604030504040204" pitchFamily="50" charset="-128"/>
                        <a:ea typeface="メイリオ" panose="020B0604030504040204" pitchFamily="50" charset="-128"/>
                      </a:endParaRPr>
                    </a:p>
                    <a:p>
                      <a:pPr algn="l" fontAlgn="ctr"/>
                      <a:r>
                        <a:rPr lang="ja-JP" altLang="en-US" sz="1200" b="0" i="0" u="none" strike="noStrike" dirty="0">
                          <a:effectLst/>
                          <a:latin typeface="メイリオ" panose="020B0604030504040204" pitchFamily="50" charset="-128"/>
                          <a:ea typeface="メイリオ" panose="020B0604030504040204" pitchFamily="50" charset="-128"/>
                        </a:rPr>
                        <a:t>「清掃が好き。だからどんな事でもする。だけど便器をわざと汚すの我慢できない。辞めたい」「あと事務所の挨拶が苦手」</a:t>
                      </a:r>
                      <a:endParaRPr lang="en-US" altLang="ja-JP" sz="1200" b="0" i="0" u="none" strike="noStrike" dirty="0">
                        <a:effectLst/>
                        <a:latin typeface="メイリオ" panose="020B0604030504040204" pitchFamily="50" charset="-128"/>
                        <a:ea typeface="メイリオ" panose="020B0604030504040204" pitchFamily="50" charset="-128"/>
                      </a:endParaRPr>
                    </a:p>
                    <a:p>
                      <a:pPr algn="l" fontAlgn="ctr"/>
                      <a:r>
                        <a:rPr lang="ja-JP" altLang="en-US" sz="1200" b="0" i="0" u="none" strike="noStrike" dirty="0">
                          <a:effectLst/>
                          <a:latin typeface="メイリオ" panose="020B0604030504040204" pitchFamily="50" charset="-128"/>
                          <a:ea typeface="メイリオ" panose="020B0604030504040204" pitchFamily="50" charset="-128"/>
                        </a:rPr>
                        <a:t>それに対して私は</a:t>
                      </a:r>
                      <a:endParaRPr lang="en-US" altLang="ja-JP" sz="1200" b="0" i="0" u="none" strike="noStrike" dirty="0">
                        <a:effectLst/>
                        <a:latin typeface="メイリオ" panose="020B0604030504040204" pitchFamily="50" charset="-128"/>
                        <a:ea typeface="メイリオ" panose="020B0604030504040204" pitchFamily="50" charset="-128"/>
                      </a:endParaRPr>
                    </a:p>
                    <a:p>
                      <a:pPr algn="l" fontAlgn="ctr"/>
                      <a:r>
                        <a:rPr lang="ja-JP" altLang="en-US" sz="1200" b="0" i="0" u="none" strike="noStrike" dirty="0">
                          <a:effectLst/>
                          <a:latin typeface="メイリオ" panose="020B0604030504040204" pitchFamily="50" charset="-128"/>
                          <a:ea typeface="メイリオ" panose="020B0604030504040204" pitchFamily="50" charset="-128"/>
                        </a:rPr>
                        <a:t>「</a:t>
                      </a:r>
                      <a:r>
                        <a:rPr lang="en-US" altLang="ja-JP" sz="1200" b="0" i="0" u="none" strike="noStrike" dirty="0">
                          <a:effectLst/>
                          <a:latin typeface="メイリオ" panose="020B0604030504040204" pitchFamily="50" charset="-128"/>
                          <a:ea typeface="メイリオ" panose="020B0604030504040204" pitchFamily="50" charset="-128"/>
                        </a:rPr>
                        <a:t>K</a:t>
                      </a:r>
                      <a:r>
                        <a:rPr lang="ja-JP" altLang="en-US" sz="1200" b="0" i="0" u="none" strike="noStrike" dirty="0">
                          <a:effectLst/>
                          <a:latin typeface="メイリオ" panose="020B0604030504040204" pitchFamily="50" charset="-128"/>
                          <a:ea typeface="メイリオ" panose="020B0604030504040204" pitchFamily="50" charset="-128"/>
                        </a:rPr>
                        <a:t>さんの気持ちはよくわかる。でもね、</a:t>
                      </a:r>
                      <a:r>
                        <a:rPr lang="en-US" altLang="ja-JP" sz="1200" b="0" i="0" u="none" strike="noStrike" dirty="0">
                          <a:effectLst/>
                          <a:latin typeface="メイリオ" panose="020B0604030504040204" pitchFamily="50" charset="-128"/>
                          <a:ea typeface="メイリオ" panose="020B0604030504040204" pitchFamily="50" charset="-128"/>
                        </a:rPr>
                        <a:t>1</a:t>
                      </a:r>
                      <a:r>
                        <a:rPr lang="ja-JP" altLang="en-US" sz="1200" b="0" i="0" u="none" strike="noStrike" dirty="0">
                          <a:effectLst/>
                          <a:latin typeface="メイリオ" panose="020B0604030504040204" pitchFamily="50" charset="-128"/>
                          <a:ea typeface="メイリオ" panose="020B0604030504040204" pitchFamily="50" charset="-128"/>
                        </a:rPr>
                        <a:t>か月だけ頑張ってみて！それでも気持ちが変わらなかったらまた求人募集を出すから！」</a:t>
                      </a:r>
                    </a:p>
                    <a:p>
                      <a:pPr algn="l" fontAlgn="ctr"/>
                      <a:r>
                        <a:rPr lang="ja-JP" altLang="en-US" sz="1200" b="0" i="0" u="none" strike="noStrike" dirty="0">
                          <a:effectLst/>
                          <a:latin typeface="メイリオ" panose="020B0604030504040204" pitchFamily="50" charset="-128"/>
                          <a:ea typeface="メイリオ" panose="020B0604030504040204" pitchFamily="50" charset="-128"/>
                        </a:rPr>
                        <a:t>と返事をしました。</a:t>
                      </a:r>
                    </a:p>
                    <a:p>
                      <a:pPr algn="l" fontAlgn="ctr"/>
                      <a:endParaRPr lang="ja-JP" altLang="en-US" sz="1200" b="0" i="0" u="none" strike="noStrike" dirty="0">
                        <a:effectLst/>
                        <a:latin typeface="メイリオ" panose="020B0604030504040204" pitchFamily="50" charset="-128"/>
                        <a:ea typeface="メイリオ" panose="020B0604030504040204" pitchFamily="50" charset="-128"/>
                      </a:endParaRPr>
                    </a:p>
                    <a:p>
                      <a:pPr algn="l" fontAlgn="ctr"/>
                      <a:r>
                        <a:rPr lang="ja-JP" altLang="en-US" sz="1200" b="0" i="0" u="none" strike="noStrike" dirty="0">
                          <a:effectLst/>
                          <a:latin typeface="メイリオ" panose="020B0604030504040204" pitchFamily="50" charset="-128"/>
                          <a:ea typeface="メイリオ" panose="020B0604030504040204" pitchFamily="50" charset="-128"/>
                        </a:rPr>
                        <a:t>それから</a:t>
                      </a:r>
                      <a:r>
                        <a:rPr lang="en-US" altLang="ja-JP" sz="1200" b="0" i="0" u="none" strike="noStrike" dirty="0">
                          <a:effectLst/>
                          <a:latin typeface="メイリオ" panose="020B0604030504040204" pitchFamily="50" charset="-128"/>
                          <a:ea typeface="メイリオ" panose="020B0604030504040204" pitchFamily="50" charset="-128"/>
                        </a:rPr>
                        <a:t>1</a:t>
                      </a:r>
                      <a:r>
                        <a:rPr lang="ja-JP" altLang="en-US" sz="1200" b="0" i="0" u="none" strike="noStrike" dirty="0">
                          <a:effectLst/>
                          <a:latin typeface="メイリオ" panose="020B0604030504040204" pitchFamily="50" charset="-128"/>
                          <a:ea typeface="メイリオ" panose="020B0604030504040204" pitchFamily="50" charset="-128"/>
                        </a:rPr>
                        <a:t>か月後の</a:t>
                      </a:r>
                      <a:r>
                        <a:rPr lang="en-US" altLang="ja-JP" sz="1200" b="0" i="0" u="none" strike="noStrike" dirty="0">
                          <a:effectLst/>
                          <a:latin typeface="メイリオ" panose="020B0604030504040204" pitchFamily="50" charset="-128"/>
                          <a:ea typeface="メイリオ" panose="020B0604030504040204" pitchFamily="50" charset="-128"/>
                        </a:rPr>
                        <a:t>K</a:t>
                      </a:r>
                      <a:r>
                        <a:rPr lang="ja-JP" altLang="en-US" sz="1200" b="0" i="0" u="none" strike="noStrike" dirty="0">
                          <a:effectLst/>
                          <a:latin typeface="メイリオ" panose="020B0604030504040204" pitchFamily="50" charset="-128"/>
                          <a:ea typeface="メイリオ" panose="020B0604030504040204" pitchFamily="50" charset="-128"/>
                        </a:rPr>
                        <a:t>さん。業務終了の挨拶をしているところをこっそり見ると</a:t>
                      </a:r>
                      <a:r>
                        <a:rPr lang="en-US" altLang="ja-JP" sz="1200" b="0" i="0" u="none" strike="noStrike" dirty="0">
                          <a:effectLst/>
                          <a:latin typeface="メイリオ" panose="020B0604030504040204" pitchFamily="50" charset="-128"/>
                          <a:ea typeface="メイリオ" panose="020B0604030504040204" pitchFamily="50" charset="-128"/>
                        </a:rPr>
                        <a:t>…</a:t>
                      </a:r>
                      <a:r>
                        <a:rPr lang="ja-JP" altLang="en-US" sz="1200" b="0" i="0" u="none" strike="noStrike" dirty="0">
                          <a:effectLst/>
                          <a:latin typeface="メイリオ" panose="020B0604030504040204" pitchFamily="50" charset="-128"/>
                          <a:ea typeface="メイリオ" panose="020B0604030504040204" pitchFamily="50" charset="-128"/>
                        </a:rPr>
                        <a:t>マルハンスタッフさんとおしゃべりをしていました。あんなに嫌がっていたのに</a:t>
                      </a:r>
                      <a:r>
                        <a:rPr lang="en-US" altLang="ja-JP" sz="1200" b="0" i="0" u="none" strike="noStrike" dirty="0">
                          <a:effectLst/>
                          <a:latin typeface="メイリオ" panose="020B0604030504040204" pitchFamily="50" charset="-128"/>
                          <a:ea typeface="メイリオ" panose="020B0604030504040204" pitchFamily="50" charset="-128"/>
                        </a:rPr>
                        <a:t>(</a:t>
                      </a:r>
                      <a:r>
                        <a:rPr lang="ja-JP" altLang="en-US" sz="1200" b="0" i="0" u="none" strike="noStrike" dirty="0">
                          <a:effectLst/>
                          <a:latin typeface="メイリオ" panose="020B0604030504040204" pitchFamily="50" charset="-128"/>
                          <a:ea typeface="メイリオ" panose="020B0604030504040204" pitchFamily="50" charset="-128"/>
                        </a:rPr>
                        <a:t>笑</a:t>
                      </a:r>
                      <a:r>
                        <a:rPr lang="en-US" altLang="ja-JP" sz="1200" b="0" i="0" u="none" strike="noStrike" dirty="0">
                          <a:effectLst/>
                          <a:latin typeface="メイリオ" panose="020B0604030504040204" pitchFamily="50" charset="-128"/>
                          <a:ea typeface="メイリオ" panose="020B0604030504040204" pitchFamily="50" charset="-128"/>
                        </a:rPr>
                        <a:t>)</a:t>
                      </a:r>
                    </a:p>
                    <a:p>
                      <a:pPr algn="l" fontAlgn="ctr"/>
                      <a:r>
                        <a:rPr lang="ja-JP" altLang="en-US" sz="1200" b="0" i="0" u="none" strike="noStrike" dirty="0">
                          <a:effectLst/>
                          <a:latin typeface="メイリオ" panose="020B0604030504040204" pitchFamily="50" charset="-128"/>
                          <a:ea typeface="メイリオ" panose="020B0604030504040204" pitchFamily="50" charset="-128"/>
                        </a:rPr>
                        <a:t>トイレのいたずらにはすっかり慣れたそうで、「何が起きても大丈夫だ」と頼もしい答えが返ってきました。騙し騙しの</a:t>
                      </a:r>
                      <a:r>
                        <a:rPr lang="en-US" altLang="ja-JP" sz="1200" b="0" i="0" u="none" strike="noStrike" dirty="0">
                          <a:effectLst/>
                          <a:latin typeface="メイリオ" panose="020B0604030504040204" pitchFamily="50" charset="-128"/>
                          <a:ea typeface="メイリオ" panose="020B0604030504040204" pitchFamily="50" charset="-128"/>
                        </a:rPr>
                        <a:t>1</a:t>
                      </a:r>
                      <a:r>
                        <a:rPr lang="ja-JP" altLang="en-US" sz="1200" b="0" i="0" u="none" strike="noStrike" dirty="0">
                          <a:effectLst/>
                          <a:latin typeface="メイリオ" panose="020B0604030504040204" pitchFamily="50" charset="-128"/>
                          <a:ea typeface="メイリオ" panose="020B0604030504040204" pitchFamily="50" charset="-128"/>
                        </a:rPr>
                        <a:t>か月でしたが、諦めなくてよかったなあとしみじみ思う出来事でした。</a:t>
                      </a:r>
                    </a:p>
                    <a:p>
                      <a:pPr algn="l" fontAlgn="ctr"/>
                      <a:endParaRPr lang="ja-JP" altLang="en-US" sz="1200" b="0" i="0" u="none" strike="noStrike" dirty="0">
                        <a:effectLst/>
                        <a:latin typeface="メイリオ" panose="020B0604030504040204" pitchFamily="50" charset="-128"/>
                        <a:ea typeface="メイリオ" panose="020B0604030504040204" pitchFamily="50" charset="-128"/>
                      </a:endParaRPr>
                    </a:p>
                    <a:p>
                      <a:pPr algn="l" fontAlgn="ctr"/>
                      <a:r>
                        <a:rPr lang="ja-JP" altLang="en-US" sz="1200" b="0" i="0" u="none" strike="noStrike" dirty="0">
                          <a:effectLst/>
                          <a:latin typeface="メイリオ" panose="020B0604030504040204" pitchFamily="50" charset="-128"/>
                          <a:ea typeface="メイリオ" panose="020B0604030504040204" pitchFamily="50" charset="-128"/>
                        </a:rPr>
                        <a:t>その後</a:t>
                      </a:r>
                      <a:r>
                        <a:rPr lang="en-US" altLang="ja-JP" sz="1200" b="0" i="0" u="none" strike="noStrike" dirty="0">
                          <a:effectLst/>
                          <a:latin typeface="メイリオ" panose="020B0604030504040204" pitchFamily="50" charset="-128"/>
                          <a:ea typeface="メイリオ" panose="020B0604030504040204" pitchFamily="50" charset="-128"/>
                        </a:rPr>
                        <a:t>K</a:t>
                      </a:r>
                      <a:r>
                        <a:rPr lang="ja-JP" altLang="en-US" sz="1200" b="0" i="0" u="none" strike="noStrike" dirty="0">
                          <a:effectLst/>
                          <a:latin typeface="メイリオ" panose="020B0604030504040204" pitchFamily="50" charset="-128"/>
                          <a:ea typeface="メイリオ" panose="020B0604030504040204" pitchFamily="50" charset="-128"/>
                        </a:rPr>
                        <a:t>さんのお姉さんも入社し、最近もう一人中国出身の方が入社しました。パワフルで賑やかなお三方です。この方たちが出勤の日は洗濯室に入る前には深呼吸が必要です。</a:t>
                      </a:r>
                    </a:p>
                    <a:p>
                      <a:pPr algn="l" fontAlgn="ctr"/>
                      <a:r>
                        <a:rPr lang="ja-JP" altLang="en-US" sz="1200" b="0" i="0" u="none" strike="noStrike" dirty="0">
                          <a:effectLst/>
                          <a:latin typeface="メイリオ" panose="020B0604030504040204" pitchFamily="50" charset="-128"/>
                          <a:ea typeface="メイリオ" panose="020B0604030504040204" pitchFamily="50" charset="-128"/>
                        </a:rPr>
                        <a:t>そして気合を入れていざ出陣！</a:t>
                      </a:r>
                    </a:p>
                    <a:p>
                      <a:pPr algn="l" fontAlgn="ctr"/>
                      <a:r>
                        <a:rPr lang="ja-JP" altLang="en-US" sz="1200" b="0" i="0" u="none" strike="noStrike" dirty="0">
                          <a:effectLst/>
                          <a:latin typeface="メイリオ" panose="020B0604030504040204" pitchFamily="50" charset="-128"/>
                          <a:ea typeface="メイリオ" panose="020B0604030504040204" pitchFamily="50" charset="-128"/>
                        </a:rPr>
                        <a:t>「おお、佐々木さん来た！！！」</a:t>
                      </a:r>
                    </a:p>
                    <a:p>
                      <a:pPr algn="l" fontAlgn="ctr"/>
                      <a:r>
                        <a:rPr lang="ja-JP" altLang="en-US" sz="1200" b="0" i="0" u="none" strike="noStrike" dirty="0">
                          <a:effectLst/>
                          <a:latin typeface="メイリオ" panose="020B0604030504040204" pitchFamily="50" charset="-128"/>
                          <a:ea typeface="メイリオ" panose="020B0604030504040204" pitchFamily="50" charset="-128"/>
                        </a:rPr>
                        <a:t>その大きな声と駆け寄って来る笑顔を楽しみに行きたくなってしまう、蒲田駅東店のお話でした♪</a:t>
                      </a:r>
                    </a:p>
                  </a:txBody>
                  <a:tcPr marL="0" marR="0" marT="0" marB="0" anchor="ctr">
                    <a:noFill/>
                  </a:tcPr>
                </a:tc>
                <a:extLst>
                  <a:ext uri="{0D108BD9-81ED-4DB2-BD59-A6C34878D82A}">
                    <a16:rowId xmlns:a16="http://schemas.microsoft.com/office/drawing/2014/main" val="51326532"/>
                  </a:ext>
                </a:extLst>
              </a:tr>
            </a:tbl>
          </a:graphicData>
        </a:graphic>
      </p:graphicFrame>
      <p:graphicFrame>
        <p:nvGraphicFramePr>
          <p:cNvPr id="4" name="表 3">
            <a:extLst>
              <a:ext uri="{FF2B5EF4-FFF2-40B4-BE49-F238E27FC236}">
                <a16:creationId xmlns:a16="http://schemas.microsoft.com/office/drawing/2014/main" id="{B79B7192-0D9C-4382-8D0B-167C3C35CE90}"/>
              </a:ext>
            </a:extLst>
          </p:cNvPr>
          <p:cNvGraphicFramePr>
            <a:graphicFrameLocks noGrp="1"/>
          </p:cNvGraphicFramePr>
          <p:nvPr>
            <p:extLst>
              <p:ext uri="{D42A27DB-BD31-4B8C-83A1-F6EECF244321}">
                <p14:modId xmlns:p14="http://schemas.microsoft.com/office/powerpoint/2010/main" val="1056657147"/>
              </p:ext>
            </p:extLst>
          </p:nvPr>
        </p:nvGraphicFramePr>
        <p:xfrm>
          <a:off x="764704" y="8143446"/>
          <a:ext cx="6048672" cy="605018"/>
        </p:xfrm>
        <a:graphic>
          <a:graphicData uri="http://schemas.openxmlformats.org/drawingml/2006/table">
            <a:tbl>
              <a:tblPr/>
              <a:tblGrid>
                <a:gridCol w="254002">
                  <a:extLst>
                    <a:ext uri="{9D8B030D-6E8A-4147-A177-3AD203B41FA5}">
                      <a16:colId xmlns:a16="http://schemas.microsoft.com/office/drawing/2014/main" val="4026392200"/>
                    </a:ext>
                  </a:extLst>
                </a:gridCol>
                <a:gridCol w="617588">
                  <a:extLst>
                    <a:ext uri="{9D8B030D-6E8A-4147-A177-3AD203B41FA5}">
                      <a16:colId xmlns:a16="http://schemas.microsoft.com/office/drawing/2014/main" val="2265573359"/>
                    </a:ext>
                  </a:extLst>
                </a:gridCol>
                <a:gridCol w="2885454">
                  <a:extLst>
                    <a:ext uri="{9D8B030D-6E8A-4147-A177-3AD203B41FA5}">
                      <a16:colId xmlns:a16="http://schemas.microsoft.com/office/drawing/2014/main" val="2831491253"/>
                    </a:ext>
                  </a:extLst>
                </a:gridCol>
                <a:gridCol w="2291628">
                  <a:extLst>
                    <a:ext uri="{9D8B030D-6E8A-4147-A177-3AD203B41FA5}">
                      <a16:colId xmlns:a16="http://schemas.microsoft.com/office/drawing/2014/main" val="2078562565"/>
                    </a:ext>
                  </a:extLst>
                </a:gridCol>
              </a:tblGrid>
              <a:tr h="302509">
                <a:tc>
                  <a:txBody>
                    <a:bodyPr/>
                    <a:lstStyle/>
                    <a:p>
                      <a:pPr algn="l" fontAlgn="ctr"/>
                      <a:endParaRPr lang="ja-JP" altLang="en-US" sz="900" b="1" i="0" u="none" strike="noStrike" dirty="0">
                        <a:effectLst/>
                        <a:latin typeface="メイリオ" panose="020B0604030504040204" pitchFamily="50" charset="-128"/>
                        <a:ea typeface="メイリオ" panose="020B0604030504040204" pitchFamily="50" charset="-128"/>
                      </a:endParaRPr>
                    </a:p>
                  </a:txBody>
                  <a:tcPr marL="7203" marR="7203" marT="7203" marB="0" anchor="ctr">
                    <a:lnL>
                      <a:noFill/>
                    </a:lnL>
                    <a:lnR>
                      <a:noFill/>
                    </a:lnR>
                    <a:lnT>
                      <a:noFill/>
                    </a:lnT>
                    <a:lnB>
                      <a:noFill/>
                    </a:lnB>
                  </a:tcPr>
                </a:tc>
                <a:tc>
                  <a:txBody>
                    <a:bodyPr/>
                    <a:lstStyle/>
                    <a:p>
                      <a:pPr algn="l" fontAlgn="ctr"/>
                      <a:endParaRPr lang="ja-JP" altLang="en-US" sz="1200" b="1" i="0" u="none" strike="noStrike">
                        <a:effectLst/>
                        <a:latin typeface="メイリオ" panose="020B0604030504040204" pitchFamily="50" charset="-128"/>
                        <a:ea typeface="メイリオ" panose="020B0604030504040204" pitchFamily="50" charset="-128"/>
                      </a:endParaRPr>
                    </a:p>
                  </a:txBody>
                  <a:tcPr marL="7203" marR="7203" marT="7203" marB="0" anchor="ctr">
                    <a:lnL>
                      <a:noFill/>
                    </a:lnL>
                    <a:lnR>
                      <a:noFill/>
                    </a:lnR>
                    <a:lnT>
                      <a:noFill/>
                    </a:lnT>
                    <a:lnB>
                      <a:noFill/>
                    </a:lnB>
                  </a:tcPr>
                </a:tc>
                <a:tc>
                  <a:txBody>
                    <a:bodyPr/>
                    <a:lstStyle/>
                    <a:p>
                      <a:pPr algn="ctr" fontAlgn="ctr"/>
                      <a:r>
                        <a:rPr lang="ja-JP" altLang="en-US" sz="1200" b="1" i="0" u="none" strike="noStrike" dirty="0">
                          <a:effectLst/>
                          <a:latin typeface="メイリオ" panose="020B0604030504040204" pitchFamily="50" charset="-128"/>
                          <a:ea typeface="メイリオ" panose="020B0604030504040204" pitchFamily="50" charset="-128"/>
                        </a:rPr>
                        <a:t>（所属）</a:t>
                      </a:r>
                    </a:p>
                  </a:txBody>
                  <a:tcPr marL="7203" marR="7203" marT="7203" marB="0" anchor="ctr">
                    <a:lnL>
                      <a:noFill/>
                    </a:lnL>
                    <a:lnR>
                      <a:noFill/>
                    </a:lnR>
                    <a:lnT>
                      <a:noFill/>
                    </a:lnT>
                    <a:lnB>
                      <a:noFill/>
                    </a:lnB>
                  </a:tcPr>
                </a:tc>
                <a:tc>
                  <a:txBody>
                    <a:bodyPr/>
                    <a:lstStyle/>
                    <a:p>
                      <a:pPr algn="ctr" fontAlgn="ctr"/>
                      <a:r>
                        <a:rPr lang="ja-JP" altLang="en-US" sz="1200" b="1" i="0" u="none" strike="noStrike" dirty="0">
                          <a:effectLst/>
                          <a:latin typeface="メイリオ" panose="020B0604030504040204" pitchFamily="50" charset="-128"/>
                          <a:ea typeface="メイリオ" panose="020B0604030504040204" pitchFamily="50" charset="-128"/>
                        </a:rPr>
                        <a:t>（氏名）</a:t>
                      </a:r>
                    </a:p>
                  </a:txBody>
                  <a:tcPr marL="7203" marR="7203" marT="7203" marB="0" anchor="ctr">
                    <a:lnL>
                      <a:noFill/>
                    </a:lnL>
                    <a:lnR>
                      <a:noFill/>
                    </a:lnR>
                    <a:lnT>
                      <a:noFill/>
                    </a:lnT>
                    <a:lnB>
                      <a:noFill/>
                    </a:lnB>
                  </a:tcPr>
                </a:tc>
                <a:extLst>
                  <a:ext uri="{0D108BD9-81ED-4DB2-BD59-A6C34878D82A}">
                    <a16:rowId xmlns:a16="http://schemas.microsoft.com/office/drawing/2014/main" val="2937889479"/>
                  </a:ext>
                </a:extLst>
              </a:tr>
              <a:tr h="302509">
                <a:tc gridSpan="2">
                  <a:txBody>
                    <a:bodyPr/>
                    <a:lstStyle/>
                    <a:p>
                      <a:pPr algn="ctr" fontAlgn="ctr"/>
                      <a:r>
                        <a:rPr lang="ja-JP" altLang="en-US" sz="1200" b="1" i="0" u="none" strike="noStrike" dirty="0">
                          <a:effectLst/>
                          <a:latin typeface="メイリオ" panose="020B0604030504040204" pitchFamily="50" charset="-128"/>
                          <a:ea typeface="メイリオ" panose="020B0604030504040204" pitchFamily="50" charset="-128"/>
                        </a:rPr>
                        <a:t>寄稿者</a:t>
                      </a:r>
                    </a:p>
                  </a:txBody>
                  <a:tcPr marL="7203" marR="7203" marT="7203" marB="0" anchor="ctr">
                    <a:lnL>
                      <a:noFill/>
                    </a:lnL>
                    <a:lnR>
                      <a:noFill/>
                    </a:lnR>
                    <a:lnT>
                      <a:noFill/>
                    </a:lnT>
                    <a:lnB>
                      <a:noFill/>
                    </a:lnB>
                  </a:tcPr>
                </a:tc>
                <a:tc hMerge="1">
                  <a:txBody>
                    <a:bodyPr/>
                    <a:lstStyle/>
                    <a:p>
                      <a:endParaRPr kumimoji="1" lang="ja-JP" altLang="en-US"/>
                    </a:p>
                  </a:txBody>
                  <a:tcPr/>
                </a:tc>
                <a:tc>
                  <a:txBody>
                    <a:bodyPr/>
                    <a:lstStyle/>
                    <a:p>
                      <a:pPr algn="ctr" fontAlgn="ctr"/>
                      <a:r>
                        <a:rPr lang="ja-JP" altLang="en-US" sz="1400" b="1" i="0" u="none" strike="noStrike" dirty="0">
                          <a:effectLst/>
                          <a:latin typeface="メイリオ" panose="020B0604030504040204" pitchFamily="50" charset="-128"/>
                          <a:ea typeface="メイリオ" panose="020B0604030504040204" pitchFamily="50" charset="-128"/>
                        </a:rPr>
                        <a:t>営業推進チーム</a:t>
                      </a:r>
                    </a:p>
                  </a:txBody>
                  <a:tcPr marL="7203" marR="7203" marT="7203" marB="0" anchor="ctr">
                    <a:lnL>
                      <a:noFill/>
                    </a:lnL>
                    <a:lnR>
                      <a:noFill/>
                    </a:lnR>
                    <a:lnT>
                      <a:noFill/>
                    </a:lnT>
                    <a:lnB>
                      <a:noFill/>
                    </a:lnB>
                  </a:tcPr>
                </a:tc>
                <a:tc>
                  <a:txBody>
                    <a:bodyPr/>
                    <a:lstStyle/>
                    <a:p>
                      <a:pPr algn="ctr" fontAlgn="ctr"/>
                      <a:r>
                        <a:rPr lang="ja-JP" altLang="en-US" sz="1400" b="1" i="0" u="none" strike="noStrike" dirty="0">
                          <a:effectLst/>
                          <a:latin typeface="メイリオ" panose="020B0604030504040204" pitchFamily="50" charset="-128"/>
                          <a:ea typeface="メイリオ" panose="020B0604030504040204" pitchFamily="50" charset="-128"/>
                        </a:rPr>
                        <a:t>佐々木　里美</a:t>
                      </a:r>
                      <a:endParaRPr lang="en-US" altLang="ja-JP" sz="1400" b="1" i="0" u="none" strike="noStrike" dirty="0">
                        <a:effectLst/>
                        <a:latin typeface="メイリオ" panose="020B0604030504040204" pitchFamily="50" charset="-128"/>
                        <a:ea typeface="メイリオ" panose="020B0604030504040204" pitchFamily="50" charset="-128"/>
                      </a:endParaRPr>
                    </a:p>
                  </a:txBody>
                  <a:tcPr marL="7203" marR="7203" marT="7203" marB="0" anchor="ctr">
                    <a:lnL>
                      <a:noFill/>
                    </a:lnL>
                    <a:lnR>
                      <a:noFill/>
                    </a:lnR>
                    <a:lnT>
                      <a:noFill/>
                    </a:lnT>
                    <a:lnB>
                      <a:noFill/>
                    </a:lnB>
                  </a:tcPr>
                </a:tc>
                <a:extLst>
                  <a:ext uri="{0D108BD9-81ED-4DB2-BD59-A6C34878D82A}">
                    <a16:rowId xmlns:a16="http://schemas.microsoft.com/office/drawing/2014/main" val="4267474516"/>
                  </a:ext>
                </a:extLst>
              </a:tr>
            </a:tbl>
          </a:graphicData>
        </a:graphic>
      </p:graphicFrame>
    </p:spTree>
    <p:extLst>
      <p:ext uri="{BB962C8B-B14F-4D97-AF65-F5344CB8AC3E}">
        <p14:creationId xmlns:p14="http://schemas.microsoft.com/office/powerpoint/2010/main" val="19288970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578" name="Group 18">
            <a:extLst>
              <a:ext uri="{FF2B5EF4-FFF2-40B4-BE49-F238E27FC236}">
                <a16:creationId xmlns:a16="http://schemas.microsoft.com/office/drawing/2014/main" id="{8F3C5D57-C633-45BA-B826-737AA91C2B8F}"/>
              </a:ext>
            </a:extLst>
          </p:cNvPr>
          <p:cNvGrpSpPr>
            <a:grpSpLocks/>
          </p:cNvGrpSpPr>
          <p:nvPr/>
        </p:nvGrpSpPr>
        <p:grpSpPr bwMode="auto">
          <a:xfrm>
            <a:off x="762000" y="457200"/>
            <a:ext cx="5638800" cy="3178175"/>
            <a:chOff x="567" y="125"/>
            <a:chExt cx="3129" cy="2353"/>
          </a:xfrm>
        </p:grpSpPr>
        <p:sp>
          <p:nvSpPr>
            <p:cNvPr id="24587" name="Rectangle 19">
              <a:extLst>
                <a:ext uri="{FF2B5EF4-FFF2-40B4-BE49-F238E27FC236}">
                  <a16:creationId xmlns:a16="http://schemas.microsoft.com/office/drawing/2014/main" id="{C894C693-29E0-4E54-8F72-8372ECADC4C8}"/>
                </a:ext>
              </a:extLst>
            </p:cNvPr>
            <p:cNvSpPr>
              <a:spLocks noChangeArrowheads="1"/>
            </p:cNvSpPr>
            <p:nvPr/>
          </p:nvSpPr>
          <p:spPr bwMode="auto">
            <a:xfrm>
              <a:off x="593" y="151"/>
              <a:ext cx="3103" cy="2327"/>
            </a:xfrm>
            <a:prstGeom prst="rect">
              <a:avLst/>
            </a:prstGeom>
            <a:solidFill>
              <a:srgbClr val="000000"/>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24588" name="Rectangle 20">
              <a:extLst>
                <a:ext uri="{FF2B5EF4-FFF2-40B4-BE49-F238E27FC236}">
                  <a16:creationId xmlns:a16="http://schemas.microsoft.com/office/drawing/2014/main" id="{C7FBDEC0-090C-483F-9470-C2E0988B8BCB}"/>
                </a:ext>
              </a:extLst>
            </p:cNvPr>
            <p:cNvSpPr>
              <a:spLocks noChangeArrowheads="1"/>
            </p:cNvSpPr>
            <p:nvPr/>
          </p:nvSpPr>
          <p:spPr bwMode="auto">
            <a:xfrm>
              <a:off x="567" y="125"/>
              <a:ext cx="3103" cy="2327"/>
            </a:xfrm>
            <a:prstGeom prst="rect">
              <a:avLst/>
            </a:prstGeom>
            <a:solidFill>
              <a:srgbClr val="FFFFFF"/>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grpSp>
      <p:sp>
        <p:nvSpPr>
          <p:cNvPr id="24579" name="Rectangle 11">
            <a:extLst>
              <a:ext uri="{FF2B5EF4-FFF2-40B4-BE49-F238E27FC236}">
                <a16:creationId xmlns:a16="http://schemas.microsoft.com/office/drawing/2014/main" id="{072C03F7-5681-434E-A167-7405B4937512}"/>
              </a:ext>
            </a:extLst>
          </p:cNvPr>
          <p:cNvSpPr>
            <a:spLocks noChangeArrowheads="1"/>
          </p:cNvSpPr>
          <p:nvPr/>
        </p:nvSpPr>
        <p:spPr bwMode="auto">
          <a:xfrm>
            <a:off x="1119188" y="322263"/>
            <a:ext cx="418782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24580" name="Rectangle 12">
            <a:extLst>
              <a:ext uri="{FF2B5EF4-FFF2-40B4-BE49-F238E27FC236}">
                <a16:creationId xmlns:a16="http://schemas.microsoft.com/office/drawing/2014/main" id="{C55B76AB-194C-4C26-BE1E-24AEED162F74}"/>
              </a:ext>
            </a:extLst>
          </p:cNvPr>
          <p:cNvSpPr>
            <a:spLocks noChangeArrowheads="1"/>
          </p:cNvSpPr>
          <p:nvPr/>
        </p:nvSpPr>
        <p:spPr bwMode="auto">
          <a:xfrm>
            <a:off x="1219200" y="685800"/>
            <a:ext cx="33861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2200" b="1">
                <a:solidFill>
                  <a:srgbClr val="000000"/>
                </a:solidFill>
                <a:latin typeface="メイリオ" panose="020B0604030504040204" pitchFamily="50" charset="-128"/>
                <a:ea typeface="メイリオ" panose="020B0604030504040204" pitchFamily="50" charset="-128"/>
              </a:rPr>
              <a:t>ベストの追求～感動創造～</a:t>
            </a:r>
            <a:endParaRPr lang="ja-JP" altLang="en-US" sz="2200" b="1">
              <a:latin typeface="メイリオ" panose="020B0604030504040204" pitchFamily="50" charset="-128"/>
              <a:ea typeface="メイリオ" panose="020B0604030504040204" pitchFamily="50" charset="-128"/>
            </a:endParaRPr>
          </a:p>
        </p:txBody>
      </p:sp>
      <p:sp>
        <p:nvSpPr>
          <p:cNvPr id="24581" name="Rectangle 3">
            <a:extLst>
              <a:ext uri="{FF2B5EF4-FFF2-40B4-BE49-F238E27FC236}">
                <a16:creationId xmlns:a16="http://schemas.microsoft.com/office/drawing/2014/main" id="{E81B4836-CCAB-4648-BFDB-72B86C3D8A93}"/>
              </a:ext>
            </a:extLst>
          </p:cNvPr>
          <p:cNvSpPr>
            <a:spLocks noChangeArrowheads="1"/>
          </p:cNvSpPr>
          <p:nvPr/>
        </p:nvSpPr>
        <p:spPr bwMode="auto">
          <a:xfrm>
            <a:off x="757238" y="4284663"/>
            <a:ext cx="5695950" cy="443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lnSpc>
                <a:spcPct val="130000"/>
              </a:lnSpc>
              <a:buFontTx/>
              <a:buNone/>
            </a:pPr>
            <a:endParaRPr lang="ja-JP" altLang="en-US" sz="1200"/>
          </a:p>
        </p:txBody>
      </p:sp>
      <p:sp>
        <p:nvSpPr>
          <p:cNvPr id="24582" name="Rectangle 21">
            <a:extLst>
              <a:ext uri="{FF2B5EF4-FFF2-40B4-BE49-F238E27FC236}">
                <a16:creationId xmlns:a16="http://schemas.microsoft.com/office/drawing/2014/main" id="{309B278E-3A97-49E2-8DE4-7A306AD53716}"/>
              </a:ext>
            </a:extLst>
          </p:cNvPr>
          <p:cNvSpPr>
            <a:spLocks noChangeArrowheads="1"/>
          </p:cNvSpPr>
          <p:nvPr/>
        </p:nvSpPr>
        <p:spPr bwMode="auto">
          <a:xfrm>
            <a:off x="1143000" y="1417638"/>
            <a:ext cx="4724400" cy="200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lnSpc>
                <a:spcPct val="150000"/>
              </a:lnSpc>
              <a:spcBef>
                <a:spcPct val="60000"/>
              </a:spcBef>
              <a:buFontTx/>
              <a:buNone/>
            </a:pPr>
            <a:r>
              <a:rPr lang="ja-JP" altLang="en-US" sz="1700" b="1">
                <a:latin typeface="メイリオ" panose="020B0604030504040204" pitchFamily="50" charset="-128"/>
                <a:ea typeface="メイリオ" panose="020B0604030504040204" pitchFamily="50" charset="-128"/>
              </a:rPr>
              <a:t>私たちは快適空間の創造を実現するために、</a:t>
            </a:r>
          </a:p>
          <a:p>
            <a:pPr eaLnBrk="1" hangingPunct="1">
              <a:lnSpc>
                <a:spcPct val="150000"/>
              </a:lnSpc>
              <a:spcBef>
                <a:spcPct val="60000"/>
              </a:spcBef>
              <a:buFontTx/>
              <a:buNone/>
            </a:pPr>
            <a:r>
              <a:rPr lang="ja-JP" altLang="en-US" sz="1700" b="1">
                <a:latin typeface="メイリオ" panose="020B0604030504040204" pitchFamily="50" charset="-128"/>
                <a:ea typeface="メイリオ" panose="020B0604030504040204" pitchFamily="50" charset="-128"/>
              </a:rPr>
              <a:t>求められる基準をクリアするだけでなく、</a:t>
            </a:r>
          </a:p>
          <a:p>
            <a:pPr eaLnBrk="1" hangingPunct="1">
              <a:lnSpc>
                <a:spcPct val="150000"/>
              </a:lnSpc>
              <a:spcBef>
                <a:spcPct val="60000"/>
              </a:spcBef>
              <a:buFontTx/>
              <a:buNone/>
            </a:pPr>
            <a:r>
              <a:rPr lang="ja-JP" altLang="en-US" sz="1700" b="1">
                <a:latin typeface="メイリオ" panose="020B0604030504040204" pitchFamily="50" charset="-128"/>
                <a:ea typeface="メイリオ" panose="020B0604030504040204" pitchFamily="50" charset="-128"/>
              </a:rPr>
              <a:t>常に期待を上回るベストを追求し、</a:t>
            </a:r>
          </a:p>
          <a:p>
            <a:pPr eaLnBrk="1" hangingPunct="1">
              <a:lnSpc>
                <a:spcPct val="150000"/>
              </a:lnSpc>
              <a:spcBef>
                <a:spcPct val="60000"/>
              </a:spcBef>
              <a:buFontTx/>
              <a:buNone/>
            </a:pPr>
            <a:r>
              <a:rPr lang="ja-JP" altLang="en-US" sz="1700" b="1">
                <a:latin typeface="メイリオ" panose="020B0604030504040204" pitchFamily="50" charset="-128"/>
                <a:ea typeface="メイリオ" panose="020B0604030504040204" pitchFamily="50" charset="-128"/>
              </a:rPr>
              <a:t>「感動」を創造していきます。</a:t>
            </a:r>
          </a:p>
        </p:txBody>
      </p:sp>
      <p:sp>
        <p:nvSpPr>
          <p:cNvPr id="24583" name="Line 23">
            <a:extLst>
              <a:ext uri="{FF2B5EF4-FFF2-40B4-BE49-F238E27FC236}">
                <a16:creationId xmlns:a16="http://schemas.microsoft.com/office/drawing/2014/main" id="{801741E6-F0D1-4424-8DCB-A4526A09770B}"/>
              </a:ext>
            </a:extLst>
          </p:cNvPr>
          <p:cNvSpPr>
            <a:spLocks noChangeShapeType="1"/>
          </p:cNvSpPr>
          <p:nvPr/>
        </p:nvSpPr>
        <p:spPr bwMode="auto">
          <a:xfrm flipV="1">
            <a:off x="1219200" y="1058863"/>
            <a:ext cx="3722688" cy="7937"/>
          </a:xfrm>
          <a:prstGeom prst="line">
            <a:avLst/>
          </a:prstGeom>
          <a:noFill/>
          <a:ln w="69850" cmpd="thinThick">
            <a:solidFill>
              <a:schemeClr val="bg2"/>
            </a:solidFill>
            <a:round/>
            <a:headEnd/>
            <a:tailEnd/>
          </a:ln>
          <a:effectLst>
            <a:outerShdw dist="148106" dir="1857825" algn="ctr" rotWithShape="0">
              <a:srgbClr val="DDDDDD"/>
            </a:outerShdw>
          </a:effectLst>
          <a:extLst>
            <a:ext uri="{909E8E84-426E-40DD-AFC4-6F175D3DCCD1}">
              <a14:hiddenFill xmlns:a14="http://schemas.microsoft.com/office/drawing/2010/main">
                <a:noFill/>
              </a14:hiddenFill>
            </a:ext>
          </a:extLst>
        </p:spPr>
        <p:txBody>
          <a:bodyPr/>
          <a:lstStyle/>
          <a:p>
            <a:endParaRPr lang="ja-JP" altLang="en-US"/>
          </a:p>
        </p:txBody>
      </p:sp>
      <p:sp>
        <p:nvSpPr>
          <p:cNvPr id="25609" name="Rectangle 2060">
            <a:extLst>
              <a:ext uri="{FF2B5EF4-FFF2-40B4-BE49-F238E27FC236}">
                <a16:creationId xmlns:a16="http://schemas.microsoft.com/office/drawing/2014/main" id="{AE777DF8-B2E6-4075-881C-A71EA067BD1F}"/>
              </a:ext>
            </a:extLst>
          </p:cNvPr>
          <p:cNvSpPr>
            <a:spLocks noChangeArrowheads="1"/>
          </p:cNvSpPr>
          <p:nvPr/>
        </p:nvSpPr>
        <p:spPr bwMode="auto">
          <a:xfrm>
            <a:off x="549275" y="3851275"/>
            <a:ext cx="6048375" cy="487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lnSpc>
                <a:spcPct val="150000"/>
              </a:lnSpc>
              <a:buFontTx/>
              <a:buNone/>
              <a:defRPr/>
            </a:pPr>
            <a:r>
              <a:rPr lang="ja-JP" altLang="en-US" sz="1200" dirty="0">
                <a:latin typeface="+mj-ea"/>
                <a:ea typeface="+mj-ea"/>
              </a:rPr>
              <a:t>　私たちが目指す快適空間の創造の実現のためには、相手の期待を上回る「ベストの追求」が求められます。「ベスト」を追求し、相手の期待を上回る「ベストな結果」を実現した時、相手に「感動」を提供することができる・・・という意味を込め、</a:t>
            </a:r>
            <a:r>
              <a:rPr lang="en-US" altLang="ja-JP" sz="1200" dirty="0">
                <a:latin typeface="+mj-ea"/>
                <a:ea typeface="+mj-ea"/>
              </a:rPr>
              <a:t>『</a:t>
            </a:r>
            <a:r>
              <a:rPr lang="ja-JP" altLang="en-US" sz="1200" dirty="0">
                <a:latin typeface="+mj-ea"/>
                <a:ea typeface="+mj-ea"/>
              </a:rPr>
              <a:t>「感動」を創造する</a:t>
            </a:r>
            <a:r>
              <a:rPr lang="en-US" altLang="ja-JP" sz="1200" dirty="0">
                <a:latin typeface="+mj-ea"/>
                <a:ea typeface="+mj-ea"/>
              </a:rPr>
              <a:t>』</a:t>
            </a:r>
            <a:r>
              <a:rPr lang="ja-JP" altLang="en-US" sz="1200" dirty="0">
                <a:latin typeface="+mj-ea"/>
                <a:ea typeface="+mj-ea"/>
              </a:rPr>
              <a:t>という表現をとっています。</a:t>
            </a:r>
          </a:p>
          <a:p>
            <a:pPr eaLnBrk="1" hangingPunct="1">
              <a:lnSpc>
                <a:spcPct val="150000"/>
              </a:lnSpc>
              <a:buFontTx/>
              <a:buNone/>
              <a:defRPr/>
            </a:pPr>
            <a:endParaRPr lang="ja-JP" altLang="en-US" sz="1200" dirty="0">
              <a:latin typeface="+mj-ea"/>
              <a:ea typeface="+mj-ea"/>
            </a:endParaRPr>
          </a:p>
          <a:p>
            <a:pPr eaLnBrk="1" hangingPunct="1">
              <a:lnSpc>
                <a:spcPct val="150000"/>
              </a:lnSpc>
              <a:buFontTx/>
              <a:buNone/>
              <a:defRPr/>
            </a:pPr>
            <a:r>
              <a:rPr lang="ja-JP" altLang="en-US" sz="1200" dirty="0">
                <a:latin typeface="+mj-ea"/>
                <a:ea typeface="+mj-ea"/>
              </a:rPr>
              <a:t>　今、皆さんは仕事をどのように捉えていますか？もしかすると、「作業」になっていませんか？仕事は、単に「言われたこと（＝作業）」だけをやれば良いのではありません。また、「競争相手には勝つ」等の、何かと比較しそれを上回る「ベター」だけでもいけません。期待を上回るベストの追求するために、「どのような状況に陥っても最後まで諦めず、妥協せず、あと一歩、あと一ひねり」　と創意工夫したり、努力する姿勢を忘れないでください。そして、ベストを追求する時には、「自分が考えるベスト」だけではなく、「ＭＭＩ全体のベストかどうか」、「お客様の立場に立ったベストかどうか」、「仲間の立場に立ったベストかどうか」等、自分にも周囲にもメリットや満足感がもたらされる選択や視点を忘れないでください。このような考え方ができるようになれば、仕事の質は大きく変わってくるはずです。</a:t>
            </a:r>
          </a:p>
          <a:p>
            <a:pPr eaLnBrk="1" hangingPunct="1">
              <a:lnSpc>
                <a:spcPct val="150000"/>
              </a:lnSpc>
              <a:buFontTx/>
              <a:buNone/>
              <a:defRPr/>
            </a:pPr>
            <a:r>
              <a:rPr lang="ja-JP" altLang="en-US" sz="1200" dirty="0">
                <a:latin typeface="+mj-ea"/>
                <a:ea typeface="+mj-ea"/>
              </a:rPr>
              <a:t>　お客様のことではなく、スタッフ同士、部門同士においても、相手に感動を与えるようなベストの追求をしていきましょう。私たち１人１人のベストの追求が、最高のチームＭＭＩを創り、そして私たちの目指す快適空間の実現へとつながるのです。</a:t>
            </a:r>
          </a:p>
        </p:txBody>
      </p:sp>
      <p:sp>
        <p:nvSpPr>
          <p:cNvPr id="24585" name="Rectangle 1028">
            <a:extLst>
              <a:ext uri="{FF2B5EF4-FFF2-40B4-BE49-F238E27FC236}">
                <a16:creationId xmlns:a16="http://schemas.microsoft.com/office/drawing/2014/main" id="{2AB3CDDE-12F8-42CB-A9E6-5E9127A1DA58}"/>
              </a:ext>
            </a:extLst>
          </p:cNvPr>
          <p:cNvSpPr>
            <a:spLocks noChangeArrowheads="1"/>
          </p:cNvSpPr>
          <p:nvPr/>
        </p:nvSpPr>
        <p:spPr bwMode="auto">
          <a:xfrm>
            <a:off x="4584700" y="-28575"/>
            <a:ext cx="226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dist" eaLnBrk="1" hangingPunct="1">
              <a:spcBef>
                <a:spcPct val="0"/>
              </a:spcBef>
              <a:buFontTx/>
              <a:buNone/>
            </a:pPr>
            <a:r>
              <a:rPr lang="ja-JP" altLang="en-US" sz="1600">
                <a:latin typeface="メイリオ" panose="020B0604030504040204" pitchFamily="50" charset="-128"/>
                <a:ea typeface="メイリオ" panose="020B0604030504040204" pitchFamily="50" charset="-128"/>
              </a:rPr>
              <a:t>行動指針</a:t>
            </a:r>
          </a:p>
        </p:txBody>
      </p:sp>
      <p:sp>
        <p:nvSpPr>
          <p:cNvPr id="13" name="Google Shape;1346;p122">
            <a:extLst>
              <a:ext uri="{FF2B5EF4-FFF2-40B4-BE49-F238E27FC236}">
                <a16:creationId xmlns:a16="http://schemas.microsoft.com/office/drawing/2014/main" id="{21C730A1-4F84-45C2-89AE-120EFB8A06B8}"/>
              </a:ext>
            </a:extLst>
          </p:cNvPr>
          <p:cNvSpPr txBox="1"/>
          <p:nvPr/>
        </p:nvSpPr>
        <p:spPr>
          <a:xfrm>
            <a:off x="6308725" y="8993188"/>
            <a:ext cx="538163" cy="158750"/>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728D71D6-3455-4614-AB48-1DC83F526FD5}"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25</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グループ化 4">
            <a:extLst>
              <a:ext uri="{FF2B5EF4-FFF2-40B4-BE49-F238E27FC236}">
                <a16:creationId xmlns:a16="http://schemas.microsoft.com/office/drawing/2014/main" id="{D1CD502B-8084-4417-A023-0723B2C9344E}"/>
              </a:ext>
            </a:extLst>
          </p:cNvPr>
          <p:cNvGrpSpPr/>
          <p:nvPr/>
        </p:nvGrpSpPr>
        <p:grpSpPr>
          <a:xfrm>
            <a:off x="11112" y="8425413"/>
            <a:ext cx="6834185" cy="718587"/>
            <a:chOff x="11112" y="8425413"/>
            <a:chExt cx="6834185" cy="718587"/>
          </a:xfrm>
        </p:grpSpPr>
        <p:pic>
          <p:nvPicPr>
            <p:cNvPr id="23" name="図 22">
              <a:extLst>
                <a:ext uri="{FF2B5EF4-FFF2-40B4-BE49-F238E27FC236}">
                  <a16:creationId xmlns:a16="http://schemas.microsoft.com/office/drawing/2014/main" id="{00000000-0008-0000-0100-000004000000}"/>
                </a:ext>
              </a:extLst>
            </p:cNvPr>
            <p:cNvPicPr>
              <a:picLocks noChangeAspect="1"/>
            </p:cNvPicPr>
            <p:nvPr/>
          </p:nvPicPr>
          <p:blipFill rotWithShape="1">
            <a:blip r:embed="rId2">
              <a:extLst>
                <a:ext uri="{28A0092B-C50C-407E-A947-70E740481C1C}">
                  <a14:useLocalDpi xmlns:a14="http://schemas.microsoft.com/office/drawing/2010/main" val="0"/>
                </a:ext>
              </a:extLst>
            </a:blip>
            <a:srcRect l="59538" t="56963"/>
            <a:stretch/>
          </p:blipFill>
          <p:spPr>
            <a:xfrm>
              <a:off x="1124744" y="8789560"/>
              <a:ext cx="5720553" cy="354439"/>
            </a:xfrm>
            <a:prstGeom prst="rect">
              <a:avLst/>
            </a:prstGeom>
          </p:spPr>
        </p:pic>
        <p:pic>
          <p:nvPicPr>
            <p:cNvPr id="24" name="図 23">
              <a:extLst>
                <a:ext uri="{FF2B5EF4-FFF2-40B4-BE49-F238E27FC236}">
                  <a16:creationId xmlns:a16="http://schemas.microsoft.com/office/drawing/2014/main" id="{00000000-0008-0000-0100-000005000000}"/>
                </a:ext>
              </a:extLst>
            </p:cNvPr>
            <p:cNvPicPr>
              <a:picLocks noChangeAspect="1"/>
            </p:cNvPicPr>
            <p:nvPr/>
          </p:nvPicPr>
          <p:blipFill rotWithShape="1">
            <a:blip r:embed="rId2">
              <a:extLst>
                <a:ext uri="{28A0092B-C50C-407E-A947-70E740481C1C}">
                  <a14:useLocalDpi xmlns:a14="http://schemas.microsoft.com/office/drawing/2010/main" val="0"/>
                </a:ext>
              </a:extLst>
            </a:blip>
            <a:srcRect r="28008"/>
            <a:stretch/>
          </p:blipFill>
          <p:spPr>
            <a:xfrm>
              <a:off x="11112" y="8425413"/>
              <a:ext cx="1545680" cy="718587"/>
            </a:xfrm>
            <a:prstGeom prst="rect">
              <a:avLst/>
            </a:prstGeom>
          </p:spPr>
        </p:pic>
        <p:pic>
          <p:nvPicPr>
            <p:cNvPr id="25" name="Picture 2" descr="C:\Users\user\Desktop\MMIロゴ.jpg">
              <a:extLst>
                <a:ext uri="{FF2B5EF4-FFF2-40B4-BE49-F238E27FC236}">
                  <a16:creationId xmlns:a16="http://schemas.microsoft.com/office/drawing/2014/main" id="{00000000-0008-0000-0100-00000600000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42465" y="8706936"/>
              <a:ext cx="668079" cy="218539"/>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13" name="Google Shape;1346;p122">
            <a:extLst>
              <a:ext uri="{FF2B5EF4-FFF2-40B4-BE49-F238E27FC236}">
                <a16:creationId xmlns:a16="http://schemas.microsoft.com/office/drawing/2014/main" id="{21C730A1-4F84-45C2-89AE-120EFB8A06B8}"/>
              </a:ext>
            </a:extLst>
          </p:cNvPr>
          <p:cNvSpPr txBox="1"/>
          <p:nvPr/>
        </p:nvSpPr>
        <p:spPr>
          <a:xfrm>
            <a:off x="6308725" y="8993188"/>
            <a:ext cx="538163" cy="158750"/>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728D71D6-3455-4614-AB48-1DC83F526FD5}"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26</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sp>
        <p:nvSpPr>
          <p:cNvPr id="14" name="Rectangle 26">
            <a:extLst>
              <a:ext uri="{FF2B5EF4-FFF2-40B4-BE49-F238E27FC236}">
                <a16:creationId xmlns:a16="http://schemas.microsoft.com/office/drawing/2014/main" id="{00000000-0008-0000-0100-000003000000}"/>
              </a:ext>
            </a:extLst>
          </p:cNvPr>
          <p:cNvSpPr>
            <a:spLocks noChangeArrowheads="1"/>
          </p:cNvSpPr>
          <p:nvPr/>
        </p:nvSpPr>
        <p:spPr bwMode="auto">
          <a:xfrm rot="10800000">
            <a:off x="12698" y="-6188"/>
            <a:ext cx="6845301" cy="369795"/>
          </a:xfrm>
          <a:prstGeom prst="rect">
            <a:avLst/>
          </a:prstGeom>
          <a:solidFill>
            <a:srgbClr val="FF9999"/>
          </a:solidFill>
          <a:ln w="9525">
            <a:noFill/>
            <a:miter lim="800000"/>
            <a:headEnd/>
            <a:tailEnd/>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r" rtl="1">
              <a:defRPr sz="1000"/>
            </a:pPr>
            <a:endParaRPr lang="en-US" altLang="ja-JP" sz="1800" b="1" i="0" strike="noStrike">
              <a:solidFill>
                <a:schemeClr val="tx1"/>
              </a:solidFill>
              <a:latin typeface="+mj-ea"/>
              <a:ea typeface="+mj-ea"/>
            </a:endParaRPr>
          </a:p>
        </p:txBody>
      </p:sp>
      <p:sp>
        <p:nvSpPr>
          <p:cNvPr id="15" name="テキスト ボックス 8">
            <a:extLst>
              <a:ext uri="{FF2B5EF4-FFF2-40B4-BE49-F238E27FC236}">
                <a16:creationId xmlns:a16="http://schemas.microsoft.com/office/drawing/2014/main" id="{A8419715-4FC4-4D62-BCD2-A0664A6EB391}"/>
              </a:ext>
            </a:extLst>
          </p:cNvPr>
          <p:cNvSpPr txBox="1"/>
          <p:nvPr/>
        </p:nvSpPr>
        <p:spPr>
          <a:xfrm>
            <a:off x="1844824" y="-44896"/>
            <a:ext cx="5000477" cy="443141"/>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r"/>
            <a:r>
              <a:rPr lang="ja-JP" altLang="en-US" sz="1400" b="1" dirty="0">
                <a:latin typeface="メイリオ" panose="020B0604030504040204" pitchFamily="50" charset="-128"/>
                <a:ea typeface="メイリオ" panose="020B0604030504040204" pitchFamily="50" charset="-128"/>
              </a:rPr>
              <a:t>イズム </a:t>
            </a:r>
            <a:r>
              <a:rPr lang="en-US" altLang="ja-JP" sz="1400" b="1" dirty="0">
                <a:latin typeface="メイリオ" panose="020B0604030504040204" pitchFamily="50" charset="-128"/>
                <a:ea typeface="メイリオ" panose="020B0604030504040204" pitchFamily="50" charset="-128"/>
              </a:rPr>
              <a:t>of</a:t>
            </a:r>
            <a:r>
              <a:rPr lang="ja-JP" altLang="en-US" sz="1400" b="1" dirty="0">
                <a:latin typeface="メイリオ" panose="020B0604030504040204" pitchFamily="50" charset="-128"/>
                <a:ea typeface="メイリオ" panose="020B0604030504040204" pitchFamily="50" charset="-128"/>
              </a:rPr>
              <a:t> </a:t>
            </a:r>
            <a:r>
              <a:rPr lang="en-US" altLang="ja-JP" sz="1400" b="1" dirty="0">
                <a:latin typeface="メイリオ" panose="020B0604030504040204" pitchFamily="50" charset="-128"/>
                <a:ea typeface="メイリオ" panose="020B0604030504040204" pitchFamily="50" charset="-128"/>
              </a:rPr>
              <a:t>Month</a:t>
            </a:r>
            <a:r>
              <a:rPr kumimoji="1" lang="en-US" altLang="ja-JP" sz="1400" b="1" dirty="0">
                <a:latin typeface="メイリオ" panose="020B0604030504040204" pitchFamily="50" charset="-128"/>
                <a:ea typeface="メイリオ" panose="020B0604030504040204" pitchFamily="50" charset="-128"/>
              </a:rPr>
              <a:t> </a:t>
            </a:r>
            <a:r>
              <a:rPr kumimoji="1" lang="ja-JP" altLang="en-US" sz="1400" b="1" dirty="0">
                <a:latin typeface="メイリオ" panose="020B0604030504040204" pitchFamily="50" charset="-128"/>
                <a:ea typeface="メイリオ" panose="020B0604030504040204" pitchFamily="50" charset="-128"/>
              </a:rPr>
              <a:t>～</a:t>
            </a:r>
            <a:r>
              <a:rPr kumimoji="1" lang="en-US" altLang="ja-JP" sz="1400" b="1" dirty="0">
                <a:latin typeface="メイリオ" panose="020B0604030504040204" pitchFamily="50" charset="-128"/>
                <a:ea typeface="メイリオ" panose="020B0604030504040204" pitchFamily="50" charset="-128"/>
              </a:rPr>
              <a:t>2021</a:t>
            </a:r>
            <a:r>
              <a:rPr kumimoji="1" lang="ja-JP" altLang="en-US" sz="1400" b="1" dirty="0">
                <a:latin typeface="メイリオ" panose="020B0604030504040204" pitchFamily="50" charset="-128"/>
                <a:ea typeface="メイリオ" panose="020B0604030504040204" pitchFamily="50" charset="-128"/>
              </a:rPr>
              <a:t>年</a:t>
            </a:r>
            <a:r>
              <a:rPr kumimoji="1" lang="en-US" altLang="ja-JP" sz="1400" b="1" dirty="0">
                <a:latin typeface="メイリオ" panose="020B0604030504040204" pitchFamily="50" charset="-128"/>
                <a:ea typeface="メイリオ" panose="020B0604030504040204" pitchFamily="50" charset="-128"/>
              </a:rPr>
              <a:t>10</a:t>
            </a:r>
            <a:r>
              <a:rPr kumimoji="1" lang="ja-JP" altLang="en-US" sz="1400" b="1" dirty="0">
                <a:latin typeface="メイリオ" panose="020B0604030504040204" pitchFamily="50" charset="-128"/>
                <a:ea typeface="メイリオ" panose="020B0604030504040204" pitchFamily="50" charset="-128"/>
              </a:rPr>
              <a:t>月度代表エピソード～</a:t>
            </a:r>
          </a:p>
        </p:txBody>
      </p:sp>
      <p:pic>
        <p:nvPicPr>
          <p:cNvPr id="16" name="図 15">
            <a:extLst>
              <a:ext uri="{FF2B5EF4-FFF2-40B4-BE49-F238E27FC236}">
                <a16:creationId xmlns:a16="http://schemas.microsoft.com/office/drawing/2014/main" id="{00000000-0008-0000-0100-000002000000}"/>
              </a:ext>
            </a:extLst>
          </p:cNvPr>
          <p:cNvPicPr>
            <a:picLocks noChangeAspect="1"/>
          </p:cNvPicPr>
          <p:nvPr/>
        </p:nvPicPr>
        <p:blipFill rotWithShape="1">
          <a:blip r:embed="rId4">
            <a:extLst>
              <a:ext uri="{28A0092B-C50C-407E-A947-70E740481C1C}">
                <a14:useLocalDpi xmlns:a14="http://schemas.microsoft.com/office/drawing/2010/main" val="0"/>
              </a:ext>
            </a:extLst>
          </a:blip>
          <a:srcRect l="10629" t="50589" b="27489"/>
          <a:stretch/>
        </p:blipFill>
        <p:spPr>
          <a:xfrm flipH="1">
            <a:off x="-1" y="954708"/>
            <a:ext cx="6845298" cy="354833"/>
          </a:xfrm>
          <a:prstGeom prst="rect">
            <a:avLst/>
          </a:prstGeom>
        </p:spPr>
      </p:pic>
      <p:graphicFrame>
        <p:nvGraphicFramePr>
          <p:cNvPr id="3" name="表 2">
            <a:extLst>
              <a:ext uri="{FF2B5EF4-FFF2-40B4-BE49-F238E27FC236}">
                <a16:creationId xmlns:a16="http://schemas.microsoft.com/office/drawing/2014/main" id="{8C139B86-40AC-45F7-87DB-228867D7DFA6}"/>
              </a:ext>
            </a:extLst>
          </p:cNvPr>
          <p:cNvGraphicFramePr>
            <a:graphicFrameLocks noGrp="1"/>
          </p:cNvGraphicFramePr>
          <p:nvPr>
            <p:extLst>
              <p:ext uri="{D42A27DB-BD31-4B8C-83A1-F6EECF244321}">
                <p14:modId xmlns:p14="http://schemas.microsoft.com/office/powerpoint/2010/main" val="1961503404"/>
              </p:ext>
            </p:extLst>
          </p:nvPr>
        </p:nvGraphicFramePr>
        <p:xfrm>
          <a:off x="0" y="586160"/>
          <a:ext cx="6858000" cy="609600"/>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3352499802"/>
                    </a:ext>
                  </a:extLst>
                </a:gridCol>
              </a:tblGrid>
              <a:tr h="354439">
                <a:tc>
                  <a:txBody>
                    <a:bodyPr/>
                    <a:lstStyle/>
                    <a:p>
                      <a:pPr algn="ctr" fontAlgn="ctr"/>
                      <a:r>
                        <a:rPr lang="ja-JP" altLang="en-US" sz="2000" b="1" i="0" u="none" strike="noStrike" dirty="0">
                          <a:effectLst/>
                          <a:latin typeface="メイリオ" panose="020B0604030504040204" pitchFamily="50" charset="-128"/>
                          <a:ea typeface="メイリオ" panose="020B0604030504040204" pitchFamily="50" charset="-128"/>
                        </a:rPr>
                        <a:t>「なぜ」を伝えること</a:t>
                      </a:r>
                    </a:p>
                    <a:p>
                      <a:pPr algn="ctr" fontAlgn="ctr"/>
                      <a:endParaRPr lang="ja-JP" altLang="en-US" sz="2000" b="1" i="0" u="none" strike="noStrike" dirty="0">
                        <a:effectLst/>
                        <a:latin typeface="メイリオ" panose="020B0604030504040204" pitchFamily="50" charset="-128"/>
                        <a:ea typeface="メイリオ" panose="020B0604030504040204" pitchFamily="50" charset="-128"/>
                      </a:endParaRPr>
                    </a:p>
                  </a:txBody>
                  <a:tcPr marL="0" marR="0" marT="0" marB="0" anchor="ctr">
                    <a:noFill/>
                  </a:tcPr>
                </a:tc>
                <a:extLst>
                  <a:ext uri="{0D108BD9-81ED-4DB2-BD59-A6C34878D82A}">
                    <a16:rowId xmlns:a16="http://schemas.microsoft.com/office/drawing/2014/main" val="51326532"/>
                  </a:ext>
                </a:extLst>
              </a:tr>
            </a:tbl>
          </a:graphicData>
        </a:graphic>
      </p:graphicFrame>
      <p:graphicFrame>
        <p:nvGraphicFramePr>
          <p:cNvPr id="20" name="表 19">
            <a:extLst>
              <a:ext uri="{FF2B5EF4-FFF2-40B4-BE49-F238E27FC236}">
                <a16:creationId xmlns:a16="http://schemas.microsoft.com/office/drawing/2014/main" id="{AF3D3932-C55C-4445-AEFA-77BB58B79194}"/>
              </a:ext>
            </a:extLst>
          </p:cNvPr>
          <p:cNvGraphicFramePr>
            <a:graphicFrameLocks noGrp="1"/>
          </p:cNvGraphicFramePr>
          <p:nvPr>
            <p:extLst>
              <p:ext uri="{D42A27DB-BD31-4B8C-83A1-F6EECF244321}">
                <p14:modId xmlns:p14="http://schemas.microsoft.com/office/powerpoint/2010/main" val="3437661614"/>
              </p:ext>
            </p:extLst>
          </p:nvPr>
        </p:nvGraphicFramePr>
        <p:xfrm>
          <a:off x="-3" y="1187624"/>
          <a:ext cx="6858000" cy="354439"/>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3352499802"/>
                    </a:ext>
                  </a:extLst>
                </a:gridCol>
              </a:tblGrid>
              <a:tr h="354439">
                <a:tc>
                  <a:txBody>
                    <a:bodyPr/>
                    <a:lstStyle/>
                    <a:p>
                      <a:pPr algn="ctr" fontAlgn="ctr"/>
                      <a:r>
                        <a:rPr lang="ja-JP" altLang="en-US" sz="1600" b="1" i="0" u="none" strike="noStrike" dirty="0">
                          <a:effectLst/>
                          <a:latin typeface="メイリオ" panose="020B0604030504040204" pitchFamily="50" charset="-128"/>
                          <a:ea typeface="メイリオ" panose="020B0604030504040204" pitchFamily="50" charset="-128"/>
                        </a:rPr>
                        <a:t>関連するイズム：ベストの追求 </a:t>
                      </a:r>
                      <a:r>
                        <a:rPr lang="en-US" altLang="ja-JP" sz="1600" b="1" i="0" u="none" strike="noStrike" dirty="0">
                          <a:effectLst/>
                          <a:latin typeface="メイリオ" panose="020B0604030504040204" pitchFamily="50" charset="-128"/>
                          <a:ea typeface="メイリオ" panose="020B0604030504040204" pitchFamily="50" charset="-128"/>
                        </a:rPr>
                        <a:t>~</a:t>
                      </a:r>
                      <a:r>
                        <a:rPr lang="ja-JP" altLang="en-US" sz="1600" b="1" i="0" u="none" strike="noStrike" dirty="0">
                          <a:effectLst/>
                          <a:latin typeface="メイリオ" panose="020B0604030504040204" pitchFamily="50" charset="-128"/>
                          <a:ea typeface="メイリオ" panose="020B0604030504040204" pitchFamily="50" charset="-128"/>
                        </a:rPr>
                        <a:t>感動創造～</a:t>
                      </a:r>
                      <a:endParaRPr lang="en-US" altLang="ja-JP" sz="1600" b="1" i="0" u="none" strike="noStrike" dirty="0">
                        <a:effectLst/>
                        <a:latin typeface="メイリオ" panose="020B0604030504040204" pitchFamily="50" charset="-128"/>
                        <a:ea typeface="メイリオ" panose="020B0604030504040204" pitchFamily="50" charset="-128"/>
                      </a:endParaRPr>
                    </a:p>
                  </a:txBody>
                  <a:tcPr marL="0" marR="0" marT="0" marB="0" anchor="ctr">
                    <a:noFill/>
                  </a:tcPr>
                </a:tc>
                <a:extLst>
                  <a:ext uri="{0D108BD9-81ED-4DB2-BD59-A6C34878D82A}">
                    <a16:rowId xmlns:a16="http://schemas.microsoft.com/office/drawing/2014/main" val="51326532"/>
                  </a:ext>
                </a:extLst>
              </a:tr>
            </a:tbl>
          </a:graphicData>
        </a:graphic>
      </p:graphicFrame>
      <p:graphicFrame>
        <p:nvGraphicFramePr>
          <p:cNvPr id="21" name="表 20">
            <a:extLst>
              <a:ext uri="{FF2B5EF4-FFF2-40B4-BE49-F238E27FC236}">
                <a16:creationId xmlns:a16="http://schemas.microsoft.com/office/drawing/2014/main" id="{3EF87205-649E-42A4-A0E3-F2150B4E37B8}"/>
              </a:ext>
            </a:extLst>
          </p:cNvPr>
          <p:cNvGraphicFramePr>
            <a:graphicFrameLocks noGrp="1"/>
          </p:cNvGraphicFramePr>
          <p:nvPr>
            <p:extLst>
              <p:ext uri="{D42A27DB-BD31-4B8C-83A1-F6EECF244321}">
                <p14:modId xmlns:p14="http://schemas.microsoft.com/office/powerpoint/2010/main" val="392129015"/>
              </p:ext>
            </p:extLst>
          </p:nvPr>
        </p:nvGraphicFramePr>
        <p:xfrm>
          <a:off x="224644" y="1653208"/>
          <a:ext cx="6408712" cy="6583680"/>
        </p:xfrm>
        <a:graphic>
          <a:graphicData uri="http://schemas.openxmlformats.org/drawingml/2006/table">
            <a:tbl>
              <a:tblPr>
                <a:tableStyleId>{5C22544A-7EE6-4342-B048-85BDC9FD1C3A}</a:tableStyleId>
              </a:tblPr>
              <a:tblGrid>
                <a:gridCol w="6408712">
                  <a:extLst>
                    <a:ext uri="{9D8B030D-6E8A-4147-A177-3AD203B41FA5}">
                      <a16:colId xmlns:a16="http://schemas.microsoft.com/office/drawing/2014/main" val="3352499802"/>
                    </a:ext>
                  </a:extLst>
                </a:gridCol>
              </a:tblGrid>
              <a:tr h="6447184">
                <a:tc>
                  <a:txBody>
                    <a:bodyPr/>
                    <a:lstStyle/>
                    <a:p>
                      <a:pPr algn="l" fontAlgn="ctr"/>
                      <a:r>
                        <a:rPr lang="en-US" altLang="ja-JP" sz="1200" b="0" i="0" u="none" strike="noStrike" dirty="0">
                          <a:effectLst/>
                          <a:latin typeface="メイリオ" panose="020B0604030504040204" pitchFamily="50" charset="-128"/>
                          <a:ea typeface="メイリオ" panose="020B0604030504040204" pitchFamily="50" charset="-128"/>
                        </a:rPr>
                        <a:t>7</a:t>
                      </a:r>
                      <a:r>
                        <a:rPr lang="ja-JP" altLang="en-US" sz="1200" b="0" i="0" u="none" strike="noStrike" dirty="0">
                          <a:effectLst/>
                          <a:latin typeface="メイリオ" panose="020B0604030504040204" pitchFamily="50" charset="-128"/>
                          <a:ea typeface="メイリオ" panose="020B0604030504040204" pitchFamily="50" charset="-128"/>
                        </a:rPr>
                        <a:t>月の終わりから事業管理チームに堀田澄斗さんが着任されました。細かい事と向かいあうことが多い事業管理チームの中で、色々なことに気づいてくれるので、助かっている部分が多いです。</a:t>
                      </a:r>
                      <a:endParaRPr lang="en-US" altLang="ja-JP" sz="1200" b="0" i="0" u="none" strike="noStrike" dirty="0">
                        <a:effectLst/>
                        <a:latin typeface="メイリオ" panose="020B0604030504040204" pitchFamily="50" charset="-128"/>
                        <a:ea typeface="メイリオ" panose="020B0604030504040204" pitchFamily="50" charset="-128"/>
                      </a:endParaRPr>
                    </a:p>
                    <a:p>
                      <a:pPr algn="l" fontAlgn="ctr"/>
                      <a:endParaRPr lang="en-US" altLang="ja-JP" sz="1200" b="0" i="0" u="none" strike="noStrike" dirty="0">
                        <a:effectLst/>
                        <a:latin typeface="メイリオ" panose="020B0604030504040204" pitchFamily="50" charset="-128"/>
                        <a:ea typeface="メイリオ" panose="020B0604030504040204" pitchFamily="50" charset="-128"/>
                      </a:endParaRPr>
                    </a:p>
                    <a:p>
                      <a:pPr algn="l" fontAlgn="ctr"/>
                      <a:r>
                        <a:rPr lang="ja-JP" altLang="en-US" sz="1200" b="0" i="0" u="none" strike="noStrike" dirty="0">
                          <a:effectLst/>
                          <a:latin typeface="メイリオ" panose="020B0604030504040204" pitchFamily="50" charset="-128"/>
                          <a:ea typeface="メイリオ" panose="020B0604030504040204" pitchFamily="50" charset="-128"/>
                        </a:rPr>
                        <a:t>業務についても、何かあれば</a:t>
                      </a:r>
                      <a:endParaRPr lang="en-US" altLang="ja-JP" sz="1200" b="0" i="0" u="none" strike="noStrike" dirty="0">
                        <a:effectLst/>
                        <a:latin typeface="メイリオ" panose="020B0604030504040204" pitchFamily="50" charset="-128"/>
                        <a:ea typeface="メイリオ" panose="020B0604030504040204" pitchFamily="50" charset="-128"/>
                      </a:endParaRPr>
                    </a:p>
                    <a:p>
                      <a:pPr algn="l" fontAlgn="ctr"/>
                      <a:r>
                        <a:rPr lang="ja-JP" altLang="en-US" sz="1200" b="0" i="0" u="none" strike="noStrike" dirty="0">
                          <a:effectLst/>
                          <a:latin typeface="メイリオ" panose="020B0604030504040204" pitchFamily="50" charset="-128"/>
                          <a:ea typeface="メイリオ" panose="020B0604030504040204" pitchFamily="50" charset="-128"/>
                        </a:rPr>
                        <a:t>「これはどうしてやっているのですか？」</a:t>
                      </a:r>
                    </a:p>
                    <a:p>
                      <a:pPr algn="l" fontAlgn="ctr"/>
                      <a:r>
                        <a:rPr lang="ja-JP" altLang="en-US" sz="1200" b="0" i="0" u="none" strike="noStrike" dirty="0">
                          <a:effectLst/>
                          <a:latin typeface="メイリオ" panose="020B0604030504040204" pitchFamily="50" charset="-128"/>
                          <a:ea typeface="メイリオ" panose="020B0604030504040204" pitchFamily="50" charset="-128"/>
                        </a:rPr>
                        <a:t>「このやり方をしているのは何でですか？」</a:t>
                      </a:r>
                      <a:endParaRPr lang="en-US" altLang="ja-JP" sz="1200" b="0" i="0" u="none" strike="noStrike" dirty="0">
                        <a:effectLst/>
                        <a:latin typeface="メイリオ" panose="020B0604030504040204" pitchFamily="50" charset="-128"/>
                        <a:ea typeface="メイリオ" panose="020B0604030504040204" pitchFamily="50" charset="-128"/>
                      </a:endParaRPr>
                    </a:p>
                    <a:p>
                      <a:pPr algn="l" fontAlgn="ctr"/>
                      <a:r>
                        <a:rPr lang="ja-JP" altLang="en-US" sz="1200" b="0" i="0" u="none" strike="noStrike" dirty="0">
                          <a:effectLst/>
                          <a:latin typeface="メイリオ" panose="020B0604030504040204" pitchFamily="50" charset="-128"/>
                          <a:ea typeface="メイリオ" panose="020B0604030504040204" pitchFamily="50" charset="-128"/>
                        </a:rPr>
                        <a:t>と突っ込んできます。</a:t>
                      </a:r>
                    </a:p>
                    <a:p>
                      <a:pPr algn="l" fontAlgn="ctr"/>
                      <a:endParaRPr lang="ja-JP" altLang="en-US" sz="1200" b="0" i="0" u="none" strike="noStrike" dirty="0">
                        <a:effectLst/>
                        <a:latin typeface="メイリオ" panose="020B0604030504040204" pitchFamily="50" charset="-128"/>
                        <a:ea typeface="メイリオ" panose="020B0604030504040204" pitchFamily="50" charset="-128"/>
                      </a:endParaRPr>
                    </a:p>
                    <a:p>
                      <a:pPr algn="l" fontAlgn="ctr"/>
                      <a:r>
                        <a:rPr lang="ja-JP" altLang="en-US" sz="1200" b="0" i="0" u="none" strike="noStrike" dirty="0">
                          <a:effectLst/>
                          <a:latin typeface="メイリオ" panose="020B0604030504040204" pitchFamily="50" charset="-128"/>
                          <a:ea typeface="メイリオ" panose="020B0604030504040204" pitchFamily="50" charset="-128"/>
                        </a:rPr>
                        <a:t>着任して</a:t>
                      </a:r>
                      <a:r>
                        <a:rPr lang="en-US" altLang="ja-JP" sz="1200" b="0" i="0" u="none" strike="noStrike" dirty="0">
                          <a:effectLst/>
                          <a:latin typeface="メイリオ" panose="020B0604030504040204" pitchFamily="50" charset="-128"/>
                          <a:ea typeface="メイリオ" panose="020B0604030504040204" pitchFamily="50" charset="-128"/>
                        </a:rPr>
                        <a:t>1</a:t>
                      </a:r>
                      <a:r>
                        <a:rPr lang="ja-JP" altLang="en-US" sz="1200" b="0" i="0" u="none" strike="noStrike" dirty="0">
                          <a:effectLst/>
                          <a:latin typeface="メイリオ" panose="020B0604030504040204" pitchFamily="50" charset="-128"/>
                          <a:ea typeface="メイリオ" panose="020B0604030504040204" pitchFamily="50" charset="-128"/>
                        </a:rPr>
                        <a:t>ヶ月、お盆やテレワークなど、なかなか他の人と直接話が出来ない中、なぜここまで早く仕事を覚え、細かいところまで見るようになっているのか、ちょっと不思議に感じていました。もちろんご本人の能力や努力によるものもあるのかもしれませんが、「これか」と思うことを本社で見かけました。</a:t>
                      </a:r>
                      <a:endParaRPr lang="en-US" altLang="ja-JP" sz="1200" b="0" i="0" u="none" strike="noStrike" dirty="0">
                        <a:effectLst/>
                        <a:latin typeface="メイリオ" panose="020B0604030504040204" pitchFamily="50" charset="-128"/>
                        <a:ea typeface="メイリオ" panose="020B0604030504040204" pitchFamily="50" charset="-128"/>
                      </a:endParaRPr>
                    </a:p>
                    <a:p>
                      <a:pPr algn="l" fontAlgn="ctr"/>
                      <a:endParaRPr lang="en-US" altLang="ja-JP" sz="1200" b="0" i="0" u="none" strike="noStrike" dirty="0">
                        <a:effectLst/>
                        <a:latin typeface="メイリオ" panose="020B0604030504040204" pitchFamily="50" charset="-128"/>
                        <a:ea typeface="メイリオ" panose="020B0604030504040204" pitchFamily="50" charset="-128"/>
                      </a:endParaRPr>
                    </a:p>
                    <a:p>
                      <a:pPr algn="l" fontAlgn="ctr"/>
                      <a:r>
                        <a:rPr lang="ja-JP" altLang="en-US" sz="1200" b="0" i="0" u="none" strike="noStrike" dirty="0">
                          <a:effectLst/>
                          <a:latin typeface="メイリオ" panose="020B0604030504040204" pitchFamily="50" charset="-128"/>
                          <a:ea typeface="メイリオ" panose="020B0604030504040204" pitchFamily="50" charset="-128"/>
                        </a:rPr>
                        <a:t>ある日、佐藤友岐夫さんが堀田さんに取引先様への発注書の送付について指示をしていました。普通は、</a:t>
                      </a:r>
                      <a:endParaRPr lang="en-US" altLang="ja-JP" sz="1200" b="0" i="0" u="none" strike="noStrike" dirty="0">
                        <a:effectLst/>
                        <a:latin typeface="メイリオ" panose="020B0604030504040204" pitchFamily="50" charset="-128"/>
                        <a:ea typeface="メイリオ" panose="020B0604030504040204" pitchFamily="50" charset="-128"/>
                      </a:endParaRPr>
                    </a:p>
                    <a:p>
                      <a:pPr algn="l" fontAlgn="ctr"/>
                      <a:r>
                        <a:rPr lang="ja-JP" altLang="en-US" sz="1200" b="0" i="0" u="none" strike="noStrike" dirty="0">
                          <a:effectLst/>
                          <a:latin typeface="メイリオ" panose="020B0604030504040204" pitchFamily="50" charset="-128"/>
                          <a:ea typeface="メイリオ" panose="020B0604030504040204" pitchFamily="50" charset="-128"/>
                        </a:rPr>
                        <a:t>「</a:t>
                      </a:r>
                      <a:r>
                        <a:rPr lang="en-US" altLang="ja-JP" sz="1200" b="0" i="0" u="none" strike="noStrike" dirty="0">
                          <a:effectLst/>
                          <a:latin typeface="メイリオ" panose="020B0604030504040204" pitchFamily="50" charset="-128"/>
                          <a:ea typeface="メイリオ" panose="020B0604030504040204" pitchFamily="50" charset="-128"/>
                        </a:rPr>
                        <a:t>FM</a:t>
                      </a:r>
                      <a:r>
                        <a:rPr lang="ja-JP" altLang="en-US" sz="1200" b="0" i="0" u="none" strike="noStrike" dirty="0">
                          <a:effectLst/>
                          <a:latin typeface="メイリオ" panose="020B0604030504040204" pitchFamily="50" charset="-128"/>
                          <a:ea typeface="メイリオ" panose="020B0604030504040204" pitchFamily="50" charset="-128"/>
                        </a:rPr>
                        <a:t>管理システムに発注書が格納されているから、確認して送付しておいて」</a:t>
                      </a:r>
                      <a:endParaRPr lang="en-US" altLang="ja-JP" sz="1200" b="0" i="0" u="none" strike="noStrike" dirty="0">
                        <a:effectLst/>
                        <a:latin typeface="メイリオ" panose="020B0604030504040204" pitchFamily="50" charset="-128"/>
                        <a:ea typeface="メイリオ" panose="020B0604030504040204" pitchFamily="50" charset="-128"/>
                      </a:endParaRPr>
                    </a:p>
                    <a:p>
                      <a:pPr algn="l" fontAlgn="ctr"/>
                      <a:r>
                        <a:rPr lang="ja-JP" altLang="en-US" sz="1200" b="0" i="0" u="none" strike="noStrike" dirty="0">
                          <a:effectLst/>
                          <a:latin typeface="メイリオ" panose="020B0604030504040204" pitchFamily="50" charset="-128"/>
                          <a:ea typeface="メイリオ" panose="020B0604030504040204" pitchFamily="50" charset="-128"/>
                        </a:rPr>
                        <a:t>で終わってしまうことが多いかと思います。</a:t>
                      </a:r>
                    </a:p>
                    <a:p>
                      <a:pPr algn="l" fontAlgn="ctr"/>
                      <a:endParaRPr lang="ja-JP" altLang="en-US" sz="1200" b="0" i="0" u="none" strike="noStrike" dirty="0">
                        <a:effectLst/>
                        <a:latin typeface="メイリオ" panose="020B0604030504040204" pitchFamily="50" charset="-128"/>
                        <a:ea typeface="メイリオ" panose="020B0604030504040204" pitchFamily="50" charset="-128"/>
                      </a:endParaRPr>
                    </a:p>
                    <a:p>
                      <a:pPr algn="l" fontAlgn="ctr"/>
                      <a:r>
                        <a:rPr lang="ja-JP" altLang="en-US" sz="1200" b="0" i="0" u="none" strike="noStrike" dirty="0">
                          <a:effectLst/>
                          <a:latin typeface="メイリオ" panose="020B0604030504040204" pitchFamily="50" charset="-128"/>
                          <a:ea typeface="メイリオ" panose="020B0604030504040204" pitchFamily="50" charset="-128"/>
                        </a:rPr>
                        <a:t>ですが、佐藤さんは、</a:t>
                      </a:r>
                    </a:p>
                    <a:p>
                      <a:pPr algn="l" fontAlgn="ctr"/>
                      <a:r>
                        <a:rPr lang="ja-JP" altLang="en-US" sz="1200" b="0" i="0" u="none" strike="noStrike" dirty="0">
                          <a:effectLst/>
                          <a:latin typeface="メイリオ" panose="020B0604030504040204" pitchFamily="50" charset="-128"/>
                          <a:ea typeface="メイリオ" panose="020B0604030504040204" pitchFamily="50" charset="-128"/>
                        </a:rPr>
                        <a:t>「これって何のためにやっているかわかりますか？」</a:t>
                      </a:r>
                    </a:p>
                    <a:p>
                      <a:pPr algn="l" fontAlgn="ctr"/>
                      <a:r>
                        <a:rPr lang="ja-JP" altLang="en-US" sz="1200" b="0" i="0" u="none" strike="noStrike" dirty="0">
                          <a:effectLst/>
                          <a:latin typeface="メイリオ" panose="020B0604030504040204" pitchFamily="50" charset="-128"/>
                          <a:ea typeface="メイリオ" panose="020B0604030504040204" pitchFamily="50" charset="-128"/>
                        </a:rPr>
                        <a:t>「個の業務で重要なポイントって何ですか？」</a:t>
                      </a:r>
                    </a:p>
                    <a:p>
                      <a:pPr algn="l" fontAlgn="ctr"/>
                      <a:r>
                        <a:rPr lang="ja-JP" altLang="en-US" sz="1200" b="0" i="0" u="none" strike="noStrike" dirty="0">
                          <a:effectLst/>
                          <a:latin typeface="メイリオ" panose="020B0604030504040204" pitchFamily="50" charset="-128"/>
                          <a:ea typeface="メイリオ" panose="020B0604030504040204" pitchFamily="50" charset="-128"/>
                        </a:rPr>
                        <a:t>と確認しながら進めていました。</a:t>
                      </a:r>
                    </a:p>
                    <a:p>
                      <a:pPr algn="l" fontAlgn="ctr"/>
                      <a:endParaRPr lang="ja-JP" altLang="en-US" sz="1200" b="0" i="0" u="none" strike="noStrike" dirty="0">
                        <a:effectLst/>
                        <a:latin typeface="メイリオ" panose="020B0604030504040204" pitchFamily="50" charset="-128"/>
                        <a:ea typeface="メイリオ" panose="020B0604030504040204" pitchFamily="50" charset="-128"/>
                      </a:endParaRPr>
                    </a:p>
                    <a:p>
                      <a:pPr algn="l" fontAlgn="ctr"/>
                      <a:r>
                        <a:rPr lang="ja-JP" altLang="en-US" sz="1200" b="0" i="0" u="none" strike="noStrike" dirty="0">
                          <a:effectLst/>
                          <a:latin typeface="メイリオ" panose="020B0604030504040204" pitchFamily="50" charset="-128"/>
                          <a:ea typeface="メイリオ" panose="020B0604030504040204" pitchFamily="50" charset="-128"/>
                        </a:rPr>
                        <a:t>仕事を教えるときに、「やり方」を教えることはあっても、それを「何のために」やるのかということまでは教えていないことが多かったなと感じました。その結果、請求だったり発注だったりといういろいろな事が、流れ作業になってしまっていたかもしれません。</a:t>
                      </a:r>
                    </a:p>
                    <a:p>
                      <a:pPr algn="l" fontAlgn="ctr"/>
                      <a:endParaRPr lang="ja-JP" altLang="en-US" sz="1200" b="0" i="0" u="none" strike="noStrike" dirty="0">
                        <a:effectLst/>
                        <a:latin typeface="メイリオ" panose="020B0604030504040204" pitchFamily="50" charset="-128"/>
                        <a:ea typeface="メイリオ" panose="020B0604030504040204" pitchFamily="50" charset="-128"/>
                      </a:endParaRPr>
                    </a:p>
                    <a:p>
                      <a:pPr algn="l" fontAlgn="ctr"/>
                      <a:r>
                        <a:rPr lang="ja-JP" altLang="en-US" sz="1200" b="0" i="0" u="none" strike="noStrike" dirty="0">
                          <a:effectLst/>
                          <a:latin typeface="メイリオ" panose="020B0604030504040204" pitchFamily="50" charset="-128"/>
                          <a:ea typeface="メイリオ" panose="020B0604030504040204" pitchFamily="50" charset="-128"/>
                        </a:rPr>
                        <a:t>そういったことをちゃんと教えることが出来る佐藤さんにプロ意識を感じましたし、それを反発せずに受け止める堀田さんにも素直さを感じました。</a:t>
                      </a:r>
                    </a:p>
                    <a:p>
                      <a:pPr algn="l" fontAlgn="ctr"/>
                      <a:endParaRPr lang="ja-JP" altLang="en-US" sz="1200" b="0" i="0" u="none" strike="noStrike" dirty="0">
                        <a:effectLst/>
                        <a:latin typeface="メイリオ" panose="020B0604030504040204" pitchFamily="50" charset="-128"/>
                        <a:ea typeface="メイリオ" panose="020B0604030504040204" pitchFamily="50" charset="-128"/>
                      </a:endParaRPr>
                    </a:p>
                    <a:p>
                      <a:pPr algn="l" fontAlgn="ctr"/>
                      <a:r>
                        <a:rPr lang="ja-JP" altLang="en-US" sz="1200" b="0" i="0" u="none" strike="noStrike" dirty="0">
                          <a:effectLst/>
                          <a:latin typeface="メイリオ" panose="020B0604030504040204" pitchFamily="50" charset="-128"/>
                          <a:ea typeface="メイリオ" panose="020B0604030504040204" pitchFamily="50" charset="-128"/>
                        </a:rPr>
                        <a:t>仕事を教えるときに「この仕事はどんな意味があるのか」</a:t>
                      </a:r>
                    </a:p>
                    <a:p>
                      <a:pPr algn="l" fontAlgn="ctr"/>
                      <a:r>
                        <a:rPr lang="ja-JP" altLang="en-US" sz="1200" b="0" i="0" u="none" strike="noStrike" dirty="0">
                          <a:effectLst/>
                          <a:latin typeface="メイリオ" panose="020B0604030504040204" pitchFamily="50" charset="-128"/>
                          <a:ea typeface="メイリオ" panose="020B0604030504040204" pitchFamily="50" charset="-128"/>
                        </a:rPr>
                        <a:t>受け取った側も疑問があれば「なぜこの仕事をしているのか」</a:t>
                      </a:r>
                    </a:p>
                    <a:p>
                      <a:pPr algn="l" fontAlgn="ctr"/>
                      <a:r>
                        <a:rPr lang="ja-JP" altLang="en-US" sz="1200" b="0" i="0" u="none" strike="noStrike" dirty="0">
                          <a:effectLst/>
                          <a:latin typeface="メイリオ" panose="020B0604030504040204" pitchFamily="50" charset="-128"/>
                          <a:ea typeface="メイリオ" panose="020B0604030504040204" pitchFamily="50" charset="-128"/>
                        </a:rPr>
                        <a:t>このやり取り、お互いにイラっと感じるところがあるのかもしれませんが、意外といいことなのかもしれません。</a:t>
                      </a:r>
                    </a:p>
                    <a:p>
                      <a:pPr algn="l" fontAlgn="ctr"/>
                      <a:endParaRPr lang="ja-JP" altLang="en-US" sz="1200" b="0" i="0" u="none" strike="noStrike" dirty="0">
                        <a:effectLst/>
                        <a:latin typeface="メイリオ" panose="020B0604030504040204" pitchFamily="50" charset="-128"/>
                        <a:ea typeface="メイリオ" panose="020B0604030504040204" pitchFamily="50" charset="-128"/>
                      </a:endParaRPr>
                    </a:p>
                  </a:txBody>
                  <a:tcPr marL="0" marR="0" marT="0" marB="0" anchor="ctr">
                    <a:noFill/>
                  </a:tcPr>
                </a:tc>
                <a:extLst>
                  <a:ext uri="{0D108BD9-81ED-4DB2-BD59-A6C34878D82A}">
                    <a16:rowId xmlns:a16="http://schemas.microsoft.com/office/drawing/2014/main" val="51326532"/>
                  </a:ext>
                </a:extLst>
              </a:tr>
            </a:tbl>
          </a:graphicData>
        </a:graphic>
      </p:graphicFrame>
      <p:graphicFrame>
        <p:nvGraphicFramePr>
          <p:cNvPr id="4" name="表 3">
            <a:extLst>
              <a:ext uri="{FF2B5EF4-FFF2-40B4-BE49-F238E27FC236}">
                <a16:creationId xmlns:a16="http://schemas.microsoft.com/office/drawing/2014/main" id="{B79B7192-0D9C-4382-8D0B-167C3C35CE90}"/>
              </a:ext>
            </a:extLst>
          </p:cNvPr>
          <p:cNvGraphicFramePr>
            <a:graphicFrameLocks noGrp="1"/>
          </p:cNvGraphicFramePr>
          <p:nvPr>
            <p:extLst>
              <p:ext uri="{D42A27DB-BD31-4B8C-83A1-F6EECF244321}">
                <p14:modId xmlns:p14="http://schemas.microsoft.com/office/powerpoint/2010/main" val="4194225861"/>
              </p:ext>
            </p:extLst>
          </p:nvPr>
        </p:nvGraphicFramePr>
        <p:xfrm>
          <a:off x="764704" y="8143446"/>
          <a:ext cx="6048672" cy="605018"/>
        </p:xfrm>
        <a:graphic>
          <a:graphicData uri="http://schemas.openxmlformats.org/drawingml/2006/table">
            <a:tbl>
              <a:tblPr/>
              <a:tblGrid>
                <a:gridCol w="254002">
                  <a:extLst>
                    <a:ext uri="{9D8B030D-6E8A-4147-A177-3AD203B41FA5}">
                      <a16:colId xmlns:a16="http://schemas.microsoft.com/office/drawing/2014/main" val="4026392200"/>
                    </a:ext>
                  </a:extLst>
                </a:gridCol>
                <a:gridCol w="617588">
                  <a:extLst>
                    <a:ext uri="{9D8B030D-6E8A-4147-A177-3AD203B41FA5}">
                      <a16:colId xmlns:a16="http://schemas.microsoft.com/office/drawing/2014/main" val="2265573359"/>
                    </a:ext>
                  </a:extLst>
                </a:gridCol>
                <a:gridCol w="2885454">
                  <a:extLst>
                    <a:ext uri="{9D8B030D-6E8A-4147-A177-3AD203B41FA5}">
                      <a16:colId xmlns:a16="http://schemas.microsoft.com/office/drawing/2014/main" val="2831491253"/>
                    </a:ext>
                  </a:extLst>
                </a:gridCol>
                <a:gridCol w="2291628">
                  <a:extLst>
                    <a:ext uri="{9D8B030D-6E8A-4147-A177-3AD203B41FA5}">
                      <a16:colId xmlns:a16="http://schemas.microsoft.com/office/drawing/2014/main" val="2078562565"/>
                    </a:ext>
                  </a:extLst>
                </a:gridCol>
              </a:tblGrid>
              <a:tr h="302509">
                <a:tc>
                  <a:txBody>
                    <a:bodyPr/>
                    <a:lstStyle/>
                    <a:p>
                      <a:pPr algn="l" fontAlgn="ctr"/>
                      <a:endParaRPr lang="ja-JP" altLang="en-US" sz="900" b="1" i="0" u="none" strike="noStrike" dirty="0">
                        <a:effectLst/>
                        <a:latin typeface="メイリオ" panose="020B0604030504040204" pitchFamily="50" charset="-128"/>
                        <a:ea typeface="メイリオ" panose="020B0604030504040204" pitchFamily="50" charset="-128"/>
                      </a:endParaRPr>
                    </a:p>
                  </a:txBody>
                  <a:tcPr marL="7203" marR="7203" marT="7203" marB="0" anchor="ctr">
                    <a:lnL>
                      <a:noFill/>
                    </a:lnL>
                    <a:lnR>
                      <a:noFill/>
                    </a:lnR>
                    <a:lnT>
                      <a:noFill/>
                    </a:lnT>
                    <a:lnB>
                      <a:noFill/>
                    </a:lnB>
                  </a:tcPr>
                </a:tc>
                <a:tc>
                  <a:txBody>
                    <a:bodyPr/>
                    <a:lstStyle/>
                    <a:p>
                      <a:pPr algn="l" fontAlgn="ctr"/>
                      <a:endParaRPr lang="ja-JP" altLang="en-US" sz="1200" b="1" i="0" u="none" strike="noStrike">
                        <a:effectLst/>
                        <a:latin typeface="メイリオ" panose="020B0604030504040204" pitchFamily="50" charset="-128"/>
                        <a:ea typeface="メイリオ" panose="020B0604030504040204" pitchFamily="50" charset="-128"/>
                      </a:endParaRPr>
                    </a:p>
                  </a:txBody>
                  <a:tcPr marL="7203" marR="7203" marT="7203" marB="0" anchor="ctr">
                    <a:lnL>
                      <a:noFill/>
                    </a:lnL>
                    <a:lnR>
                      <a:noFill/>
                    </a:lnR>
                    <a:lnT>
                      <a:noFill/>
                    </a:lnT>
                    <a:lnB>
                      <a:noFill/>
                    </a:lnB>
                  </a:tcPr>
                </a:tc>
                <a:tc>
                  <a:txBody>
                    <a:bodyPr/>
                    <a:lstStyle/>
                    <a:p>
                      <a:pPr algn="ctr" fontAlgn="ctr"/>
                      <a:r>
                        <a:rPr lang="ja-JP" altLang="en-US" sz="1200" b="1" i="0" u="none" strike="noStrike" dirty="0">
                          <a:effectLst/>
                          <a:latin typeface="メイリオ" panose="020B0604030504040204" pitchFamily="50" charset="-128"/>
                          <a:ea typeface="メイリオ" panose="020B0604030504040204" pitchFamily="50" charset="-128"/>
                        </a:rPr>
                        <a:t>（所属）</a:t>
                      </a:r>
                    </a:p>
                  </a:txBody>
                  <a:tcPr marL="7203" marR="7203" marT="7203" marB="0" anchor="ctr">
                    <a:lnL>
                      <a:noFill/>
                    </a:lnL>
                    <a:lnR>
                      <a:noFill/>
                    </a:lnR>
                    <a:lnT>
                      <a:noFill/>
                    </a:lnT>
                    <a:lnB>
                      <a:noFill/>
                    </a:lnB>
                  </a:tcPr>
                </a:tc>
                <a:tc>
                  <a:txBody>
                    <a:bodyPr/>
                    <a:lstStyle/>
                    <a:p>
                      <a:pPr algn="ctr" fontAlgn="ctr"/>
                      <a:r>
                        <a:rPr lang="ja-JP" altLang="en-US" sz="1200" b="1" i="0" u="none" strike="noStrike" dirty="0">
                          <a:effectLst/>
                          <a:latin typeface="メイリオ" panose="020B0604030504040204" pitchFamily="50" charset="-128"/>
                          <a:ea typeface="メイリオ" panose="020B0604030504040204" pitchFamily="50" charset="-128"/>
                        </a:rPr>
                        <a:t>（氏名）</a:t>
                      </a:r>
                    </a:p>
                  </a:txBody>
                  <a:tcPr marL="7203" marR="7203" marT="7203" marB="0" anchor="ctr">
                    <a:lnL>
                      <a:noFill/>
                    </a:lnL>
                    <a:lnR>
                      <a:noFill/>
                    </a:lnR>
                    <a:lnT>
                      <a:noFill/>
                    </a:lnT>
                    <a:lnB>
                      <a:noFill/>
                    </a:lnB>
                  </a:tcPr>
                </a:tc>
                <a:extLst>
                  <a:ext uri="{0D108BD9-81ED-4DB2-BD59-A6C34878D82A}">
                    <a16:rowId xmlns:a16="http://schemas.microsoft.com/office/drawing/2014/main" val="2937889479"/>
                  </a:ext>
                </a:extLst>
              </a:tr>
              <a:tr h="302509">
                <a:tc gridSpan="2">
                  <a:txBody>
                    <a:bodyPr/>
                    <a:lstStyle/>
                    <a:p>
                      <a:pPr algn="ctr" fontAlgn="ctr"/>
                      <a:r>
                        <a:rPr lang="ja-JP" altLang="en-US" sz="1200" b="1" i="0" u="none" strike="noStrike" dirty="0">
                          <a:effectLst/>
                          <a:latin typeface="メイリオ" panose="020B0604030504040204" pitchFamily="50" charset="-128"/>
                          <a:ea typeface="メイリオ" panose="020B0604030504040204" pitchFamily="50" charset="-128"/>
                        </a:rPr>
                        <a:t>寄稿者</a:t>
                      </a:r>
                    </a:p>
                  </a:txBody>
                  <a:tcPr marL="7203" marR="7203" marT="7203" marB="0" anchor="ctr">
                    <a:lnL>
                      <a:noFill/>
                    </a:lnL>
                    <a:lnR>
                      <a:noFill/>
                    </a:lnR>
                    <a:lnT>
                      <a:noFill/>
                    </a:lnT>
                    <a:lnB>
                      <a:noFill/>
                    </a:lnB>
                  </a:tcPr>
                </a:tc>
                <a:tc hMerge="1">
                  <a:txBody>
                    <a:bodyPr/>
                    <a:lstStyle/>
                    <a:p>
                      <a:endParaRPr kumimoji="1" lang="ja-JP" altLang="en-US"/>
                    </a:p>
                  </a:txBody>
                  <a:tcPr/>
                </a:tc>
                <a:tc>
                  <a:txBody>
                    <a:bodyPr/>
                    <a:lstStyle/>
                    <a:p>
                      <a:pPr algn="ctr" fontAlgn="ctr"/>
                      <a:r>
                        <a:rPr lang="ja-JP" altLang="en-US" sz="1400" b="1" i="0" u="none" strike="noStrike" dirty="0">
                          <a:effectLst/>
                          <a:latin typeface="メイリオ" panose="020B0604030504040204" pitchFamily="50" charset="-128"/>
                          <a:ea typeface="メイリオ" panose="020B0604030504040204" pitchFamily="50" charset="-128"/>
                        </a:rPr>
                        <a:t>事業管理チーム</a:t>
                      </a:r>
                    </a:p>
                  </a:txBody>
                  <a:tcPr marL="7203" marR="7203" marT="7203" marB="0" anchor="ctr">
                    <a:lnL>
                      <a:noFill/>
                    </a:lnL>
                    <a:lnR>
                      <a:noFill/>
                    </a:lnR>
                    <a:lnT>
                      <a:noFill/>
                    </a:lnT>
                    <a:lnB>
                      <a:noFill/>
                    </a:lnB>
                  </a:tcPr>
                </a:tc>
                <a:tc>
                  <a:txBody>
                    <a:bodyPr/>
                    <a:lstStyle/>
                    <a:p>
                      <a:pPr algn="ctr" fontAlgn="ctr"/>
                      <a:r>
                        <a:rPr lang="ja-JP" altLang="en-US" sz="1400" b="1" i="0" u="none" strike="noStrike" dirty="0">
                          <a:effectLst/>
                          <a:latin typeface="メイリオ" panose="020B0604030504040204" pitchFamily="50" charset="-128"/>
                          <a:ea typeface="メイリオ" panose="020B0604030504040204" pitchFamily="50" charset="-128"/>
                        </a:rPr>
                        <a:t>東郷　一哉</a:t>
                      </a:r>
                      <a:endParaRPr lang="en-US" altLang="ja-JP" sz="1400" b="1" i="0" u="none" strike="noStrike" dirty="0">
                        <a:effectLst/>
                        <a:latin typeface="メイリオ" panose="020B0604030504040204" pitchFamily="50" charset="-128"/>
                        <a:ea typeface="メイリオ" panose="020B0604030504040204" pitchFamily="50" charset="-128"/>
                      </a:endParaRPr>
                    </a:p>
                  </a:txBody>
                  <a:tcPr marL="7203" marR="7203" marT="7203" marB="0" anchor="ctr">
                    <a:lnL>
                      <a:noFill/>
                    </a:lnL>
                    <a:lnR>
                      <a:noFill/>
                    </a:lnR>
                    <a:lnT>
                      <a:noFill/>
                    </a:lnT>
                    <a:lnB>
                      <a:noFill/>
                    </a:lnB>
                  </a:tcPr>
                </a:tc>
                <a:extLst>
                  <a:ext uri="{0D108BD9-81ED-4DB2-BD59-A6C34878D82A}">
                    <a16:rowId xmlns:a16="http://schemas.microsoft.com/office/drawing/2014/main" val="4267474516"/>
                  </a:ext>
                </a:extLst>
              </a:tr>
            </a:tbl>
          </a:graphicData>
        </a:graphic>
      </p:graphicFrame>
    </p:spTree>
    <p:extLst>
      <p:ext uri="{BB962C8B-B14F-4D97-AF65-F5344CB8AC3E}">
        <p14:creationId xmlns:p14="http://schemas.microsoft.com/office/powerpoint/2010/main" val="13698449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グループ化 4">
            <a:extLst>
              <a:ext uri="{FF2B5EF4-FFF2-40B4-BE49-F238E27FC236}">
                <a16:creationId xmlns:a16="http://schemas.microsoft.com/office/drawing/2014/main" id="{D1CD502B-8084-4417-A023-0723B2C9344E}"/>
              </a:ext>
            </a:extLst>
          </p:cNvPr>
          <p:cNvGrpSpPr/>
          <p:nvPr/>
        </p:nvGrpSpPr>
        <p:grpSpPr>
          <a:xfrm>
            <a:off x="11112" y="8425413"/>
            <a:ext cx="6834185" cy="718587"/>
            <a:chOff x="11112" y="8425413"/>
            <a:chExt cx="6834185" cy="718587"/>
          </a:xfrm>
        </p:grpSpPr>
        <p:pic>
          <p:nvPicPr>
            <p:cNvPr id="23" name="図 22">
              <a:extLst>
                <a:ext uri="{FF2B5EF4-FFF2-40B4-BE49-F238E27FC236}">
                  <a16:creationId xmlns:a16="http://schemas.microsoft.com/office/drawing/2014/main" id="{00000000-0008-0000-0100-000004000000}"/>
                </a:ext>
              </a:extLst>
            </p:cNvPr>
            <p:cNvPicPr>
              <a:picLocks noChangeAspect="1"/>
            </p:cNvPicPr>
            <p:nvPr/>
          </p:nvPicPr>
          <p:blipFill rotWithShape="1">
            <a:blip r:embed="rId2">
              <a:extLst>
                <a:ext uri="{28A0092B-C50C-407E-A947-70E740481C1C}">
                  <a14:useLocalDpi xmlns:a14="http://schemas.microsoft.com/office/drawing/2010/main" val="0"/>
                </a:ext>
              </a:extLst>
            </a:blip>
            <a:srcRect l="59538" t="56963"/>
            <a:stretch/>
          </p:blipFill>
          <p:spPr>
            <a:xfrm>
              <a:off x="1124744" y="8789560"/>
              <a:ext cx="5720553" cy="354439"/>
            </a:xfrm>
            <a:prstGeom prst="rect">
              <a:avLst/>
            </a:prstGeom>
          </p:spPr>
        </p:pic>
        <p:pic>
          <p:nvPicPr>
            <p:cNvPr id="24" name="図 23">
              <a:extLst>
                <a:ext uri="{FF2B5EF4-FFF2-40B4-BE49-F238E27FC236}">
                  <a16:creationId xmlns:a16="http://schemas.microsoft.com/office/drawing/2014/main" id="{00000000-0008-0000-0100-000005000000}"/>
                </a:ext>
              </a:extLst>
            </p:cNvPr>
            <p:cNvPicPr>
              <a:picLocks noChangeAspect="1"/>
            </p:cNvPicPr>
            <p:nvPr/>
          </p:nvPicPr>
          <p:blipFill rotWithShape="1">
            <a:blip r:embed="rId2">
              <a:extLst>
                <a:ext uri="{28A0092B-C50C-407E-A947-70E740481C1C}">
                  <a14:useLocalDpi xmlns:a14="http://schemas.microsoft.com/office/drawing/2010/main" val="0"/>
                </a:ext>
              </a:extLst>
            </a:blip>
            <a:srcRect r="28008"/>
            <a:stretch/>
          </p:blipFill>
          <p:spPr>
            <a:xfrm>
              <a:off x="11112" y="8425413"/>
              <a:ext cx="1545680" cy="718587"/>
            </a:xfrm>
            <a:prstGeom prst="rect">
              <a:avLst/>
            </a:prstGeom>
          </p:spPr>
        </p:pic>
        <p:pic>
          <p:nvPicPr>
            <p:cNvPr id="25" name="Picture 2" descr="C:\Users\user\Desktop\MMIロゴ.jpg">
              <a:extLst>
                <a:ext uri="{FF2B5EF4-FFF2-40B4-BE49-F238E27FC236}">
                  <a16:creationId xmlns:a16="http://schemas.microsoft.com/office/drawing/2014/main" id="{00000000-0008-0000-0100-00000600000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42465" y="8706936"/>
              <a:ext cx="668079" cy="218539"/>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13" name="Google Shape;1346;p122">
            <a:extLst>
              <a:ext uri="{FF2B5EF4-FFF2-40B4-BE49-F238E27FC236}">
                <a16:creationId xmlns:a16="http://schemas.microsoft.com/office/drawing/2014/main" id="{21C730A1-4F84-45C2-89AE-120EFB8A06B8}"/>
              </a:ext>
            </a:extLst>
          </p:cNvPr>
          <p:cNvSpPr txBox="1"/>
          <p:nvPr/>
        </p:nvSpPr>
        <p:spPr>
          <a:xfrm>
            <a:off x="6308725" y="8993188"/>
            <a:ext cx="538163" cy="158750"/>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728D71D6-3455-4614-AB48-1DC83F526FD5}"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27</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sp>
        <p:nvSpPr>
          <p:cNvPr id="14" name="Rectangle 26">
            <a:extLst>
              <a:ext uri="{FF2B5EF4-FFF2-40B4-BE49-F238E27FC236}">
                <a16:creationId xmlns:a16="http://schemas.microsoft.com/office/drawing/2014/main" id="{00000000-0008-0000-0100-000003000000}"/>
              </a:ext>
            </a:extLst>
          </p:cNvPr>
          <p:cNvSpPr>
            <a:spLocks noChangeArrowheads="1"/>
          </p:cNvSpPr>
          <p:nvPr/>
        </p:nvSpPr>
        <p:spPr bwMode="auto">
          <a:xfrm rot="10800000">
            <a:off x="12698" y="-6188"/>
            <a:ext cx="6845301" cy="369795"/>
          </a:xfrm>
          <a:prstGeom prst="rect">
            <a:avLst/>
          </a:prstGeom>
          <a:solidFill>
            <a:srgbClr val="FF9999"/>
          </a:solidFill>
          <a:ln w="9525">
            <a:noFill/>
            <a:miter lim="800000"/>
            <a:headEnd/>
            <a:tailEnd/>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r" rtl="1">
              <a:defRPr sz="1000"/>
            </a:pPr>
            <a:endParaRPr lang="en-US" altLang="ja-JP" sz="1800" b="1" i="0" strike="noStrike">
              <a:solidFill>
                <a:schemeClr val="tx1"/>
              </a:solidFill>
              <a:latin typeface="+mj-ea"/>
              <a:ea typeface="+mj-ea"/>
            </a:endParaRPr>
          </a:p>
        </p:txBody>
      </p:sp>
      <p:sp>
        <p:nvSpPr>
          <p:cNvPr id="15" name="テキスト ボックス 8">
            <a:extLst>
              <a:ext uri="{FF2B5EF4-FFF2-40B4-BE49-F238E27FC236}">
                <a16:creationId xmlns:a16="http://schemas.microsoft.com/office/drawing/2014/main" id="{A8419715-4FC4-4D62-BCD2-A0664A6EB391}"/>
              </a:ext>
            </a:extLst>
          </p:cNvPr>
          <p:cNvSpPr txBox="1"/>
          <p:nvPr/>
        </p:nvSpPr>
        <p:spPr>
          <a:xfrm>
            <a:off x="1844824" y="-44896"/>
            <a:ext cx="5000477" cy="443141"/>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r"/>
            <a:r>
              <a:rPr lang="ja-JP" altLang="en-US" sz="1400" b="1" dirty="0">
                <a:latin typeface="メイリオ" panose="020B0604030504040204" pitchFamily="50" charset="-128"/>
                <a:ea typeface="メイリオ" panose="020B0604030504040204" pitchFamily="50" charset="-128"/>
              </a:rPr>
              <a:t>イズム </a:t>
            </a:r>
            <a:r>
              <a:rPr lang="en-US" altLang="ja-JP" sz="1400" b="1" dirty="0">
                <a:latin typeface="メイリオ" panose="020B0604030504040204" pitchFamily="50" charset="-128"/>
                <a:ea typeface="メイリオ" panose="020B0604030504040204" pitchFamily="50" charset="-128"/>
              </a:rPr>
              <a:t>of</a:t>
            </a:r>
            <a:r>
              <a:rPr lang="ja-JP" altLang="en-US" sz="1400" b="1" dirty="0">
                <a:latin typeface="メイリオ" panose="020B0604030504040204" pitchFamily="50" charset="-128"/>
                <a:ea typeface="メイリオ" panose="020B0604030504040204" pitchFamily="50" charset="-128"/>
              </a:rPr>
              <a:t> </a:t>
            </a:r>
            <a:r>
              <a:rPr lang="en-US" altLang="ja-JP" sz="1400" b="1" dirty="0">
                <a:latin typeface="メイリオ" panose="020B0604030504040204" pitchFamily="50" charset="-128"/>
                <a:ea typeface="メイリオ" panose="020B0604030504040204" pitchFamily="50" charset="-128"/>
              </a:rPr>
              <a:t>Month</a:t>
            </a:r>
            <a:r>
              <a:rPr kumimoji="1" lang="en-US" altLang="ja-JP" sz="1400" b="1" dirty="0">
                <a:latin typeface="メイリオ" panose="020B0604030504040204" pitchFamily="50" charset="-128"/>
                <a:ea typeface="メイリオ" panose="020B0604030504040204" pitchFamily="50" charset="-128"/>
              </a:rPr>
              <a:t> </a:t>
            </a:r>
            <a:r>
              <a:rPr kumimoji="1" lang="ja-JP" altLang="en-US" sz="1400" b="1" dirty="0">
                <a:latin typeface="メイリオ" panose="020B0604030504040204" pitchFamily="50" charset="-128"/>
                <a:ea typeface="メイリオ" panose="020B0604030504040204" pitchFamily="50" charset="-128"/>
              </a:rPr>
              <a:t>～</a:t>
            </a:r>
            <a:r>
              <a:rPr kumimoji="1" lang="en-US" altLang="ja-JP" sz="1400" b="1" dirty="0">
                <a:latin typeface="メイリオ" panose="020B0604030504040204" pitchFamily="50" charset="-128"/>
                <a:ea typeface="メイリオ" panose="020B0604030504040204" pitchFamily="50" charset="-128"/>
              </a:rPr>
              <a:t>2021</a:t>
            </a:r>
            <a:r>
              <a:rPr kumimoji="1" lang="ja-JP" altLang="en-US" sz="1400" b="1" dirty="0">
                <a:latin typeface="メイリオ" panose="020B0604030504040204" pitchFamily="50" charset="-128"/>
                <a:ea typeface="メイリオ" panose="020B0604030504040204" pitchFamily="50" charset="-128"/>
              </a:rPr>
              <a:t>年</a:t>
            </a:r>
            <a:r>
              <a:rPr kumimoji="1" lang="en-US" altLang="ja-JP" sz="1400" b="1" dirty="0">
                <a:latin typeface="メイリオ" panose="020B0604030504040204" pitchFamily="50" charset="-128"/>
                <a:ea typeface="メイリオ" panose="020B0604030504040204" pitchFamily="50" charset="-128"/>
              </a:rPr>
              <a:t>11</a:t>
            </a:r>
            <a:r>
              <a:rPr kumimoji="1" lang="ja-JP" altLang="en-US" sz="1400" b="1" dirty="0">
                <a:latin typeface="メイリオ" panose="020B0604030504040204" pitchFamily="50" charset="-128"/>
                <a:ea typeface="メイリオ" panose="020B0604030504040204" pitchFamily="50" charset="-128"/>
              </a:rPr>
              <a:t>月度代表エピソード～</a:t>
            </a:r>
          </a:p>
        </p:txBody>
      </p:sp>
      <p:pic>
        <p:nvPicPr>
          <p:cNvPr id="16" name="図 15">
            <a:extLst>
              <a:ext uri="{FF2B5EF4-FFF2-40B4-BE49-F238E27FC236}">
                <a16:creationId xmlns:a16="http://schemas.microsoft.com/office/drawing/2014/main" id="{00000000-0008-0000-0100-000002000000}"/>
              </a:ext>
            </a:extLst>
          </p:cNvPr>
          <p:cNvPicPr>
            <a:picLocks noChangeAspect="1"/>
          </p:cNvPicPr>
          <p:nvPr/>
        </p:nvPicPr>
        <p:blipFill rotWithShape="1">
          <a:blip r:embed="rId4">
            <a:extLst>
              <a:ext uri="{28A0092B-C50C-407E-A947-70E740481C1C}">
                <a14:useLocalDpi xmlns:a14="http://schemas.microsoft.com/office/drawing/2010/main" val="0"/>
              </a:ext>
            </a:extLst>
          </a:blip>
          <a:srcRect l="10629" t="50589" b="27489"/>
          <a:stretch/>
        </p:blipFill>
        <p:spPr>
          <a:xfrm flipH="1">
            <a:off x="-1" y="954708"/>
            <a:ext cx="6845298" cy="354833"/>
          </a:xfrm>
          <a:prstGeom prst="rect">
            <a:avLst/>
          </a:prstGeom>
        </p:spPr>
      </p:pic>
      <p:graphicFrame>
        <p:nvGraphicFramePr>
          <p:cNvPr id="3" name="表 2">
            <a:extLst>
              <a:ext uri="{FF2B5EF4-FFF2-40B4-BE49-F238E27FC236}">
                <a16:creationId xmlns:a16="http://schemas.microsoft.com/office/drawing/2014/main" id="{8C139B86-40AC-45F7-87DB-228867D7DFA6}"/>
              </a:ext>
            </a:extLst>
          </p:cNvPr>
          <p:cNvGraphicFramePr>
            <a:graphicFrameLocks noGrp="1"/>
          </p:cNvGraphicFramePr>
          <p:nvPr>
            <p:extLst>
              <p:ext uri="{D42A27DB-BD31-4B8C-83A1-F6EECF244321}">
                <p14:modId xmlns:p14="http://schemas.microsoft.com/office/powerpoint/2010/main" val="3461077777"/>
              </p:ext>
            </p:extLst>
          </p:nvPr>
        </p:nvGraphicFramePr>
        <p:xfrm>
          <a:off x="0" y="586160"/>
          <a:ext cx="6858000" cy="609600"/>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3352499802"/>
                    </a:ext>
                  </a:extLst>
                </a:gridCol>
              </a:tblGrid>
              <a:tr h="354439">
                <a:tc>
                  <a:txBody>
                    <a:bodyPr/>
                    <a:lstStyle/>
                    <a:p>
                      <a:pPr algn="ctr" fontAlgn="ctr"/>
                      <a:r>
                        <a:rPr lang="ja-JP" altLang="en-US" sz="2000" b="1" i="0" u="none" strike="noStrike" dirty="0">
                          <a:effectLst/>
                          <a:latin typeface="メイリオ" panose="020B0604030504040204" pitchFamily="50" charset="-128"/>
                          <a:ea typeface="メイリオ" panose="020B0604030504040204" pitchFamily="50" charset="-128"/>
                        </a:rPr>
                        <a:t>諦めないことの大切さ</a:t>
                      </a:r>
                    </a:p>
                    <a:p>
                      <a:pPr algn="ctr" fontAlgn="ctr"/>
                      <a:endParaRPr lang="ja-JP" altLang="en-US" sz="2000" b="1" i="0" u="none" strike="noStrike" dirty="0">
                        <a:effectLst/>
                        <a:latin typeface="メイリオ" panose="020B0604030504040204" pitchFamily="50" charset="-128"/>
                        <a:ea typeface="メイリオ" panose="020B0604030504040204" pitchFamily="50" charset="-128"/>
                      </a:endParaRPr>
                    </a:p>
                  </a:txBody>
                  <a:tcPr marL="0" marR="0" marT="0" marB="0" anchor="ctr">
                    <a:noFill/>
                  </a:tcPr>
                </a:tc>
                <a:extLst>
                  <a:ext uri="{0D108BD9-81ED-4DB2-BD59-A6C34878D82A}">
                    <a16:rowId xmlns:a16="http://schemas.microsoft.com/office/drawing/2014/main" val="51326532"/>
                  </a:ext>
                </a:extLst>
              </a:tr>
            </a:tbl>
          </a:graphicData>
        </a:graphic>
      </p:graphicFrame>
      <p:graphicFrame>
        <p:nvGraphicFramePr>
          <p:cNvPr id="20" name="表 19">
            <a:extLst>
              <a:ext uri="{FF2B5EF4-FFF2-40B4-BE49-F238E27FC236}">
                <a16:creationId xmlns:a16="http://schemas.microsoft.com/office/drawing/2014/main" id="{AF3D3932-C55C-4445-AEFA-77BB58B79194}"/>
              </a:ext>
            </a:extLst>
          </p:cNvPr>
          <p:cNvGraphicFramePr>
            <a:graphicFrameLocks noGrp="1"/>
          </p:cNvGraphicFramePr>
          <p:nvPr/>
        </p:nvGraphicFramePr>
        <p:xfrm>
          <a:off x="-3" y="1187624"/>
          <a:ext cx="6858000" cy="354439"/>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3352499802"/>
                    </a:ext>
                  </a:extLst>
                </a:gridCol>
              </a:tblGrid>
              <a:tr h="354439">
                <a:tc>
                  <a:txBody>
                    <a:bodyPr/>
                    <a:lstStyle/>
                    <a:p>
                      <a:pPr algn="ctr" fontAlgn="ctr"/>
                      <a:r>
                        <a:rPr lang="ja-JP" altLang="en-US" sz="1600" b="1" i="0" u="none" strike="noStrike" dirty="0">
                          <a:effectLst/>
                          <a:latin typeface="メイリオ" panose="020B0604030504040204" pitchFamily="50" charset="-128"/>
                          <a:ea typeface="メイリオ" panose="020B0604030504040204" pitchFamily="50" charset="-128"/>
                        </a:rPr>
                        <a:t>関連するイズム：ベストの追求 </a:t>
                      </a:r>
                      <a:r>
                        <a:rPr lang="en-US" altLang="ja-JP" sz="1600" b="1" i="0" u="none" strike="noStrike" dirty="0">
                          <a:effectLst/>
                          <a:latin typeface="メイリオ" panose="020B0604030504040204" pitchFamily="50" charset="-128"/>
                          <a:ea typeface="メイリオ" panose="020B0604030504040204" pitchFamily="50" charset="-128"/>
                        </a:rPr>
                        <a:t>~</a:t>
                      </a:r>
                      <a:r>
                        <a:rPr lang="ja-JP" altLang="en-US" sz="1600" b="1" i="0" u="none" strike="noStrike" dirty="0">
                          <a:effectLst/>
                          <a:latin typeface="メイリオ" panose="020B0604030504040204" pitchFamily="50" charset="-128"/>
                          <a:ea typeface="メイリオ" panose="020B0604030504040204" pitchFamily="50" charset="-128"/>
                        </a:rPr>
                        <a:t>感動創造～</a:t>
                      </a:r>
                      <a:endParaRPr lang="en-US" altLang="ja-JP" sz="1600" b="1" i="0" u="none" strike="noStrike" dirty="0">
                        <a:effectLst/>
                        <a:latin typeface="メイリオ" panose="020B0604030504040204" pitchFamily="50" charset="-128"/>
                        <a:ea typeface="メイリオ" panose="020B0604030504040204" pitchFamily="50" charset="-128"/>
                      </a:endParaRPr>
                    </a:p>
                  </a:txBody>
                  <a:tcPr marL="0" marR="0" marT="0" marB="0" anchor="ctr">
                    <a:noFill/>
                  </a:tcPr>
                </a:tc>
                <a:extLst>
                  <a:ext uri="{0D108BD9-81ED-4DB2-BD59-A6C34878D82A}">
                    <a16:rowId xmlns:a16="http://schemas.microsoft.com/office/drawing/2014/main" val="51326532"/>
                  </a:ext>
                </a:extLst>
              </a:tr>
            </a:tbl>
          </a:graphicData>
        </a:graphic>
      </p:graphicFrame>
      <p:graphicFrame>
        <p:nvGraphicFramePr>
          <p:cNvPr id="21" name="表 20">
            <a:extLst>
              <a:ext uri="{FF2B5EF4-FFF2-40B4-BE49-F238E27FC236}">
                <a16:creationId xmlns:a16="http://schemas.microsoft.com/office/drawing/2014/main" id="{3EF87205-649E-42A4-A0E3-F2150B4E37B8}"/>
              </a:ext>
            </a:extLst>
          </p:cNvPr>
          <p:cNvGraphicFramePr>
            <a:graphicFrameLocks noGrp="1"/>
          </p:cNvGraphicFramePr>
          <p:nvPr>
            <p:extLst>
              <p:ext uri="{D42A27DB-BD31-4B8C-83A1-F6EECF244321}">
                <p14:modId xmlns:p14="http://schemas.microsoft.com/office/powerpoint/2010/main" val="3425607801"/>
              </p:ext>
            </p:extLst>
          </p:nvPr>
        </p:nvGraphicFramePr>
        <p:xfrm>
          <a:off x="224644" y="1653208"/>
          <a:ext cx="6408712" cy="6447184"/>
        </p:xfrm>
        <a:graphic>
          <a:graphicData uri="http://schemas.openxmlformats.org/drawingml/2006/table">
            <a:tbl>
              <a:tblPr>
                <a:tableStyleId>{5C22544A-7EE6-4342-B048-85BDC9FD1C3A}</a:tableStyleId>
              </a:tblPr>
              <a:tblGrid>
                <a:gridCol w="6408712">
                  <a:extLst>
                    <a:ext uri="{9D8B030D-6E8A-4147-A177-3AD203B41FA5}">
                      <a16:colId xmlns:a16="http://schemas.microsoft.com/office/drawing/2014/main" val="3352499802"/>
                    </a:ext>
                  </a:extLst>
                </a:gridCol>
              </a:tblGrid>
              <a:tr h="6447184">
                <a:tc>
                  <a:txBody>
                    <a:bodyPr/>
                    <a:lstStyle/>
                    <a:p>
                      <a:pPr algn="l" fontAlgn="ctr"/>
                      <a:r>
                        <a:rPr lang="ja-JP" altLang="en-US" sz="1400" b="0" i="0" u="none" strike="noStrike" dirty="0">
                          <a:effectLst/>
                          <a:latin typeface="メイリオ" panose="020B0604030504040204" pitchFamily="50" charset="-128"/>
                          <a:ea typeface="メイリオ" panose="020B0604030504040204" pitchFamily="50" charset="-128"/>
                        </a:rPr>
                        <a:t>マルハンから給与業務のサポートにお越しくださっている石井里絵さん！寂しいですが、今月</a:t>
                      </a:r>
                      <a:r>
                        <a:rPr lang="en-US" altLang="ja-JP" sz="1400" b="0" i="0" u="none" strike="noStrike" dirty="0">
                          <a:effectLst/>
                          <a:latin typeface="メイリオ" panose="020B0604030504040204" pitchFamily="50" charset="-128"/>
                          <a:ea typeface="メイリオ" panose="020B0604030504040204" pitchFamily="50" charset="-128"/>
                        </a:rPr>
                        <a:t>10</a:t>
                      </a:r>
                      <a:r>
                        <a:rPr lang="ja-JP" altLang="en-US" sz="1400" b="0" i="0" u="none" strike="noStrike" dirty="0">
                          <a:effectLst/>
                          <a:latin typeface="メイリオ" panose="020B0604030504040204" pitchFamily="50" charset="-128"/>
                          <a:ea typeface="メイリオ" panose="020B0604030504040204" pitchFamily="50" charset="-128"/>
                        </a:rPr>
                        <a:t>月の締めでお手伝いが最後の予定です。（マルハンに戻られます）</a:t>
                      </a:r>
                    </a:p>
                    <a:p>
                      <a:pPr algn="l" fontAlgn="ctr"/>
                      <a:endParaRPr lang="ja-JP" altLang="en-US" sz="1400" b="0" i="0" u="none" strike="noStrike" dirty="0">
                        <a:effectLst/>
                        <a:latin typeface="メイリオ" panose="020B0604030504040204" pitchFamily="50" charset="-128"/>
                        <a:ea typeface="メイリオ" panose="020B0604030504040204" pitchFamily="50" charset="-128"/>
                      </a:endParaRPr>
                    </a:p>
                    <a:p>
                      <a:pPr algn="l" fontAlgn="ctr"/>
                      <a:r>
                        <a:rPr lang="ja-JP" altLang="en-US" sz="1400" b="0" i="0" u="none" strike="noStrike" dirty="0">
                          <a:effectLst/>
                          <a:latin typeface="メイリオ" panose="020B0604030504040204" pitchFamily="50" charset="-128"/>
                          <a:ea typeface="メイリオ" panose="020B0604030504040204" pitchFamily="50" charset="-128"/>
                        </a:rPr>
                        <a:t>石井さんから学んだことはいくつもあります。その中でも一番印象に残ったのは業務に対する諦めない姿勢です。</a:t>
                      </a:r>
                    </a:p>
                    <a:p>
                      <a:pPr algn="l" fontAlgn="ctr"/>
                      <a:endParaRPr lang="ja-JP" altLang="en-US" sz="1400" b="0" i="0" u="none" strike="noStrike" dirty="0">
                        <a:effectLst/>
                        <a:latin typeface="メイリオ" panose="020B0604030504040204" pitchFamily="50" charset="-128"/>
                        <a:ea typeface="メイリオ" panose="020B0604030504040204" pitchFamily="50" charset="-128"/>
                      </a:endParaRPr>
                    </a:p>
                    <a:p>
                      <a:pPr algn="l" fontAlgn="ctr"/>
                      <a:r>
                        <a:rPr lang="ja-JP" altLang="en-US" sz="1400" b="0" i="0" u="none" strike="noStrike" dirty="0">
                          <a:effectLst/>
                          <a:latin typeface="メイリオ" panose="020B0604030504040204" pitchFamily="50" charset="-128"/>
                          <a:ea typeface="メイリオ" panose="020B0604030504040204" pitchFamily="50" charset="-128"/>
                        </a:rPr>
                        <a:t>基本石井さんはたいていのことはお安い御用（本人はどう思っているか確認していませんが）と引き受けてくださいます。人事の仕事は周囲から依頼を受ける案件数の波が大きく、一時的にいっぱいいっぱいになることがあります。（もちろん人事以外の仕事もそうなのですが）</a:t>
                      </a:r>
                    </a:p>
                    <a:p>
                      <a:pPr algn="l" fontAlgn="ctr"/>
                      <a:endParaRPr lang="ja-JP" altLang="en-US" sz="1400" b="0" i="0" u="none" strike="noStrike" dirty="0">
                        <a:effectLst/>
                        <a:latin typeface="メイリオ" panose="020B0604030504040204" pitchFamily="50" charset="-128"/>
                        <a:ea typeface="メイリオ" panose="020B0604030504040204" pitchFamily="50" charset="-128"/>
                      </a:endParaRPr>
                    </a:p>
                    <a:p>
                      <a:pPr algn="l" fontAlgn="ctr"/>
                      <a:r>
                        <a:rPr lang="ja-JP" altLang="en-US" sz="1400" b="0" i="0" u="none" strike="noStrike" dirty="0">
                          <a:effectLst/>
                          <a:latin typeface="メイリオ" panose="020B0604030504040204" pitchFamily="50" charset="-128"/>
                          <a:ea typeface="メイリオ" panose="020B0604030504040204" pitchFamily="50" charset="-128"/>
                        </a:rPr>
                        <a:t>石井さんはそんな時どう対応されるのか気になっていました。さすが石井さん、基本は頭ごなしにお断りせず、</a:t>
                      </a:r>
                      <a:endParaRPr lang="en-US" altLang="ja-JP" sz="1400" b="0" i="0" u="none" strike="noStrike" dirty="0">
                        <a:effectLst/>
                        <a:latin typeface="メイリオ" panose="020B0604030504040204" pitchFamily="50" charset="-128"/>
                        <a:ea typeface="メイリオ" panose="020B0604030504040204" pitchFamily="50" charset="-128"/>
                      </a:endParaRPr>
                    </a:p>
                    <a:p>
                      <a:pPr algn="l" fontAlgn="ctr"/>
                      <a:r>
                        <a:rPr lang="ja-JP" altLang="en-US" sz="1400" b="0" i="0" u="none" strike="noStrike" dirty="0">
                          <a:effectLst/>
                          <a:latin typeface="メイリオ" panose="020B0604030504040204" pitchFamily="50" charset="-128"/>
                          <a:ea typeface="メイリオ" panose="020B0604030504040204" pitchFamily="50" charset="-128"/>
                        </a:rPr>
                        <a:t>「今すぐに対応はできないけれどこうなったら、何日後。」</a:t>
                      </a:r>
                      <a:endParaRPr lang="en-US" altLang="ja-JP" sz="1400" b="0" i="0" u="none" strike="noStrike" dirty="0">
                        <a:effectLst/>
                        <a:latin typeface="メイリオ" panose="020B0604030504040204" pitchFamily="50" charset="-128"/>
                        <a:ea typeface="メイリオ" panose="020B0604030504040204" pitchFamily="50" charset="-128"/>
                      </a:endParaRPr>
                    </a:p>
                    <a:p>
                      <a:pPr algn="l" fontAlgn="ctr"/>
                      <a:r>
                        <a:rPr lang="ja-JP" altLang="en-US" sz="1400" b="0" i="0" u="none" strike="noStrike" dirty="0">
                          <a:effectLst/>
                          <a:latin typeface="メイリオ" panose="020B0604030504040204" pitchFamily="50" charset="-128"/>
                          <a:ea typeface="メイリオ" panose="020B0604030504040204" pitchFamily="50" charset="-128"/>
                        </a:rPr>
                        <a:t>「この時期になったらできると思うので、それでもいいですか？」</a:t>
                      </a:r>
                      <a:endParaRPr lang="en-US" altLang="ja-JP" sz="1400" b="0" i="0" u="none" strike="noStrike" dirty="0">
                        <a:effectLst/>
                        <a:latin typeface="メイリオ" panose="020B0604030504040204" pitchFamily="50" charset="-128"/>
                        <a:ea typeface="メイリオ" panose="020B0604030504040204" pitchFamily="50" charset="-128"/>
                      </a:endParaRPr>
                    </a:p>
                    <a:p>
                      <a:pPr algn="l" fontAlgn="ctr"/>
                      <a:r>
                        <a:rPr lang="ja-JP" altLang="en-US" sz="1400" b="0" i="0" u="none" strike="noStrike" dirty="0">
                          <a:effectLst/>
                          <a:latin typeface="メイリオ" panose="020B0604030504040204" pitchFamily="50" charset="-128"/>
                          <a:ea typeface="メイリオ" panose="020B0604030504040204" pitchFamily="50" charset="-128"/>
                        </a:rPr>
                        <a:t>と相手を嫌な気持ちにさせることなく、穏やかでにこやかな表情で対応されていました。</a:t>
                      </a:r>
                    </a:p>
                    <a:p>
                      <a:pPr algn="l" fontAlgn="ctr"/>
                      <a:endParaRPr lang="ja-JP" altLang="en-US" sz="1400" b="0" i="0" u="none" strike="noStrike" dirty="0">
                        <a:effectLst/>
                        <a:latin typeface="メイリオ" panose="020B0604030504040204" pitchFamily="50" charset="-128"/>
                        <a:ea typeface="メイリオ" panose="020B0604030504040204" pitchFamily="50" charset="-128"/>
                      </a:endParaRPr>
                    </a:p>
                    <a:p>
                      <a:pPr algn="l" fontAlgn="ctr"/>
                      <a:r>
                        <a:rPr lang="ja-JP" altLang="en-US" sz="1400" b="0" i="0" u="none" strike="noStrike" dirty="0">
                          <a:effectLst/>
                          <a:latin typeface="メイリオ" panose="020B0604030504040204" pitchFamily="50" charset="-128"/>
                          <a:ea typeface="メイリオ" panose="020B0604030504040204" pitchFamily="50" charset="-128"/>
                        </a:rPr>
                        <a:t>最近業務が立て込んでくると表情や口調に出てしまう私は反省しかありませんでした。自身の業務が立て込んでいる中でもベストの追及を忘れない石井さんの姿勢にプロとしての意識の高さとあるべき姿を見せていただきました。</a:t>
                      </a:r>
                    </a:p>
                    <a:p>
                      <a:pPr algn="l" fontAlgn="ctr"/>
                      <a:endParaRPr lang="ja-JP" altLang="en-US" sz="1400" b="0" i="0" u="none" strike="noStrike" dirty="0">
                        <a:effectLst/>
                        <a:latin typeface="メイリオ" panose="020B0604030504040204" pitchFamily="50" charset="-128"/>
                        <a:ea typeface="メイリオ" panose="020B0604030504040204" pitchFamily="50" charset="-128"/>
                      </a:endParaRPr>
                    </a:p>
                    <a:p>
                      <a:pPr algn="l" fontAlgn="ctr"/>
                      <a:r>
                        <a:rPr lang="ja-JP" altLang="en-US" sz="1400" b="0" i="0" u="none" strike="noStrike" dirty="0">
                          <a:effectLst/>
                          <a:latin typeface="メイリオ" panose="020B0604030504040204" pitchFamily="50" charset="-128"/>
                          <a:ea typeface="メイリオ" panose="020B0604030504040204" pitchFamily="50" charset="-128"/>
                        </a:rPr>
                        <a:t>石井さん、私たちの給与業務を救ってくれて、学びの機会を与えてくれて、ありがとうございます！</a:t>
                      </a:r>
                    </a:p>
                    <a:p>
                      <a:pPr algn="l" fontAlgn="ctr"/>
                      <a:endParaRPr lang="ja-JP" altLang="en-US" sz="1400" b="0" i="0" u="none" strike="noStrike" dirty="0">
                        <a:effectLst/>
                        <a:latin typeface="メイリオ" panose="020B0604030504040204" pitchFamily="50" charset="-128"/>
                        <a:ea typeface="メイリオ" panose="020B0604030504040204" pitchFamily="50" charset="-128"/>
                      </a:endParaRPr>
                    </a:p>
                    <a:p>
                      <a:pPr algn="l" fontAlgn="ctr"/>
                      <a:r>
                        <a:rPr lang="ja-JP" altLang="en-US" sz="1400" b="0" i="0" u="none" strike="noStrike" dirty="0">
                          <a:effectLst/>
                          <a:latin typeface="メイリオ" panose="020B0604030504040204" pitchFamily="50" charset="-128"/>
                          <a:ea typeface="メイリオ" panose="020B0604030504040204" pitchFamily="50" charset="-128"/>
                        </a:rPr>
                        <a:t>もうあと</a:t>
                      </a:r>
                      <a:r>
                        <a:rPr lang="en-US" altLang="ja-JP" sz="1400" b="0" i="0" u="none" strike="noStrike" dirty="0">
                          <a:effectLst/>
                          <a:latin typeface="メイリオ" panose="020B0604030504040204" pitchFamily="50" charset="-128"/>
                          <a:ea typeface="メイリオ" panose="020B0604030504040204" pitchFamily="50" charset="-128"/>
                        </a:rPr>
                        <a:t>1</a:t>
                      </a:r>
                      <a:r>
                        <a:rPr lang="ja-JP" altLang="en-US" sz="1400" b="0" i="0" u="none" strike="noStrike" dirty="0">
                          <a:effectLst/>
                          <a:latin typeface="メイリオ" panose="020B0604030504040204" pitchFamily="50" charset="-128"/>
                          <a:ea typeface="メイリオ" panose="020B0604030504040204" pitchFamily="50" charset="-128"/>
                        </a:rPr>
                        <a:t>か月くらいになってしまいましたが、どうぞよろしくお願いします。</a:t>
                      </a:r>
                    </a:p>
                    <a:p>
                      <a:pPr algn="l" fontAlgn="ctr"/>
                      <a:endParaRPr lang="ja-JP" altLang="en-US" sz="1400" b="0" i="0" u="none" strike="noStrike" dirty="0">
                        <a:effectLst/>
                        <a:latin typeface="メイリオ" panose="020B0604030504040204" pitchFamily="50" charset="-128"/>
                        <a:ea typeface="メイリオ" panose="020B0604030504040204" pitchFamily="50" charset="-128"/>
                      </a:endParaRPr>
                    </a:p>
                  </a:txBody>
                  <a:tcPr marL="0" marR="0" marT="0" marB="0" anchor="ctr">
                    <a:noFill/>
                  </a:tcPr>
                </a:tc>
                <a:extLst>
                  <a:ext uri="{0D108BD9-81ED-4DB2-BD59-A6C34878D82A}">
                    <a16:rowId xmlns:a16="http://schemas.microsoft.com/office/drawing/2014/main" val="51326532"/>
                  </a:ext>
                </a:extLst>
              </a:tr>
            </a:tbl>
          </a:graphicData>
        </a:graphic>
      </p:graphicFrame>
      <p:graphicFrame>
        <p:nvGraphicFramePr>
          <p:cNvPr id="4" name="表 3">
            <a:extLst>
              <a:ext uri="{FF2B5EF4-FFF2-40B4-BE49-F238E27FC236}">
                <a16:creationId xmlns:a16="http://schemas.microsoft.com/office/drawing/2014/main" id="{B79B7192-0D9C-4382-8D0B-167C3C35CE90}"/>
              </a:ext>
            </a:extLst>
          </p:cNvPr>
          <p:cNvGraphicFramePr>
            <a:graphicFrameLocks noGrp="1"/>
          </p:cNvGraphicFramePr>
          <p:nvPr>
            <p:extLst>
              <p:ext uri="{D42A27DB-BD31-4B8C-83A1-F6EECF244321}">
                <p14:modId xmlns:p14="http://schemas.microsoft.com/office/powerpoint/2010/main" val="87297910"/>
              </p:ext>
            </p:extLst>
          </p:nvPr>
        </p:nvGraphicFramePr>
        <p:xfrm>
          <a:off x="764704" y="8143446"/>
          <a:ext cx="6048672" cy="605018"/>
        </p:xfrm>
        <a:graphic>
          <a:graphicData uri="http://schemas.openxmlformats.org/drawingml/2006/table">
            <a:tbl>
              <a:tblPr/>
              <a:tblGrid>
                <a:gridCol w="254002">
                  <a:extLst>
                    <a:ext uri="{9D8B030D-6E8A-4147-A177-3AD203B41FA5}">
                      <a16:colId xmlns:a16="http://schemas.microsoft.com/office/drawing/2014/main" val="4026392200"/>
                    </a:ext>
                  </a:extLst>
                </a:gridCol>
                <a:gridCol w="617588">
                  <a:extLst>
                    <a:ext uri="{9D8B030D-6E8A-4147-A177-3AD203B41FA5}">
                      <a16:colId xmlns:a16="http://schemas.microsoft.com/office/drawing/2014/main" val="2265573359"/>
                    </a:ext>
                  </a:extLst>
                </a:gridCol>
                <a:gridCol w="2885454">
                  <a:extLst>
                    <a:ext uri="{9D8B030D-6E8A-4147-A177-3AD203B41FA5}">
                      <a16:colId xmlns:a16="http://schemas.microsoft.com/office/drawing/2014/main" val="2831491253"/>
                    </a:ext>
                  </a:extLst>
                </a:gridCol>
                <a:gridCol w="2291628">
                  <a:extLst>
                    <a:ext uri="{9D8B030D-6E8A-4147-A177-3AD203B41FA5}">
                      <a16:colId xmlns:a16="http://schemas.microsoft.com/office/drawing/2014/main" val="2078562565"/>
                    </a:ext>
                  </a:extLst>
                </a:gridCol>
              </a:tblGrid>
              <a:tr h="302509">
                <a:tc>
                  <a:txBody>
                    <a:bodyPr/>
                    <a:lstStyle/>
                    <a:p>
                      <a:pPr algn="l" fontAlgn="ctr"/>
                      <a:endParaRPr lang="ja-JP" altLang="en-US" sz="900" b="1" i="0" u="none" strike="noStrike" dirty="0">
                        <a:effectLst/>
                        <a:latin typeface="メイリオ" panose="020B0604030504040204" pitchFamily="50" charset="-128"/>
                        <a:ea typeface="メイリオ" panose="020B0604030504040204" pitchFamily="50" charset="-128"/>
                      </a:endParaRPr>
                    </a:p>
                  </a:txBody>
                  <a:tcPr marL="7203" marR="7203" marT="7203" marB="0" anchor="ctr">
                    <a:lnL>
                      <a:noFill/>
                    </a:lnL>
                    <a:lnR>
                      <a:noFill/>
                    </a:lnR>
                    <a:lnT>
                      <a:noFill/>
                    </a:lnT>
                    <a:lnB>
                      <a:noFill/>
                    </a:lnB>
                  </a:tcPr>
                </a:tc>
                <a:tc>
                  <a:txBody>
                    <a:bodyPr/>
                    <a:lstStyle/>
                    <a:p>
                      <a:pPr algn="l" fontAlgn="ctr"/>
                      <a:endParaRPr lang="ja-JP" altLang="en-US" sz="1200" b="1" i="0" u="none" strike="noStrike">
                        <a:effectLst/>
                        <a:latin typeface="メイリオ" panose="020B0604030504040204" pitchFamily="50" charset="-128"/>
                        <a:ea typeface="メイリオ" panose="020B0604030504040204" pitchFamily="50" charset="-128"/>
                      </a:endParaRPr>
                    </a:p>
                  </a:txBody>
                  <a:tcPr marL="7203" marR="7203" marT="7203" marB="0" anchor="ctr">
                    <a:lnL>
                      <a:noFill/>
                    </a:lnL>
                    <a:lnR>
                      <a:noFill/>
                    </a:lnR>
                    <a:lnT>
                      <a:noFill/>
                    </a:lnT>
                    <a:lnB>
                      <a:noFill/>
                    </a:lnB>
                  </a:tcPr>
                </a:tc>
                <a:tc>
                  <a:txBody>
                    <a:bodyPr/>
                    <a:lstStyle/>
                    <a:p>
                      <a:pPr algn="ctr" fontAlgn="ctr"/>
                      <a:r>
                        <a:rPr lang="ja-JP" altLang="en-US" sz="1200" b="1" i="0" u="none" strike="noStrike" dirty="0">
                          <a:effectLst/>
                          <a:latin typeface="メイリオ" panose="020B0604030504040204" pitchFamily="50" charset="-128"/>
                          <a:ea typeface="メイリオ" panose="020B0604030504040204" pitchFamily="50" charset="-128"/>
                        </a:rPr>
                        <a:t>（所属）</a:t>
                      </a:r>
                    </a:p>
                  </a:txBody>
                  <a:tcPr marL="7203" marR="7203" marT="7203" marB="0" anchor="ctr">
                    <a:lnL>
                      <a:noFill/>
                    </a:lnL>
                    <a:lnR>
                      <a:noFill/>
                    </a:lnR>
                    <a:lnT>
                      <a:noFill/>
                    </a:lnT>
                    <a:lnB>
                      <a:noFill/>
                    </a:lnB>
                  </a:tcPr>
                </a:tc>
                <a:tc>
                  <a:txBody>
                    <a:bodyPr/>
                    <a:lstStyle/>
                    <a:p>
                      <a:pPr algn="ctr" fontAlgn="ctr"/>
                      <a:r>
                        <a:rPr lang="ja-JP" altLang="en-US" sz="1200" b="1" i="0" u="none" strike="noStrike" dirty="0">
                          <a:effectLst/>
                          <a:latin typeface="メイリオ" panose="020B0604030504040204" pitchFamily="50" charset="-128"/>
                          <a:ea typeface="メイリオ" panose="020B0604030504040204" pitchFamily="50" charset="-128"/>
                        </a:rPr>
                        <a:t>（氏名）</a:t>
                      </a:r>
                    </a:p>
                  </a:txBody>
                  <a:tcPr marL="7203" marR="7203" marT="7203" marB="0" anchor="ctr">
                    <a:lnL>
                      <a:noFill/>
                    </a:lnL>
                    <a:lnR>
                      <a:noFill/>
                    </a:lnR>
                    <a:lnT>
                      <a:noFill/>
                    </a:lnT>
                    <a:lnB>
                      <a:noFill/>
                    </a:lnB>
                  </a:tcPr>
                </a:tc>
                <a:extLst>
                  <a:ext uri="{0D108BD9-81ED-4DB2-BD59-A6C34878D82A}">
                    <a16:rowId xmlns:a16="http://schemas.microsoft.com/office/drawing/2014/main" val="2937889479"/>
                  </a:ext>
                </a:extLst>
              </a:tr>
              <a:tr h="302509">
                <a:tc gridSpan="2">
                  <a:txBody>
                    <a:bodyPr/>
                    <a:lstStyle/>
                    <a:p>
                      <a:pPr algn="ctr" fontAlgn="ctr"/>
                      <a:r>
                        <a:rPr lang="ja-JP" altLang="en-US" sz="1200" b="1" i="0" u="none" strike="noStrike" dirty="0">
                          <a:effectLst/>
                          <a:latin typeface="メイリオ" panose="020B0604030504040204" pitchFamily="50" charset="-128"/>
                          <a:ea typeface="メイリオ" panose="020B0604030504040204" pitchFamily="50" charset="-128"/>
                        </a:rPr>
                        <a:t>寄稿者</a:t>
                      </a:r>
                    </a:p>
                  </a:txBody>
                  <a:tcPr marL="7203" marR="7203" marT="7203" marB="0" anchor="ctr">
                    <a:lnL>
                      <a:noFill/>
                    </a:lnL>
                    <a:lnR>
                      <a:noFill/>
                    </a:lnR>
                    <a:lnT>
                      <a:noFill/>
                    </a:lnT>
                    <a:lnB>
                      <a:noFill/>
                    </a:lnB>
                  </a:tcPr>
                </a:tc>
                <a:tc hMerge="1">
                  <a:txBody>
                    <a:bodyPr/>
                    <a:lstStyle/>
                    <a:p>
                      <a:endParaRPr kumimoji="1" lang="ja-JP" altLang="en-US"/>
                    </a:p>
                  </a:txBody>
                  <a:tcPr/>
                </a:tc>
                <a:tc>
                  <a:txBody>
                    <a:bodyPr/>
                    <a:lstStyle/>
                    <a:p>
                      <a:pPr algn="ctr" fontAlgn="ctr"/>
                      <a:r>
                        <a:rPr lang="ja-JP" altLang="en-US" sz="1400" b="1" i="0" u="none" strike="noStrike" dirty="0">
                          <a:effectLst/>
                          <a:latin typeface="メイリオ" panose="020B0604030504040204" pitchFamily="50" charset="-128"/>
                          <a:ea typeface="メイリオ" panose="020B0604030504040204" pitchFamily="50" charset="-128"/>
                        </a:rPr>
                        <a:t>総務人事チーム</a:t>
                      </a:r>
                    </a:p>
                  </a:txBody>
                  <a:tcPr marL="7203" marR="7203" marT="7203" marB="0" anchor="ctr">
                    <a:lnL>
                      <a:noFill/>
                    </a:lnL>
                    <a:lnR>
                      <a:noFill/>
                    </a:lnR>
                    <a:lnT>
                      <a:noFill/>
                    </a:lnT>
                    <a:lnB>
                      <a:noFill/>
                    </a:lnB>
                  </a:tcPr>
                </a:tc>
                <a:tc>
                  <a:txBody>
                    <a:bodyPr/>
                    <a:lstStyle/>
                    <a:p>
                      <a:pPr algn="ctr" fontAlgn="ctr"/>
                      <a:r>
                        <a:rPr lang="ja-JP" altLang="en-US" sz="1400" b="1" i="0" u="none" strike="noStrike" dirty="0">
                          <a:effectLst/>
                          <a:latin typeface="メイリオ" panose="020B0604030504040204" pitchFamily="50" charset="-128"/>
                          <a:ea typeface="メイリオ" panose="020B0604030504040204" pitchFamily="50" charset="-128"/>
                        </a:rPr>
                        <a:t>伊藤　祐介</a:t>
                      </a:r>
                      <a:endParaRPr lang="en-US" altLang="ja-JP" sz="1400" b="1" i="0" u="none" strike="noStrike" dirty="0">
                        <a:effectLst/>
                        <a:latin typeface="メイリオ" panose="020B0604030504040204" pitchFamily="50" charset="-128"/>
                        <a:ea typeface="メイリオ" panose="020B0604030504040204" pitchFamily="50" charset="-128"/>
                      </a:endParaRPr>
                    </a:p>
                  </a:txBody>
                  <a:tcPr marL="7203" marR="7203" marT="7203" marB="0" anchor="ctr">
                    <a:lnL>
                      <a:noFill/>
                    </a:lnL>
                    <a:lnR>
                      <a:noFill/>
                    </a:lnR>
                    <a:lnT>
                      <a:noFill/>
                    </a:lnT>
                    <a:lnB>
                      <a:noFill/>
                    </a:lnB>
                  </a:tcPr>
                </a:tc>
                <a:extLst>
                  <a:ext uri="{0D108BD9-81ED-4DB2-BD59-A6C34878D82A}">
                    <a16:rowId xmlns:a16="http://schemas.microsoft.com/office/drawing/2014/main" val="4267474516"/>
                  </a:ext>
                </a:extLst>
              </a:tr>
            </a:tbl>
          </a:graphicData>
        </a:graphic>
      </p:graphicFrame>
    </p:spTree>
    <p:extLst>
      <p:ext uri="{BB962C8B-B14F-4D97-AF65-F5344CB8AC3E}">
        <p14:creationId xmlns:p14="http://schemas.microsoft.com/office/powerpoint/2010/main" val="21968387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グループ化 4">
            <a:extLst>
              <a:ext uri="{FF2B5EF4-FFF2-40B4-BE49-F238E27FC236}">
                <a16:creationId xmlns:a16="http://schemas.microsoft.com/office/drawing/2014/main" id="{D1CD502B-8084-4417-A023-0723B2C9344E}"/>
              </a:ext>
            </a:extLst>
          </p:cNvPr>
          <p:cNvGrpSpPr/>
          <p:nvPr/>
        </p:nvGrpSpPr>
        <p:grpSpPr>
          <a:xfrm>
            <a:off x="11112" y="8425413"/>
            <a:ext cx="6834185" cy="718587"/>
            <a:chOff x="11112" y="8425413"/>
            <a:chExt cx="6834185" cy="718587"/>
          </a:xfrm>
        </p:grpSpPr>
        <p:pic>
          <p:nvPicPr>
            <p:cNvPr id="23" name="図 22">
              <a:extLst>
                <a:ext uri="{FF2B5EF4-FFF2-40B4-BE49-F238E27FC236}">
                  <a16:creationId xmlns:a16="http://schemas.microsoft.com/office/drawing/2014/main" id="{00000000-0008-0000-0100-000004000000}"/>
                </a:ext>
              </a:extLst>
            </p:cNvPr>
            <p:cNvPicPr>
              <a:picLocks noChangeAspect="1"/>
            </p:cNvPicPr>
            <p:nvPr/>
          </p:nvPicPr>
          <p:blipFill rotWithShape="1">
            <a:blip r:embed="rId2">
              <a:extLst>
                <a:ext uri="{28A0092B-C50C-407E-A947-70E740481C1C}">
                  <a14:useLocalDpi xmlns:a14="http://schemas.microsoft.com/office/drawing/2010/main" val="0"/>
                </a:ext>
              </a:extLst>
            </a:blip>
            <a:srcRect l="59538" t="56963"/>
            <a:stretch/>
          </p:blipFill>
          <p:spPr>
            <a:xfrm>
              <a:off x="1124744" y="8789560"/>
              <a:ext cx="5720553" cy="354439"/>
            </a:xfrm>
            <a:prstGeom prst="rect">
              <a:avLst/>
            </a:prstGeom>
          </p:spPr>
        </p:pic>
        <p:pic>
          <p:nvPicPr>
            <p:cNvPr id="24" name="図 23">
              <a:extLst>
                <a:ext uri="{FF2B5EF4-FFF2-40B4-BE49-F238E27FC236}">
                  <a16:creationId xmlns:a16="http://schemas.microsoft.com/office/drawing/2014/main" id="{00000000-0008-0000-0100-000005000000}"/>
                </a:ext>
              </a:extLst>
            </p:cNvPr>
            <p:cNvPicPr>
              <a:picLocks noChangeAspect="1"/>
            </p:cNvPicPr>
            <p:nvPr/>
          </p:nvPicPr>
          <p:blipFill rotWithShape="1">
            <a:blip r:embed="rId2">
              <a:extLst>
                <a:ext uri="{28A0092B-C50C-407E-A947-70E740481C1C}">
                  <a14:useLocalDpi xmlns:a14="http://schemas.microsoft.com/office/drawing/2010/main" val="0"/>
                </a:ext>
              </a:extLst>
            </a:blip>
            <a:srcRect r="28008"/>
            <a:stretch/>
          </p:blipFill>
          <p:spPr>
            <a:xfrm>
              <a:off x="11112" y="8425413"/>
              <a:ext cx="1545680" cy="718587"/>
            </a:xfrm>
            <a:prstGeom prst="rect">
              <a:avLst/>
            </a:prstGeom>
          </p:spPr>
        </p:pic>
        <p:pic>
          <p:nvPicPr>
            <p:cNvPr id="25" name="Picture 2" descr="C:\Users\user\Desktop\MMIロゴ.jpg">
              <a:extLst>
                <a:ext uri="{FF2B5EF4-FFF2-40B4-BE49-F238E27FC236}">
                  <a16:creationId xmlns:a16="http://schemas.microsoft.com/office/drawing/2014/main" id="{00000000-0008-0000-0100-00000600000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42465" y="8706936"/>
              <a:ext cx="668079" cy="218539"/>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13" name="Google Shape;1346;p122">
            <a:extLst>
              <a:ext uri="{FF2B5EF4-FFF2-40B4-BE49-F238E27FC236}">
                <a16:creationId xmlns:a16="http://schemas.microsoft.com/office/drawing/2014/main" id="{21C730A1-4F84-45C2-89AE-120EFB8A06B8}"/>
              </a:ext>
            </a:extLst>
          </p:cNvPr>
          <p:cNvSpPr txBox="1"/>
          <p:nvPr/>
        </p:nvSpPr>
        <p:spPr>
          <a:xfrm>
            <a:off x="6308725" y="8993188"/>
            <a:ext cx="538163" cy="158750"/>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728D71D6-3455-4614-AB48-1DC83F526FD5}"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28</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sp>
        <p:nvSpPr>
          <p:cNvPr id="14" name="Rectangle 26">
            <a:extLst>
              <a:ext uri="{FF2B5EF4-FFF2-40B4-BE49-F238E27FC236}">
                <a16:creationId xmlns:a16="http://schemas.microsoft.com/office/drawing/2014/main" id="{00000000-0008-0000-0100-000003000000}"/>
              </a:ext>
            </a:extLst>
          </p:cNvPr>
          <p:cNvSpPr>
            <a:spLocks noChangeArrowheads="1"/>
          </p:cNvSpPr>
          <p:nvPr/>
        </p:nvSpPr>
        <p:spPr bwMode="auto">
          <a:xfrm rot="10800000">
            <a:off x="12698" y="-6188"/>
            <a:ext cx="6845301" cy="369795"/>
          </a:xfrm>
          <a:prstGeom prst="rect">
            <a:avLst/>
          </a:prstGeom>
          <a:solidFill>
            <a:srgbClr val="FF9999"/>
          </a:solidFill>
          <a:ln w="9525">
            <a:noFill/>
            <a:miter lim="800000"/>
            <a:headEnd/>
            <a:tailEnd/>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r" rtl="1">
              <a:defRPr sz="1000"/>
            </a:pPr>
            <a:endParaRPr lang="en-US" altLang="ja-JP" sz="1800" b="1" i="0" strike="noStrike">
              <a:solidFill>
                <a:schemeClr val="tx1"/>
              </a:solidFill>
              <a:latin typeface="+mj-ea"/>
              <a:ea typeface="+mj-ea"/>
            </a:endParaRPr>
          </a:p>
        </p:txBody>
      </p:sp>
      <p:sp>
        <p:nvSpPr>
          <p:cNvPr id="15" name="テキスト ボックス 8">
            <a:extLst>
              <a:ext uri="{FF2B5EF4-FFF2-40B4-BE49-F238E27FC236}">
                <a16:creationId xmlns:a16="http://schemas.microsoft.com/office/drawing/2014/main" id="{A8419715-4FC4-4D62-BCD2-A0664A6EB391}"/>
              </a:ext>
            </a:extLst>
          </p:cNvPr>
          <p:cNvSpPr txBox="1"/>
          <p:nvPr/>
        </p:nvSpPr>
        <p:spPr>
          <a:xfrm>
            <a:off x="1844824" y="-44896"/>
            <a:ext cx="5000477" cy="443141"/>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r"/>
            <a:r>
              <a:rPr lang="ja-JP" altLang="en-US" sz="1400" b="1" dirty="0">
                <a:latin typeface="メイリオ" panose="020B0604030504040204" pitchFamily="50" charset="-128"/>
                <a:ea typeface="メイリオ" panose="020B0604030504040204" pitchFamily="50" charset="-128"/>
              </a:rPr>
              <a:t>イズム </a:t>
            </a:r>
            <a:r>
              <a:rPr lang="en-US" altLang="ja-JP" sz="1400" b="1" dirty="0">
                <a:latin typeface="メイリオ" panose="020B0604030504040204" pitchFamily="50" charset="-128"/>
                <a:ea typeface="メイリオ" panose="020B0604030504040204" pitchFamily="50" charset="-128"/>
              </a:rPr>
              <a:t>of</a:t>
            </a:r>
            <a:r>
              <a:rPr lang="ja-JP" altLang="en-US" sz="1400" b="1" dirty="0">
                <a:latin typeface="メイリオ" panose="020B0604030504040204" pitchFamily="50" charset="-128"/>
                <a:ea typeface="メイリオ" panose="020B0604030504040204" pitchFamily="50" charset="-128"/>
              </a:rPr>
              <a:t> </a:t>
            </a:r>
            <a:r>
              <a:rPr lang="en-US" altLang="ja-JP" sz="1400" b="1" dirty="0">
                <a:latin typeface="メイリオ" panose="020B0604030504040204" pitchFamily="50" charset="-128"/>
                <a:ea typeface="メイリオ" panose="020B0604030504040204" pitchFamily="50" charset="-128"/>
              </a:rPr>
              <a:t>Month</a:t>
            </a:r>
            <a:r>
              <a:rPr kumimoji="1" lang="en-US" altLang="ja-JP" sz="1400" b="1" dirty="0">
                <a:latin typeface="メイリオ" panose="020B0604030504040204" pitchFamily="50" charset="-128"/>
                <a:ea typeface="メイリオ" panose="020B0604030504040204" pitchFamily="50" charset="-128"/>
              </a:rPr>
              <a:t> </a:t>
            </a:r>
            <a:r>
              <a:rPr kumimoji="1" lang="ja-JP" altLang="en-US" sz="1400" b="1" dirty="0">
                <a:latin typeface="メイリオ" panose="020B0604030504040204" pitchFamily="50" charset="-128"/>
                <a:ea typeface="メイリオ" panose="020B0604030504040204" pitchFamily="50" charset="-128"/>
              </a:rPr>
              <a:t>～</a:t>
            </a:r>
            <a:r>
              <a:rPr kumimoji="1" lang="en-US" altLang="ja-JP" sz="1400" b="1" dirty="0">
                <a:latin typeface="メイリオ" panose="020B0604030504040204" pitchFamily="50" charset="-128"/>
                <a:ea typeface="メイリオ" panose="020B0604030504040204" pitchFamily="50" charset="-128"/>
              </a:rPr>
              <a:t>2021</a:t>
            </a:r>
            <a:r>
              <a:rPr kumimoji="1" lang="ja-JP" altLang="en-US" sz="1400" b="1" dirty="0">
                <a:latin typeface="メイリオ" panose="020B0604030504040204" pitchFamily="50" charset="-128"/>
                <a:ea typeface="メイリオ" panose="020B0604030504040204" pitchFamily="50" charset="-128"/>
              </a:rPr>
              <a:t>年</a:t>
            </a:r>
            <a:r>
              <a:rPr lang="en-US" altLang="ja-JP" sz="1400" b="1" dirty="0">
                <a:latin typeface="メイリオ" panose="020B0604030504040204" pitchFamily="50" charset="-128"/>
                <a:ea typeface="メイリオ" panose="020B0604030504040204" pitchFamily="50" charset="-128"/>
              </a:rPr>
              <a:t>12</a:t>
            </a:r>
            <a:r>
              <a:rPr kumimoji="1" lang="ja-JP" altLang="en-US" sz="1400" b="1" dirty="0">
                <a:latin typeface="メイリオ" panose="020B0604030504040204" pitchFamily="50" charset="-128"/>
                <a:ea typeface="メイリオ" panose="020B0604030504040204" pitchFamily="50" charset="-128"/>
              </a:rPr>
              <a:t>月度代表エピソード～</a:t>
            </a:r>
          </a:p>
        </p:txBody>
      </p:sp>
      <p:pic>
        <p:nvPicPr>
          <p:cNvPr id="16" name="図 15">
            <a:extLst>
              <a:ext uri="{FF2B5EF4-FFF2-40B4-BE49-F238E27FC236}">
                <a16:creationId xmlns:a16="http://schemas.microsoft.com/office/drawing/2014/main" id="{00000000-0008-0000-0100-000002000000}"/>
              </a:ext>
            </a:extLst>
          </p:cNvPr>
          <p:cNvPicPr>
            <a:picLocks noChangeAspect="1"/>
          </p:cNvPicPr>
          <p:nvPr/>
        </p:nvPicPr>
        <p:blipFill rotWithShape="1">
          <a:blip r:embed="rId4">
            <a:extLst>
              <a:ext uri="{28A0092B-C50C-407E-A947-70E740481C1C}">
                <a14:useLocalDpi xmlns:a14="http://schemas.microsoft.com/office/drawing/2010/main" val="0"/>
              </a:ext>
            </a:extLst>
          </a:blip>
          <a:srcRect l="10629" t="50589" b="27489"/>
          <a:stretch/>
        </p:blipFill>
        <p:spPr>
          <a:xfrm flipH="1">
            <a:off x="-1" y="954708"/>
            <a:ext cx="6845298" cy="354833"/>
          </a:xfrm>
          <a:prstGeom prst="rect">
            <a:avLst/>
          </a:prstGeom>
        </p:spPr>
      </p:pic>
      <p:graphicFrame>
        <p:nvGraphicFramePr>
          <p:cNvPr id="3" name="表 2">
            <a:extLst>
              <a:ext uri="{FF2B5EF4-FFF2-40B4-BE49-F238E27FC236}">
                <a16:creationId xmlns:a16="http://schemas.microsoft.com/office/drawing/2014/main" id="{8C139B86-40AC-45F7-87DB-228867D7DFA6}"/>
              </a:ext>
            </a:extLst>
          </p:cNvPr>
          <p:cNvGraphicFramePr>
            <a:graphicFrameLocks noGrp="1"/>
          </p:cNvGraphicFramePr>
          <p:nvPr>
            <p:extLst>
              <p:ext uri="{D42A27DB-BD31-4B8C-83A1-F6EECF244321}">
                <p14:modId xmlns:p14="http://schemas.microsoft.com/office/powerpoint/2010/main" val="1972201986"/>
              </p:ext>
            </p:extLst>
          </p:nvPr>
        </p:nvGraphicFramePr>
        <p:xfrm>
          <a:off x="0" y="586160"/>
          <a:ext cx="6858000" cy="609600"/>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3352499802"/>
                    </a:ext>
                  </a:extLst>
                </a:gridCol>
              </a:tblGrid>
              <a:tr h="354439">
                <a:tc>
                  <a:txBody>
                    <a:bodyPr/>
                    <a:lstStyle/>
                    <a:p>
                      <a:pPr algn="ctr" fontAlgn="ctr"/>
                      <a:r>
                        <a:rPr lang="zh-TW" altLang="en-US" sz="2000" b="1" i="0" u="none" strike="noStrike" dirty="0">
                          <a:effectLst/>
                          <a:latin typeface="メイリオ" panose="020B0604030504040204" pitchFamily="50" charset="-128"/>
                          <a:ea typeface="メイリオ" panose="020B0604030504040204" pitchFamily="50" charset="-128"/>
                        </a:rPr>
                        <a:t>新館長就任</a:t>
                      </a:r>
                      <a:r>
                        <a:rPr lang="en-US" altLang="zh-TW" sz="2000" b="1" i="0" u="none" strike="noStrike" dirty="0">
                          <a:effectLst/>
                          <a:latin typeface="メイリオ" panose="020B0604030504040204" pitchFamily="50" charset="-128"/>
                          <a:ea typeface="メイリオ" panose="020B0604030504040204" pitchFamily="50" charset="-128"/>
                        </a:rPr>
                        <a:t>(</a:t>
                      </a:r>
                      <a:r>
                        <a:rPr lang="zh-TW" altLang="en-US" sz="2000" b="1" i="0" u="none" strike="noStrike" dirty="0">
                          <a:effectLst/>
                          <a:latin typeface="メイリオ" panose="020B0604030504040204" pitchFamily="50" charset="-128"/>
                          <a:ea typeface="メイリオ" panose="020B0604030504040204" pitchFamily="50" charset="-128"/>
                        </a:rPr>
                        <a:t>祭</a:t>
                      </a:r>
                      <a:r>
                        <a:rPr lang="en-US" altLang="zh-TW" sz="2000" b="1" i="0" u="none" strike="noStrike" dirty="0">
                          <a:effectLst/>
                          <a:latin typeface="メイリオ" panose="020B0604030504040204" pitchFamily="50" charset="-128"/>
                          <a:ea typeface="メイリオ" panose="020B0604030504040204" pitchFamily="50" charset="-128"/>
                        </a:rPr>
                        <a:t>)</a:t>
                      </a:r>
                      <a:endParaRPr lang="ja-JP" altLang="en-US" sz="2000" b="1" i="0" u="none" strike="noStrike" dirty="0">
                        <a:effectLst/>
                        <a:latin typeface="メイリオ" panose="020B0604030504040204" pitchFamily="50" charset="-128"/>
                        <a:ea typeface="メイリオ" panose="020B0604030504040204" pitchFamily="50" charset="-128"/>
                      </a:endParaRPr>
                    </a:p>
                    <a:p>
                      <a:pPr algn="ctr" fontAlgn="ctr"/>
                      <a:endParaRPr lang="ja-JP" altLang="en-US" sz="2000" b="1" i="0" u="none" strike="noStrike" dirty="0">
                        <a:effectLst/>
                        <a:latin typeface="メイリオ" panose="020B0604030504040204" pitchFamily="50" charset="-128"/>
                        <a:ea typeface="メイリオ" panose="020B0604030504040204" pitchFamily="50" charset="-128"/>
                      </a:endParaRPr>
                    </a:p>
                  </a:txBody>
                  <a:tcPr marL="0" marR="0" marT="0" marB="0" anchor="ctr">
                    <a:noFill/>
                  </a:tcPr>
                </a:tc>
                <a:extLst>
                  <a:ext uri="{0D108BD9-81ED-4DB2-BD59-A6C34878D82A}">
                    <a16:rowId xmlns:a16="http://schemas.microsoft.com/office/drawing/2014/main" val="51326532"/>
                  </a:ext>
                </a:extLst>
              </a:tr>
            </a:tbl>
          </a:graphicData>
        </a:graphic>
      </p:graphicFrame>
      <p:graphicFrame>
        <p:nvGraphicFramePr>
          <p:cNvPr id="20" name="表 19">
            <a:extLst>
              <a:ext uri="{FF2B5EF4-FFF2-40B4-BE49-F238E27FC236}">
                <a16:creationId xmlns:a16="http://schemas.microsoft.com/office/drawing/2014/main" id="{AF3D3932-C55C-4445-AEFA-77BB58B79194}"/>
              </a:ext>
            </a:extLst>
          </p:cNvPr>
          <p:cNvGraphicFramePr>
            <a:graphicFrameLocks noGrp="1"/>
          </p:cNvGraphicFramePr>
          <p:nvPr/>
        </p:nvGraphicFramePr>
        <p:xfrm>
          <a:off x="-3" y="1187624"/>
          <a:ext cx="6858000" cy="354439"/>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3352499802"/>
                    </a:ext>
                  </a:extLst>
                </a:gridCol>
              </a:tblGrid>
              <a:tr h="354439">
                <a:tc>
                  <a:txBody>
                    <a:bodyPr/>
                    <a:lstStyle/>
                    <a:p>
                      <a:pPr algn="ctr" fontAlgn="ctr"/>
                      <a:r>
                        <a:rPr lang="ja-JP" altLang="en-US" sz="1600" b="1" i="0" u="none" strike="noStrike" dirty="0">
                          <a:effectLst/>
                          <a:latin typeface="メイリオ" panose="020B0604030504040204" pitchFamily="50" charset="-128"/>
                          <a:ea typeface="メイリオ" panose="020B0604030504040204" pitchFamily="50" charset="-128"/>
                        </a:rPr>
                        <a:t>関連するイズム：ベストの追求 </a:t>
                      </a:r>
                      <a:r>
                        <a:rPr lang="en-US" altLang="ja-JP" sz="1600" b="1" i="0" u="none" strike="noStrike" dirty="0">
                          <a:effectLst/>
                          <a:latin typeface="メイリオ" panose="020B0604030504040204" pitchFamily="50" charset="-128"/>
                          <a:ea typeface="メイリオ" panose="020B0604030504040204" pitchFamily="50" charset="-128"/>
                        </a:rPr>
                        <a:t>~</a:t>
                      </a:r>
                      <a:r>
                        <a:rPr lang="ja-JP" altLang="en-US" sz="1600" b="1" i="0" u="none" strike="noStrike" dirty="0">
                          <a:effectLst/>
                          <a:latin typeface="メイリオ" panose="020B0604030504040204" pitchFamily="50" charset="-128"/>
                          <a:ea typeface="メイリオ" panose="020B0604030504040204" pitchFamily="50" charset="-128"/>
                        </a:rPr>
                        <a:t>感動創造～</a:t>
                      </a:r>
                      <a:endParaRPr lang="en-US" altLang="ja-JP" sz="1600" b="1" i="0" u="none" strike="noStrike" dirty="0">
                        <a:effectLst/>
                        <a:latin typeface="メイリオ" panose="020B0604030504040204" pitchFamily="50" charset="-128"/>
                        <a:ea typeface="メイリオ" panose="020B0604030504040204" pitchFamily="50" charset="-128"/>
                      </a:endParaRPr>
                    </a:p>
                  </a:txBody>
                  <a:tcPr marL="0" marR="0" marT="0" marB="0" anchor="ctr">
                    <a:noFill/>
                  </a:tcPr>
                </a:tc>
                <a:extLst>
                  <a:ext uri="{0D108BD9-81ED-4DB2-BD59-A6C34878D82A}">
                    <a16:rowId xmlns:a16="http://schemas.microsoft.com/office/drawing/2014/main" val="51326532"/>
                  </a:ext>
                </a:extLst>
              </a:tr>
            </a:tbl>
          </a:graphicData>
        </a:graphic>
      </p:graphicFrame>
      <p:graphicFrame>
        <p:nvGraphicFramePr>
          <p:cNvPr id="21" name="表 20">
            <a:extLst>
              <a:ext uri="{FF2B5EF4-FFF2-40B4-BE49-F238E27FC236}">
                <a16:creationId xmlns:a16="http://schemas.microsoft.com/office/drawing/2014/main" id="{3EF87205-649E-42A4-A0E3-F2150B4E37B8}"/>
              </a:ext>
            </a:extLst>
          </p:cNvPr>
          <p:cNvGraphicFramePr>
            <a:graphicFrameLocks noGrp="1"/>
          </p:cNvGraphicFramePr>
          <p:nvPr>
            <p:extLst>
              <p:ext uri="{D42A27DB-BD31-4B8C-83A1-F6EECF244321}">
                <p14:modId xmlns:p14="http://schemas.microsoft.com/office/powerpoint/2010/main" val="3165630288"/>
              </p:ext>
            </p:extLst>
          </p:nvPr>
        </p:nvGraphicFramePr>
        <p:xfrm>
          <a:off x="224644" y="1653208"/>
          <a:ext cx="6408712" cy="6850380"/>
        </p:xfrm>
        <a:graphic>
          <a:graphicData uri="http://schemas.openxmlformats.org/drawingml/2006/table">
            <a:tbl>
              <a:tblPr>
                <a:tableStyleId>{5C22544A-7EE6-4342-B048-85BDC9FD1C3A}</a:tableStyleId>
              </a:tblPr>
              <a:tblGrid>
                <a:gridCol w="6408712">
                  <a:extLst>
                    <a:ext uri="{9D8B030D-6E8A-4147-A177-3AD203B41FA5}">
                      <a16:colId xmlns:a16="http://schemas.microsoft.com/office/drawing/2014/main" val="3352499802"/>
                    </a:ext>
                  </a:extLst>
                </a:gridCol>
              </a:tblGrid>
              <a:tr h="6447184">
                <a:tc>
                  <a:txBody>
                    <a:bodyPr/>
                    <a:lstStyle/>
                    <a:p>
                      <a:pPr algn="l" fontAlgn="ctr"/>
                      <a:r>
                        <a:rPr lang="ja-JP" altLang="en-US" sz="1450" b="0" i="0" u="none" strike="noStrike" dirty="0">
                          <a:effectLst/>
                          <a:latin typeface="メイリオ" panose="020B0604030504040204" pitchFamily="50" charset="-128"/>
                          <a:ea typeface="メイリオ" panose="020B0604030504040204" pitchFamily="50" charset="-128"/>
                        </a:rPr>
                        <a:t>タイトルでピンときた方もいらっしゃるかもしれませんが、今回のエピソードの主人公は小宮慶宏さんです。</a:t>
                      </a:r>
                    </a:p>
                    <a:p>
                      <a:pPr algn="l" fontAlgn="ctr"/>
                      <a:endParaRPr lang="ja-JP" altLang="en-US" sz="1450" b="0" i="0" u="none" strike="noStrike" dirty="0">
                        <a:effectLst/>
                        <a:latin typeface="メイリオ" panose="020B0604030504040204" pitchFamily="50" charset="-128"/>
                        <a:ea typeface="メイリオ" panose="020B0604030504040204" pitchFamily="50" charset="-128"/>
                      </a:endParaRPr>
                    </a:p>
                    <a:p>
                      <a:pPr algn="l" fontAlgn="ctr"/>
                      <a:r>
                        <a:rPr lang="en-US" altLang="ja-JP" sz="1450" b="0" i="0" u="none" strike="noStrike" dirty="0">
                          <a:effectLst/>
                          <a:latin typeface="メイリオ" panose="020B0604030504040204" pitchFamily="50" charset="-128"/>
                          <a:ea typeface="メイリオ" panose="020B0604030504040204" pitchFamily="50" charset="-128"/>
                        </a:rPr>
                        <a:t>8</a:t>
                      </a:r>
                      <a:r>
                        <a:rPr lang="ja-JP" altLang="en-US" sz="1450" b="0" i="0" u="none" strike="noStrike" dirty="0">
                          <a:effectLst/>
                          <a:latin typeface="メイリオ" panose="020B0604030504040204" pitchFamily="50" charset="-128"/>
                          <a:ea typeface="メイリオ" panose="020B0604030504040204" pitchFamily="50" charset="-128"/>
                        </a:rPr>
                        <a:t>月をもって退職された松本大輔さんに代わり、</a:t>
                      </a:r>
                      <a:r>
                        <a:rPr lang="en-US" altLang="ja-JP" sz="1450" b="0" i="0" u="none" strike="noStrike" dirty="0">
                          <a:effectLst/>
                          <a:latin typeface="メイリオ" panose="020B0604030504040204" pitchFamily="50" charset="-128"/>
                          <a:ea typeface="メイリオ" panose="020B0604030504040204" pitchFamily="50" charset="-128"/>
                        </a:rPr>
                        <a:t>『ism</a:t>
                      </a:r>
                      <a:r>
                        <a:rPr lang="ja-JP" altLang="en-US" sz="1450" b="0" i="0" u="none" strike="noStrike" dirty="0">
                          <a:effectLst/>
                          <a:latin typeface="メイリオ" panose="020B0604030504040204" pitchFamily="50" charset="-128"/>
                          <a:ea typeface="メイリオ" panose="020B0604030504040204" pitchFamily="50" charset="-128"/>
                        </a:rPr>
                        <a:t>緑が丘</a:t>
                      </a:r>
                      <a:r>
                        <a:rPr lang="en-US" altLang="ja-JP" sz="1450" b="0" i="0" u="none" strike="noStrike" dirty="0">
                          <a:effectLst/>
                          <a:latin typeface="メイリオ" panose="020B0604030504040204" pitchFamily="50" charset="-128"/>
                          <a:ea typeface="メイリオ" panose="020B0604030504040204" pitchFamily="50" charset="-128"/>
                        </a:rPr>
                        <a:t>』</a:t>
                      </a:r>
                      <a:r>
                        <a:rPr lang="ja-JP" altLang="en-US" sz="1450" b="0" i="0" u="none" strike="noStrike" dirty="0">
                          <a:effectLst/>
                          <a:latin typeface="メイリオ" panose="020B0604030504040204" pitchFamily="50" charset="-128"/>
                          <a:ea typeface="メイリオ" panose="020B0604030504040204" pitchFamily="50" charset="-128"/>
                        </a:rPr>
                        <a:t>の館長に着任され早</a:t>
                      </a:r>
                      <a:r>
                        <a:rPr lang="en-US" altLang="ja-JP" sz="1450" b="0" i="0" u="none" strike="noStrike" dirty="0">
                          <a:effectLst/>
                          <a:latin typeface="メイリオ" panose="020B0604030504040204" pitchFamily="50" charset="-128"/>
                          <a:ea typeface="メイリオ" panose="020B0604030504040204" pitchFamily="50" charset="-128"/>
                        </a:rPr>
                        <a:t>3</a:t>
                      </a:r>
                      <a:r>
                        <a:rPr lang="ja-JP" altLang="en-US" sz="1450" b="0" i="0" u="none" strike="noStrike" dirty="0">
                          <a:effectLst/>
                          <a:latin typeface="メイリオ" panose="020B0604030504040204" pitchFamily="50" charset="-128"/>
                          <a:ea typeface="メイリオ" panose="020B0604030504040204" pitchFamily="50" charset="-128"/>
                        </a:rPr>
                        <a:t>ヶ月。多岐にわたる館長業務の一端と小宮さんの奮闘ぶりを紹介します。</a:t>
                      </a:r>
                    </a:p>
                    <a:p>
                      <a:pPr algn="l" fontAlgn="ctr"/>
                      <a:endParaRPr lang="ja-JP" altLang="en-US" sz="1450" b="0" i="0" u="none" strike="noStrike" dirty="0">
                        <a:effectLst/>
                        <a:latin typeface="メイリオ" panose="020B0604030504040204" pitchFamily="50" charset="-128"/>
                        <a:ea typeface="メイリオ" panose="020B0604030504040204" pitchFamily="50" charset="-128"/>
                      </a:endParaRPr>
                    </a:p>
                    <a:p>
                      <a:pPr algn="l" fontAlgn="ctr"/>
                      <a:r>
                        <a:rPr lang="ja-JP" altLang="en-US" sz="1450" b="0" i="0" u="none" strike="noStrike" dirty="0">
                          <a:effectLst/>
                          <a:latin typeface="メイリオ" panose="020B0604030504040204" pitchFamily="50" charset="-128"/>
                          <a:ea typeface="メイリオ" panose="020B0604030504040204" pitchFamily="50" charset="-128"/>
                        </a:rPr>
                        <a:t>業務内容としては、「施設管理」とされますが一口に施設の管理と言っても、</a:t>
                      </a:r>
                    </a:p>
                    <a:p>
                      <a:pPr algn="l" fontAlgn="ctr"/>
                      <a:r>
                        <a:rPr lang="ja-JP" altLang="en-US" sz="1450" b="0" i="0" u="none" strike="noStrike" dirty="0">
                          <a:effectLst/>
                          <a:latin typeface="メイリオ" panose="020B0604030504040204" pitchFamily="50" charset="-128"/>
                          <a:ea typeface="メイリオ" panose="020B0604030504040204" pitchFamily="50" charset="-128"/>
                        </a:rPr>
                        <a:t>テナント対応、館内衛生管理、設備保守と更新、事故・事件対応、建物の所有者であるマルハン対応、土地の所有者であるオーナー様対応、各種申請に行政対応、施設管理スタッフさんの管理等々</a:t>
                      </a:r>
                      <a:r>
                        <a:rPr lang="en-US" altLang="ja-JP" sz="1450" b="0" i="0" u="none" strike="noStrike" dirty="0">
                          <a:effectLst/>
                          <a:latin typeface="メイリオ" panose="020B0604030504040204" pitchFamily="50" charset="-128"/>
                          <a:ea typeface="メイリオ" panose="020B0604030504040204" pitchFamily="50" charset="-128"/>
                        </a:rPr>
                        <a:t>…</a:t>
                      </a:r>
                      <a:r>
                        <a:rPr lang="ja-JP" altLang="en-US" sz="1450" b="0" i="0" u="none" strike="noStrike" dirty="0">
                          <a:effectLst/>
                          <a:latin typeface="メイリオ" panose="020B0604030504040204" pitchFamily="50" charset="-128"/>
                          <a:ea typeface="メイリオ" panose="020B0604030504040204" pitchFamily="50" charset="-128"/>
                        </a:rPr>
                        <a:t>挙げきれないほどの多様さです。</a:t>
                      </a:r>
                    </a:p>
                    <a:p>
                      <a:pPr algn="l" fontAlgn="ctr"/>
                      <a:endParaRPr lang="ja-JP" altLang="en-US" sz="1450" b="0" i="0" u="none" strike="noStrike" dirty="0">
                        <a:effectLst/>
                        <a:latin typeface="メイリオ" panose="020B0604030504040204" pitchFamily="50" charset="-128"/>
                        <a:ea typeface="メイリオ" panose="020B0604030504040204" pitchFamily="50" charset="-128"/>
                      </a:endParaRPr>
                    </a:p>
                    <a:p>
                      <a:pPr algn="l" fontAlgn="ctr"/>
                      <a:r>
                        <a:rPr lang="ja-JP" altLang="en-US" sz="1450" b="0" i="0" u="none" strike="noStrike" dirty="0">
                          <a:effectLst/>
                          <a:latin typeface="メイリオ" panose="020B0604030504040204" pitchFamily="50" charset="-128"/>
                          <a:ea typeface="メイリオ" panose="020B0604030504040204" pitchFamily="50" charset="-128"/>
                        </a:rPr>
                        <a:t>しかも、施設は基本</a:t>
                      </a:r>
                      <a:r>
                        <a:rPr lang="en-US" altLang="ja-JP" sz="1450" b="0" i="0" u="none" strike="noStrike" dirty="0">
                          <a:effectLst/>
                          <a:latin typeface="メイリオ" panose="020B0604030504040204" pitchFamily="50" charset="-128"/>
                          <a:ea typeface="メイリオ" panose="020B0604030504040204" pitchFamily="50" charset="-128"/>
                        </a:rPr>
                        <a:t>365</a:t>
                      </a:r>
                      <a:r>
                        <a:rPr lang="ja-JP" altLang="en-US" sz="1450" b="0" i="0" u="none" strike="noStrike" dirty="0">
                          <a:effectLst/>
                          <a:latin typeface="メイリオ" panose="020B0604030504040204" pitchFamily="50" charset="-128"/>
                          <a:ea typeface="メイリオ" panose="020B0604030504040204" pitchFamily="50" charset="-128"/>
                        </a:rPr>
                        <a:t>日稼働で、状況によっては緊急対応を要することもあります。小宮さんは既に、停電や館内事案対応などで残業や予定外出勤を日常的にされています。</a:t>
                      </a:r>
                    </a:p>
                    <a:p>
                      <a:pPr algn="l" fontAlgn="ctr"/>
                      <a:endParaRPr lang="ja-JP" altLang="en-US" sz="1450" b="0" i="0" u="none" strike="noStrike" dirty="0">
                        <a:effectLst/>
                        <a:latin typeface="メイリオ" panose="020B0604030504040204" pitchFamily="50" charset="-128"/>
                        <a:ea typeface="メイリオ" panose="020B0604030504040204" pitchFamily="50" charset="-128"/>
                      </a:endParaRPr>
                    </a:p>
                    <a:p>
                      <a:pPr algn="l" fontAlgn="ctr"/>
                      <a:r>
                        <a:rPr lang="ja-JP" altLang="en-US" sz="1450" b="0" i="0" u="none" strike="noStrike" dirty="0">
                          <a:effectLst/>
                          <a:latin typeface="メイリオ" panose="020B0604030504040204" pitchFamily="50" charset="-128"/>
                          <a:ea typeface="メイリオ" panose="020B0604030504040204" pitchFamily="50" charset="-128"/>
                        </a:rPr>
                        <a:t>そんななか、小宮さんのすごいところは、何事にもキチンと向き合って「これは本当にマルハンの為になるのか？」や「</a:t>
                      </a:r>
                      <a:r>
                        <a:rPr lang="en-US" altLang="ja-JP" sz="1450" b="0" i="0" u="none" strike="noStrike" dirty="0">
                          <a:effectLst/>
                          <a:latin typeface="メイリオ" panose="020B0604030504040204" pitchFamily="50" charset="-128"/>
                          <a:ea typeface="メイリオ" panose="020B0604030504040204" pitchFamily="50" charset="-128"/>
                        </a:rPr>
                        <a:t>MMI</a:t>
                      </a:r>
                      <a:r>
                        <a:rPr lang="ja-JP" altLang="en-US" sz="1450" b="0" i="0" u="none" strike="noStrike" dirty="0">
                          <a:effectLst/>
                          <a:latin typeface="メイリオ" panose="020B0604030504040204" pitchFamily="50" charset="-128"/>
                          <a:ea typeface="メイリオ" panose="020B0604030504040204" pitchFamily="50" charset="-128"/>
                        </a:rPr>
                        <a:t>の為になるのか？」を常に考えながら対応されているところです。ゼロベースのスタートであろうが、ルーチンであろうが、イレギュラーであろうが関係ありません、常にです。そのように真摯に取り組む姿勢に、小宮さん自身が今まで培ってきた</a:t>
                      </a:r>
                      <a:r>
                        <a:rPr lang="en-US" altLang="ja-JP" sz="1450" b="0" i="0" u="none" strike="noStrike" dirty="0">
                          <a:effectLst/>
                          <a:latin typeface="メイリオ" panose="020B0604030504040204" pitchFamily="50" charset="-128"/>
                          <a:ea typeface="メイリオ" panose="020B0604030504040204" pitchFamily="50" charset="-128"/>
                        </a:rPr>
                        <a:t>MMI(</a:t>
                      </a:r>
                      <a:r>
                        <a:rPr lang="ja-JP" altLang="en-US" sz="1450" b="0" i="0" u="none" strike="noStrike" dirty="0">
                          <a:effectLst/>
                          <a:latin typeface="メイリオ" panose="020B0604030504040204" pitchFamily="50" charset="-128"/>
                          <a:ea typeface="メイリオ" panose="020B0604030504040204" pitchFamily="50" charset="-128"/>
                        </a:rPr>
                        <a:t>マルハン</a:t>
                      </a:r>
                      <a:r>
                        <a:rPr lang="en-US" altLang="ja-JP" sz="1450" b="0" i="0" u="none" strike="noStrike" dirty="0">
                          <a:effectLst/>
                          <a:latin typeface="メイリオ" panose="020B0604030504040204" pitchFamily="50" charset="-128"/>
                          <a:ea typeface="メイリオ" panose="020B0604030504040204" pitchFamily="50" charset="-128"/>
                        </a:rPr>
                        <a:t>)ISM</a:t>
                      </a:r>
                      <a:r>
                        <a:rPr lang="ja-JP" altLang="en-US" sz="1450" b="0" i="0" u="none" strike="noStrike" dirty="0">
                          <a:effectLst/>
                          <a:latin typeface="メイリオ" panose="020B0604030504040204" pitchFamily="50" charset="-128"/>
                          <a:ea typeface="メイリオ" panose="020B0604030504040204" pitchFamily="50" charset="-128"/>
                        </a:rPr>
                        <a:t>を感じています。</a:t>
                      </a:r>
                    </a:p>
                    <a:p>
                      <a:pPr algn="l" fontAlgn="ctr"/>
                      <a:endParaRPr lang="ja-JP" altLang="en-US" sz="1450" b="0" i="0" u="none" strike="noStrike" dirty="0">
                        <a:effectLst/>
                        <a:latin typeface="メイリオ" panose="020B0604030504040204" pitchFamily="50" charset="-128"/>
                        <a:ea typeface="メイリオ" panose="020B0604030504040204" pitchFamily="50" charset="-128"/>
                      </a:endParaRPr>
                    </a:p>
                    <a:p>
                      <a:pPr algn="l" fontAlgn="ctr"/>
                      <a:r>
                        <a:rPr lang="ja-JP" altLang="en-US" sz="1450" b="0" i="0" u="none" strike="noStrike" dirty="0">
                          <a:effectLst/>
                          <a:latin typeface="メイリオ" panose="020B0604030504040204" pitchFamily="50" charset="-128"/>
                          <a:ea typeface="メイリオ" panose="020B0604030504040204" pitchFamily="50" charset="-128"/>
                        </a:rPr>
                        <a:t>是非これからも</a:t>
                      </a:r>
                      <a:r>
                        <a:rPr lang="en-US" altLang="ja-JP" sz="1450" b="0" i="0" u="none" strike="noStrike" dirty="0">
                          <a:effectLst/>
                          <a:latin typeface="メイリオ" panose="020B0604030504040204" pitchFamily="50" charset="-128"/>
                          <a:ea typeface="メイリオ" panose="020B0604030504040204" pitchFamily="50" charset="-128"/>
                        </a:rPr>
                        <a:t>『</a:t>
                      </a:r>
                      <a:r>
                        <a:rPr lang="ja-JP" altLang="en-US" sz="1450" b="0" i="0" u="none" strike="noStrike" dirty="0">
                          <a:effectLst/>
                          <a:latin typeface="メイリオ" panose="020B0604030504040204" pitchFamily="50" charset="-128"/>
                          <a:ea typeface="メイリオ" panose="020B0604030504040204" pitchFamily="50" charset="-128"/>
                        </a:rPr>
                        <a:t>ベストを追求</a:t>
                      </a:r>
                      <a:r>
                        <a:rPr lang="en-US" altLang="ja-JP" sz="1450" b="0" i="0" u="none" strike="noStrike" dirty="0">
                          <a:effectLst/>
                          <a:latin typeface="メイリオ" panose="020B0604030504040204" pitchFamily="50" charset="-128"/>
                          <a:ea typeface="メイリオ" panose="020B0604030504040204" pitchFamily="50" charset="-128"/>
                        </a:rPr>
                        <a:t>』</a:t>
                      </a:r>
                      <a:r>
                        <a:rPr lang="ja-JP" altLang="en-US" sz="1450" b="0" i="0" u="none" strike="noStrike" dirty="0">
                          <a:effectLst/>
                          <a:latin typeface="メイリオ" panose="020B0604030504040204" pitchFamily="50" charset="-128"/>
                          <a:ea typeface="メイリオ" panose="020B0604030504040204" pitchFamily="50" charset="-128"/>
                        </a:rPr>
                        <a:t>し続けて下さい！</a:t>
                      </a:r>
                    </a:p>
                    <a:p>
                      <a:pPr algn="l" fontAlgn="ctr"/>
                      <a:r>
                        <a:rPr lang="ja-JP" altLang="en-US" sz="1450" b="0" i="0" u="none" strike="noStrike" dirty="0">
                          <a:effectLst/>
                          <a:latin typeface="メイリオ" panose="020B0604030504040204" pitchFamily="50" charset="-128"/>
                          <a:ea typeface="メイリオ" panose="020B0604030504040204" pitchFamily="50" charset="-128"/>
                        </a:rPr>
                        <a:t>私も</a:t>
                      </a:r>
                      <a:r>
                        <a:rPr lang="en-US" altLang="ja-JP" sz="1450" b="0" i="0" u="none" strike="noStrike" dirty="0">
                          <a:effectLst/>
                          <a:latin typeface="メイリオ" panose="020B0604030504040204" pitchFamily="50" charset="-128"/>
                          <a:ea typeface="メイリオ" panose="020B0604030504040204" pitchFamily="50" charset="-128"/>
                        </a:rPr>
                        <a:t>ism</a:t>
                      </a:r>
                      <a:r>
                        <a:rPr lang="ja-JP" altLang="en-US" sz="1450" b="0" i="0" u="none" strike="noStrike" dirty="0">
                          <a:effectLst/>
                          <a:latin typeface="メイリオ" panose="020B0604030504040204" pitchFamily="50" charset="-128"/>
                          <a:ea typeface="メイリオ" panose="020B0604030504040204" pitchFamily="50" charset="-128"/>
                        </a:rPr>
                        <a:t>緑が丘のサブメンバーとして、いち同僚として可能な範囲で一緒に取り組んでいきます。</a:t>
                      </a:r>
                    </a:p>
                    <a:p>
                      <a:pPr algn="l" fontAlgn="ctr"/>
                      <a:endParaRPr lang="ja-JP" altLang="en-US" sz="1450" b="0" i="0" u="none" strike="noStrike" dirty="0">
                        <a:effectLst/>
                        <a:latin typeface="メイリオ" panose="020B0604030504040204" pitchFamily="50" charset="-128"/>
                        <a:ea typeface="メイリオ" panose="020B0604030504040204" pitchFamily="50" charset="-128"/>
                      </a:endParaRPr>
                    </a:p>
                    <a:p>
                      <a:pPr algn="l" fontAlgn="ctr"/>
                      <a:r>
                        <a:rPr lang="en-US" altLang="ja-JP" sz="1450" b="0" i="0" u="none" strike="noStrike" dirty="0">
                          <a:effectLst/>
                          <a:latin typeface="メイリオ" panose="020B0604030504040204" pitchFamily="50" charset="-128"/>
                          <a:ea typeface="メイリオ" panose="020B0604030504040204" pitchFamily="50" charset="-128"/>
                        </a:rPr>
                        <a:t>P.S.</a:t>
                      </a:r>
                      <a:r>
                        <a:rPr lang="ja-JP" altLang="en-US" sz="1450" b="0" i="0" u="none" strike="noStrike" dirty="0">
                          <a:effectLst/>
                          <a:latin typeface="メイリオ" panose="020B0604030504040204" pitchFamily="50" charset="-128"/>
                          <a:ea typeface="メイリオ" panose="020B0604030504040204" pitchFamily="50" charset="-128"/>
                        </a:rPr>
                        <a:t>タイトルの</a:t>
                      </a:r>
                      <a:r>
                        <a:rPr lang="en-US" altLang="ja-JP" sz="1450" b="0" i="0" u="none" strike="noStrike" dirty="0">
                          <a:effectLst/>
                          <a:latin typeface="メイリオ" panose="020B0604030504040204" pitchFamily="50" charset="-128"/>
                          <a:ea typeface="メイリオ" panose="020B0604030504040204" pitchFamily="50" charset="-128"/>
                        </a:rPr>
                        <a:t>(</a:t>
                      </a:r>
                      <a:r>
                        <a:rPr lang="ja-JP" altLang="en-US" sz="1450" b="0" i="0" u="none" strike="noStrike" dirty="0">
                          <a:effectLst/>
                          <a:latin typeface="メイリオ" panose="020B0604030504040204" pitchFamily="50" charset="-128"/>
                          <a:ea typeface="メイリオ" panose="020B0604030504040204" pitchFamily="50" charset="-128"/>
                        </a:rPr>
                        <a:t>祭</a:t>
                      </a:r>
                      <a:r>
                        <a:rPr lang="en-US" altLang="ja-JP" sz="1450" b="0" i="0" u="none" strike="noStrike" dirty="0">
                          <a:effectLst/>
                          <a:latin typeface="メイリオ" panose="020B0604030504040204" pitchFamily="50" charset="-128"/>
                          <a:ea typeface="メイリオ" panose="020B0604030504040204" pitchFamily="50" charset="-128"/>
                        </a:rPr>
                        <a:t>)</a:t>
                      </a:r>
                      <a:r>
                        <a:rPr lang="ja-JP" altLang="en-US" sz="1450" b="0" i="0" u="none" strike="noStrike" dirty="0">
                          <a:effectLst/>
                          <a:latin typeface="メイリオ" panose="020B0604030504040204" pitchFamily="50" charset="-128"/>
                          <a:ea typeface="メイリオ" panose="020B0604030504040204" pitchFamily="50" charset="-128"/>
                        </a:rPr>
                        <a:t>が気になった方は、小宮さんか白井さんにきいてみて下さい。新業務の一端です。</a:t>
                      </a:r>
                    </a:p>
                    <a:p>
                      <a:pPr algn="l" fontAlgn="ctr"/>
                      <a:endParaRPr lang="ja-JP" altLang="en-US" sz="1450" b="0" i="0" u="none" strike="noStrike" dirty="0">
                        <a:effectLst/>
                        <a:latin typeface="メイリオ" panose="020B0604030504040204" pitchFamily="50" charset="-128"/>
                        <a:ea typeface="メイリオ" panose="020B0604030504040204" pitchFamily="50" charset="-128"/>
                      </a:endParaRPr>
                    </a:p>
                  </a:txBody>
                  <a:tcPr marL="0" marR="0" marT="0" marB="0" anchor="ctr">
                    <a:noFill/>
                  </a:tcPr>
                </a:tc>
                <a:extLst>
                  <a:ext uri="{0D108BD9-81ED-4DB2-BD59-A6C34878D82A}">
                    <a16:rowId xmlns:a16="http://schemas.microsoft.com/office/drawing/2014/main" val="51326532"/>
                  </a:ext>
                </a:extLst>
              </a:tr>
            </a:tbl>
          </a:graphicData>
        </a:graphic>
      </p:graphicFrame>
      <p:graphicFrame>
        <p:nvGraphicFramePr>
          <p:cNvPr id="4" name="表 3">
            <a:extLst>
              <a:ext uri="{FF2B5EF4-FFF2-40B4-BE49-F238E27FC236}">
                <a16:creationId xmlns:a16="http://schemas.microsoft.com/office/drawing/2014/main" id="{B79B7192-0D9C-4382-8D0B-167C3C35CE90}"/>
              </a:ext>
            </a:extLst>
          </p:cNvPr>
          <p:cNvGraphicFramePr>
            <a:graphicFrameLocks noGrp="1"/>
          </p:cNvGraphicFramePr>
          <p:nvPr>
            <p:extLst>
              <p:ext uri="{D42A27DB-BD31-4B8C-83A1-F6EECF244321}">
                <p14:modId xmlns:p14="http://schemas.microsoft.com/office/powerpoint/2010/main" val="1285563600"/>
              </p:ext>
            </p:extLst>
          </p:nvPr>
        </p:nvGraphicFramePr>
        <p:xfrm>
          <a:off x="764704" y="8143446"/>
          <a:ext cx="6048672" cy="605018"/>
        </p:xfrm>
        <a:graphic>
          <a:graphicData uri="http://schemas.openxmlformats.org/drawingml/2006/table">
            <a:tbl>
              <a:tblPr/>
              <a:tblGrid>
                <a:gridCol w="254002">
                  <a:extLst>
                    <a:ext uri="{9D8B030D-6E8A-4147-A177-3AD203B41FA5}">
                      <a16:colId xmlns:a16="http://schemas.microsoft.com/office/drawing/2014/main" val="4026392200"/>
                    </a:ext>
                  </a:extLst>
                </a:gridCol>
                <a:gridCol w="617588">
                  <a:extLst>
                    <a:ext uri="{9D8B030D-6E8A-4147-A177-3AD203B41FA5}">
                      <a16:colId xmlns:a16="http://schemas.microsoft.com/office/drawing/2014/main" val="2265573359"/>
                    </a:ext>
                  </a:extLst>
                </a:gridCol>
                <a:gridCol w="2885454">
                  <a:extLst>
                    <a:ext uri="{9D8B030D-6E8A-4147-A177-3AD203B41FA5}">
                      <a16:colId xmlns:a16="http://schemas.microsoft.com/office/drawing/2014/main" val="2831491253"/>
                    </a:ext>
                  </a:extLst>
                </a:gridCol>
                <a:gridCol w="2291628">
                  <a:extLst>
                    <a:ext uri="{9D8B030D-6E8A-4147-A177-3AD203B41FA5}">
                      <a16:colId xmlns:a16="http://schemas.microsoft.com/office/drawing/2014/main" val="2078562565"/>
                    </a:ext>
                  </a:extLst>
                </a:gridCol>
              </a:tblGrid>
              <a:tr h="302509">
                <a:tc>
                  <a:txBody>
                    <a:bodyPr/>
                    <a:lstStyle/>
                    <a:p>
                      <a:pPr algn="l" fontAlgn="ctr"/>
                      <a:endParaRPr lang="ja-JP" altLang="en-US" sz="900" b="1" i="0" u="none" strike="noStrike" dirty="0">
                        <a:effectLst/>
                        <a:latin typeface="メイリオ" panose="020B0604030504040204" pitchFamily="50" charset="-128"/>
                        <a:ea typeface="メイリオ" panose="020B0604030504040204" pitchFamily="50" charset="-128"/>
                      </a:endParaRPr>
                    </a:p>
                  </a:txBody>
                  <a:tcPr marL="7203" marR="7203" marT="7203" marB="0" anchor="ctr">
                    <a:lnL>
                      <a:noFill/>
                    </a:lnL>
                    <a:lnR>
                      <a:noFill/>
                    </a:lnR>
                    <a:lnT>
                      <a:noFill/>
                    </a:lnT>
                    <a:lnB>
                      <a:noFill/>
                    </a:lnB>
                  </a:tcPr>
                </a:tc>
                <a:tc>
                  <a:txBody>
                    <a:bodyPr/>
                    <a:lstStyle/>
                    <a:p>
                      <a:pPr algn="l" fontAlgn="ctr"/>
                      <a:endParaRPr lang="ja-JP" altLang="en-US" sz="1200" b="1" i="0" u="none" strike="noStrike">
                        <a:effectLst/>
                        <a:latin typeface="メイリオ" panose="020B0604030504040204" pitchFamily="50" charset="-128"/>
                        <a:ea typeface="メイリオ" panose="020B0604030504040204" pitchFamily="50" charset="-128"/>
                      </a:endParaRPr>
                    </a:p>
                  </a:txBody>
                  <a:tcPr marL="7203" marR="7203" marT="7203" marB="0" anchor="ctr">
                    <a:lnL>
                      <a:noFill/>
                    </a:lnL>
                    <a:lnR>
                      <a:noFill/>
                    </a:lnR>
                    <a:lnT>
                      <a:noFill/>
                    </a:lnT>
                    <a:lnB>
                      <a:noFill/>
                    </a:lnB>
                  </a:tcPr>
                </a:tc>
                <a:tc>
                  <a:txBody>
                    <a:bodyPr/>
                    <a:lstStyle/>
                    <a:p>
                      <a:pPr algn="ctr" fontAlgn="ctr"/>
                      <a:r>
                        <a:rPr lang="ja-JP" altLang="en-US" sz="1200" b="1" i="0" u="none" strike="noStrike" dirty="0">
                          <a:effectLst/>
                          <a:latin typeface="メイリオ" panose="020B0604030504040204" pitchFamily="50" charset="-128"/>
                          <a:ea typeface="メイリオ" panose="020B0604030504040204" pitchFamily="50" charset="-128"/>
                        </a:rPr>
                        <a:t>（所属）</a:t>
                      </a:r>
                    </a:p>
                  </a:txBody>
                  <a:tcPr marL="7203" marR="7203" marT="7203" marB="0" anchor="ctr">
                    <a:lnL>
                      <a:noFill/>
                    </a:lnL>
                    <a:lnR>
                      <a:noFill/>
                    </a:lnR>
                    <a:lnT>
                      <a:noFill/>
                    </a:lnT>
                    <a:lnB>
                      <a:noFill/>
                    </a:lnB>
                  </a:tcPr>
                </a:tc>
                <a:tc>
                  <a:txBody>
                    <a:bodyPr/>
                    <a:lstStyle/>
                    <a:p>
                      <a:pPr algn="ctr" fontAlgn="ctr"/>
                      <a:r>
                        <a:rPr lang="ja-JP" altLang="en-US" sz="1200" b="1" i="0" u="none" strike="noStrike" dirty="0">
                          <a:effectLst/>
                          <a:latin typeface="メイリオ" panose="020B0604030504040204" pitchFamily="50" charset="-128"/>
                          <a:ea typeface="メイリオ" panose="020B0604030504040204" pitchFamily="50" charset="-128"/>
                        </a:rPr>
                        <a:t>（氏名）</a:t>
                      </a:r>
                    </a:p>
                  </a:txBody>
                  <a:tcPr marL="7203" marR="7203" marT="7203" marB="0" anchor="ctr">
                    <a:lnL>
                      <a:noFill/>
                    </a:lnL>
                    <a:lnR>
                      <a:noFill/>
                    </a:lnR>
                    <a:lnT>
                      <a:noFill/>
                    </a:lnT>
                    <a:lnB>
                      <a:noFill/>
                    </a:lnB>
                  </a:tcPr>
                </a:tc>
                <a:extLst>
                  <a:ext uri="{0D108BD9-81ED-4DB2-BD59-A6C34878D82A}">
                    <a16:rowId xmlns:a16="http://schemas.microsoft.com/office/drawing/2014/main" val="2937889479"/>
                  </a:ext>
                </a:extLst>
              </a:tr>
              <a:tr h="302509">
                <a:tc gridSpan="2">
                  <a:txBody>
                    <a:bodyPr/>
                    <a:lstStyle/>
                    <a:p>
                      <a:pPr algn="ctr" fontAlgn="ctr"/>
                      <a:r>
                        <a:rPr lang="ja-JP" altLang="en-US" sz="1200" b="1" i="0" u="none" strike="noStrike" dirty="0">
                          <a:effectLst/>
                          <a:latin typeface="メイリオ" panose="020B0604030504040204" pitchFamily="50" charset="-128"/>
                          <a:ea typeface="メイリオ" panose="020B0604030504040204" pitchFamily="50" charset="-128"/>
                        </a:rPr>
                        <a:t>寄稿者</a:t>
                      </a:r>
                    </a:p>
                  </a:txBody>
                  <a:tcPr marL="7203" marR="7203" marT="7203" marB="0" anchor="ctr">
                    <a:lnL>
                      <a:noFill/>
                    </a:lnL>
                    <a:lnR>
                      <a:noFill/>
                    </a:lnR>
                    <a:lnT>
                      <a:noFill/>
                    </a:lnT>
                    <a:lnB>
                      <a:noFill/>
                    </a:lnB>
                  </a:tcPr>
                </a:tc>
                <a:tc hMerge="1">
                  <a:txBody>
                    <a:bodyPr/>
                    <a:lstStyle/>
                    <a:p>
                      <a:endParaRPr kumimoji="1" lang="ja-JP" altLang="en-US"/>
                    </a:p>
                  </a:txBody>
                  <a:tcPr/>
                </a:tc>
                <a:tc>
                  <a:txBody>
                    <a:bodyPr/>
                    <a:lstStyle/>
                    <a:p>
                      <a:pPr algn="ctr" fontAlgn="ctr"/>
                      <a:r>
                        <a:rPr lang="ja-JP" altLang="en-US" sz="1400" b="1" i="0" u="none" strike="noStrike" dirty="0">
                          <a:effectLst/>
                          <a:latin typeface="メイリオ" panose="020B0604030504040204" pitchFamily="50" charset="-128"/>
                          <a:ea typeface="メイリオ" panose="020B0604030504040204" pitchFamily="50" charset="-128"/>
                        </a:rPr>
                        <a:t>営業推進チーム</a:t>
                      </a:r>
                    </a:p>
                  </a:txBody>
                  <a:tcPr marL="7203" marR="7203" marT="7203" marB="0" anchor="ctr">
                    <a:lnL>
                      <a:noFill/>
                    </a:lnL>
                    <a:lnR>
                      <a:noFill/>
                    </a:lnR>
                    <a:lnT>
                      <a:noFill/>
                    </a:lnT>
                    <a:lnB>
                      <a:noFill/>
                    </a:lnB>
                  </a:tcPr>
                </a:tc>
                <a:tc>
                  <a:txBody>
                    <a:bodyPr/>
                    <a:lstStyle/>
                    <a:p>
                      <a:pPr algn="ctr" fontAlgn="ctr"/>
                      <a:r>
                        <a:rPr lang="ja-JP" altLang="en-US" sz="1400" b="1" i="0" u="none" strike="noStrike" dirty="0">
                          <a:effectLst/>
                          <a:latin typeface="メイリオ" panose="020B0604030504040204" pitchFamily="50" charset="-128"/>
                          <a:ea typeface="メイリオ" panose="020B0604030504040204" pitchFamily="50" charset="-128"/>
                        </a:rPr>
                        <a:t>山田　大輔</a:t>
                      </a:r>
                      <a:endParaRPr lang="en-US" altLang="ja-JP" sz="1400" b="1" i="0" u="none" strike="noStrike" dirty="0">
                        <a:effectLst/>
                        <a:latin typeface="メイリオ" panose="020B0604030504040204" pitchFamily="50" charset="-128"/>
                        <a:ea typeface="メイリオ" panose="020B0604030504040204" pitchFamily="50" charset="-128"/>
                      </a:endParaRPr>
                    </a:p>
                  </a:txBody>
                  <a:tcPr marL="7203" marR="7203" marT="7203" marB="0" anchor="ctr">
                    <a:lnL>
                      <a:noFill/>
                    </a:lnL>
                    <a:lnR>
                      <a:noFill/>
                    </a:lnR>
                    <a:lnT>
                      <a:noFill/>
                    </a:lnT>
                    <a:lnB>
                      <a:noFill/>
                    </a:lnB>
                  </a:tcPr>
                </a:tc>
                <a:extLst>
                  <a:ext uri="{0D108BD9-81ED-4DB2-BD59-A6C34878D82A}">
                    <a16:rowId xmlns:a16="http://schemas.microsoft.com/office/drawing/2014/main" val="4267474516"/>
                  </a:ext>
                </a:extLst>
              </a:tr>
            </a:tbl>
          </a:graphicData>
        </a:graphic>
      </p:graphicFrame>
    </p:spTree>
    <p:extLst>
      <p:ext uri="{BB962C8B-B14F-4D97-AF65-F5344CB8AC3E}">
        <p14:creationId xmlns:p14="http://schemas.microsoft.com/office/powerpoint/2010/main" val="3680841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グループ化 4">
            <a:extLst>
              <a:ext uri="{FF2B5EF4-FFF2-40B4-BE49-F238E27FC236}">
                <a16:creationId xmlns:a16="http://schemas.microsoft.com/office/drawing/2014/main" id="{D1CD502B-8084-4417-A023-0723B2C9344E}"/>
              </a:ext>
            </a:extLst>
          </p:cNvPr>
          <p:cNvGrpSpPr/>
          <p:nvPr/>
        </p:nvGrpSpPr>
        <p:grpSpPr>
          <a:xfrm>
            <a:off x="11112" y="8425413"/>
            <a:ext cx="6834185" cy="718587"/>
            <a:chOff x="11112" y="8425413"/>
            <a:chExt cx="6834185" cy="718587"/>
          </a:xfrm>
        </p:grpSpPr>
        <p:pic>
          <p:nvPicPr>
            <p:cNvPr id="23" name="図 22">
              <a:extLst>
                <a:ext uri="{FF2B5EF4-FFF2-40B4-BE49-F238E27FC236}">
                  <a16:creationId xmlns:a16="http://schemas.microsoft.com/office/drawing/2014/main" id="{00000000-0008-0000-0100-000004000000}"/>
                </a:ext>
              </a:extLst>
            </p:cNvPr>
            <p:cNvPicPr>
              <a:picLocks noChangeAspect="1"/>
            </p:cNvPicPr>
            <p:nvPr/>
          </p:nvPicPr>
          <p:blipFill rotWithShape="1">
            <a:blip r:embed="rId2">
              <a:extLst>
                <a:ext uri="{28A0092B-C50C-407E-A947-70E740481C1C}">
                  <a14:useLocalDpi xmlns:a14="http://schemas.microsoft.com/office/drawing/2010/main" val="0"/>
                </a:ext>
              </a:extLst>
            </a:blip>
            <a:srcRect l="59538" t="56963"/>
            <a:stretch/>
          </p:blipFill>
          <p:spPr>
            <a:xfrm>
              <a:off x="1124744" y="8789560"/>
              <a:ext cx="5720553" cy="354439"/>
            </a:xfrm>
            <a:prstGeom prst="rect">
              <a:avLst/>
            </a:prstGeom>
          </p:spPr>
        </p:pic>
        <p:pic>
          <p:nvPicPr>
            <p:cNvPr id="24" name="図 23">
              <a:extLst>
                <a:ext uri="{FF2B5EF4-FFF2-40B4-BE49-F238E27FC236}">
                  <a16:creationId xmlns:a16="http://schemas.microsoft.com/office/drawing/2014/main" id="{00000000-0008-0000-0100-000005000000}"/>
                </a:ext>
              </a:extLst>
            </p:cNvPr>
            <p:cNvPicPr>
              <a:picLocks noChangeAspect="1"/>
            </p:cNvPicPr>
            <p:nvPr/>
          </p:nvPicPr>
          <p:blipFill rotWithShape="1">
            <a:blip r:embed="rId2">
              <a:extLst>
                <a:ext uri="{28A0092B-C50C-407E-A947-70E740481C1C}">
                  <a14:useLocalDpi xmlns:a14="http://schemas.microsoft.com/office/drawing/2010/main" val="0"/>
                </a:ext>
              </a:extLst>
            </a:blip>
            <a:srcRect r="28008"/>
            <a:stretch/>
          </p:blipFill>
          <p:spPr>
            <a:xfrm>
              <a:off x="11112" y="8425413"/>
              <a:ext cx="1545680" cy="718587"/>
            </a:xfrm>
            <a:prstGeom prst="rect">
              <a:avLst/>
            </a:prstGeom>
          </p:spPr>
        </p:pic>
        <p:pic>
          <p:nvPicPr>
            <p:cNvPr id="25" name="Picture 2" descr="C:\Users\user\Desktop\MMIロゴ.jpg">
              <a:extLst>
                <a:ext uri="{FF2B5EF4-FFF2-40B4-BE49-F238E27FC236}">
                  <a16:creationId xmlns:a16="http://schemas.microsoft.com/office/drawing/2014/main" id="{00000000-0008-0000-0100-00000600000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42465" y="8706936"/>
              <a:ext cx="668079" cy="218539"/>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13" name="Google Shape;1346;p122">
            <a:extLst>
              <a:ext uri="{FF2B5EF4-FFF2-40B4-BE49-F238E27FC236}">
                <a16:creationId xmlns:a16="http://schemas.microsoft.com/office/drawing/2014/main" id="{21C730A1-4F84-45C2-89AE-120EFB8A06B8}"/>
              </a:ext>
            </a:extLst>
          </p:cNvPr>
          <p:cNvSpPr txBox="1"/>
          <p:nvPr/>
        </p:nvSpPr>
        <p:spPr>
          <a:xfrm>
            <a:off x="6308725" y="8993188"/>
            <a:ext cx="538163" cy="158750"/>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728D71D6-3455-4614-AB48-1DC83F526FD5}"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29</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sp>
        <p:nvSpPr>
          <p:cNvPr id="14" name="Rectangle 26">
            <a:extLst>
              <a:ext uri="{FF2B5EF4-FFF2-40B4-BE49-F238E27FC236}">
                <a16:creationId xmlns:a16="http://schemas.microsoft.com/office/drawing/2014/main" id="{00000000-0008-0000-0100-000003000000}"/>
              </a:ext>
            </a:extLst>
          </p:cNvPr>
          <p:cNvSpPr>
            <a:spLocks noChangeArrowheads="1"/>
          </p:cNvSpPr>
          <p:nvPr/>
        </p:nvSpPr>
        <p:spPr bwMode="auto">
          <a:xfrm rot="10800000">
            <a:off x="12698" y="-6188"/>
            <a:ext cx="6845301" cy="369795"/>
          </a:xfrm>
          <a:prstGeom prst="rect">
            <a:avLst/>
          </a:prstGeom>
          <a:solidFill>
            <a:srgbClr val="FF9999"/>
          </a:solidFill>
          <a:ln w="9525">
            <a:noFill/>
            <a:miter lim="800000"/>
            <a:headEnd/>
            <a:tailEnd/>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r" rtl="1">
              <a:defRPr sz="1000"/>
            </a:pPr>
            <a:endParaRPr lang="en-US" altLang="ja-JP" sz="1800" b="1" i="0" strike="noStrike">
              <a:solidFill>
                <a:schemeClr val="tx1"/>
              </a:solidFill>
              <a:latin typeface="+mj-ea"/>
              <a:ea typeface="+mj-ea"/>
            </a:endParaRPr>
          </a:p>
        </p:txBody>
      </p:sp>
      <p:sp>
        <p:nvSpPr>
          <p:cNvPr id="15" name="テキスト ボックス 8">
            <a:extLst>
              <a:ext uri="{FF2B5EF4-FFF2-40B4-BE49-F238E27FC236}">
                <a16:creationId xmlns:a16="http://schemas.microsoft.com/office/drawing/2014/main" id="{A8419715-4FC4-4D62-BCD2-A0664A6EB391}"/>
              </a:ext>
            </a:extLst>
          </p:cNvPr>
          <p:cNvSpPr txBox="1"/>
          <p:nvPr/>
        </p:nvSpPr>
        <p:spPr>
          <a:xfrm>
            <a:off x="1844824" y="-44896"/>
            <a:ext cx="5000477" cy="443141"/>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r"/>
            <a:r>
              <a:rPr lang="ja-JP" altLang="en-US" sz="1400" b="1" dirty="0">
                <a:latin typeface="メイリオ" panose="020B0604030504040204" pitchFamily="50" charset="-128"/>
                <a:ea typeface="メイリオ" panose="020B0604030504040204" pitchFamily="50" charset="-128"/>
              </a:rPr>
              <a:t>イズム </a:t>
            </a:r>
            <a:r>
              <a:rPr lang="en-US" altLang="ja-JP" sz="1400" b="1" dirty="0">
                <a:latin typeface="メイリオ" panose="020B0604030504040204" pitchFamily="50" charset="-128"/>
                <a:ea typeface="メイリオ" panose="020B0604030504040204" pitchFamily="50" charset="-128"/>
              </a:rPr>
              <a:t>of</a:t>
            </a:r>
            <a:r>
              <a:rPr lang="ja-JP" altLang="en-US" sz="1400" b="1" dirty="0">
                <a:latin typeface="メイリオ" panose="020B0604030504040204" pitchFamily="50" charset="-128"/>
                <a:ea typeface="メイリオ" panose="020B0604030504040204" pitchFamily="50" charset="-128"/>
              </a:rPr>
              <a:t> </a:t>
            </a:r>
            <a:r>
              <a:rPr lang="en-US" altLang="ja-JP" sz="1400" b="1" dirty="0">
                <a:latin typeface="メイリオ" panose="020B0604030504040204" pitchFamily="50" charset="-128"/>
                <a:ea typeface="メイリオ" panose="020B0604030504040204" pitchFamily="50" charset="-128"/>
              </a:rPr>
              <a:t>Month</a:t>
            </a:r>
            <a:r>
              <a:rPr kumimoji="1" lang="en-US" altLang="ja-JP" sz="1400" b="1" dirty="0">
                <a:latin typeface="メイリオ" panose="020B0604030504040204" pitchFamily="50" charset="-128"/>
                <a:ea typeface="メイリオ" panose="020B0604030504040204" pitchFamily="50" charset="-128"/>
              </a:rPr>
              <a:t> </a:t>
            </a:r>
            <a:r>
              <a:rPr kumimoji="1" lang="ja-JP" altLang="en-US" sz="1400" b="1" dirty="0">
                <a:latin typeface="メイリオ" panose="020B0604030504040204" pitchFamily="50" charset="-128"/>
                <a:ea typeface="メイリオ" panose="020B0604030504040204" pitchFamily="50" charset="-128"/>
              </a:rPr>
              <a:t>～</a:t>
            </a:r>
            <a:r>
              <a:rPr kumimoji="1" lang="en-US" altLang="ja-JP" sz="1400" b="1" dirty="0">
                <a:latin typeface="メイリオ" panose="020B0604030504040204" pitchFamily="50" charset="-128"/>
                <a:ea typeface="メイリオ" panose="020B0604030504040204" pitchFamily="50" charset="-128"/>
              </a:rPr>
              <a:t>2022</a:t>
            </a:r>
            <a:r>
              <a:rPr kumimoji="1" lang="ja-JP" altLang="en-US" sz="1400" b="1" dirty="0">
                <a:latin typeface="メイリオ" panose="020B0604030504040204" pitchFamily="50" charset="-128"/>
                <a:ea typeface="メイリオ" panose="020B0604030504040204" pitchFamily="50" charset="-128"/>
              </a:rPr>
              <a:t>年</a:t>
            </a:r>
            <a:r>
              <a:rPr lang="en-US" altLang="ja-JP" sz="1400" b="1" dirty="0">
                <a:latin typeface="メイリオ" panose="020B0604030504040204" pitchFamily="50" charset="-128"/>
                <a:ea typeface="メイリオ" panose="020B0604030504040204" pitchFamily="50" charset="-128"/>
              </a:rPr>
              <a:t>1</a:t>
            </a:r>
            <a:r>
              <a:rPr kumimoji="1" lang="ja-JP" altLang="en-US" sz="1400" b="1" dirty="0">
                <a:latin typeface="メイリオ" panose="020B0604030504040204" pitchFamily="50" charset="-128"/>
                <a:ea typeface="メイリオ" panose="020B0604030504040204" pitchFamily="50" charset="-128"/>
              </a:rPr>
              <a:t>月度代表エピソード～</a:t>
            </a:r>
          </a:p>
        </p:txBody>
      </p:sp>
      <p:pic>
        <p:nvPicPr>
          <p:cNvPr id="16" name="図 15">
            <a:extLst>
              <a:ext uri="{FF2B5EF4-FFF2-40B4-BE49-F238E27FC236}">
                <a16:creationId xmlns:a16="http://schemas.microsoft.com/office/drawing/2014/main" id="{00000000-0008-0000-0100-000002000000}"/>
              </a:ext>
            </a:extLst>
          </p:cNvPr>
          <p:cNvPicPr>
            <a:picLocks noChangeAspect="1"/>
          </p:cNvPicPr>
          <p:nvPr/>
        </p:nvPicPr>
        <p:blipFill rotWithShape="1">
          <a:blip r:embed="rId4">
            <a:extLst>
              <a:ext uri="{28A0092B-C50C-407E-A947-70E740481C1C}">
                <a14:useLocalDpi xmlns:a14="http://schemas.microsoft.com/office/drawing/2010/main" val="0"/>
              </a:ext>
            </a:extLst>
          </a:blip>
          <a:srcRect l="10629" t="50589" b="27489"/>
          <a:stretch/>
        </p:blipFill>
        <p:spPr>
          <a:xfrm flipH="1">
            <a:off x="-1" y="954708"/>
            <a:ext cx="6845298" cy="354833"/>
          </a:xfrm>
          <a:prstGeom prst="rect">
            <a:avLst/>
          </a:prstGeom>
        </p:spPr>
      </p:pic>
      <p:graphicFrame>
        <p:nvGraphicFramePr>
          <p:cNvPr id="3" name="表 2">
            <a:extLst>
              <a:ext uri="{FF2B5EF4-FFF2-40B4-BE49-F238E27FC236}">
                <a16:creationId xmlns:a16="http://schemas.microsoft.com/office/drawing/2014/main" id="{8C139B86-40AC-45F7-87DB-228867D7DFA6}"/>
              </a:ext>
            </a:extLst>
          </p:cNvPr>
          <p:cNvGraphicFramePr>
            <a:graphicFrameLocks noGrp="1"/>
          </p:cNvGraphicFramePr>
          <p:nvPr>
            <p:extLst>
              <p:ext uri="{D42A27DB-BD31-4B8C-83A1-F6EECF244321}">
                <p14:modId xmlns:p14="http://schemas.microsoft.com/office/powerpoint/2010/main" val="3243276743"/>
              </p:ext>
            </p:extLst>
          </p:nvPr>
        </p:nvGraphicFramePr>
        <p:xfrm>
          <a:off x="0" y="586160"/>
          <a:ext cx="6858000" cy="609600"/>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3352499802"/>
                    </a:ext>
                  </a:extLst>
                </a:gridCol>
              </a:tblGrid>
              <a:tr h="354439">
                <a:tc>
                  <a:txBody>
                    <a:bodyPr/>
                    <a:lstStyle/>
                    <a:p>
                      <a:pPr algn="ctr" fontAlgn="ctr"/>
                      <a:r>
                        <a:rPr lang="ja-JP" altLang="en-US" sz="2000" b="1" i="0" u="none" strike="noStrike" dirty="0">
                          <a:effectLst/>
                          <a:latin typeface="メイリオ" panose="020B0604030504040204" pitchFamily="50" charset="-128"/>
                          <a:ea typeface="メイリオ" panose="020B0604030504040204" pitchFamily="50" charset="-128"/>
                        </a:rPr>
                        <a:t>小さな感動</a:t>
                      </a:r>
                    </a:p>
                    <a:p>
                      <a:pPr algn="ctr" fontAlgn="ctr"/>
                      <a:endParaRPr lang="ja-JP" altLang="en-US" sz="2000" b="1" i="0" u="none" strike="noStrike" dirty="0">
                        <a:effectLst/>
                        <a:latin typeface="メイリオ" panose="020B0604030504040204" pitchFamily="50" charset="-128"/>
                        <a:ea typeface="メイリオ" panose="020B0604030504040204" pitchFamily="50" charset="-128"/>
                      </a:endParaRPr>
                    </a:p>
                  </a:txBody>
                  <a:tcPr marL="0" marR="0" marT="0" marB="0" anchor="ctr">
                    <a:noFill/>
                  </a:tcPr>
                </a:tc>
                <a:extLst>
                  <a:ext uri="{0D108BD9-81ED-4DB2-BD59-A6C34878D82A}">
                    <a16:rowId xmlns:a16="http://schemas.microsoft.com/office/drawing/2014/main" val="51326532"/>
                  </a:ext>
                </a:extLst>
              </a:tr>
            </a:tbl>
          </a:graphicData>
        </a:graphic>
      </p:graphicFrame>
      <p:graphicFrame>
        <p:nvGraphicFramePr>
          <p:cNvPr id="20" name="表 19">
            <a:extLst>
              <a:ext uri="{FF2B5EF4-FFF2-40B4-BE49-F238E27FC236}">
                <a16:creationId xmlns:a16="http://schemas.microsoft.com/office/drawing/2014/main" id="{AF3D3932-C55C-4445-AEFA-77BB58B79194}"/>
              </a:ext>
            </a:extLst>
          </p:cNvPr>
          <p:cNvGraphicFramePr>
            <a:graphicFrameLocks noGrp="1"/>
          </p:cNvGraphicFramePr>
          <p:nvPr/>
        </p:nvGraphicFramePr>
        <p:xfrm>
          <a:off x="-3" y="1187624"/>
          <a:ext cx="6858000" cy="354439"/>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3352499802"/>
                    </a:ext>
                  </a:extLst>
                </a:gridCol>
              </a:tblGrid>
              <a:tr h="354439">
                <a:tc>
                  <a:txBody>
                    <a:bodyPr/>
                    <a:lstStyle/>
                    <a:p>
                      <a:pPr algn="ctr" fontAlgn="ctr"/>
                      <a:r>
                        <a:rPr lang="ja-JP" altLang="en-US" sz="1600" b="1" i="0" u="none" strike="noStrike" dirty="0">
                          <a:effectLst/>
                          <a:latin typeface="メイリオ" panose="020B0604030504040204" pitchFamily="50" charset="-128"/>
                          <a:ea typeface="メイリオ" panose="020B0604030504040204" pitchFamily="50" charset="-128"/>
                        </a:rPr>
                        <a:t>関連するイズム：ベストの追求 </a:t>
                      </a:r>
                      <a:r>
                        <a:rPr lang="en-US" altLang="ja-JP" sz="1600" b="1" i="0" u="none" strike="noStrike" dirty="0">
                          <a:effectLst/>
                          <a:latin typeface="メイリオ" panose="020B0604030504040204" pitchFamily="50" charset="-128"/>
                          <a:ea typeface="メイリオ" panose="020B0604030504040204" pitchFamily="50" charset="-128"/>
                        </a:rPr>
                        <a:t>~</a:t>
                      </a:r>
                      <a:r>
                        <a:rPr lang="ja-JP" altLang="en-US" sz="1600" b="1" i="0" u="none" strike="noStrike" dirty="0">
                          <a:effectLst/>
                          <a:latin typeface="メイリオ" panose="020B0604030504040204" pitchFamily="50" charset="-128"/>
                          <a:ea typeface="メイリオ" panose="020B0604030504040204" pitchFamily="50" charset="-128"/>
                        </a:rPr>
                        <a:t>感動創造～</a:t>
                      </a:r>
                      <a:endParaRPr lang="en-US" altLang="ja-JP" sz="1600" b="1" i="0" u="none" strike="noStrike" dirty="0">
                        <a:effectLst/>
                        <a:latin typeface="メイリオ" panose="020B0604030504040204" pitchFamily="50" charset="-128"/>
                        <a:ea typeface="メイリオ" panose="020B0604030504040204" pitchFamily="50" charset="-128"/>
                      </a:endParaRPr>
                    </a:p>
                  </a:txBody>
                  <a:tcPr marL="0" marR="0" marT="0" marB="0" anchor="ctr">
                    <a:noFill/>
                  </a:tcPr>
                </a:tc>
                <a:extLst>
                  <a:ext uri="{0D108BD9-81ED-4DB2-BD59-A6C34878D82A}">
                    <a16:rowId xmlns:a16="http://schemas.microsoft.com/office/drawing/2014/main" val="51326532"/>
                  </a:ext>
                </a:extLst>
              </a:tr>
            </a:tbl>
          </a:graphicData>
        </a:graphic>
      </p:graphicFrame>
      <p:graphicFrame>
        <p:nvGraphicFramePr>
          <p:cNvPr id="21" name="表 20">
            <a:extLst>
              <a:ext uri="{FF2B5EF4-FFF2-40B4-BE49-F238E27FC236}">
                <a16:creationId xmlns:a16="http://schemas.microsoft.com/office/drawing/2014/main" id="{3EF87205-649E-42A4-A0E3-F2150B4E37B8}"/>
              </a:ext>
            </a:extLst>
          </p:cNvPr>
          <p:cNvGraphicFramePr>
            <a:graphicFrameLocks noGrp="1"/>
          </p:cNvGraphicFramePr>
          <p:nvPr>
            <p:extLst>
              <p:ext uri="{D42A27DB-BD31-4B8C-83A1-F6EECF244321}">
                <p14:modId xmlns:p14="http://schemas.microsoft.com/office/powerpoint/2010/main" val="608243149"/>
              </p:ext>
            </p:extLst>
          </p:nvPr>
        </p:nvGraphicFramePr>
        <p:xfrm>
          <a:off x="224644" y="1653208"/>
          <a:ext cx="6408712" cy="6447184"/>
        </p:xfrm>
        <a:graphic>
          <a:graphicData uri="http://schemas.openxmlformats.org/drawingml/2006/table">
            <a:tbl>
              <a:tblPr>
                <a:tableStyleId>{5C22544A-7EE6-4342-B048-85BDC9FD1C3A}</a:tableStyleId>
              </a:tblPr>
              <a:tblGrid>
                <a:gridCol w="6408712">
                  <a:extLst>
                    <a:ext uri="{9D8B030D-6E8A-4147-A177-3AD203B41FA5}">
                      <a16:colId xmlns:a16="http://schemas.microsoft.com/office/drawing/2014/main" val="3352499802"/>
                    </a:ext>
                  </a:extLst>
                </a:gridCol>
              </a:tblGrid>
              <a:tr h="6447184">
                <a:tc>
                  <a:txBody>
                    <a:bodyPr/>
                    <a:lstStyle/>
                    <a:p>
                      <a:pPr algn="l" fontAlgn="ctr"/>
                      <a:r>
                        <a:rPr lang="ja-JP" altLang="en-US" sz="1200" b="0" i="0" u="none" strike="noStrike" dirty="0">
                          <a:effectLst/>
                          <a:latin typeface="メイリオ" panose="020B0604030504040204" pitchFamily="50" charset="-128"/>
                          <a:ea typeface="メイリオ" panose="020B0604030504040204" pitchFamily="50" charset="-128"/>
                        </a:rPr>
                        <a:t>今、鷲宮店営業中では</a:t>
                      </a:r>
                      <a:r>
                        <a:rPr lang="en-US" altLang="ja-JP" sz="1200" b="0" i="0" u="none" strike="noStrike" dirty="0">
                          <a:effectLst/>
                          <a:latin typeface="メイリオ" panose="020B0604030504040204" pitchFamily="50" charset="-128"/>
                          <a:ea typeface="メイリオ" panose="020B0604030504040204" pitchFamily="50" charset="-128"/>
                        </a:rPr>
                        <a:t>4</a:t>
                      </a:r>
                      <a:r>
                        <a:rPr lang="ja-JP" altLang="en-US" sz="1200" b="0" i="0" u="none" strike="noStrike" dirty="0">
                          <a:effectLst/>
                          <a:latin typeface="メイリオ" panose="020B0604030504040204" pitchFamily="50" charset="-128"/>
                          <a:ea typeface="メイリオ" panose="020B0604030504040204" pitchFamily="50" charset="-128"/>
                        </a:rPr>
                        <a:t>月の開始からなかなか充足と至らず、店舗様にご負担をかけてしまっている日々が続いております。そんななか、営業中が無くなるタイミングで採用となっていたスタッフさんからのご応募がありました。名前は坂本とし子さん（営業中が無くなったため採用が取り消しとなっていました）。坂本さんはその時の担当者の方が良い方だったと記憶しており、もう一度チャレンジしてみたいと応募してきてくれました。</a:t>
                      </a:r>
                    </a:p>
                    <a:p>
                      <a:pPr algn="l" fontAlgn="ctr"/>
                      <a:endParaRPr lang="ja-JP" altLang="en-US" sz="1200" b="0" i="0" u="none" strike="noStrike" dirty="0">
                        <a:effectLst/>
                        <a:latin typeface="メイリオ" panose="020B0604030504040204" pitchFamily="50" charset="-128"/>
                        <a:ea typeface="メイリオ" panose="020B0604030504040204" pitchFamily="50" charset="-128"/>
                      </a:endParaRPr>
                    </a:p>
                    <a:p>
                      <a:pPr algn="l" fontAlgn="ctr"/>
                      <a:r>
                        <a:rPr lang="ja-JP" altLang="en-US" sz="1200" b="0" i="0" u="none" strike="noStrike" dirty="0">
                          <a:effectLst/>
                          <a:latin typeface="メイリオ" panose="020B0604030504040204" pitchFamily="50" charset="-128"/>
                          <a:ea typeface="メイリオ" panose="020B0604030504040204" pitchFamily="50" charset="-128"/>
                        </a:rPr>
                        <a:t>面接時に弱視であることを心配され、面接時に入店の暗証番号入力の液晶画面や</a:t>
                      </a:r>
                      <a:r>
                        <a:rPr lang="en-US" altLang="ja-JP" sz="1200" b="0" i="0" u="none" strike="noStrike" dirty="0">
                          <a:effectLst/>
                          <a:latin typeface="メイリオ" panose="020B0604030504040204" pitchFamily="50" charset="-128"/>
                          <a:ea typeface="メイリオ" panose="020B0604030504040204" pitchFamily="50" charset="-128"/>
                        </a:rPr>
                        <a:t>iPad</a:t>
                      </a:r>
                      <a:r>
                        <a:rPr lang="ja-JP" altLang="en-US" sz="1200" b="0" i="0" u="none" strike="noStrike" dirty="0">
                          <a:effectLst/>
                          <a:latin typeface="メイリオ" panose="020B0604030504040204" pitchFamily="50" charset="-128"/>
                          <a:ea typeface="メイリオ" panose="020B0604030504040204" pitchFamily="50" charset="-128"/>
                        </a:rPr>
                        <a:t>の画面操作を試みて頂きましたが、現実はなかなか困難でした。そのため、採用を悩んでいましたが、同じ店舗のスタッフにサポートをお願いし、店舗様にもご相談したところ「入店時もインターフォンを使ってもらえれば対応しますから大丈夫ですよ！」と言っていただきました。その言葉に感動！！</a:t>
                      </a:r>
                      <a:r>
                        <a:rPr lang="en-US" altLang="ja-JP" sz="1200" b="0" i="0" u="none" strike="noStrike" dirty="0">
                          <a:effectLst/>
                          <a:latin typeface="メイリオ" panose="020B0604030504040204" pitchFamily="50" charset="-128"/>
                          <a:ea typeface="メイリオ" panose="020B0604030504040204" pitchFamily="50" charset="-128"/>
                        </a:rPr>
                        <a:t>iPad</a:t>
                      </a:r>
                      <a:r>
                        <a:rPr lang="ja-JP" altLang="en-US" sz="1200" b="0" i="0" u="none" strike="noStrike" dirty="0">
                          <a:effectLst/>
                          <a:latin typeface="メイリオ" panose="020B0604030504040204" pitchFamily="50" charset="-128"/>
                          <a:ea typeface="メイリオ" panose="020B0604030504040204" pitchFamily="50" charset="-128"/>
                        </a:rPr>
                        <a:t>のフォローも快く受け入れてくださいました。</a:t>
                      </a:r>
                    </a:p>
                    <a:p>
                      <a:pPr algn="l" fontAlgn="ctr"/>
                      <a:endParaRPr lang="ja-JP" altLang="en-US" sz="1200" b="0" i="0" u="none" strike="noStrike" dirty="0">
                        <a:effectLst/>
                        <a:latin typeface="メイリオ" panose="020B0604030504040204" pitchFamily="50" charset="-128"/>
                        <a:ea typeface="メイリオ" panose="020B0604030504040204" pitchFamily="50" charset="-128"/>
                      </a:endParaRPr>
                    </a:p>
                    <a:p>
                      <a:pPr algn="l" fontAlgn="ctr"/>
                      <a:r>
                        <a:rPr lang="ja-JP" altLang="en-US" sz="1200" b="0" i="0" u="none" strike="noStrike" dirty="0">
                          <a:effectLst/>
                          <a:latin typeface="メイリオ" panose="020B0604030504040204" pitchFamily="50" charset="-128"/>
                          <a:ea typeface="メイリオ" panose="020B0604030504040204" pitchFamily="50" charset="-128"/>
                        </a:rPr>
                        <a:t>「まずはやってみないと分からないですし頑張ってみましょう」と採用となり研修を開始しました。</a:t>
                      </a:r>
                      <a:r>
                        <a:rPr lang="en-US" altLang="ja-JP" sz="1200" b="0" i="0" u="none" strike="noStrike" dirty="0">
                          <a:effectLst/>
                          <a:latin typeface="メイリオ" panose="020B0604030504040204" pitchFamily="50" charset="-128"/>
                          <a:ea typeface="メイリオ" panose="020B0604030504040204" pitchFamily="50" charset="-128"/>
                        </a:rPr>
                        <a:t>OJT</a:t>
                      </a:r>
                      <a:r>
                        <a:rPr lang="ja-JP" altLang="en-US" sz="1200" b="0" i="0" u="none" strike="noStrike" dirty="0">
                          <a:effectLst/>
                          <a:latin typeface="メイリオ" panose="020B0604030504040204" pitchFamily="50" charset="-128"/>
                          <a:ea typeface="メイリオ" panose="020B0604030504040204" pitchFamily="50" charset="-128"/>
                        </a:rPr>
                        <a:t>も２回目となった時に、入口でお客様を優先させようと「どうぞ」とご案内すると坂本さんが「はい、すみません」と先に入ってしまいました。その時、お客様と目が合い爆笑、そんな和やかなミスもありました。</a:t>
                      </a:r>
                      <a:endParaRPr lang="en-US" altLang="ja-JP" sz="1200" b="0" i="0" u="none" strike="noStrike" dirty="0">
                        <a:effectLst/>
                        <a:latin typeface="メイリオ" panose="020B0604030504040204" pitchFamily="50" charset="-128"/>
                        <a:ea typeface="メイリオ" panose="020B0604030504040204" pitchFamily="50" charset="-128"/>
                      </a:endParaRPr>
                    </a:p>
                    <a:p>
                      <a:pPr algn="l" fontAlgn="ctr"/>
                      <a:endParaRPr lang="en-US" altLang="ja-JP" sz="1200" b="0" i="0" u="none" strike="noStrike" dirty="0">
                        <a:effectLst/>
                        <a:latin typeface="メイリオ" panose="020B0604030504040204" pitchFamily="50" charset="-128"/>
                        <a:ea typeface="メイリオ" panose="020B0604030504040204" pitchFamily="50" charset="-128"/>
                      </a:endParaRPr>
                    </a:p>
                    <a:p>
                      <a:pPr algn="l" fontAlgn="ctr"/>
                      <a:r>
                        <a:rPr lang="ja-JP" altLang="en-US" sz="1200" b="0" i="0" u="none" strike="noStrike" dirty="0">
                          <a:effectLst/>
                          <a:latin typeface="メイリオ" panose="020B0604030504040204" pitchFamily="50" charset="-128"/>
                          <a:ea typeface="メイリオ" panose="020B0604030504040204" pitchFamily="50" charset="-128"/>
                        </a:rPr>
                        <a:t>しかし、思っていた以上に</a:t>
                      </a:r>
                      <a:r>
                        <a:rPr lang="en-US" altLang="ja-JP" sz="1200" b="0" i="0" u="none" strike="noStrike" dirty="0">
                          <a:effectLst/>
                          <a:latin typeface="メイリオ" panose="020B0604030504040204" pitchFamily="50" charset="-128"/>
                          <a:ea typeface="メイリオ" panose="020B0604030504040204" pitchFamily="50" charset="-128"/>
                        </a:rPr>
                        <a:t>iPad</a:t>
                      </a:r>
                      <a:r>
                        <a:rPr lang="ja-JP" altLang="en-US" sz="1200" b="0" i="0" u="none" strike="noStrike" dirty="0">
                          <a:effectLst/>
                          <a:latin typeface="メイリオ" panose="020B0604030504040204" pitchFamily="50" charset="-128"/>
                          <a:ea typeface="メイリオ" panose="020B0604030504040204" pitchFamily="50" charset="-128"/>
                        </a:rPr>
                        <a:t>などの入力に時間がかかったり、作業手順も覚えらていないことや、私自身も焦りといら立ちを感じていました。そんななかで迎えた</a:t>
                      </a:r>
                      <a:r>
                        <a:rPr lang="en-US" altLang="ja-JP" sz="1200" b="0" i="0" u="none" strike="noStrike" dirty="0">
                          <a:effectLst/>
                          <a:latin typeface="メイリオ" panose="020B0604030504040204" pitchFamily="50" charset="-128"/>
                          <a:ea typeface="メイリオ" panose="020B0604030504040204" pitchFamily="50" charset="-128"/>
                        </a:rPr>
                        <a:t>2</a:t>
                      </a:r>
                      <a:r>
                        <a:rPr lang="ja-JP" altLang="en-US" sz="1200" b="0" i="0" u="none" strike="noStrike" dirty="0">
                          <a:effectLst/>
                          <a:latin typeface="メイリオ" panose="020B0604030504040204" pitchFamily="50" charset="-128"/>
                          <a:ea typeface="メイリオ" panose="020B0604030504040204" pitchFamily="50" charset="-128"/>
                        </a:rPr>
                        <a:t>回目の</a:t>
                      </a:r>
                      <a:r>
                        <a:rPr lang="en-US" altLang="ja-JP" sz="1200" b="0" i="0" u="none" strike="noStrike" dirty="0">
                          <a:effectLst/>
                          <a:latin typeface="メイリオ" panose="020B0604030504040204" pitchFamily="50" charset="-128"/>
                          <a:ea typeface="メイリオ" panose="020B0604030504040204" pitchFamily="50" charset="-128"/>
                        </a:rPr>
                        <a:t>OJT</a:t>
                      </a:r>
                      <a:r>
                        <a:rPr lang="ja-JP" altLang="en-US" sz="1200" b="0" i="0" u="none" strike="noStrike" dirty="0">
                          <a:effectLst/>
                          <a:latin typeface="メイリオ" panose="020B0604030504040204" pitchFamily="50" charset="-128"/>
                          <a:ea typeface="メイリオ" panose="020B0604030504040204" pitchFamily="50" charset="-128"/>
                        </a:rPr>
                        <a:t>の終わり、控室へ入るため坂本さんが入口の暗証番号を入力開錠できたあとに、「なんか、最近は待ってくれてる気がする」と言うのです。何のことだろうと聞いてみると、暗証番号の画面操作が自分の操作を待っていてくれる気がすると、最初は次の数字を探しているうちに時間切れとなり何度もやり直していたけど最近はならずに待っている時間が長くなっている、と言うのです。</a:t>
                      </a:r>
                    </a:p>
                    <a:p>
                      <a:pPr algn="l" fontAlgn="ctr"/>
                      <a:endParaRPr lang="en-US" altLang="ja-JP" sz="1200" b="0" i="0" u="none" strike="noStrike" dirty="0">
                        <a:effectLst/>
                        <a:latin typeface="メイリオ" panose="020B0604030504040204" pitchFamily="50" charset="-128"/>
                        <a:ea typeface="メイリオ" panose="020B0604030504040204" pitchFamily="50" charset="-128"/>
                      </a:endParaRPr>
                    </a:p>
                    <a:p>
                      <a:pPr algn="l" fontAlgn="ctr"/>
                      <a:r>
                        <a:rPr lang="ja-JP" altLang="en-US" sz="1200" b="0" i="0" u="none" strike="noStrike" dirty="0">
                          <a:effectLst/>
                          <a:latin typeface="メイリオ" panose="020B0604030504040204" pitchFamily="50" charset="-128"/>
                          <a:ea typeface="メイリオ" panose="020B0604030504040204" pitchFamily="50" charset="-128"/>
                        </a:rPr>
                        <a:t>それを聞いて私は、ハッと！しました。すぐさま坂本さんに「それは違うよ！機械が待ってくくれているのではなくて、坂本さんの操作が早くなっているからだよ」と言いました。この数日の間に、確実に進歩していると感じ、小さな前進に小さな感動を覚えました。</a:t>
                      </a:r>
                    </a:p>
                    <a:p>
                      <a:pPr algn="l" fontAlgn="ctr"/>
                      <a:endParaRPr lang="ja-JP" altLang="en-US" sz="1200" b="0" i="0" u="none" strike="noStrike" dirty="0">
                        <a:effectLst/>
                        <a:latin typeface="メイリオ" panose="020B0604030504040204" pitchFamily="50" charset="-128"/>
                        <a:ea typeface="メイリオ" panose="020B0604030504040204" pitchFamily="50" charset="-128"/>
                      </a:endParaRPr>
                    </a:p>
                    <a:p>
                      <a:pPr algn="l" fontAlgn="ctr"/>
                      <a:r>
                        <a:rPr lang="ja-JP" altLang="en-US" sz="1200" b="0" i="0" u="none" strike="noStrike" dirty="0">
                          <a:effectLst/>
                          <a:latin typeface="メイリオ" panose="020B0604030504040204" pitchFamily="50" charset="-128"/>
                          <a:ea typeface="メイリオ" panose="020B0604030504040204" pitchFamily="50" charset="-128"/>
                        </a:rPr>
                        <a:t>まだ研修は続きますが、諦めずに一緒に前進してこれからも頑張っていきたい、と思えた出来事でした。</a:t>
                      </a:r>
                    </a:p>
                    <a:p>
                      <a:pPr algn="l" fontAlgn="ctr"/>
                      <a:endParaRPr lang="ja-JP" altLang="en-US" sz="1200" b="0" i="0" u="none" strike="noStrike" dirty="0">
                        <a:effectLst/>
                        <a:latin typeface="メイリオ" panose="020B0604030504040204" pitchFamily="50" charset="-128"/>
                        <a:ea typeface="メイリオ" panose="020B0604030504040204" pitchFamily="50" charset="-128"/>
                      </a:endParaRPr>
                    </a:p>
                  </a:txBody>
                  <a:tcPr marL="0" marR="0" marT="0" marB="0" anchor="ctr">
                    <a:noFill/>
                  </a:tcPr>
                </a:tc>
                <a:extLst>
                  <a:ext uri="{0D108BD9-81ED-4DB2-BD59-A6C34878D82A}">
                    <a16:rowId xmlns:a16="http://schemas.microsoft.com/office/drawing/2014/main" val="51326532"/>
                  </a:ext>
                </a:extLst>
              </a:tr>
            </a:tbl>
          </a:graphicData>
        </a:graphic>
      </p:graphicFrame>
      <p:graphicFrame>
        <p:nvGraphicFramePr>
          <p:cNvPr id="4" name="表 3">
            <a:extLst>
              <a:ext uri="{FF2B5EF4-FFF2-40B4-BE49-F238E27FC236}">
                <a16:creationId xmlns:a16="http://schemas.microsoft.com/office/drawing/2014/main" id="{B79B7192-0D9C-4382-8D0B-167C3C35CE90}"/>
              </a:ext>
            </a:extLst>
          </p:cNvPr>
          <p:cNvGraphicFramePr>
            <a:graphicFrameLocks noGrp="1"/>
          </p:cNvGraphicFramePr>
          <p:nvPr>
            <p:extLst>
              <p:ext uri="{D42A27DB-BD31-4B8C-83A1-F6EECF244321}">
                <p14:modId xmlns:p14="http://schemas.microsoft.com/office/powerpoint/2010/main" val="290223479"/>
              </p:ext>
            </p:extLst>
          </p:nvPr>
        </p:nvGraphicFramePr>
        <p:xfrm>
          <a:off x="764704" y="8143446"/>
          <a:ext cx="6048672" cy="605018"/>
        </p:xfrm>
        <a:graphic>
          <a:graphicData uri="http://schemas.openxmlformats.org/drawingml/2006/table">
            <a:tbl>
              <a:tblPr/>
              <a:tblGrid>
                <a:gridCol w="254002">
                  <a:extLst>
                    <a:ext uri="{9D8B030D-6E8A-4147-A177-3AD203B41FA5}">
                      <a16:colId xmlns:a16="http://schemas.microsoft.com/office/drawing/2014/main" val="4026392200"/>
                    </a:ext>
                  </a:extLst>
                </a:gridCol>
                <a:gridCol w="617588">
                  <a:extLst>
                    <a:ext uri="{9D8B030D-6E8A-4147-A177-3AD203B41FA5}">
                      <a16:colId xmlns:a16="http://schemas.microsoft.com/office/drawing/2014/main" val="2265573359"/>
                    </a:ext>
                  </a:extLst>
                </a:gridCol>
                <a:gridCol w="2885454">
                  <a:extLst>
                    <a:ext uri="{9D8B030D-6E8A-4147-A177-3AD203B41FA5}">
                      <a16:colId xmlns:a16="http://schemas.microsoft.com/office/drawing/2014/main" val="2831491253"/>
                    </a:ext>
                  </a:extLst>
                </a:gridCol>
                <a:gridCol w="2291628">
                  <a:extLst>
                    <a:ext uri="{9D8B030D-6E8A-4147-A177-3AD203B41FA5}">
                      <a16:colId xmlns:a16="http://schemas.microsoft.com/office/drawing/2014/main" val="2078562565"/>
                    </a:ext>
                  </a:extLst>
                </a:gridCol>
              </a:tblGrid>
              <a:tr h="302509">
                <a:tc>
                  <a:txBody>
                    <a:bodyPr/>
                    <a:lstStyle/>
                    <a:p>
                      <a:pPr algn="l" fontAlgn="ctr"/>
                      <a:endParaRPr lang="ja-JP" altLang="en-US" sz="900" b="1" i="0" u="none" strike="noStrike" dirty="0">
                        <a:effectLst/>
                        <a:latin typeface="メイリオ" panose="020B0604030504040204" pitchFamily="50" charset="-128"/>
                        <a:ea typeface="メイリオ" panose="020B0604030504040204" pitchFamily="50" charset="-128"/>
                      </a:endParaRPr>
                    </a:p>
                  </a:txBody>
                  <a:tcPr marL="7203" marR="7203" marT="7203" marB="0" anchor="ctr">
                    <a:lnL>
                      <a:noFill/>
                    </a:lnL>
                    <a:lnR>
                      <a:noFill/>
                    </a:lnR>
                    <a:lnT>
                      <a:noFill/>
                    </a:lnT>
                    <a:lnB>
                      <a:noFill/>
                    </a:lnB>
                  </a:tcPr>
                </a:tc>
                <a:tc>
                  <a:txBody>
                    <a:bodyPr/>
                    <a:lstStyle/>
                    <a:p>
                      <a:pPr algn="l" fontAlgn="ctr"/>
                      <a:endParaRPr lang="ja-JP" altLang="en-US" sz="1200" b="1" i="0" u="none" strike="noStrike">
                        <a:effectLst/>
                        <a:latin typeface="メイリオ" panose="020B0604030504040204" pitchFamily="50" charset="-128"/>
                        <a:ea typeface="メイリオ" panose="020B0604030504040204" pitchFamily="50" charset="-128"/>
                      </a:endParaRPr>
                    </a:p>
                  </a:txBody>
                  <a:tcPr marL="7203" marR="7203" marT="7203" marB="0" anchor="ctr">
                    <a:lnL>
                      <a:noFill/>
                    </a:lnL>
                    <a:lnR>
                      <a:noFill/>
                    </a:lnR>
                    <a:lnT>
                      <a:noFill/>
                    </a:lnT>
                    <a:lnB>
                      <a:noFill/>
                    </a:lnB>
                  </a:tcPr>
                </a:tc>
                <a:tc>
                  <a:txBody>
                    <a:bodyPr/>
                    <a:lstStyle/>
                    <a:p>
                      <a:pPr algn="ctr" fontAlgn="ctr"/>
                      <a:r>
                        <a:rPr lang="ja-JP" altLang="en-US" sz="1200" b="1" i="0" u="none" strike="noStrike" dirty="0">
                          <a:effectLst/>
                          <a:latin typeface="メイリオ" panose="020B0604030504040204" pitchFamily="50" charset="-128"/>
                          <a:ea typeface="メイリオ" panose="020B0604030504040204" pitchFamily="50" charset="-128"/>
                        </a:rPr>
                        <a:t>（所属）</a:t>
                      </a:r>
                    </a:p>
                  </a:txBody>
                  <a:tcPr marL="7203" marR="7203" marT="7203" marB="0" anchor="ctr">
                    <a:lnL>
                      <a:noFill/>
                    </a:lnL>
                    <a:lnR>
                      <a:noFill/>
                    </a:lnR>
                    <a:lnT>
                      <a:noFill/>
                    </a:lnT>
                    <a:lnB>
                      <a:noFill/>
                    </a:lnB>
                  </a:tcPr>
                </a:tc>
                <a:tc>
                  <a:txBody>
                    <a:bodyPr/>
                    <a:lstStyle/>
                    <a:p>
                      <a:pPr algn="ctr" fontAlgn="ctr"/>
                      <a:r>
                        <a:rPr lang="ja-JP" altLang="en-US" sz="1200" b="1" i="0" u="none" strike="noStrike" dirty="0">
                          <a:effectLst/>
                          <a:latin typeface="メイリオ" panose="020B0604030504040204" pitchFamily="50" charset="-128"/>
                          <a:ea typeface="メイリオ" panose="020B0604030504040204" pitchFamily="50" charset="-128"/>
                        </a:rPr>
                        <a:t>（氏名）</a:t>
                      </a:r>
                    </a:p>
                  </a:txBody>
                  <a:tcPr marL="7203" marR="7203" marT="7203" marB="0" anchor="ctr">
                    <a:lnL>
                      <a:noFill/>
                    </a:lnL>
                    <a:lnR>
                      <a:noFill/>
                    </a:lnR>
                    <a:lnT>
                      <a:noFill/>
                    </a:lnT>
                    <a:lnB>
                      <a:noFill/>
                    </a:lnB>
                  </a:tcPr>
                </a:tc>
                <a:extLst>
                  <a:ext uri="{0D108BD9-81ED-4DB2-BD59-A6C34878D82A}">
                    <a16:rowId xmlns:a16="http://schemas.microsoft.com/office/drawing/2014/main" val="2937889479"/>
                  </a:ext>
                </a:extLst>
              </a:tr>
              <a:tr h="302509">
                <a:tc gridSpan="2">
                  <a:txBody>
                    <a:bodyPr/>
                    <a:lstStyle/>
                    <a:p>
                      <a:pPr algn="ctr" fontAlgn="ctr"/>
                      <a:r>
                        <a:rPr lang="ja-JP" altLang="en-US" sz="1200" b="1" i="0" u="none" strike="noStrike" dirty="0">
                          <a:effectLst/>
                          <a:latin typeface="メイリオ" panose="020B0604030504040204" pitchFamily="50" charset="-128"/>
                          <a:ea typeface="メイリオ" panose="020B0604030504040204" pitchFamily="50" charset="-128"/>
                        </a:rPr>
                        <a:t>寄稿者</a:t>
                      </a:r>
                    </a:p>
                  </a:txBody>
                  <a:tcPr marL="7203" marR="7203" marT="7203" marB="0" anchor="ctr">
                    <a:lnL>
                      <a:noFill/>
                    </a:lnL>
                    <a:lnR>
                      <a:noFill/>
                    </a:lnR>
                    <a:lnT>
                      <a:noFill/>
                    </a:lnT>
                    <a:lnB>
                      <a:noFill/>
                    </a:lnB>
                  </a:tcPr>
                </a:tc>
                <a:tc hMerge="1">
                  <a:txBody>
                    <a:bodyPr/>
                    <a:lstStyle/>
                    <a:p>
                      <a:endParaRPr kumimoji="1" lang="ja-JP" altLang="en-US"/>
                    </a:p>
                  </a:txBody>
                  <a:tcPr/>
                </a:tc>
                <a:tc>
                  <a:txBody>
                    <a:bodyPr/>
                    <a:lstStyle/>
                    <a:p>
                      <a:pPr algn="ctr" fontAlgn="ctr"/>
                      <a:r>
                        <a:rPr lang="ja-JP" altLang="en-US" sz="1400" b="1" i="0" u="none" strike="noStrike" dirty="0">
                          <a:effectLst/>
                          <a:latin typeface="メイリオ" panose="020B0604030504040204" pitchFamily="50" charset="-128"/>
                          <a:ea typeface="メイリオ" panose="020B0604030504040204" pitchFamily="50" charset="-128"/>
                        </a:rPr>
                        <a:t>営業推進チーム</a:t>
                      </a:r>
                    </a:p>
                  </a:txBody>
                  <a:tcPr marL="7203" marR="7203" marT="7203" marB="0" anchor="ctr">
                    <a:lnL>
                      <a:noFill/>
                    </a:lnL>
                    <a:lnR>
                      <a:noFill/>
                    </a:lnR>
                    <a:lnT>
                      <a:noFill/>
                    </a:lnT>
                    <a:lnB>
                      <a:noFill/>
                    </a:lnB>
                  </a:tcPr>
                </a:tc>
                <a:tc>
                  <a:txBody>
                    <a:bodyPr/>
                    <a:lstStyle/>
                    <a:p>
                      <a:pPr algn="ctr" fontAlgn="ctr"/>
                      <a:r>
                        <a:rPr lang="ja-JP" altLang="en-US" sz="1400" b="1" i="0" u="none" strike="noStrike" dirty="0">
                          <a:effectLst/>
                          <a:latin typeface="メイリオ" panose="020B0604030504040204" pitchFamily="50" charset="-128"/>
                          <a:ea typeface="メイリオ" panose="020B0604030504040204" pitchFamily="50" charset="-128"/>
                        </a:rPr>
                        <a:t>篠原　弘美</a:t>
                      </a:r>
                      <a:endParaRPr lang="en-US" altLang="ja-JP" sz="1400" b="1" i="0" u="none" strike="noStrike" dirty="0">
                        <a:effectLst/>
                        <a:latin typeface="メイリオ" panose="020B0604030504040204" pitchFamily="50" charset="-128"/>
                        <a:ea typeface="メイリオ" panose="020B0604030504040204" pitchFamily="50" charset="-128"/>
                      </a:endParaRPr>
                    </a:p>
                  </a:txBody>
                  <a:tcPr marL="7203" marR="7203" marT="7203" marB="0" anchor="ctr">
                    <a:lnL>
                      <a:noFill/>
                    </a:lnL>
                    <a:lnR>
                      <a:noFill/>
                    </a:lnR>
                    <a:lnT>
                      <a:noFill/>
                    </a:lnT>
                    <a:lnB>
                      <a:noFill/>
                    </a:lnB>
                  </a:tcPr>
                </a:tc>
                <a:extLst>
                  <a:ext uri="{0D108BD9-81ED-4DB2-BD59-A6C34878D82A}">
                    <a16:rowId xmlns:a16="http://schemas.microsoft.com/office/drawing/2014/main" val="4267474516"/>
                  </a:ext>
                </a:extLst>
              </a:tr>
            </a:tbl>
          </a:graphicData>
        </a:graphic>
      </p:graphicFrame>
    </p:spTree>
    <p:extLst>
      <p:ext uri="{BB962C8B-B14F-4D97-AF65-F5344CB8AC3E}">
        <p14:creationId xmlns:p14="http://schemas.microsoft.com/office/powerpoint/2010/main" val="29388847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矢印: 右 46">
            <a:extLst>
              <a:ext uri="{FF2B5EF4-FFF2-40B4-BE49-F238E27FC236}">
                <a16:creationId xmlns:a16="http://schemas.microsoft.com/office/drawing/2014/main" id="{E7F2F6E3-7A78-4874-9AED-AACBD5941EAA}"/>
              </a:ext>
            </a:extLst>
          </p:cNvPr>
          <p:cNvSpPr/>
          <p:nvPr/>
        </p:nvSpPr>
        <p:spPr>
          <a:xfrm>
            <a:off x="2301255" y="7925693"/>
            <a:ext cx="1129732" cy="976312"/>
          </a:xfrm>
          <a:prstGeom prst="rightArrow">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1200" b="1" dirty="0">
              <a:solidFill>
                <a:schemeClr val="tx1"/>
              </a:solidFill>
              <a:latin typeface="メイリオ" panose="020B0604030504040204" pitchFamily="50" charset="-128"/>
              <a:ea typeface="メイリオ" panose="020B0604030504040204" pitchFamily="50" charset="-128"/>
            </a:endParaRPr>
          </a:p>
        </p:txBody>
      </p:sp>
      <p:sp>
        <p:nvSpPr>
          <p:cNvPr id="44" name="爆発: 8 pt 43">
            <a:extLst>
              <a:ext uri="{FF2B5EF4-FFF2-40B4-BE49-F238E27FC236}">
                <a16:creationId xmlns:a16="http://schemas.microsoft.com/office/drawing/2014/main" id="{27BA85A8-5855-4721-8B61-B53AC274E614}"/>
              </a:ext>
            </a:extLst>
          </p:cNvPr>
          <p:cNvSpPr/>
          <p:nvPr/>
        </p:nvSpPr>
        <p:spPr>
          <a:xfrm>
            <a:off x="3340969" y="6235701"/>
            <a:ext cx="1543050" cy="1213296"/>
          </a:xfrm>
          <a:prstGeom prst="irregularSeal1">
            <a:avLst/>
          </a:prstGeom>
          <a:solidFill>
            <a:schemeClr val="bg1">
              <a:lumMod val="85000"/>
            </a:schemeClr>
          </a:solidFill>
          <a:ln w="12700">
            <a:solidFill>
              <a:schemeClr val="bg1">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1100" b="1" dirty="0">
              <a:solidFill>
                <a:schemeClr val="tx1"/>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9D39ACF-CB19-4854-B657-1DEE47E064F2}"/>
              </a:ext>
            </a:extLst>
          </p:cNvPr>
          <p:cNvSpPr/>
          <p:nvPr/>
        </p:nvSpPr>
        <p:spPr>
          <a:xfrm>
            <a:off x="1054100" y="7794625"/>
            <a:ext cx="477838" cy="1150938"/>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1200" b="1" dirty="0">
              <a:solidFill>
                <a:schemeClr val="tx1"/>
              </a:solidFill>
              <a:latin typeface="メイリオ" panose="020B0604030504040204" pitchFamily="50" charset="-128"/>
              <a:ea typeface="メイリオ" panose="020B0604030504040204" pitchFamily="50" charset="-128"/>
            </a:endParaRPr>
          </a:p>
        </p:txBody>
      </p:sp>
      <p:sp>
        <p:nvSpPr>
          <p:cNvPr id="26628" name="テキスト ボックス 56">
            <a:extLst>
              <a:ext uri="{FF2B5EF4-FFF2-40B4-BE49-F238E27FC236}">
                <a16:creationId xmlns:a16="http://schemas.microsoft.com/office/drawing/2014/main" id="{B1158628-06F9-40CC-87F9-7FC64C196652}"/>
              </a:ext>
            </a:extLst>
          </p:cNvPr>
          <p:cNvSpPr txBox="1">
            <a:spLocks noChangeArrowheads="1"/>
          </p:cNvSpPr>
          <p:nvPr/>
        </p:nvSpPr>
        <p:spPr bwMode="auto">
          <a:xfrm>
            <a:off x="1725613" y="7770813"/>
            <a:ext cx="369887" cy="129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ja-JP" altLang="en-US" sz="1200" b="1">
                <a:latin typeface="メイリオ" panose="020B0604030504040204" pitchFamily="50" charset="-128"/>
                <a:ea typeface="メイリオ" panose="020B0604030504040204" pitchFamily="50" charset="-128"/>
              </a:rPr>
              <a:t>刺激</a:t>
            </a:r>
          </a:p>
        </p:txBody>
      </p:sp>
      <p:grpSp>
        <p:nvGrpSpPr>
          <p:cNvPr id="26629" name="Group 20">
            <a:extLst>
              <a:ext uri="{FF2B5EF4-FFF2-40B4-BE49-F238E27FC236}">
                <a16:creationId xmlns:a16="http://schemas.microsoft.com/office/drawing/2014/main" id="{349790E3-675D-4C8F-85B2-EB7D8FE966FE}"/>
              </a:ext>
            </a:extLst>
          </p:cNvPr>
          <p:cNvGrpSpPr>
            <a:grpSpLocks/>
          </p:cNvGrpSpPr>
          <p:nvPr/>
        </p:nvGrpSpPr>
        <p:grpSpPr bwMode="auto">
          <a:xfrm>
            <a:off x="762000" y="415925"/>
            <a:ext cx="5638800" cy="2125663"/>
            <a:chOff x="567" y="125"/>
            <a:chExt cx="3129" cy="2353"/>
          </a:xfrm>
        </p:grpSpPr>
        <p:sp>
          <p:nvSpPr>
            <p:cNvPr id="26665" name="Rectangle 21">
              <a:extLst>
                <a:ext uri="{FF2B5EF4-FFF2-40B4-BE49-F238E27FC236}">
                  <a16:creationId xmlns:a16="http://schemas.microsoft.com/office/drawing/2014/main" id="{002F734E-FA5F-4D3C-AA52-CDC65926B0F7}"/>
                </a:ext>
              </a:extLst>
            </p:cNvPr>
            <p:cNvSpPr>
              <a:spLocks noChangeArrowheads="1"/>
            </p:cNvSpPr>
            <p:nvPr/>
          </p:nvSpPr>
          <p:spPr bwMode="auto">
            <a:xfrm>
              <a:off x="593" y="151"/>
              <a:ext cx="3103" cy="2327"/>
            </a:xfrm>
            <a:prstGeom prst="rect">
              <a:avLst/>
            </a:prstGeom>
            <a:solidFill>
              <a:srgbClr val="000000"/>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26666" name="Rectangle 22">
              <a:extLst>
                <a:ext uri="{FF2B5EF4-FFF2-40B4-BE49-F238E27FC236}">
                  <a16:creationId xmlns:a16="http://schemas.microsoft.com/office/drawing/2014/main" id="{85EDF7A3-76E0-41DE-A71A-9BD04DB80BEF}"/>
                </a:ext>
              </a:extLst>
            </p:cNvPr>
            <p:cNvSpPr>
              <a:spLocks noChangeArrowheads="1"/>
            </p:cNvSpPr>
            <p:nvPr/>
          </p:nvSpPr>
          <p:spPr bwMode="auto">
            <a:xfrm>
              <a:off x="567" y="125"/>
              <a:ext cx="3103" cy="2327"/>
            </a:xfrm>
            <a:prstGeom prst="rect">
              <a:avLst/>
            </a:prstGeom>
            <a:solidFill>
              <a:srgbClr val="FFFFFF"/>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grpSp>
      <p:sp>
        <p:nvSpPr>
          <p:cNvPr id="26630" name="Rectangle 12">
            <a:extLst>
              <a:ext uri="{FF2B5EF4-FFF2-40B4-BE49-F238E27FC236}">
                <a16:creationId xmlns:a16="http://schemas.microsoft.com/office/drawing/2014/main" id="{B8A3B0AC-BCE7-45C8-A606-F2FA7D990328}"/>
              </a:ext>
            </a:extLst>
          </p:cNvPr>
          <p:cNvSpPr>
            <a:spLocks noChangeArrowheads="1"/>
          </p:cNvSpPr>
          <p:nvPr/>
        </p:nvSpPr>
        <p:spPr bwMode="auto">
          <a:xfrm>
            <a:off x="1119188" y="322263"/>
            <a:ext cx="418782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26631" name="Rectangle 13">
            <a:extLst>
              <a:ext uri="{FF2B5EF4-FFF2-40B4-BE49-F238E27FC236}">
                <a16:creationId xmlns:a16="http://schemas.microsoft.com/office/drawing/2014/main" id="{7A34BD9F-4F23-429F-BA7F-BFEB5A30501F}"/>
              </a:ext>
            </a:extLst>
          </p:cNvPr>
          <p:cNvSpPr>
            <a:spLocks noChangeArrowheads="1"/>
          </p:cNvSpPr>
          <p:nvPr/>
        </p:nvSpPr>
        <p:spPr bwMode="auto">
          <a:xfrm>
            <a:off x="1219200" y="685800"/>
            <a:ext cx="22574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2200" b="1">
                <a:solidFill>
                  <a:srgbClr val="000000"/>
                </a:solidFill>
                <a:latin typeface="メイリオ" panose="020B0604030504040204" pitchFamily="50" charset="-128"/>
                <a:ea typeface="メイリオ" panose="020B0604030504040204" pitchFamily="50" charset="-128"/>
              </a:rPr>
              <a:t>依存ではなく自立</a:t>
            </a:r>
            <a:endParaRPr lang="ja-JP" altLang="en-US" sz="2200" b="1">
              <a:latin typeface="メイリオ" panose="020B0604030504040204" pitchFamily="50" charset="-128"/>
              <a:ea typeface="メイリオ" panose="020B0604030504040204" pitchFamily="50" charset="-128"/>
            </a:endParaRPr>
          </a:p>
        </p:txBody>
      </p:sp>
      <p:sp>
        <p:nvSpPr>
          <p:cNvPr id="26632" name="Rectangle 14">
            <a:extLst>
              <a:ext uri="{FF2B5EF4-FFF2-40B4-BE49-F238E27FC236}">
                <a16:creationId xmlns:a16="http://schemas.microsoft.com/office/drawing/2014/main" id="{89B8C185-3472-45E0-A16E-F36F73ABFE13}"/>
              </a:ext>
            </a:extLst>
          </p:cNvPr>
          <p:cNvSpPr>
            <a:spLocks noChangeArrowheads="1"/>
          </p:cNvSpPr>
          <p:nvPr/>
        </p:nvSpPr>
        <p:spPr bwMode="auto">
          <a:xfrm>
            <a:off x="1031875" y="1306513"/>
            <a:ext cx="4681538"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26633" name="Rectangle 15">
            <a:extLst>
              <a:ext uri="{FF2B5EF4-FFF2-40B4-BE49-F238E27FC236}">
                <a16:creationId xmlns:a16="http://schemas.microsoft.com/office/drawing/2014/main" id="{1528A43D-5386-4F6E-A823-825342C34D84}"/>
              </a:ext>
            </a:extLst>
          </p:cNvPr>
          <p:cNvSpPr>
            <a:spLocks noChangeArrowheads="1"/>
          </p:cNvSpPr>
          <p:nvPr/>
        </p:nvSpPr>
        <p:spPr bwMode="auto">
          <a:xfrm>
            <a:off x="1104900" y="1277938"/>
            <a:ext cx="4878388"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60000"/>
              </a:spcBef>
              <a:buFontTx/>
              <a:buNone/>
            </a:pPr>
            <a:r>
              <a:rPr lang="ja-JP" altLang="en-US" sz="1700" b="1">
                <a:solidFill>
                  <a:srgbClr val="000000"/>
                </a:solidFill>
                <a:latin typeface="メイリオ" panose="020B0604030504040204" pitchFamily="50" charset="-128"/>
                <a:ea typeface="メイリオ" panose="020B0604030504040204" pitchFamily="50" charset="-128"/>
              </a:rPr>
              <a:t>私たちはできない理由を他者や環境に求める</a:t>
            </a:r>
          </a:p>
          <a:p>
            <a:pPr eaLnBrk="1" hangingPunct="1">
              <a:spcBef>
                <a:spcPct val="60000"/>
              </a:spcBef>
              <a:buFontTx/>
              <a:buNone/>
            </a:pPr>
            <a:r>
              <a:rPr lang="ja-JP" altLang="en-US" sz="1700" b="1">
                <a:solidFill>
                  <a:srgbClr val="000000"/>
                </a:solidFill>
                <a:latin typeface="メイリオ" panose="020B0604030504040204" pitchFamily="50" charset="-128"/>
                <a:ea typeface="メイリオ" panose="020B0604030504040204" pitchFamily="50" charset="-128"/>
              </a:rPr>
              <a:t>ことなく、自分に矢印を向け、</a:t>
            </a:r>
          </a:p>
          <a:p>
            <a:pPr eaLnBrk="1" hangingPunct="1">
              <a:spcBef>
                <a:spcPct val="60000"/>
              </a:spcBef>
              <a:buFontTx/>
              <a:buNone/>
            </a:pPr>
            <a:r>
              <a:rPr lang="ja-JP" altLang="en-US" sz="1700" b="1">
                <a:solidFill>
                  <a:srgbClr val="000000"/>
                </a:solidFill>
                <a:latin typeface="メイリオ" panose="020B0604030504040204" pitchFamily="50" charset="-128"/>
                <a:ea typeface="メイリオ" panose="020B0604030504040204" pitchFamily="50" charset="-128"/>
              </a:rPr>
              <a:t>自らが考え、自らが行動する個人であり続けます。</a:t>
            </a:r>
          </a:p>
        </p:txBody>
      </p:sp>
      <p:sp>
        <p:nvSpPr>
          <p:cNvPr id="26634" name="Rectangle 3">
            <a:extLst>
              <a:ext uri="{FF2B5EF4-FFF2-40B4-BE49-F238E27FC236}">
                <a16:creationId xmlns:a16="http://schemas.microsoft.com/office/drawing/2014/main" id="{A7BA8B9B-AB5F-4089-92F4-0BD0B9A0C03E}"/>
              </a:ext>
            </a:extLst>
          </p:cNvPr>
          <p:cNvSpPr>
            <a:spLocks noChangeArrowheads="1"/>
          </p:cNvSpPr>
          <p:nvPr/>
        </p:nvSpPr>
        <p:spPr bwMode="auto">
          <a:xfrm>
            <a:off x="685800" y="4419600"/>
            <a:ext cx="5562600" cy="443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lnSpc>
                <a:spcPct val="130000"/>
              </a:lnSpc>
              <a:buFontTx/>
              <a:buNone/>
            </a:pPr>
            <a:endParaRPr lang="ja-JP" altLang="en-US" sz="1200"/>
          </a:p>
        </p:txBody>
      </p:sp>
      <p:sp>
        <p:nvSpPr>
          <p:cNvPr id="26635" name="Line 23">
            <a:extLst>
              <a:ext uri="{FF2B5EF4-FFF2-40B4-BE49-F238E27FC236}">
                <a16:creationId xmlns:a16="http://schemas.microsoft.com/office/drawing/2014/main" id="{5591C8AB-8ACD-4C03-8A00-1BB8C38D6E6D}"/>
              </a:ext>
            </a:extLst>
          </p:cNvPr>
          <p:cNvSpPr>
            <a:spLocks noChangeShapeType="1"/>
          </p:cNvSpPr>
          <p:nvPr/>
        </p:nvSpPr>
        <p:spPr bwMode="auto">
          <a:xfrm flipV="1">
            <a:off x="1219200" y="1066800"/>
            <a:ext cx="2286000" cy="0"/>
          </a:xfrm>
          <a:prstGeom prst="line">
            <a:avLst/>
          </a:prstGeom>
          <a:noFill/>
          <a:ln w="69850" cmpd="thinThick">
            <a:solidFill>
              <a:schemeClr val="bg2"/>
            </a:solidFill>
            <a:round/>
            <a:headEnd/>
            <a:tailEnd/>
          </a:ln>
          <a:effectLst>
            <a:outerShdw dist="148106" dir="1857825" algn="ctr" rotWithShape="0">
              <a:srgbClr val="DDDDDD"/>
            </a:outerShdw>
          </a:effectLst>
          <a:extLst>
            <a:ext uri="{909E8E84-426E-40DD-AFC4-6F175D3DCCD1}">
              <a14:hiddenFill xmlns:a14="http://schemas.microsoft.com/office/drawing/2010/main">
                <a:noFill/>
              </a14:hiddenFill>
            </a:ext>
          </a:extLst>
        </p:spPr>
        <p:txBody>
          <a:bodyPr/>
          <a:lstStyle/>
          <a:p>
            <a:endParaRPr lang="ja-JP" altLang="en-US"/>
          </a:p>
        </p:txBody>
      </p:sp>
      <p:sp>
        <p:nvSpPr>
          <p:cNvPr id="27661" name="Rectangle 2060">
            <a:extLst>
              <a:ext uri="{FF2B5EF4-FFF2-40B4-BE49-F238E27FC236}">
                <a16:creationId xmlns:a16="http://schemas.microsoft.com/office/drawing/2014/main" id="{BE4FBEE2-79F0-4389-BDB9-461C4CE4DB00}"/>
              </a:ext>
            </a:extLst>
          </p:cNvPr>
          <p:cNvSpPr>
            <a:spLocks noChangeArrowheads="1"/>
          </p:cNvSpPr>
          <p:nvPr/>
        </p:nvSpPr>
        <p:spPr bwMode="auto">
          <a:xfrm>
            <a:off x="539750" y="2570163"/>
            <a:ext cx="6027738" cy="341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lnSpc>
                <a:spcPct val="150000"/>
              </a:lnSpc>
              <a:buFontTx/>
              <a:buNone/>
              <a:defRPr/>
            </a:pPr>
            <a:r>
              <a:rPr lang="ja-JP" altLang="en-US" sz="1200" dirty="0">
                <a:latin typeface="+mj-ea"/>
                <a:ea typeface="+mj-ea"/>
              </a:rPr>
              <a:t>　仕事に慣れていくうちに、ミスをすることにも慣れてしまうことがあります。そして、ミスの数と比例するように反省する力も弱くなってしまう人がいます。ミスをしても自分以外の他人や環境のせいにする発想や考え方に陥るのです。こうした考え方を「依存」と言います。この逆の考え方を「自立」と言います。</a:t>
            </a:r>
          </a:p>
          <a:p>
            <a:pPr eaLnBrk="1" hangingPunct="1">
              <a:lnSpc>
                <a:spcPct val="150000"/>
              </a:lnSpc>
              <a:buFontTx/>
              <a:buNone/>
              <a:defRPr/>
            </a:pPr>
            <a:r>
              <a:rPr lang="ja-JP" altLang="en-US" sz="1200" dirty="0">
                <a:latin typeface="+mj-ea"/>
                <a:ea typeface="+mj-ea"/>
              </a:rPr>
              <a:t>　自立した個人は、「自分ならどうするか」　を考え出し、そして自らの選択に基づいて行動することを志向します。誰かが考えてくれるのではなく、自らが考え行動することを選ぶのです。誰かが決めて、そして行動してくれることを待つのではなく、自分が決めて、行動します。まず、自分に矢印を向けます。私たち１人１人が「自立した個人」であり、その私たちが「チーム」になる時、私たちは相乗効果を発揮することができます。ですから、この「依存ではなく自立」は、組織理念にある「共感参画型組織　～夢を語り、自ら参画せよ～」や「挑戦し続ける組織　～失敗や変化を恐れず挑戦せよ～」、「チーム</a:t>
            </a:r>
            <a:r>
              <a:rPr lang="en-US" altLang="ja-JP" sz="1200" dirty="0">
                <a:latin typeface="+mj-ea"/>
                <a:ea typeface="+mj-ea"/>
              </a:rPr>
              <a:t>MMI</a:t>
            </a:r>
            <a:r>
              <a:rPr lang="ja-JP" altLang="en-US" sz="1200" dirty="0">
                <a:latin typeface="+mj-ea"/>
                <a:ea typeface="+mj-ea"/>
              </a:rPr>
              <a:t>　～</a:t>
            </a:r>
            <a:r>
              <a:rPr lang="en-US" altLang="ja-JP" sz="1200" dirty="0">
                <a:latin typeface="+mj-ea"/>
                <a:ea typeface="+mj-ea"/>
              </a:rPr>
              <a:t>I</a:t>
            </a:r>
            <a:r>
              <a:rPr lang="ja-JP" altLang="en-US" sz="1200" dirty="0">
                <a:latin typeface="+mj-ea"/>
                <a:ea typeface="+mj-ea"/>
              </a:rPr>
              <a:t>ではなく</a:t>
            </a:r>
            <a:r>
              <a:rPr lang="en-US" altLang="ja-JP" sz="1200" dirty="0">
                <a:latin typeface="+mj-ea"/>
                <a:ea typeface="+mj-ea"/>
              </a:rPr>
              <a:t>W</a:t>
            </a:r>
            <a:r>
              <a:rPr lang="ja-JP" altLang="en-US" sz="1200" dirty="0">
                <a:latin typeface="+mj-ea"/>
                <a:ea typeface="+mj-ea"/>
              </a:rPr>
              <a:t>ｅで考えよ～」の前提となる行動指針でもあります。</a:t>
            </a:r>
          </a:p>
        </p:txBody>
      </p:sp>
      <p:sp>
        <p:nvSpPr>
          <p:cNvPr id="16" name="正方形/長方形 15">
            <a:extLst>
              <a:ext uri="{FF2B5EF4-FFF2-40B4-BE49-F238E27FC236}">
                <a16:creationId xmlns:a16="http://schemas.microsoft.com/office/drawing/2014/main" id="{325F7850-6383-474B-B12B-DA9592E5A0B0}"/>
              </a:ext>
            </a:extLst>
          </p:cNvPr>
          <p:cNvSpPr/>
          <p:nvPr/>
        </p:nvSpPr>
        <p:spPr>
          <a:xfrm>
            <a:off x="1616075" y="6294438"/>
            <a:ext cx="479425" cy="1152525"/>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1200" b="1">
              <a:solidFill>
                <a:schemeClr val="tx1"/>
              </a:solidFill>
              <a:latin typeface="メイリオ" panose="020B0604030504040204" pitchFamily="50" charset="-128"/>
              <a:ea typeface="メイリオ" panose="020B0604030504040204" pitchFamily="50" charset="-128"/>
            </a:endParaRPr>
          </a:p>
        </p:txBody>
      </p:sp>
      <p:sp>
        <p:nvSpPr>
          <p:cNvPr id="17" name="矢印: 右 16">
            <a:extLst>
              <a:ext uri="{FF2B5EF4-FFF2-40B4-BE49-F238E27FC236}">
                <a16:creationId xmlns:a16="http://schemas.microsoft.com/office/drawing/2014/main" id="{5E749EE1-02A2-40D9-B378-6A82165C2F17}"/>
              </a:ext>
            </a:extLst>
          </p:cNvPr>
          <p:cNvSpPr/>
          <p:nvPr/>
        </p:nvSpPr>
        <p:spPr>
          <a:xfrm>
            <a:off x="2301977" y="6386513"/>
            <a:ext cx="1129732" cy="976312"/>
          </a:xfrm>
          <a:prstGeom prst="rightArrow">
            <a:avLst/>
          </a:prstGeom>
          <a:solidFill>
            <a:schemeClr val="bg1">
              <a:lumMod val="95000"/>
            </a:schemeClr>
          </a:solidFill>
          <a:ln>
            <a:solidFill>
              <a:schemeClr val="bg1">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1200" b="1" dirty="0">
              <a:solidFill>
                <a:schemeClr val="tx1"/>
              </a:solidFill>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B90A25AA-2C05-4E10-BB92-1E57D0577CDA}"/>
              </a:ext>
            </a:extLst>
          </p:cNvPr>
          <p:cNvSpPr/>
          <p:nvPr/>
        </p:nvSpPr>
        <p:spPr>
          <a:xfrm>
            <a:off x="1054100" y="6294438"/>
            <a:ext cx="477838" cy="1152525"/>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1200" b="1" dirty="0">
              <a:solidFill>
                <a:schemeClr val="tx1"/>
              </a:solidFill>
              <a:latin typeface="メイリオ" panose="020B0604030504040204" pitchFamily="50" charset="-128"/>
              <a:ea typeface="メイリオ" panose="020B0604030504040204" pitchFamily="50" charset="-128"/>
            </a:endParaRPr>
          </a:p>
        </p:txBody>
      </p:sp>
      <p:sp>
        <p:nvSpPr>
          <p:cNvPr id="26640" name="テキスト ボックス 18">
            <a:extLst>
              <a:ext uri="{FF2B5EF4-FFF2-40B4-BE49-F238E27FC236}">
                <a16:creationId xmlns:a16="http://schemas.microsoft.com/office/drawing/2014/main" id="{5181877F-77E8-4073-B568-093990828CC5}"/>
              </a:ext>
            </a:extLst>
          </p:cNvPr>
          <p:cNvSpPr txBox="1">
            <a:spLocks noChangeArrowheads="1"/>
          </p:cNvSpPr>
          <p:nvPr/>
        </p:nvSpPr>
        <p:spPr bwMode="auto">
          <a:xfrm>
            <a:off x="590550" y="6238875"/>
            <a:ext cx="369888"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a:spcBef>
                <a:spcPct val="0"/>
              </a:spcBef>
              <a:buFontTx/>
              <a:buNone/>
            </a:pPr>
            <a:r>
              <a:rPr lang="ja-JP" altLang="en-US" sz="1200" b="1">
                <a:latin typeface="メイリオ" panose="020B0604030504040204" pitchFamily="50" charset="-128"/>
                <a:ea typeface="メイリオ" panose="020B0604030504040204" pitchFamily="50" charset="-128"/>
              </a:rPr>
              <a:t>依存している</a:t>
            </a:r>
          </a:p>
        </p:txBody>
      </p:sp>
      <p:sp>
        <p:nvSpPr>
          <p:cNvPr id="26641" name="テキスト ボックス 19">
            <a:extLst>
              <a:ext uri="{FF2B5EF4-FFF2-40B4-BE49-F238E27FC236}">
                <a16:creationId xmlns:a16="http://schemas.microsoft.com/office/drawing/2014/main" id="{32C8786F-8DD8-4935-9D89-262C7A9A4316}"/>
              </a:ext>
            </a:extLst>
          </p:cNvPr>
          <p:cNvSpPr txBox="1">
            <a:spLocks noChangeArrowheads="1"/>
          </p:cNvSpPr>
          <p:nvPr/>
        </p:nvSpPr>
        <p:spPr bwMode="auto">
          <a:xfrm>
            <a:off x="1608138" y="6319838"/>
            <a:ext cx="430212" cy="1147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a:spcBef>
                <a:spcPct val="0"/>
              </a:spcBef>
              <a:buFontTx/>
              <a:buNone/>
            </a:pPr>
            <a:r>
              <a:rPr lang="ja-JP" altLang="en-US" sz="1600" b="1">
                <a:latin typeface="メイリオ" panose="020B0604030504040204" pitchFamily="50" charset="-128"/>
                <a:ea typeface="メイリオ" panose="020B0604030504040204" pitchFamily="50" charset="-128"/>
              </a:rPr>
              <a:t>環境</a:t>
            </a:r>
          </a:p>
        </p:txBody>
      </p:sp>
      <p:sp>
        <p:nvSpPr>
          <p:cNvPr id="26642" name="テキスト ボックス 27">
            <a:extLst>
              <a:ext uri="{FF2B5EF4-FFF2-40B4-BE49-F238E27FC236}">
                <a16:creationId xmlns:a16="http://schemas.microsoft.com/office/drawing/2014/main" id="{7988121A-257C-4F21-8E0B-418D6E5E6DFE}"/>
              </a:ext>
            </a:extLst>
          </p:cNvPr>
          <p:cNvSpPr txBox="1">
            <a:spLocks noChangeArrowheads="1"/>
          </p:cNvSpPr>
          <p:nvPr/>
        </p:nvSpPr>
        <p:spPr bwMode="auto">
          <a:xfrm>
            <a:off x="66675" y="6237288"/>
            <a:ext cx="493713"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a:spcBef>
                <a:spcPct val="0"/>
              </a:spcBef>
              <a:buFontTx/>
              <a:buNone/>
            </a:pPr>
            <a:r>
              <a:rPr lang="ja-JP" altLang="en-US" sz="2000" b="1">
                <a:latin typeface="メイリオ" panose="020B0604030504040204" pitchFamily="50" charset="-128"/>
                <a:ea typeface="メイリオ" panose="020B0604030504040204" pitchFamily="50" charset="-128"/>
              </a:rPr>
              <a:t>ＮＧ</a:t>
            </a:r>
            <a:endParaRPr lang="en-US" altLang="ja-JP" sz="2000" b="1">
              <a:latin typeface="メイリオ" panose="020B0604030504040204" pitchFamily="50" charset="-128"/>
              <a:ea typeface="メイリオ" panose="020B0604030504040204" pitchFamily="50" charset="-128"/>
            </a:endParaRPr>
          </a:p>
        </p:txBody>
      </p:sp>
      <p:sp>
        <p:nvSpPr>
          <p:cNvPr id="26643" name="テキスト ボックス 28">
            <a:extLst>
              <a:ext uri="{FF2B5EF4-FFF2-40B4-BE49-F238E27FC236}">
                <a16:creationId xmlns:a16="http://schemas.microsoft.com/office/drawing/2014/main" id="{1C0160E1-A14B-4A21-AF25-B148B320AD0E}"/>
              </a:ext>
            </a:extLst>
          </p:cNvPr>
          <p:cNvSpPr txBox="1">
            <a:spLocks noChangeArrowheads="1"/>
          </p:cNvSpPr>
          <p:nvPr/>
        </p:nvSpPr>
        <p:spPr bwMode="auto">
          <a:xfrm>
            <a:off x="66675" y="7699375"/>
            <a:ext cx="493713"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a:spcBef>
                <a:spcPct val="0"/>
              </a:spcBef>
              <a:buFontTx/>
              <a:buNone/>
            </a:pPr>
            <a:r>
              <a:rPr lang="ja-JP" altLang="en-US" sz="2000" b="1">
                <a:latin typeface="メイリオ" panose="020B0604030504040204" pitchFamily="50" charset="-128"/>
                <a:ea typeface="メイリオ" panose="020B0604030504040204" pitchFamily="50" charset="-128"/>
              </a:rPr>
              <a:t>ＯＫ</a:t>
            </a:r>
            <a:endParaRPr lang="en-US" altLang="ja-JP" sz="2000" b="1">
              <a:latin typeface="メイリオ" panose="020B0604030504040204" pitchFamily="50" charset="-128"/>
              <a:ea typeface="メイリオ" panose="020B0604030504040204" pitchFamily="50" charset="-128"/>
            </a:endParaRPr>
          </a:p>
        </p:txBody>
      </p:sp>
      <p:sp>
        <p:nvSpPr>
          <p:cNvPr id="26644" name="Rectangle 2060">
            <a:extLst>
              <a:ext uri="{FF2B5EF4-FFF2-40B4-BE49-F238E27FC236}">
                <a16:creationId xmlns:a16="http://schemas.microsoft.com/office/drawing/2014/main" id="{CBEB84FC-C8E9-4EC9-BDD0-C2B1797E3AAA}"/>
              </a:ext>
            </a:extLst>
          </p:cNvPr>
          <p:cNvSpPr>
            <a:spLocks noChangeArrowheads="1"/>
          </p:cNvSpPr>
          <p:nvPr/>
        </p:nvSpPr>
        <p:spPr bwMode="auto">
          <a:xfrm>
            <a:off x="2301726" y="6645374"/>
            <a:ext cx="973733"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buFontTx/>
              <a:buNone/>
            </a:pPr>
            <a:r>
              <a:rPr lang="ja-JP" altLang="en-US" sz="1200" b="1" dirty="0">
                <a:latin typeface="メイリオ" panose="020B0604030504040204" pitchFamily="50" charset="-128"/>
                <a:ea typeface="メイリオ" panose="020B0604030504040204" pitchFamily="50" charset="-128"/>
              </a:rPr>
              <a:t>流された</a:t>
            </a:r>
            <a:endParaRPr lang="en-US" altLang="ja-JP" sz="1200" b="1" dirty="0">
              <a:latin typeface="メイリオ" panose="020B0604030504040204" pitchFamily="50" charset="-128"/>
              <a:ea typeface="メイリオ" panose="020B0604030504040204" pitchFamily="50" charset="-128"/>
            </a:endParaRPr>
          </a:p>
          <a:p>
            <a:pPr algn="ctr" eaLnBrk="1" hangingPunct="1">
              <a:buFontTx/>
              <a:buNone/>
            </a:pPr>
            <a:r>
              <a:rPr lang="ja-JP" altLang="en-US" sz="1200" b="1" dirty="0">
                <a:latin typeface="メイリオ" panose="020B0604030504040204" pitchFamily="50" charset="-128"/>
                <a:ea typeface="メイリオ" panose="020B0604030504040204" pitchFamily="50" charset="-128"/>
              </a:rPr>
              <a:t>結果</a:t>
            </a:r>
            <a:endParaRPr lang="en-US" altLang="ja-JP" sz="1200" b="1" dirty="0">
              <a:latin typeface="メイリオ" panose="020B0604030504040204" pitchFamily="50" charset="-128"/>
              <a:ea typeface="メイリオ" panose="020B0604030504040204" pitchFamily="50" charset="-128"/>
            </a:endParaRPr>
          </a:p>
        </p:txBody>
      </p:sp>
      <p:sp>
        <p:nvSpPr>
          <p:cNvPr id="26645" name="テキスト ボックス 40">
            <a:extLst>
              <a:ext uri="{FF2B5EF4-FFF2-40B4-BE49-F238E27FC236}">
                <a16:creationId xmlns:a16="http://schemas.microsoft.com/office/drawing/2014/main" id="{7871B1F7-2D87-4940-881A-365C1EA62F76}"/>
              </a:ext>
            </a:extLst>
          </p:cNvPr>
          <p:cNvSpPr txBox="1">
            <a:spLocks noChangeArrowheads="1"/>
          </p:cNvSpPr>
          <p:nvPr/>
        </p:nvSpPr>
        <p:spPr bwMode="auto">
          <a:xfrm>
            <a:off x="1027113" y="6319838"/>
            <a:ext cx="430212" cy="1103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a:spcBef>
                <a:spcPct val="0"/>
              </a:spcBef>
              <a:buFontTx/>
              <a:buNone/>
            </a:pPr>
            <a:r>
              <a:rPr lang="ja-JP" altLang="en-US" sz="1600" b="1">
                <a:latin typeface="メイリオ" panose="020B0604030504040204" pitchFamily="50" charset="-128"/>
                <a:ea typeface="メイリオ" panose="020B0604030504040204" pitchFamily="50" charset="-128"/>
              </a:rPr>
              <a:t>刺激</a:t>
            </a:r>
          </a:p>
        </p:txBody>
      </p:sp>
      <p:sp>
        <p:nvSpPr>
          <p:cNvPr id="26647" name="Rectangle 2060">
            <a:extLst>
              <a:ext uri="{FF2B5EF4-FFF2-40B4-BE49-F238E27FC236}">
                <a16:creationId xmlns:a16="http://schemas.microsoft.com/office/drawing/2014/main" id="{E5547EAA-2FA9-473F-A95B-F85C29D22985}"/>
              </a:ext>
            </a:extLst>
          </p:cNvPr>
          <p:cNvSpPr>
            <a:spLocks noChangeArrowheads="1"/>
          </p:cNvSpPr>
          <p:nvPr/>
        </p:nvSpPr>
        <p:spPr bwMode="auto">
          <a:xfrm>
            <a:off x="3473450" y="6562725"/>
            <a:ext cx="1265238" cy="56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buFontTx/>
              <a:buNone/>
            </a:pPr>
            <a:r>
              <a:rPr lang="ja-JP" altLang="en-US" sz="1400" b="1" dirty="0">
                <a:latin typeface="メイリオ" panose="020B0604030504040204" pitchFamily="50" charset="-128"/>
                <a:ea typeface="メイリオ" panose="020B0604030504040204" pitchFamily="50" charset="-128"/>
              </a:rPr>
              <a:t>単なる</a:t>
            </a:r>
            <a:endParaRPr lang="en-US" altLang="ja-JP" sz="1400" b="1" dirty="0">
              <a:latin typeface="メイリオ" panose="020B0604030504040204" pitchFamily="50" charset="-128"/>
              <a:ea typeface="メイリオ" panose="020B0604030504040204" pitchFamily="50" charset="-128"/>
            </a:endParaRPr>
          </a:p>
          <a:p>
            <a:pPr algn="ctr" eaLnBrk="1" hangingPunct="1">
              <a:buFontTx/>
              <a:buNone/>
            </a:pPr>
            <a:r>
              <a:rPr lang="ja-JP" altLang="en-US" sz="1400" b="1" dirty="0">
                <a:latin typeface="メイリオ" panose="020B0604030504040204" pitchFamily="50" charset="-128"/>
                <a:ea typeface="メイリオ" panose="020B0604030504040204" pitchFamily="50" charset="-128"/>
              </a:rPr>
              <a:t>出来事</a:t>
            </a:r>
            <a:endParaRPr lang="en-US" altLang="ja-JP" sz="1400" b="1" dirty="0">
              <a:latin typeface="メイリオ" panose="020B0604030504040204" pitchFamily="50" charset="-128"/>
              <a:ea typeface="メイリオ" panose="020B0604030504040204" pitchFamily="50" charset="-128"/>
            </a:endParaRPr>
          </a:p>
        </p:txBody>
      </p:sp>
      <p:sp>
        <p:nvSpPr>
          <p:cNvPr id="3" name="吹き出し: 四角形 2">
            <a:extLst>
              <a:ext uri="{FF2B5EF4-FFF2-40B4-BE49-F238E27FC236}">
                <a16:creationId xmlns:a16="http://schemas.microsoft.com/office/drawing/2014/main" id="{33F83D25-95DE-4991-A527-76A58ACDFCDF}"/>
              </a:ext>
            </a:extLst>
          </p:cNvPr>
          <p:cNvSpPr/>
          <p:nvPr/>
        </p:nvSpPr>
        <p:spPr>
          <a:xfrm>
            <a:off x="5084763" y="6053138"/>
            <a:ext cx="1455737" cy="498475"/>
          </a:xfrm>
          <a:prstGeom prst="wedgeRectCallout">
            <a:avLst>
              <a:gd name="adj1" fmla="val -76142"/>
              <a:gd name="adj2" fmla="val 42989"/>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1200" b="1">
              <a:solidFill>
                <a:schemeClr val="tx1"/>
              </a:solidFill>
              <a:latin typeface="メイリオ" panose="020B0604030504040204" pitchFamily="50" charset="-128"/>
              <a:ea typeface="メイリオ" panose="020B0604030504040204" pitchFamily="50" charset="-128"/>
            </a:endParaRPr>
          </a:p>
        </p:txBody>
      </p:sp>
      <p:sp>
        <p:nvSpPr>
          <p:cNvPr id="45" name="吹き出し: 四角形 44">
            <a:extLst>
              <a:ext uri="{FF2B5EF4-FFF2-40B4-BE49-F238E27FC236}">
                <a16:creationId xmlns:a16="http://schemas.microsoft.com/office/drawing/2014/main" id="{3085770C-8BFF-41C9-B3B2-790A5FCFFE24}"/>
              </a:ext>
            </a:extLst>
          </p:cNvPr>
          <p:cNvSpPr/>
          <p:nvPr/>
        </p:nvSpPr>
        <p:spPr>
          <a:xfrm>
            <a:off x="5084763" y="6602413"/>
            <a:ext cx="1455737" cy="498475"/>
          </a:xfrm>
          <a:prstGeom prst="wedgeRectCallout">
            <a:avLst>
              <a:gd name="adj1" fmla="val -72920"/>
              <a:gd name="adj2" fmla="val -7737"/>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1200" b="1" dirty="0">
              <a:solidFill>
                <a:schemeClr val="tx1"/>
              </a:solidFill>
              <a:latin typeface="メイリオ" panose="020B0604030504040204" pitchFamily="50" charset="-128"/>
              <a:ea typeface="メイリオ" panose="020B0604030504040204" pitchFamily="50" charset="-128"/>
            </a:endParaRPr>
          </a:p>
        </p:txBody>
      </p:sp>
      <p:sp>
        <p:nvSpPr>
          <p:cNvPr id="26650" name="Rectangle 2060">
            <a:extLst>
              <a:ext uri="{FF2B5EF4-FFF2-40B4-BE49-F238E27FC236}">
                <a16:creationId xmlns:a16="http://schemas.microsoft.com/office/drawing/2014/main" id="{9DF70690-7DCF-43E3-9FCF-C639BBB671BD}"/>
              </a:ext>
            </a:extLst>
          </p:cNvPr>
          <p:cNvSpPr>
            <a:spLocks noChangeArrowheads="1"/>
          </p:cNvSpPr>
          <p:nvPr/>
        </p:nvSpPr>
        <p:spPr bwMode="auto">
          <a:xfrm>
            <a:off x="5038725" y="6078538"/>
            <a:ext cx="1563688"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buFontTx/>
              <a:buNone/>
            </a:pPr>
            <a:r>
              <a:rPr lang="ja-JP" altLang="en-US" sz="1200" b="1">
                <a:latin typeface="メイリオ" panose="020B0604030504040204" pitchFamily="50" charset="-128"/>
                <a:ea typeface="メイリオ" panose="020B0604030504040204" pitchFamily="50" charset="-128"/>
              </a:rPr>
              <a:t>失敗</a:t>
            </a:r>
            <a:endParaRPr lang="en-US" altLang="ja-JP" sz="1200" b="1">
              <a:latin typeface="メイリオ" panose="020B0604030504040204" pitchFamily="50" charset="-128"/>
              <a:ea typeface="メイリオ" panose="020B0604030504040204" pitchFamily="50" charset="-128"/>
            </a:endParaRPr>
          </a:p>
          <a:p>
            <a:pPr algn="ctr" eaLnBrk="1" hangingPunct="1">
              <a:buFontTx/>
              <a:buNone/>
            </a:pPr>
            <a:r>
              <a:rPr lang="ja-JP" altLang="en-US" sz="1200" b="1">
                <a:latin typeface="メイリオ" panose="020B0604030504040204" pitchFamily="50" charset="-128"/>
                <a:ea typeface="メイリオ" panose="020B0604030504040204" pitchFamily="50" charset="-128"/>
              </a:rPr>
              <a:t>（環境のせい）</a:t>
            </a:r>
            <a:endParaRPr lang="en-US" altLang="ja-JP" sz="1200" b="1">
              <a:latin typeface="メイリオ" panose="020B0604030504040204" pitchFamily="50" charset="-128"/>
              <a:ea typeface="メイリオ" panose="020B0604030504040204" pitchFamily="50" charset="-128"/>
            </a:endParaRPr>
          </a:p>
        </p:txBody>
      </p:sp>
      <p:sp>
        <p:nvSpPr>
          <p:cNvPr id="26651" name="Rectangle 2060">
            <a:extLst>
              <a:ext uri="{FF2B5EF4-FFF2-40B4-BE49-F238E27FC236}">
                <a16:creationId xmlns:a16="http://schemas.microsoft.com/office/drawing/2014/main" id="{94983DA9-D552-4D25-9D17-D498B2DFF549}"/>
              </a:ext>
            </a:extLst>
          </p:cNvPr>
          <p:cNvSpPr>
            <a:spLocks noChangeArrowheads="1"/>
          </p:cNvSpPr>
          <p:nvPr/>
        </p:nvSpPr>
        <p:spPr bwMode="auto">
          <a:xfrm>
            <a:off x="5162550" y="6629400"/>
            <a:ext cx="1265238"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buFontTx/>
              <a:buNone/>
            </a:pPr>
            <a:r>
              <a:rPr lang="ja-JP" altLang="en-US" sz="1200" b="1">
                <a:latin typeface="メイリオ" panose="020B0604030504040204" pitchFamily="50" charset="-128"/>
                <a:ea typeface="メイリオ" panose="020B0604030504040204" pitchFamily="50" charset="-128"/>
              </a:rPr>
              <a:t>欠点</a:t>
            </a:r>
            <a:endParaRPr lang="en-US" altLang="ja-JP" sz="1200" b="1">
              <a:latin typeface="メイリオ" panose="020B0604030504040204" pitchFamily="50" charset="-128"/>
              <a:ea typeface="メイリオ" panose="020B0604030504040204" pitchFamily="50" charset="-128"/>
            </a:endParaRPr>
          </a:p>
          <a:p>
            <a:pPr algn="ctr" eaLnBrk="1" hangingPunct="1">
              <a:buFontTx/>
              <a:buNone/>
            </a:pPr>
            <a:r>
              <a:rPr lang="ja-JP" altLang="en-US" sz="1200" b="1">
                <a:latin typeface="メイリオ" panose="020B0604030504040204" pitchFamily="50" charset="-128"/>
                <a:ea typeface="メイリオ" panose="020B0604030504040204" pitchFamily="50" charset="-128"/>
              </a:rPr>
              <a:t>（遺伝のせい）</a:t>
            </a:r>
            <a:endParaRPr lang="en-US" altLang="ja-JP" sz="1200" b="1">
              <a:latin typeface="メイリオ" panose="020B0604030504040204" pitchFamily="50" charset="-128"/>
              <a:ea typeface="メイリオ" panose="020B0604030504040204" pitchFamily="50" charset="-128"/>
            </a:endParaRPr>
          </a:p>
        </p:txBody>
      </p:sp>
      <p:sp>
        <p:nvSpPr>
          <p:cNvPr id="26652" name="テキスト ボックス 53">
            <a:extLst>
              <a:ext uri="{FF2B5EF4-FFF2-40B4-BE49-F238E27FC236}">
                <a16:creationId xmlns:a16="http://schemas.microsoft.com/office/drawing/2014/main" id="{9E958617-4886-431F-8F9D-60A653F086F9}"/>
              </a:ext>
            </a:extLst>
          </p:cNvPr>
          <p:cNvSpPr txBox="1">
            <a:spLocks noChangeArrowheads="1"/>
          </p:cNvSpPr>
          <p:nvPr/>
        </p:nvSpPr>
        <p:spPr bwMode="auto">
          <a:xfrm>
            <a:off x="590550" y="7808913"/>
            <a:ext cx="369888" cy="113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a:spcBef>
                <a:spcPct val="0"/>
              </a:spcBef>
              <a:buFontTx/>
              <a:buNone/>
            </a:pPr>
            <a:r>
              <a:rPr lang="ja-JP" altLang="en-US" sz="1200" b="1">
                <a:latin typeface="メイリオ" panose="020B0604030504040204" pitchFamily="50" charset="-128"/>
                <a:ea typeface="メイリオ" panose="020B0604030504040204" pitchFamily="50" charset="-128"/>
              </a:rPr>
              <a:t>自立している</a:t>
            </a:r>
          </a:p>
        </p:txBody>
      </p:sp>
      <p:sp>
        <p:nvSpPr>
          <p:cNvPr id="58" name="楕円 57">
            <a:extLst>
              <a:ext uri="{FF2B5EF4-FFF2-40B4-BE49-F238E27FC236}">
                <a16:creationId xmlns:a16="http://schemas.microsoft.com/office/drawing/2014/main" id="{7F372F64-4E20-48E9-994B-E4322D02F34D}"/>
              </a:ext>
            </a:extLst>
          </p:cNvPr>
          <p:cNvSpPr/>
          <p:nvPr/>
        </p:nvSpPr>
        <p:spPr>
          <a:xfrm>
            <a:off x="3630613" y="7905750"/>
            <a:ext cx="976312" cy="974725"/>
          </a:xfrm>
          <a:prstGeom prst="ellipse">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1200" b="1">
              <a:solidFill>
                <a:schemeClr val="tx1"/>
              </a:solidFill>
              <a:latin typeface="メイリオ" panose="020B0604030504040204" pitchFamily="50" charset="-128"/>
              <a:ea typeface="メイリオ" panose="020B0604030504040204" pitchFamily="50" charset="-128"/>
            </a:endParaRPr>
          </a:p>
        </p:txBody>
      </p:sp>
      <p:sp>
        <p:nvSpPr>
          <p:cNvPr id="26654" name="Rectangle 2060">
            <a:extLst>
              <a:ext uri="{FF2B5EF4-FFF2-40B4-BE49-F238E27FC236}">
                <a16:creationId xmlns:a16="http://schemas.microsoft.com/office/drawing/2014/main" id="{1A125888-BFCE-41ED-91FB-9B849CB8E426}"/>
              </a:ext>
            </a:extLst>
          </p:cNvPr>
          <p:cNvSpPr>
            <a:spLocks noChangeArrowheads="1"/>
          </p:cNvSpPr>
          <p:nvPr/>
        </p:nvSpPr>
        <p:spPr bwMode="auto">
          <a:xfrm>
            <a:off x="3354388" y="8156575"/>
            <a:ext cx="1543050" cy="56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buFontTx/>
              <a:buNone/>
            </a:pPr>
            <a:r>
              <a:rPr lang="ja-JP" altLang="en-US" sz="1400" b="1" dirty="0">
                <a:latin typeface="メイリオ" panose="020B0604030504040204" pitchFamily="50" charset="-128"/>
                <a:ea typeface="メイリオ" panose="020B0604030504040204" pitchFamily="50" charset="-128"/>
              </a:rPr>
              <a:t>選択による</a:t>
            </a:r>
            <a:endParaRPr lang="en-US" altLang="ja-JP" sz="1400" b="1" dirty="0">
              <a:latin typeface="メイリオ" panose="020B0604030504040204" pitchFamily="50" charset="-128"/>
              <a:ea typeface="メイリオ" panose="020B0604030504040204" pitchFamily="50" charset="-128"/>
            </a:endParaRPr>
          </a:p>
          <a:p>
            <a:pPr algn="ctr" eaLnBrk="1" hangingPunct="1">
              <a:buFontTx/>
              <a:buNone/>
            </a:pPr>
            <a:r>
              <a:rPr lang="ja-JP" altLang="en-US" sz="1400" b="1" dirty="0">
                <a:latin typeface="メイリオ" panose="020B0604030504040204" pitchFamily="50" charset="-128"/>
                <a:ea typeface="メイリオ" panose="020B0604030504040204" pitchFamily="50" charset="-128"/>
              </a:rPr>
              <a:t>結果</a:t>
            </a:r>
            <a:endParaRPr lang="en-US" altLang="ja-JP" sz="1400" b="1" dirty="0">
              <a:latin typeface="メイリオ" panose="020B0604030504040204" pitchFamily="50" charset="-128"/>
              <a:ea typeface="メイリオ" panose="020B0604030504040204" pitchFamily="50" charset="-128"/>
            </a:endParaRPr>
          </a:p>
        </p:txBody>
      </p:sp>
      <p:sp>
        <p:nvSpPr>
          <p:cNvPr id="60" name="吹き出し: 四角形 59">
            <a:extLst>
              <a:ext uri="{FF2B5EF4-FFF2-40B4-BE49-F238E27FC236}">
                <a16:creationId xmlns:a16="http://schemas.microsoft.com/office/drawing/2014/main" id="{7190A453-A708-402C-AEA0-7B2489431559}"/>
              </a:ext>
            </a:extLst>
          </p:cNvPr>
          <p:cNvSpPr/>
          <p:nvPr/>
        </p:nvSpPr>
        <p:spPr>
          <a:xfrm>
            <a:off x="5084763" y="7553325"/>
            <a:ext cx="1455737" cy="498475"/>
          </a:xfrm>
          <a:prstGeom prst="wedgeRectCallout">
            <a:avLst>
              <a:gd name="adj1" fmla="val -78147"/>
              <a:gd name="adj2" fmla="val 41037"/>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1200" b="1">
              <a:solidFill>
                <a:schemeClr val="tx1"/>
              </a:solidFill>
              <a:latin typeface="メイリオ" panose="020B0604030504040204" pitchFamily="50" charset="-128"/>
              <a:ea typeface="メイリオ" panose="020B0604030504040204" pitchFamily="50" charset="-128"/>
            </a:endParaRPr>
          </a:p>
        </p:txBody>
      </p:sp>
      <p:sp>
        <p:nvSpPr>
          <p:cNvPr id="61" name="吹き出し: 四角形 60">
            <a:extLst>
              <a:ext uri="{FF2B5EF4-FFF2-40B4-BE49-F238E27FC236}">
                <a16:creationId xmlns:a16="http://schemas.microsoft.com/office/drawing/2014/main" id="{E66C55D4-68CA-4F96-9908-E9AEC06B20B5}"/>
              </a:ext>
            </a:extLst>
          </p:cNvPr>
          <p:cNvSpPr/>
          <p:nvPr/>
        </p:nvSpPr>
        <p:spPr>
          <a:xfrm>
            <a:off x="5084763" y="8101013"/>
            <a:ext cx="1455737" cy="498475"/>
          </a:xfrm>
          <a:prstGeom prst="wedgeRectCallout">
            <a:avLst>
              <a:gd name="adj1" fmla="val -71583"/>
              <a:gd name="adj2" fmla="val -5786"/>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1200" b="1" dirty="0">
              <a:solidFill>
                <a:schemeClr val="tx1"/>
              </a:solidFill>
              <a:latin typeface="メイリオ" panose="020B0604030504040204" pitchFamily="50" charset="-128"/>
              <a:ea typeface="メイリオ" panose="020B0604030504040204" pitchFamily="50" charset="-128"/>
            </a:endParaRPr>
          </a:p>
        </p:txBody>
      </p:sp>
      <p:sp>
        <p:nvSpPr>
          <p:cNvPr id="26657" name="Rectangle 2060">
            <a:extLst>
              <a:ext uri="{FF2B5EF4-FFF2-40B4-BE49-F238E27FC236}">
                <a16:creationId xmlns:a16="http://schemas.microsoft.com/office/drawing/2014/main" id="{3A159683-50E3-4D4E-A5C7-68B0F171410F}"/>
              </a:ext>
            </a:extLst>
          </p:cNvPr>
          <p:cNvSpPr>
            <a:spLocks noChangeArrowheads="1"/>
          </p:cNvSpPr>
          <p:nvPr/>
        </p:nvSpPr>
        <p:spPr bwMode="auto">
          <a:xfrm>
            <a:off x="5005388" y="7570788"/>
            <a:ext cx="157480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buFontTx/>
              <a:buNone/>
            </a:pPr>
            <a:r>
              <a:rPr lang="ja-JP" altLang="en-US" sz="1200" b="1">
                <a:latin typeface="メイリオ" panose="020B0604030504040204" pitchFamily="50" charset="-128"/>
                <a:ea typeface="メイリオ" panose="020B0604030504040204" pitchFamily="50" charset="-128"/>
              </a:rPr>
              <a:t>失敗</a:t>
            </a:r>
            <a:endParaRPr lang="en-US" altLang="ja-JP" sz="1200" b="1">
              <a:latin typeface="メイリオ" panose="020B0604030504040204" pitchFamily="50" charset="-128"/>
              <a:ea typeface="メイリオ" panose="020B0604030504040204" pitchFamily="50" charset="-128"/>
            </a:endParaRPr>
          </a:p>
          <a:p>
            <a:pPr algn="ctr" eaLnBrk="1" hangingPunct="1">
              <a:buFontTx/>
              <a:buNone/>
            </a:pPr>
            <a:r>
              <a:rPr lang="ja-JP" altLang="en-US" sz="1200" b="1">
                <a:latin typeface="メイリオ" panose="020B0604030504040204" pitchFamily="50" charset="-128"/>
                <a:ea typeface="メイリオ" panose="020B0604030504040204" pitchFamily="50" charset="-128"/>
              </a:rPr>
              <a:t>（次はこうしよう）</a:t>
            </a:r>
            <a:endParaRPr lang="en-US" altLang="ja-JP" sz="1200" b="1">
              <a:latin typeface="メイリオ" panose="020B0604030504040204" pitchFamily="50" charset="-128"/>
              <a:ea typeface="メイリオ" panose="020B0604030504040204" pitchFamily="50" charset="-128"/>
            </a:endParaRPr>
          </a:p>
        </p:txBody>
      </p:sp>
      <p:sp>
        <p:nvSpPr>
          <p:cNvPr id="26658" name="Rectangle 2060">
            <a:extLst>
              <a:ext uri="{FF2B5EF4-FFF2-40B4-BE49-F238E27FC236}">
                <a16:creationId xmlns:a16="http://schemas.microsoft.com/office/drawing/2014/main" id="{79787E2F-3F5C-47EE-8563-9B913727809B}"/>
              </a:ext>
            </a:extLst>
          </p:cNvPr>
          <p:cNvSpPr>
            <a:spLocks noChangeArrowheads="1"/>
          </p:cNvSpPr>
          <p:nvPr/>
        </p:nvSpPr>
        <p:spPr bwMode="auto">
          <a:xfrm>
            <a:off x="4787900" y="8104188"/>
            <a:ext cx="2036763"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buFontTx/>
              <a:buNone/>
            </a:pPr>
            <a:r>
              <a:rPr lang="ja-JP" altLang="en-US" sz="1200" b="1">
                <a:latin typeface="メイリオ" panose="020B0604030504040204" pitchFamily="50" charset="-128"/>
                <a:ea typeface="メイリオ" panose="020B0604030504040204" pitchFamily="50" charset="-128"/>
              </a:rPr>
              <a:t>欠点</a:t>
            </a:r>
            <a:endParaRPr lang="en-US" altLang="ja-JP" sz="1200" b="1">
              <a:latin typeface="メイリオ" panose="020B0604030504040204" pitchFamily="50" charset="-128"/>
              <a:ea typeface="メイリオ" panose="020B0604030504040204" pitchFamily="50" charset="-128"/>
            </a:endParaRPr>
          </a:p>
          <a:p>
            <a:pPr algn="ctr" eaLnBrk="1" hangingPunct="1">
              <a:buFontTx/>
              <a:buNone/>
            </a:pPr>
            <a:r>
              <a:rPr lang="ja-JP" altLang="en-US" sz="1200" b="1">
                <a:latin typeface="メイリオ" panose="020B0604030504040204" pitchFamily="50" charset="-128"/>
                <a:ea typeface="メイリオ" panose="020B0604030504040204" pitchFamily="50" charset="-128"/>
              </a:rPr>
              <a:t>（少しずつ直そう）</a:t>
            </a:r>
            <a:endParaRPr lang="en-US" altLang="ja-JP" sz="1200" b="1">
              <a:latin typeface="メイリオ" panose="020B0604030504040204" pitchFamily="50" charset="-128"/>
              <a:ea typeface="メイリオ" panose="020B0604030504040204" pitchFamily="50" charset="-128"/>
            </a:endParaRPr>
          </a:p>
        </p:txBody>
      </p:sp>
      <p:sp>
        <p:nvSpPr>
          <p:cNvPr id="26659" name="Rectangle 1028">
            <a:extLst>
              <a:ext uri="{FF2B5EF4-FFF2-40B4-BE49-F238E27FC236}">
                <a16:creationId xmlns:a16="http://schemas.microsoft.com/office/drawing/2014/main" id="{EE156B65-2EE7-469E-9D40-735E84425771}"/>
              </a:ext>
            </a:extLst>
          </p:cNvPr>
          <p:cNvSpPr>
            <a:spLocks noChangeArrowheads="1"/>
          </p:cNvSpPr>
          <p:nvPr/>
        </p:nvSpPr>
        <p:spPr bwMode="auto">
          <a:xfrm>
            <a:off x="4584700" y="-28575"/>
            <a:ext cx="226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dist" eaLnBrk="1" hangingPunct="1">
              <a:spcBef>
                <a:spcPct val="0"/>
              </a:spcBef>
              <a:buFontTx/>
              <a:buNone/>
            </a:pPr>
            <a:r>
              <a:rPr lang="ja-JP" altLang="en-US" sz="1600">
                <a:latin typeface="メイリオ" panose="020B0604030504040204" pitchFamily="50" charset="-128"/>
                <a:ea typeface="メイリオ" panose="020B0604030504040204" pitchFamily="50" charset="-128"/>
              </a:rPr>
              <a:t>行動指針</a:t>
            </a:r>
          </a:p>
        </p:txBody>
      </p:sp>
      <p:sp>
        <p:nvSpPr>
          <p:cNvPr id="51" name="正方形/長方形 50">
            <a:extLst>
              <a:ext uri="{FF2B5EF4-FFF2-40B4-BE49-F238E27FC236}">
                <a16:creationId xmlns:a16="http://schemas.microsoft.com/office/drawing/2014/main" id="{D4DC52BB-E2D3-46D4-B824-FCE6959EF042}"/>
              </a:ext>
            </a:extLst>
          </p:cNvPr>
          <p:cNvSpPr/>
          <p:nvPr/>
        </p:nvSpPr>
        <p:spPr>
          <a:xfrm>
            <a:off x="1627188" y="7794625"/>
            <a:ext cx="474662" cy="1152525"/>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1200" b="1" dirty="0">
              <a:solidFill>
                <a:schemeClr val="tx1"/>
              </a:solidFill>
              <a:latin typeface="メイリオ" panose="020B0604030504040204" pitchFamily="50" charset="-128"/>
              <a:ea typeface="メイリオ" panose="020B0604030504040204" pitchFamily="50" charset="-128"/>
            </a:endParaRPr>
          </a:p>
        </p:txBody>
      </p:sp>
      <p:sp>
        <p:nvSpPr>
          <p:cNvPr id="26661" name="テキスト ボックス 19">
            <a:extLst>
              <a:ext uri="{FF2B5EF4-FFF2-40B4-BE49-F238E27FC236}">
                <a16:creationId xmlns:a16="http://schemas.microsoft.com/office/drawing/2014/main" id="{C6001D20-2475-47ED-A907-6A9351324295}"/>
              </a:ext>
            </a:extLst>
          </p:cNvPr>
          <p:cNvSpPr txBox="1">
            <a:spLocks noChangeArrowheads="1"/>
          </p:cNvSpPr>
          <p:nvPr/>
        </p:nvSpPr>
        <p:spPr bwMode="auto">
          <a:xfrm>
            <a:off x="1635125" y="7821613"/>
            <a:ext cx="431800" cy="1147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a:spcBef>
                <a:spcPct val="0"/>
              </a:spcBef>
              <a:buFontTx/>
              <a:buNone/>
            </a:pPr>
            <a:r>
              <a:rPr lang="ja-JP" altLang="en-US" sz="1600" b="1">
                <a:latin typeface="メイリオ" panose="020B0604030504040204" pitchFamily="50" charset="-128"/>
                <a:ea typeface="メイリオ" panose="020B0604030504040204" pitchFamily="50" charset="-128"/>
              </a:rPr>
              <a:t>環境</a:t>
            </a:r>
          </a:p>
        </p:txBody>
      </p:sp>
      <p:sp>
        <p:nvSpPr>
          <p:cNvPr id="26662" name="テキスト ボックス 40">
            <a:extLst>
              <a:ext uri="{FF2B5EF4-FFF2-40B4-BE49-F238E27FC236}">
                <a16:creationId xmlns:a16="http://schemas.microsoft.com/office/drawing/2014/main" id="{AB709969-8CD2-4128-8437-98DBF1EC3C2F}"/>
              </a:ext>
            </a:extLst>
          </p:cNvPr>
          <p:cNvSpPr txBox="1">
            <a:spLocks noChangeArrowheads="1"/>
          </p:cNvSpPr>
          <p:nvPr/>
        </p:nvSpPr>
        <p:spPr bwMode="auto">
          <a:xfrm>
            <a:off x="1054100" y="7821613"/>
            <a:ext cx="431800" cy="110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a:spcBef>
                <a:spcPct val="0"/>
              </a:spcBef>
              <a:buFontTx/>
              <a:buNone/>
            </a:pPr>
            <a:r>
              <a:rPr lang="ja-JP" altLang="en-US" sz="1600" b="1">
                <a:latin typeface="メイリオ" panose="020B0604030504040204" pitchFamily="50" charset="-128"/>
                <a:ea typeface="メイリオ" panose="020B0604030504040204" pitchFamily="50" charset="-128"/>
              </a:rPr>
              <a:t>刺激</a:t>
            </a:r>
          </a:p>
        </p:txBody>
      </p:sp>
      <p:sp>
        <p:nvSpPr>
          <p:cNvPr id="26663" name="Rectangle 2060">
            <a:extLst>
              <a:ext uri="{FF2B5EF4-FFF2-40B4-BE49-F238E27FC236}">
                <a16:creationId xmlns:a16="http://schemas.microsoft.com/office/drawing/2014/main" id="{CD66FB8B-1DF9-46E6-98E0-C3CEC49F38A9}"/>
              </a:ext>
            </a:extLst>
          </p:cNvPr>
          <p:cNvSpPr>
            <a:spLocks noChangeArrowheads="1"/>
          </p:cNvSpPr>
          <p:nvPr/>
        </p:nvSpPr>
        <p:spPr bwMode="auto">
          <a:xfrm>
            <a:off x="2228106" y="8175625"/>
            <a:ext cx="11874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buFontTx/>
              <a:buNone/>
            </a:pPr>
            <a:r>
              <a:rPr lang="ja-JP" altLang="en-US" sz="1200" b="1" dirty="0">
                <a:latin typeface="メイリオ" panose="020B0604030504040204" pitchFamily="50" charset="-128"/>
                <a:ea typeface="メイリオ" panose="020B0604030504040204" pitchFamily="50" charset="-128"/>
              </a:rPr>
              <a:t>自ら考え</a:t>
            </a:r>
            <a:endParaRPr lang="en-US" altLang="ja-JP" sz="1200" b="1" dirty="0">
              <a:latin typeface="メイリオ" panose="020B0604030504040204" pitchFamily="50" charset="-128"/>
              <a:ea typeface="メイリオ" panose="020B0604030504040204" pitchFamily="50" charset="-128"/>
            </a:endParaRPr>
          </a:p>
          <a:p>
            <a:pPr algn="ctr" eaLnBrk="1" hangingPunct="1">
              <a:buFontTx/>
              <a:buNone/>
            </a:pPr>
            <a:r>
              <a:rPr lang="ja-JP" altLang="en-US" sz="1200" b="1" dirty="0">
                <a:latin typeface="メイリオ" panose="020B0604030504040204" pitchFamily="50" charset="-128"/>
                <a:ea typeface="メイリオ" panose="020B0604030504040204" pitchFamily="50" charset="-128"/>
              </a:rPr>
              <a:t>選んだ結果</a:t>
            </a:r>
            <a:endParaRPr lang="en-US" altLang="ja-JP" sz="1200" b="1" dirty="0">
              <a:latin typeface="メイリオ" panose="020B0604030504040204" pitchFamily="50" charset="-128"/>
              <a:ea typeface="メイリオ" panose="020B0604030504040204" pitchFamily="50" charset="-128"/>
            </a:endParaRPr>
          </a:p>
        </p:txBody>
      </p:sp>
      <p:sp>
        <p:nvSpPr>
          <p:cNvPr id="43" name="Google Shape;1346;p122">
            <a:extLst>
              <a:ext uri="{FF2B5EF4-FFF2-40B4-BE49-F238E27FC236}">
                <a16:creationId xmlns:a16="http://schemas.microsoft.com/office/drawing/2014/main" id="{2170A817-740C-4DED-812B-FA92E81E4C38}"/>
              </a:ext>
            </a:extLst>
          </p:cNvPr>
          <p:cNvSpPr txBox="1"/>
          <p:nvPr/>
        </p:nvSpPr>
        <p:spPr>
          <a:xfrm>
            <a:off x="6308725" y="8993188"/>
            <a:ext cx="538163" cy="158750"/>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BC1EB34F-C67A-4835-8F1E-E87DDD8B4AD4}"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30</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sp>
        <p:nvSpPr>
          <p:cNvPr id="49" name="Rectangle 2060">
            <a:extLst>
              <a:ext uri="{FF2B5EF4-FFF2-40B4-BE49-F238E27FC236}">
                <a16:creationId xmlns:a16="http://schemas.microsoft.com/office/drawing/2014/main" id="{37BE2060-50E9-4515-9042-5A0DF38E536C}"/>
              </a:ext>
            </a:extLst>
          </p:cNvPr>
          <p:cNvSpPr>
            <a:spLocks noChangeArrowheads="1"/>
          </p:cNvSpPr>
          <p:nvPr/>
        </p:nvSpPr>
        <p:spPr bwMode="auto">
          <a:xfrm>
            <a:off x="3356992" y="6026373"/>
            <a:ext cx="15430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buFontTx/>
              <a:buNone/>
            </a:pPr>
            <a:r>
              <a:rPr lang="en-US" altLang="ja-JP" sz="1400" b="1" dirty="0">
                <a:latin typeface="メイリオ" panose="020B0604030504040204" pitchFamily="50" charset="-128"/>
                <a:ea typeface="メイリオ" panose="020B0604030504040204" pitchFamily="50" charset="-128"/>
              </a:rPr>
              <a:t>【</a:t>
            </a:r>
            <a:r>
              <a:rPr lang="ja-JP" altLang="en-US" sz="1400" b="1" dirty="0">
                <a:latin typeface="メイリオ" panose="020B0604030504040204" pitchFamily="50" charset="-128"/>
                <a:ea typeface="メイリオ" panose="020B0604030504040204" pitchFamily="50" charset="-128"/>
              </a:rPr>
              <a:t>結果</a:t>
            </a:r>
            <a:r>
              <a:rPr lang="en-US" altLang="ja-JP" sz="1400" b="1" dirty="0">
                <a:latin typeface="メイリオ" panose="020B0604030504040204" pitchFamily="50" charset="-128"/>
                <a:ea typeface="メイリオ" panose="020B0604030504040204" pitchFamily="50" charset="-128"/>
              </a:rPr>
              <a:t>】</a:t>
            </a:r>
          </a:p>
        </p:txBody>
      </p:sp>
      <p:sp>
        <p:nvSpPr>
          <p:cNvPr id="50" name="Rectangle 2060">
            <a:extLst>
              <a:ext uri="{FF2B5EF4-FFF2-40B4-BE49-F238E27FC236}">
                <a16:creationId xmlns:a16="http://schemas.microsoft.com/office/drawing/2014/main" id="{2B4FA5B2-3514-49ED-9992-1E762B0FA4D7}"/>
              </a:ext>
            </a:extLst>
          </p:cNvPr>
          <p:cNvSpPr>
            <a:spLocks noChangeArrowheads="1"/>
          </p:cNvSpPr>
          <p:nvPr/>
        </p:nvSpPr>
        <p:spPr bwMode="auto">
          <a:xfrm>
            <a:off x="3356992" y="7605166"/>
            <a:ext cx="15430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buFontTx/>
              <a:buNone/>
            </a:pPr>
            <a:r>
              <a:rPr lang="en-US" altLang="ja-JP" sz="1400" b="1" dirty="0">
                <a:latin typeface="メイリオ" panose="020B0604030504040204" pitchFamily="50" charset="-128"/>
                <a:ea typeface="メイリオ" panose="020B0604030504040204" pitchFamily="50" charset="-128"/>
              </a:rPr>
              <a:t>【</a:t>
            </a:r>
            <a:r>
              <a:rPr lang="ja-JP" altLang="en-US" sz="1400" b="1" dirty="0">
                <a:latin typeface="メイリオ" panose="020B0604030504040204" pitchFamily="50" charset="-128"/>
                <a:ea typeface="メイリオ" panose="020B0604030504040204" pitchFamily="50" charset="-128"/>
              </a:rPr>
              <a:t>結果</a:t>
            </a:r>
            <a:r>
              <a:rPr lang="en-US" altLang="ja-JP" sz="1400" b="1" dirty="0">
                <a:latin typeface="メイリオ" panose="020B0604030504040204" pitchFamily="50" charset="-128"/>
                <a:ea typeface="メイリオ" panose="020B0604030504040204" pitchFamily="50" charset="-128"/>
              </a:rPr>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グループ化 4">
            <a:extLst>
              <a:ext uri="{FF2B5EF4-FFF2-40B4-BE49-F238E27FC236}">
                <a16:creationId xmlns:a16="http://schemas.microsoft.com/office/drawing/2014/main" id="{D1CD502B-8084-4417-A023-0723B2C9344E}"/>
              </a:ext>
            </a:extLst>
          </p:cNvPr>
          <p:cNvGrpSpPr/>
          <p:nvPr/>
        </p:nvGrpSpPr>
        <p:grpSpPr>
          <a:xfrm>
            <a:off x="11112" y="8425413"/>
            <a:ext cx="6834185" cy="718587"/>
            <a:chOff x="11112" y="8425413"/>
            <a:chExt cx="6834185" cy="718587"/>
          </a:xfrm>
        </p:grpSpPr>
        <p:pic>
          <p:nvPicPr>
            <p:cNvPr id="23" name="図 22">
              <a:extLst>
                <a:ext uri="{FF2B5EF4-FFF2-40B4-BE49-F238E27FC236}">
                  <a16:creationId xmlns:a16="http://schemas.microsoft.com/office/drawing/2014/main" id="{00000000-0008-0000-0100-000004000000}"/>
                </a:ext>
              </a:extLst>
            </p:cNvPr>
            <p:cNvPicPr>
              <a:picLocks noChangeAspect="1"/>
            </p:cNvPicPr>
            <p:nvPr/>
          </p:nvPicPr>
          <p:blipFill rotWithShape="1">
            <a:blip r:embed="rId2">
              <a:extLst>
                <a:ext uri="{28A0092B-C50C-407E-A947-70E740481C1C}">
                  <a14:useLocalDpi xmlns:a14="http://schemas.microsoft.com/office/drawing/2010/main" val="0"/>
                </a:ext>
              </a:extLst>
            </a:blip>
            <a:srcRect l="59538" t="56963"/>
            <a:stretch/>
          </p:blipFill>
          <p:spPr>
            <a:xfrm>
              <a:off x="1124744" y="8789560"/>
              <a:ext cx="5720553" cy="354439"/>
            </a:xfrm>
            <a:prstGeom prst="rect">
              <a:avLst/>
            </a:prstGeom>
          </p:spPr>
        </p:pic>
        <p:pic>
          <p:nvPicPr>
            <p:cNvPr id="24" name="図 23">
              <a:extLst>
                <a:ext uri="{FF2B5EF4-FFF2-40B4-BE49-F238E27FC236}">
                  <a16:creationId xmlns:a16="http://schemas.microsoft.com/office/drawing/2014/main" id="{00000000-0008-0000-0100-000005000000}"/>
                </a:ext>
              </a:extLst>
            </p:cNvPr>
            <p:cNvPicPr>
              <a:picLocks noChangeAspect="1"/>
            </p:cNvPicPr>
            <p:nvPr/>
          </p:nvPicPr>
          <p:blipFill rotWithShape="1">
            <a:blip r:embed="rId2">
              <a:extLst>
                <a:ext uri="{28A0092B-C50C-407E-A947-70E740481C1C}">
                  <a14:useLocalDpi xmlns:a14="http://schemas.microsoft.com/office/drawing/2010/main" val="0"/>
                </a:ext>
              </a:extLst>
            </a:blip>
            <a:srcRect r="28008"/>
            <a:stretch/>
          </p:blipFill>
          <p:spPr>
            <a:xfrm>
              <a:off x="11112" y="8425413"/>
              <a:ext cx="1545680" cy="718587"/>
            </a:xfrm>
            <a:prstGeom prst="rect">
              <a:avLst/>
            </a:prstGeom>
          </p:spPr>
        </p:pic>
        <p:pic>
          <p:nvPicPr>
            <p:cNvPr id="25" name="Picture 2" descr="C:\Users\user\Desktop\MMIロゴ.jpg">
              <a:extLst>
                <a:ext uri="{FF2B5EF4-FFF2-40B4-BE49-F238E27FC236}">
                  <a16:creationId xmlns:a16="http://schemas.microsoft.com/office/drawing/2014/main" id="{00000000-0008-0000-0100-00000600000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42465" y="8706936"/>
              <a:ext cx="668079" cy="218539"/>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13" name="Google Shape;1346;p122">
            <a:extLst>
              <a:ext uri="{FF2B5EF4-FFF2-40B4-BE49-F238E27FC236}">
                <a16:creationId xmlns:a16="http://schemas.microsoft.com/office/drawing/2014/main" id="{21C730A1-4F84-45C2-89AE-120EFB8A06B8}"/>
              </a:ext>
            </a:extLst>
          </p:cNvPr>
          <p:cNvSpPr txBox="1"/>
          <p:nvPr/>
        </p:nvSpPr>
        <p:spPr>
          <a:xfrm>
            <a:off x="6308725" y="8993188"/>
            <a:ext cx="538163" cy="158750"/>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728D71D6-3455-4614-AB48-1DC83F526FD5}"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31</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sp>
        <p:nvSpPr>
          <p:cNvPr id="14" name="Rectangle 26">
            <a:extLst>
              <a:ext uri="{FF2B5EF4-FFF2-40B4-BE49-F238E27FC236}">
                <a16:creationId xmlns:a16="http://schemas.microsoft.com/office/drawing/2014/main" id="{00000000-0008-0000-0100-000003000000}"/>
              </a:ext>
            </a:extLst>
          </p:cNvPr>
          <p:cNvSpPr>
            <a:spLocks noChangeArrowheads="1"/>
          </p:cNvSpPr>
          <p:nvPr/>
        </p:nvSpPr>
        <p:spPr bwMode="auto">
          <a:xfrm rot="10800000">
            <a:off x="12698" y="-6188"/>
            <a:ext cx="6845301" cy="369795"/>
          </a:xfrm>
          <a:prstGeom prst="rect">
            <a:avLst/>
          </a:prstGeom>
          <a:solidFill>
            <a:srgbClr val="FF9999"/>
          </a:solidFill>
          <a:ln w="9525">
            <a:noFill/>
            <a:miter lim="800000"/>
            <a:headEnd/>
            <a:tailEnd/>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r" rtl="1">
              <a:defRPr sz="1000"/>
            </a:pPr>
            <a:endParaRPr lang="en-US" altLang="ja-JP" sz="1800" b="1" i="0" strike="noStrike">
              <a:solidFill>
                <a:schemeClr val="tx1"/>
              </a:solidFill>
              <a:latin typeface="+mj-ea"/>
              <a:ea typeface="+mj-ea"/>
            </a:endParaRPr>
          </a:p>
        </p:txBody>
      </p:sp>
      <p:sp>
        <p:nvSpPr>
          <p:cNvPr id="15" name="テキスト ボックス 8">
            <a:extLst>
              <a:ext uri="{FF2B5EF4-FFF2-40B4-BE49-F238E27FC236}">
                <a16:creationId xmlns:a16="http://schemas.microsoft.com/office/drawing/2014/main" id="{A8419715-4FC4-4D62-BCD2-A0664A6EB391}"/>
              </a:ext>
            </a:extLst>
          </p:cNvPr>
          <p:cNvSpPr txBox="1"/>
          <p:nvPr/>
        </p:nvSpPr>
        <p:spPr>
          <a:xfrm>
            <a:off x="1844824" y="-44896"/>
            <a:ext cx="5000477" cy="443141"/>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r"/>
            <a:r>
              <a:rPr lang="ja-JP" altLang="en-US" sz="1400" b="1" dirty="0">
                <a:latin typeface="メイリオ" panose="020B0604030504040204" pitchFamily="50" charset="-128"/>
                <a:ea typeface="メイリオ" panose="020B0604030504040204" pitchFamily="50" charset="-128"/>
              </a:rPr>
              <a:t>イズム </a:t>
            </a:r>
            <a:r>
              <a:rPr lang="en-US" altLang="ja-JP" sz="1400" b="1" dirty="0">
                <a:latin typeface="メイリオ" panose="020B0604030504040204" pitchFamily="50" charset="-128"/>
                <a:ea typeface="メイリオ" panose="020B0604030504040204" pitchFamily="50" charset="-128"/>
              </a:rPr>
              <a:t>of</a:t>
            </a:r>
            <a:r>
              <a:rPr lang="ja-JP" altLang="en-US" sz="1400" b="1" dirty="0">
                <a:latin typeface="メイリオ" panose="020B0604030504040204" pitchFamily="50" charset="-128"/>
                <a:ea typeface="メイリオ" panose="020B0604030504040204" pitchFamily="50" charset="-128"/>
              </a:rPr>
              <a:t> </a:t>
            </a:r>
            <a:r>
              <a:rPr lang="en-US" altLang="ja-JP" sz="1400" b="1" dirty="0">
                <a:latin typeface="メイリオ" panose="020B0604030504040204" pitchFamily="50" charset="-128"/>
                <a:ea typeface="メイリオ" panose="020B0604030504040204" pitchFamily="50" charset="-128"/>
              </a:rPr>
              <a:t>Month</a:t>
            </a:r>
            <a:r>
              <a:rPr kumimoji="1" lang="en-US" altLang="ja-JP" sz="1400" b="1" dirty="0">
                <a:latin typeface="メイリオ" panose="020B0604030504040204" pitchFamily="50" charset="-128"/>
                <a:ea typeface="メイリオ" panose="020B0604030504040204" pitchFamily="50" charset="-128"/>
              </a:rPr>
              <a:t> </a:t>
            </a:r>
            <a:r>
              <a:rPr kumimoji="1" lang="ja-JP" altLang="en-US" sz="1400" b="1" dirty="0">
                <a:latin typeface="メイリオ" panose="020B0604030504040204" pitchFamily="50" charset="-128"/>
                <a:ea typeface="メイリオ" panose="020B0604030504040204" pitchFamily="50" charset="-128"/>
              </a:rPr>
              <a:t>～</a:t>
            </a:r>
            <a:r>
              <a:rPr kumimoji="1" lang="en-US" altLang="ja-JP" sz="1400" b="1" dirty="0">
                <a:latin typeface="メイリオ" panose="020B0604030504040204" pitchFamily="50" charset="-128"/>
                <a:ea typeface="メイリオ" panose="020B0604030504040204" pitchFamily="50" charset="-128"/>
              </a:rPr>
              <a:t>2022</a:t>
            </a:r>
            <a:r>
              <a:rPr kumimoji="1" lang="ja-JP" altLang="en-US" sz="1400" b="1" dirty="0">
                <a:latin typeface="メイリオ" panose="020B0604030504040204" pitchFamily="50" charset="-128"/>
                <a:ea typeface="メイリオ" panose="020B0604030504040204" pitchFamily="50" charset="-128"/>
              </a:rPr>
              <a:t>年</a:t>
            </a:r>
            <a:r>
              <a:rPr kumimoji="1" lang="en-US" altLang="ja-JP" sz="1400" b="1" dirty="0">
                <a:latin typeface="メイリオ" panose="020B0604030504040204" pitchFamily="50" charset="-128"/>
                <a:ea typeface="メイリオ" panose="020B0604030504040204" pitchFamily="50" charset="-128"/>
              </a:rPr>
              <a:t>2</a:t>
            </a:r>
            <a:r>
              <a:rPr kumimoji="1" lang="ja-JP" altLang="en-US" sz="1400" b="1" dirty="0">
                <a:latin typeface="メイリオ" panose="020B0604030504040204" pitchFamily="50" charset="-128"/>
                <a:ea typeface="メイリオ" panose="020B0604030504040204" pitchFamily="50" charset="-128"/>
              </a:rPr>
              <a:t>月度代表エピソード～</a:t>
            </a:r>
          </a:p>
        </p:txBody>
      </p:sp>
      <p:pic>
        <p:nvPicPr>
          <p:cNvPr id="16" name="図 15">
            <a:extLst>
              <a:ext uri="{FF2B5EF4-FFF2-40B4-BE49-F238E27FC236}">
                <a16:creationId xmlns:a16="http://schemas.microsoft.com/office/drawing/2014/main" id="{00000000-0008-0000-0100-000002000000}"/>
              </a:ext>
            </a:extLst>
          </p:cNvPr>
          <p:cNvPicPr>
            <a:picLocks noChangeAspect="1"/>
          </p:cNvPicPr>
          <p:nvPr/>
        </p:nvPicPr>
        <p:blipFill rotWithShape="1">
          <a:blip r:embed="rId4">
            <a:extLst>
              <a:ext uri="{28A0092B-C50C-407E-A947-70E740481C1C}">
                <a14:useLocalDpi xmlns:a14="http://schemas.microsoft.com/office/drawing/2010/main" val="0"/>
              </a:ext>
            </a:extLst>
          </a:blip>
          <a:srcRect l="10629" t="50589" b="27489"/>
          <a:stretch/>
        </p:blipFill>
        <p:spPr>
          <a:xfrm flipH="1">
            <a:off x="-1" y="954708"/>
            <a:ext cx="6845298" cy="354833"/>
          </a:xfrm>
          <a:prstGeom prst="rect">
            <a:avLst/>
          </a:prstGeom>
        </p:spPr>
      </p:pic>
      <p:graphicFrame>
        <p:nvGraphicFramePr>
          <p:cNvPr id="3" name="表 2">
            <a:extLst>
              <a:ext uri="{FF2B5EF4-FFF2-40B4-BE49-F238E27FC236}">
                <a16:creationId xmlns:a16="http://schemas.microsoft.com/office/drawing/2014/main" id="{8C139B86-40AC-45F7-87DB-228867D7DFA6}"/>
              </a:ext>
            </a:extLst>
          </p:cNvPr>
          <p:cNvGraphicFramePr>
            <a:graphicFrameLocks noGrp="1"/>
          </p:cNvGraphicFramePr>
          <p:nvPr>
            <p:extLst>
              <p:ext uri="{D42A27DB-BD31-4B8C-83A1-F6EECF244321}">
                <p14:modId xmlns:p14="http://schemas.microsoft.com/office/powerpoint/2010/main" val="3992510273"/>
              </p:ext>
            </p:extLst>
          </p:nvPr>
        </p:nvGraphicFramePr>
        <p:xfrm>
          <a:off x="0" y="586160"/>
          <a:ext cx="6858000" cy="609600"/>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3352499802"/>
                    </a:ext>
                  </a:extLst>
                </a:gridCol>
              </a:tblGrid>
              <a:tr h="354439">
                <a:tc>
                  <a:txBody>
                    <a:bodyPr/>
                    <a:lstStyle/>
                    <a:p>
                      <a:pPr algn="ctr" fontAlgn="ctr"/>
                      <a:r>
                        <a:rPr lang="ja-JP" altLang="en-US" sz="2000" b="1" i="0" u="none" strike="noStrike" dirty="0">
                          <a:effectLst/>
                          <a:latin typeface="メイリオ" panose="020B0604030504040204" pitchFamily="50" charset="-128"/>
                          <a:ea typeface="メイリオ" panose="020B0604030504040204" pitchFamily="50" charset="-128"/>
                        </a:rPr>
                        <a:t>常に考えて行動する重森さん</a:t>
                      </a:r>
                    </a:p>
                    <a:p>
                      <a:pPr algn="ctr" fontAlgn="ctr"/>
                      <a:endParaRPr lang="ja-JP" altLang="en-US" sz="2000" b="1" i="0" u="none" strike="noStrike" dirty="0">
                        <a:effectLst/>
                        <a:latin typeface="メイリオ" panose="020B0604030504040204" pitchFamily="50" charset="-128"/>
                        <a:ea typeface="メイリオ" panose="020B0604030504040204" pitchFamily="50" charset="-128"/>
                      </a:endParaRPr>
                    </a:p>
                  </a:txBody>
                  <a:tcPr marL="0" marR="0" marT="0" marB="0" anchor="ctr">
                    <a:noFill/>
                  </a:tcPr>
                </a:tc>
                <a:extLst>
                  <a:ext uri="{0D108BD9-81ED-4DB2-BD59-A6C34878D82A}">
                    <a16:rowId xmlns:a16="http://schemas.microsoft.com/office/drawing/2014/main" val="51326532"/>
                  </a:ext>
                </a:extLst>
              </a:tr>
            </a:tbl>
          </a:graphicData>
        </a:graphic>
      </p:graphicFrame>
      <p:graphicFrame>
        <p:nvGraphicFramePr>
          <p:cNvPr id="20" name="表 19">
            <a:extLst>
              <a:ext uri="{FF2B5EF4-FFF2-40B4-BE49-F238E27FC236}">
                <a16:creationId xmlns:a16="http://schemas.microsoft.com/office/drawing/2014/main" id="{AF3D3932-C55C-4445-AEFA-77BB58B79194}"/>
              </a:ext>
            </a:extLst>
          </p:cNvPr>
          <p:cNvGraphicFramePr>
            <a:graphicFrameLocks noGrp="1"/>
          </p:cNvGraphicFramePr>
          <p:nvPr>
            <p:extLst>
              <p:ext uri="{D42A27DB-BD31-4B8C-83A1-F6EECF244321}">
                <p14:modId xmlns:p14="http://schemas.microsoft.com/office/powerpoint/2010/main" val="2382838664"/>
              </p:ext>
            </p:extLst>
          </p:nvPr>
        </p:nvGraphicFramePr>
        <p:xfrm>
          <a:off x="-3" y="1187624"/>
          <a:ext cx="6858000" cy="354439"/>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3352499802"/>
                    </a:ext>
                  </a:extLst>
                </a:gridCol>
              </a:tblGrid>
              <a:tr h="354439">
                <a:tc>
                  <a:txBody>
                    <a:bodyPr/>
                    <a:lstStyle/>
                    <a:p>
                      <a:pPr algn="ctr" fontAlgn="ctr"/>
                      <a:r>
                        <a:rPr lang="ja-JP" altLang="en-US" sz="1600" b="1" i="0" u="none" strike="noStrike" dirty="0">
                          <a:effectLst/>
                          <a:latin typeface="メイリオ" panose="020B0604030504040204" pitchFamily="50" charset="-128"/>
                          <a:ea typeface="メイリオ" panose="020B0604030504040204" pitchFamily="50" charset="-128"/>
                        </a:rPr>
                        <a:t>関連するイズム：依存ではなく自立</a:t>
                      </a:r>
                      <a:endParaRPr lang="en-US" altLang="ja-JP" sz="1600" b="1" i="0" u="none" strike="noStrike" dirty="0">
                        <a:effectLst/>
                        <a:latin typeface="メイリオ" panose="020B0604030504040204" pitchFamily="50" charset="-128"/>
                        <a:ea typeface="メイリオ" panose="020B0604030504040204" pitchFamily="50" charset="-128"/>
                      </a:endParaRPr>
                    </a:p>
                  </a:txBody>
                  <a:tcPr marL="0" marR="0" marT="0" marB="0" anchor="ctr">
                    <a:noFill/>
                  </a:tcPr>
                </a:tc>
                <a:extLst>
                  <a:ext uri="{0D108BD9-81ED-4DB2-BD59-A6C34878D82A}">
                    <a16:rowId xmlns:a16="http://schemas.microsoft.com/office/drawing/2014/main" val="51326532"/>
                  </a:ext>
                </a:extLst>
              </a:tr>
            </a:tbl>
          </a:graphicData>
        </a:graphic>
      </p:graphicFrame>
      <p:graphicFrame>
        <p:nvGraphicFramePr>
          <p:cNvPr id="21" name="表 20">
            <a:extLst>
              <a:ext uri="{FF2B5EF4-FFF2-40B4-BE49-F238E27FC236}">
                <a16:creationId xmlns:a16="http://schemas.microsoft.com/office/drawing/2014/main" id="{3EF87205-649E-42A4-A0E3-F2150B4E37B8}"/>
              </a:ext>
            </a:extLst>
          </p:cNvPr>
          <p:cNvGraphicFramePr>
            <a:graphicFrameLocks noGrp="1"/>
          </p:cNvGraphicFramePr>
          <p:nvPr>
            <p:extLst>
              <p:ext uri="{D42A27DB-BD31-4B8C-83A1-F6EECF244321}">
                <p14:modId xmlns:p14="http://schemas.microsoft.com/office/powerpoint/2010/main" val="1391500608"/>
              </p:ext>
            </p:extLst>
          </p:nvPr>
        </p:nvGraphicFramePr>
        <p:xfrm>
          <a:off x="224644" y="1696262"/>
          <a:ext cx="6408712" cy="6447184"/>
        </p:xfrm>
        <a:graphic>
          <a:graphicData uri="http://schemas.openxmlformats.org/drawingml/2006/table">
            <a:tbl>
              <a:tblPr>
                <a:tableStyleId>{5C22544A-7EE6-4342-B048-85BDC9FD1C3A}</a:tableStyleId>
              </a:tblPr>
              <a:tblGrid>
                <a:gridCol w="6408712">
                  <a:extLst>
                    <a:ext uri="{9D8B030D-6E8A-4147-A177-3AD203B41FA5}">
                      <a16:colId xmlns:a16="http://schemas.microsoft.com/office/drawing/2014/main" val="3352499802"/>
                    </a:ext>
                  </a:extLst>
                </a:gridCol>
              </a:tblGrid>
              <a:tr h="6447184">
                <a:tc>
                  <a:txBody>
                    <a:bodyPr/>
                    <a:lstStyle/>
                    <a:p>
                      <a:pPr algn="l" fontAlgn="ctr"/>
                      <a:r>
                        <a:rPr lang="ja-JP" altLang="en-US" sz="1300" b="0" i="0" u="none" strike="noStrike" dirty="0">
                          <a:effectLst/>
                          <a:latin typeface="メイリオ" panose="020B0604030504040204" pitchFamily="50" charset="-128"/>
                          <a:ea typeface="メイリオ" panose="020B0604030504040204" pitchFamily="50" charset="-128"/>
                        </a:rPr>
                        <a:t>今回のエピソードは、</a:t>
                      </a:r>
                      <a:r>
                        <a:rPr lang="en-US" altLang="ja-JP" sz="1300" b="0" i="0" u="none" strike="noStrike" dirty="0" err="1">
                          <a:effectLst/>
                          <a:latin typeface="メイリオ" panose="020B0604030504040204" pitchFamily="50" charset="-128"/>
                          <a:ea typeface="メイリオ" panose="020B0604030504040204" pitchFamily="50" charset="-128"/>
                        </a:rPr>
                        <a:t>HRi</a:t>
                      </a:r>
                      <a:r>
                        <a:rPr lang="ja-JP" altLang="en-US" sz="1300" b="0" i="0" u="none" strike="noStrike" dirty="0">
                          <a:effectLst/>
                          <a:latin typeface="メイリオ" panose="020B0604030504040204" pitchFamily="50" charset="-128"/>
                          <a:ea typeface="メイリオ" panose="020B0604030504040204" pitchFamily="50" charset="-128"/>
                        </a:rPr>
                        <a:t>チームの重森さんのお話しです。</a:t>
                      </a:r>
                    </a:p>
                    <a:p>
                      <a:pPr algn="l" fontAlgn="ctr"/>
                      <a:endParaRPr lang="ja-JP" altLang="en-US" sz="1300" b="0" i="0" u="none" strike="noStrike" dirty="0">
                        <a:effectLst/>
                        <a:latin typeface="メイリオ" panose="020B0604030504040204" pitchFamily="50" charset="-128"/>
                        <a:ea typeface="メイリオ" panose="020B0604030504040204" pitchFamily="50" charset="-128"/>
                      </a:endParaRPr>
                    </a:p>
                    <a:p>
                      <a:pPr algn="l" fontAlgn="ctr"/>
                      <a:r>
                        <a:rPr lang="ja-JP" altLang="en-US" sz="1300" b="0" i="0" u="none" strike="noStrike" dirty="0">
                          <a:effectLst/>
                          <a:latin typeface="メイリオ" panose="020B0604030504040204" pitchFamily="50" charset="-128"/>
                          <a:ea typeface="メイリオ" panose="020B0604030504040204" pitchFamily="50" charset="-128"/>
                        </a:rPr>
                        <a:t>現在、</a:t>
                      </a:r>
                      <a:r>
                        <a:rPr lang="en-US" altLang="ja-JP" sz="1300" b="0" i="0" u="none" strike="noStrike" dirty="0">
                          <a:effectLst/>
                          <a:latin typeface="メイリオ" panose="020B0604030504040204" pitchFamily="50" charset="-128"/>
                          <a:ea typeface="メイリオ" panose="020B0604030504040204" pitchFamily="50" charset="-128"/>
                        </a:rPr>
                        <a:t>MMI</a:t>
                      </a:r>
                      <a:r>
                        <a:rPr lang="ja-JP" altLang="en-US" sz="1300" b="0" i="0" u="none" strike="noStrike" dirty="0">
                          <a:effectLst/>
                          <a:latin typeface="メイリオ" panose="020B0604030504040204" pitchFamily="50" charset="-128"/>
                          <a:ea typeface="メイリオ" panose="020B0604030504040204" pitchFamily="50" charset="-128"/>
                        </a:rPr>
                        <a:t>のクリーンパートナーの採用担当の責任者として日々ご尽力いただいています。常に忙しく動き回っている重森さんですが、</a:t>
                      </a:r>
                      <a:r>
                        <a:rPr lang="en-US" altLang="ja-JP" sz="1300" b="0" i="0" u="none" strike="noStrike" dirty="0">
                          <a:effectLst/>
                          <a:latin typeface="メイリオ" panose="020B0604030504040204" pitchFamily="50" charset="-128"/>
                          <a:ea typeface="メイリオ" panose="020B0604030504040204" pitchFamily="50" charset="-128"/>
                        </a:rPr>
                        <a:t>12</a:t>
                      </a:r>
                      <a:r>
                        <a:rPr lang="ja-JP" altLang="en-US" sz="1300" b="0" i="0" u="none" strike="noStrike" dirty="0">
                          <a:effectLst/>
                          <a:latin typeface="メイリオ" panose="020B0604030504040204" pitchFamily="50" charset="-128"/>
                          <a:ea typeface="メイリオ" panose="020B0604030504040204" pitchFamily="50" charset="-128"/>
                        </a:rPr>
                        <a:t>月は野村不動産のシェアオフィス（</a:t>
                      </a:r>
                      <a:r>
                        <a:rPr lang="en-US" altLang="ja-JP" sz="1300" b="0" i="0" u="none" strike="noStrike" dirty="0">
                          <a:effectLst/>
                          <a:latin typeface="メイリオ" panose="020B0604030504040204" pitchFamily="50" charset="-128"/>
                          <a:ea typeface="メイリオ" panose="020B0604030504040204" pitchFamily="50" charset="-128"/>
                        </a:rPr>
                        <a:t>H1T)</a:t>
                      </a:r>
                      <a:r>
                        <a:rPr lang="ja-JP" altLang="en-US" sz="1300" b="0" i="0" u="none" strike="noStrike" dirty="0">
                          <a:effectLst/>
                          <a:latin typeface="メイリオ" panose="020B0604030504040204" pitchFamily="50" charset="-128"/>
                          <a:ea typeface="メイリオ" panose="020B0604030504040204" pitchFamily="50" charset="-128"/>
                        </a:rPr>
                        <a:t>の物件を多数受注し、年末近くに多くの清掃開始日が重なってしまうなかご自身でできることを考えて、物件担当である藤江さんにサポートも入って頂き、何とか物件の清掃切替を完了することができました。本当にありがとうございます。おかげさまで現在</a:t>
                      </a:r>
                      <a:r>
                        <a:rPr lang="en-US" altLang="ja-JP" sz="1300" b="0" i="0" u="none" strike="noStrike" dirty="0">
                          <a:effectLst/>
                          <a:latin typeface="メイリオ" panose="020B0604030504040204" pitchFamily="50" charset="-128"/>
                          <a:ea typeface="メイリオ" panose="020B0604030504040204" pitchFamily="50" charset="-128"/>
                        </a:rPr>
                        <a:t>H1T 23</a:t>
                      </a:r>
                      <a:r>
                        <a:rPr lang="ja-JP" altLang="en-US" sz="1300" b="0" i="0" u="none" strike="noStrike" dirty="0">
                          <a:effectLst/>
                          <a:latin typeface="メイリオ" panose="020B0604030504040204" pitchFamily="50" charset="-128"/>
                          <a:ea typeface="メイリオ" panose="020B0604030504040204" pitchFamily="50" charset="-128"/>
                        </a:rPr>
                        <a:t>店舗の受注が決まり、今期の目標達成まで、あと数店舗です。</a:t>
                      </a:r>
                    </a:p>
                    <a:p>
                      <a:pPr algn="l" fontAlgn="ctr"/>
                      <a:endParaRPr lang="ja-JP" altLang="en-US" sz="1300" b="0" i="0" u="none" strike="noStrike" dirty="0">
                        <a:effectLst/>
                        <a:latin typeface="メイリオ" panose="020B0604030504040204" pitchFamily="50" charset="-128"/>
                        <a:ea typeface="メイリオ" panose="020B0604030504040204" pitchFamily="50" charset="-128"/>
                      </a:endParaRPr>
                    </a:p>
                    <a:p>
                      <a:pPr algn="l" fontAlgn="ctr"/>
                      <a:r>
                        <a:rPr lang="ja-JP" altLang="en-US" sz="1300" b="0" i="0" u="none" strike="noStrike" dirty="0">
                          <a:effectLst/>
                          <a:latin typeface="メイリオ" panose="020B0604030504040204" pitchFamily="50" charset="-128"/>
                          <a:ea typeface="メイリオ" panose="020B0604030504040204" pitchFamily="50" charset="-128"/>
                        </a:rPr>
                        <a:t>重森さんの「依存でなく自立」している姿は、誰でもやりがちな「大変です。どうしたらいいですか？」ではなく、「どこの店舗でシフトに穴が開いているか把握できない状態なので、見える化をして応援要請しやすい状態にします。よろしいですか？」などと具体的な問題解決案を提示してくれるところです。重森さんが採用担当として、採用が特に難しい時期に、自分にできることは何かを常に考え行動してくれていることで、</a:t>
                      </a:r>
                      <a:r>
                        <a:rPr lang="en-US" altLang="ja-JP" sz="1300" b="0" i="0" u="none" strike="noStrike" dirty="0">
                          <a:effectLst/>
                          <a:latin typeface="メイリオ" panose="020B0604030504040204" pitchFamily="50" charset="-128"/>
                          <a:ea typeface="メイリオ" panose="020B0604030504040204" pitchFamily="50" charset="-128"/>
                        </a:rPr>
                        <a:t>SV</a:t>
                      </a:r>
                      <a:r>
                        <a:rPr lang="ja-JP" altLang="en-US" sz="1300" b="0" i="0" u="none" strike="noStrike" dirty="0">
                          <a:effectLst/>
                          <a:latin typeface="メイリオ" panose="020B0604030504040204" pitchFamily="50" charset="-128"/>
                          <a:ea typeface="メイリオ" panose="020B0604030504040204" pitchFamily="50" charset="-128"/>
                        </a:rPr>
                        <a:t>はじめ、外販営業担当者は、いつも助けられていると思います。</a:t>
                      </a:r>
                    </a:p>
                    <a:p>
                      <a:pPr algn="l" fontAlgn="ctr"/>
                      <a:endParaRPr lang="ja-JP" altLang="en-US" sz="1300" b="0" i="0" u="none" strike="noStrike" dirty="0">
                        <a:effectLst/>
                        <a:latin typeface="メイリオ" panose="020B0604030504040204" pitchFamily="50" charset="-128"/>
                        <a:ea typeface="メイリオ" panose="020B0604030504040204" pitchFamily="50" charset="-128"/>
                      </a:endParaRPr>
                    </a:p>
                    <a:p>
                      <a:pPr algn="l" fontAlgn="ctr"/>
                      <a:r>
                        <a:rPr lang="ja-JP" altLang="en-US" sz="1300" b="0" i="0" u="none" strike="noStrike" dirty="0">
                          <a:effectLst/>
                          <a:latin typeface="メイリオ" panose="020B0604030504040204" pitchFamily="50" charset="-128"/>
                          <a:ea typeface="メイリオ" panose="020B0604030504040204" pitchFamily="50" charset="-128"/>
                        </a:rPr>
                        <a:t>また、本社に普段出勤している皆さんが気付かれたか分かりませんが、文房具置き場を皆さんが使いやすいように、</a:t>
                      </a:r>
                      <a:r>
                        <a:rPr lang="en-US" altLang="ja-JP" sz="1300" b="0" i="0" u="none" strike="noStrike" dirty="0">
                          <a:effectLst/>
                          <a:latin typeface="メイリオ" panose="020B0604030504040204" pitchFamily="50" charset="-128"/>
                          <a:ea typeface="メイリオ" panose="020B0604030504040204" pitchFamily="50" charset="-128"/>
                        </a:rPr>
                        <a:t>12</a:t>
                      </a:r>
                      <a:r>
                        <a:rPr lang="ja-JP" altLang="en-US" sz="1300" b="0" i="0" u="none" strike="noStrike" dirty="0">
                          <a:effectLst/>
                          <a:latin typeface="メイリオ" panose="020B0604030504040204" pitchFamily="50" charset="-128"/>
                          <a:ea typeface="メイリオ" panose="020B0604030504040204" pitchFamily="50" charset="-128"/>
                        </a:rPr>
                        <a:t>月</a:t>
                      </a:r>
                      <a:r>
                        <a:rPr lang="en-US" altLang="ja-JP" sz="1300" b="0" i="0" u="none" strike="noStrike" dirty="0">
                          <a:effectLst/>
                          <a:latin typeface="メイリオ" panose="020B0604030504040204" pitchFamily="50" charset="-128"/>
                          <a:ea typeface="メイリオ" panose="020B0604030504040204" pitchFamily="50" charset="-128"/>
                        </a:rPr>
                        <a:t>30</a:t>
                      </a:r>
                      <a:r>
                        <a:rPr lang="ja-JP" altLang="en-US" sz="1300" b="0" i="0" u="none" strike="noStrike" dirty="0">
                          <a:effectLst/>
                          <a:latin typeface="メイリオ" panose="020B0604030504040204" pitchFamily="50" charset="-128"/>
                          <a:ea typeface="メイリオ" panose="020B0604030504040204" pitchFamily="50" charset="-128"/>
                        </a:rPr>
                        <a:t>日にすべて一旦全部出して整理整頓してくれていました。まだ、見ていない方はぜひ見てください。感動レベルです。フリーデスクになり、私としては非常に助かっています。重森さん曰く「気になっていて、整理整頓したかったのでこのタイミングで、出来て良かった。」とのことですが、簡単にはできないことだと私は思っています。忙しいなか、自分自身のことだけでなく、仕事に関わる全ての方を想像し、仕事がやりやすいように考えてくれています。</a:t>
                      </a:r>
                    </a:p>
                    <a:p>
                      <a:pPr algn="l" fontAlgn="ctr"/>
                      <a:endParaRPr lang="ja-JP" altLang="en-US" sz="1300" b="0" i="0" u="none" strike="noStrike" dirty="0">
                        <a:effectLst/>
                        <a:latin typeface="メイリオ" panose="020B0604030504040204" pitchFamily="50" charset="-128"/>
                        <a:ea typeface="メイリオ" panose="020B0604030504040204" pitchFamily="50" charset="-128"/>
                      </a:endParaRPr>
                    </a:p>
                    <a:p>
                      <a:pPr algn="l" fontAlgn="ctr"/>
                      <a:r>
                        <a:rPr lang="ja-JP" altLang="en-US" sz="1300" b="0" i="0" u="none" strike="noStrike" dirty="0">
                          <a:effectLst/>
                          <a:latin typeface="メイリオ" panose="020B0604030504040204" pitchFamily="50" charset="-128"/>
                          <a:ea typeface="メイリオ" panose="020B0604030504040204" pitchFamily="50" charset="-128"/>
                        </a:rPr>
                        <a:t>この重森さんの行動力に「忙しいことは、言い訳にできないなぁ」と思いました。常に考え行動している重森さんを見ていると、「自分も負けてられないな」と思います。重森さんのように、自分のことだけでなく会社のこと、仲間のことを常に考えながら行動できる自分になれるように、私も努力したいと思いました。</a:t>
                      </a:r>
                    </a:p>
                  </a:txBody>
                  <a:tcPr marL="0" marR="0" marT="0" marB="0" anchor="ctr">
                    <a:noFill/>
                  </a:tcPr>
                </a:tc>
                <a:extLst>
                  <a:ext uri="{0D108BD9-81ED-4DB2-BD59-A6C34878D82A}">
                    <a16:rowId xmlns:a16="http://schemas.microsoft.com/office/drawing/2014/main" val="51326532"/>
                  </a:ext>
                </a:extLst>
              </a:tr>
            </a:tbl>
          </a:graphicData>
        </a:graphic>
      </p:graphicFrame>
      <p:graphicFrame>
        <p:nvGraphicFramePr>
          <p:cNvPr id="4" name="表 3">
            <a:extLst>
              <a:ext uri="{FF2B5EF4-FFF2-40B4-BE49-F238E27FC236}">
                <a16:creationId xmlns:a16="http://schemas.microsoft.com/office/drawing/2014/main" id="{B79B7192-0D9C-4382-8D0B-167C3C35CE90}"/>
              </a:ext>
            </a:extLst>
          </p:cNvPr>
          <p:cNvGraphicFramePr>
            <a:graphicFrameLocks noGrp="1"/>
          </p:cNvGraphicFramePr>
          <p:nvPr>
            <p:extLst>
              <p:ext uri="{D42A27DB-BD31-4B8C-83A1-F6EECF244321}">
                <p14:modId xmlns:p14="http://schemas.microsoft.com/office/powerpoint/2010/main" val="1486143908"/>
              </p:ext>
            </p:extLst>
          </p:nvPr>
        </p:nvGraphicFramePr>
        <p:xfrm>
          <a:off x="764704" y="8143446"/>
          <a:ext cx="6048672" cy="605018"/>
        </p:xfrm>
        <a:graphic>
          <a:graphicData uri="http://schemas.openxmlformats.org/drawingml/2006/table">
            <a:tbl>
              <a:tblPr/>
              <a:tblGrid>
                <a:gridCol w="254002">
                  <a:extLst>
                    <a:ext uri="{9D8B030D-6E8A-4147-A177-3AD203B41FA5}">
                      <a16:colId xmlns:a16="http://schemas.microsoft.com/office/drawing/2014/main" val="4026392200"/>
                    </a:ext>
                  </a:extLst>
                </a:gridCol>
                <a:gridCol w="617588">
                  <a:extLst>
                    <a:ext uri="{9D8B030D-6E8A-4147-A177-3AD203B41FA5}">
                      <a16:colId xmlns:a16="http://schemas.microsoft.com/office/drawing/2014/main" val="2265573359"/>
                    </a:ext>
                  </a:extLst>
                </a:gridCol>
                <a:gridCol w="2885454">
                  <a:extLst>
                    <a:ext uri="{9D8B030D-6E8A-4147-A177-3AD203B41FA5}">
                      <a16:colId xmlns:a16="http://schemas.microsoft.com/office/drawing/2014/main" val="2831491253"/>
                    </a:ext>
                  </a:extLst>
                </a:gridCol>
                <a:gridCol w="2291628">
                  <a:extLst>
                    <a:ext uri="{9D8B030D-6E8A-4147-A177-3AD203B41FA5}">
                      <a16:colId xmlns:a16="http://schemas.microsoft.com/office/drawing/2014/main" val="2078562565"/>
                    </a:ext>
                  </a:extLst>
                </a:gridCol>
              </a:tblGrid>
              <a:tr h="302509">
                <a:tc>
                  <a:txBody>
                    <a:bodyPr/>
                    <a:lstStyle/>
                    <a:p>
                      <a:pPr algn="l" fontAlgn="ctr"/>
                      <a:endParaRPr lang="ja-JP" altLang="en-US" sz="900" b="1" i="0" u="none" strike="noStrike" dirty="0">
                        <a:effectLst/>
                        <a:latin typeface="メイリオ" panose="020B0604030504040204" pitchFamily="50" charset="-128"/>
                        <a:ea typeface="メイリオ" panose="020B0604030504040204" pitchFamily="50" charset="-128"/>
                      </a:endParaRPr>
                    </a:p>
                  </a:txBody>
                  <a:tcPr marL="7203" marR="7203" marT="7203" marB="0" anchor="ctr">
                    <a:lnL>
                      <a:noFill/>
                    </a:lnL>
                    <a:lnR>
                      <a:noFill/>
                    </a:lnR>
                    <a:lnT>
                      <a:noFill/>
                    </a:lnT>
                    <a:lnB>
                      <a:noFill/>
                    </a:lnB>
                  </a:tcPr>
                </a:tc>
                <a:tc>
                  <a:txBody>
                    <a:bodyPr/>
                    <a:lstStyle/>
                    <a:p>
                      <a:pPr algn="l" fontAlgn="ctr"/>
                      <a:endParaRPr lang="ja-JP" altLang="en-US" sz="1200" b="1" i="0" u="none" strike="noStrike">
                        <a:effectLst/>
                        <a:latin typeface="メイリオ" panose="020B0604030504040204" pitchFamily="50" charset="-128"/>
                        <a:ea typeface="メイリオ" panose="020B0604030504040204" pitchFamily="50" charset="-128"/>
                      </a:endParaRPr>
                    </a:p>
                  </a:txBody>
                  <a:tcPr marL="7203" marR="7203" marT="7203" marB="0" anchor="ctr">
                    <a:lnL>
                      <a:noFill/>
                    </a:lnL>
                    <a:lnR>
                      <a:noFill/>
                    </a:lnR>
                    <a:lnT>
                      <a:noFill/>
                    </a:lnT>
                    <a:lnB>
                      <a:noFill/>
                    </a:lnB>
                  </a:tcPr>
                </a:tc>
                <a:tc>
                  <a:txBody>
                    <a:bodyPr/>
                    <a:lstStyle/>
                    <a:p>
                      <a:pPr algn="ctr" fontAlgn="ctr"/>
                      <a:r>
                        <a:rPr lang="ja-JP" altLang="en-US" sz="1200" b="1" i="0" u="none" strike="noStrike" dirty="0">
                          <a:effectLst/>
                          <a:latin typeface="メイリオ" panose="020B0604030504040204" pitchFamily="50" charset="-128"/>
                          <a:ea typeface="メイリオ" panose="020B0604030504040204" pitchFamily="50" charset="-128"/>
                        </a:rPr>
                        <a:t>（所属）</a:t>
                      </a:r>
                    </a:p>
                  </a:txBody>
                  <a:tcPr marL="7203" marR="7203" marT="7203" marB="0" anchor="ctr">
                    <a:lnL>
                      <a:noFill/>
                    </a:lnL>
                    <a:lnR>
                      <a:noFill/>
                    </a:lnR>
                    <a:lnT>
                      <a:noFill/>
                    </a:lnT>
                    <a:lnB>
                      <a:noFill/>
                    </a:lnB>
                  </a:tcPr>
                </a:tc>
                <a:tc>
                  <a:txBody>
                    <a:bodyPr/>
                    <a:lstStyle/>
                    <a:p>
                      <a:pPr algn="ctr" fontAlgn="ctr"/>
                      <a:r>
                        <a:rPr lang="ja-JP" altLang="en-US" sz="1200" b="1" i="0" u="none" strike="noStrike" dirty="0">
                          <a:effectLst/>
                          <a:latin typeface="メイリオ" panose="020B0604030504040204" pitchFamily="50" charset="-128"/>
                          <a:ea typeface="メイリオ" panose="020B0604030504040204" pitchFamily="50" charset="-128"/>
                        </a:rPr>
                        <a:t>（氏名）</a:t>
                      </a:r>
                    </a:p>
                  </a:txBody>
                  <a:tcPr marL="7203" marR="7203" marT="7203" marB="0" anchor="ctr">
                    <a:lnL>
                      <a:noFill/>
                    </a:lnL>
                    <a:lnR>
                      <a:noFill/>
                    </a:lnR>
                    <a:lnT>
                      <a:noFill/>
                    </a:lnT>
                    <a:lnB>
                      <a:noFill/>
                    </a:lnB>
                  </a:tcPr>
                </a:tc>
                <a:extLst>
                  <a:ext uri="{0D108BD9-81ED-4DB2-BD59-A6C34878D82A}">
                    <a16:rowId xmlns:a16="http://schemas.microsoft.com/office/drawing/2014/main" val="2937889479"/>
                  </a:ext>
                </a:extLst>
              </a:tr>
              <a:tr h="302509">
                <a:tc gridSpan="2">
                  <a:txBody>
                    <a:bodyPr/>
                    <a:lstStyle/>
                    <a:p>
                      <a:pPr algn="ctr" fontAlgn="ctr"/>
                      <a:r>
                        <a:rPr lang="ja-JP" altLang="en-US" sz="1200" b="1" i="0" u="none" strike="noStrike" dirty="0">
                          <a:effectLst/>
                          <a:latin typeface="メイリオ" panose="020B0604030504040204" pitchFamily="50" charset="-128"/>
                          <a:ea typeface="メイリオ" panose="020B0604030504040204" pitchFamily="50" charset="-128"/>
                        </a:rPr>
                        <a:t>寄稿者</a:t>
                      </a:r>
                    </a:p>
                  </a:txBody>
                  <a:tcPr marL="7203" marR="7203" marT="7203" marB="0" anchor="ctr">
                    <a:lnL>
                      <a:noFill/>
                    </a:lnL>
                    <a:lnR>
                      <a:noFill/>
                    </a:lnR>
                    <a:lnT>
                      <a:noFill/>
                    </a:lnT>
                    <a:lnB>
                      <a:noFill/>
                    </a:lnB>
                  </a:tcPr>
                </a:tc>
                <a:tc hMerge="1">
                  <a:txBody>
                    <a:bodyPr/>
                    <a:lstStyle/>
                    <a:p>
                      <a:endParaRPr kumimoji="1" lang="ja-JP" altLang="en-US"/>
                    </a:p>
                  </a:txBody>
                  <a:tcPr/>
                </a:tc>
                <a:tc>
                  <a:txBody>
                    <a:bodyPr/>
                    <a:lstStyle/>
                    <a:p>
                      <a:pPr algn="ctr" fontAlgn="ctr"/>
                      <a:r>
                        <a:rPr lang="ja-JP" altLang="en-US" sz="1400" b="1" i="0" u="none" strike="noStrike" dirty="0">
                          <a:effectLst/>
                          <a:latin typeface="メイリオ" panose="020B0604030504040204" pitchFamily="50" charset="-128"/>
                          <a:ea typeface="メイリオ" panose="020B0604030504040204" pitchFamily="50" charset="-128"/>
                        </a:rPr>
                        <a:t>営業推進チーム</a:t>
                      </a:r>
                    </a:p>
                  </a:txBody>
                  <a:tcPr marL="7203" marR="7203" marT="7203" marB="0" anchor="ctr">
                    <a:lnL>
                      <a:noFill/>
                    </a:lnL>
                    <a:lnR>
                      <a:noFill/>
                    </a:lnR>
                    <a:lnT>
                      <a:noFill/>
                    </a:lnT>
                    <a:lnB>
                      <a:noFill/>
                    </a:lnB>
                  </a:tcPr>
                </a:tc>
                <a:tc>
                  <a:txBody>
                    <a:bodyPr/>
                    <a:lstStyle/>
                    <a:p>
                      <a:pPr algn="ctr" fontAlgn="ctr"/>
                      <a:r>
                        <a:rPr lang="ja-JP" altLang="en-US" sz="1400" b="1" i="0" u="none" strike="noStrike" dirty="0">
                          <a:effectLst/>
                          <a:latin typeface="メイリオ" panose="020B0604030504040204" pitchFamily="50" charset="-128"/>
                          <a:ea typeface="メイリオ" panose="020B0604030504040204" pitchFamily="50" charset="-128"/>
                        </a:rPr>
                        <a:t>田中　宏樹</a:t>
                      </a:r>
                      <a:endParaRPr lang="en-US" altLang="ja-JP" sz="1400" b="1" i="0" u="none" strike="noStrike" dirty="0">
                        <a:effectLst/>
                        <a:latin typeface="メイリオ" panose="020B0604030504040204" pitchFamily="50" charset="-128"/>
                        <a:ea typeface="メイリオ" panose="020B0604030504040204" pitchFamily="50" charset="-128"/>
                      </a:endParaRPr>
                    </a:p>
                  </a:txBody>
                  <a:tcPr marL="7203" marR="7203" marT="7203" marB="0" anchor="ctr">
                    <a:lnL>
                      <a:noFill/>
                    </a:lnL>
                    <a:lnR>
                      <a:noFill/>
                    </a:lnR>
                    <a:lnT>
                      <a:noFill/>
                    </a:lnT>
                    <a:lnB>
                      <a:noFill/>
                    </a:lnB>
                  </a:tcPr>
                </a:tc>
                <a:extLst>
                  <a:ext uri="{0D108BD9-81ED-4DB2-BD59-A6C34878D82A}">
                    <a16:rowId xmlns:a16="http://schemas.microsoft.com/office/drawing/2014/main" val="4267474516"/>
                  </a:ext>
                </a:extLst>
              </a:tr>
            </a:tbl>
          </a:graphicData>
        </a:graphic>
      </p:graphicFrame>
    </p:spTree>
    <p:extLst>
      <p:ext uri="{BB962C8B-B14F-4D97-AF65-F5344CB8AC3E}">
        <p14:creationId xmlns:p14="http://schemas.microsoft.com/office/powerpoint/2010/main" val="18972452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グループ化 4">
            <a:extLst>
              <a:ext uri="{FF2B5EF4-FFF2-40B4-BE49-F238E27FC236}">
                <a16:creationId xmlns:a16="http://schemas.microsoft.com/office/drawing/2014/main" id="{D1CD502B-8084-4417-A023-0723B2C9344E}"/>
              </a:ext>
            </a:extLst>
          </p:cNvPr>
          <p:cNvGrpSpPr/>
          <p:nvPr/>
        </p:nvGrpSpPr>
        <p:grpSpPr>
          <a:xfrm>
            <a:off x="11112" y="8425413"/>
            <a:ext cx="6834185" cy="718587"/>
            <a:chOff x="11112" y="8425413"/>
            <a:chExt cx="6834185" cy="718587"/>
          </a:xfrm>
        </p:grpSpPr>
        <p:pic>
          <p:nvPicPr>
            <p:cNvPr id="23" name="図 22">
              <a:extLst>
                <a:ext uri="{FF2B5EF4-FFF2-40B4-BE49-F238E27FC236}">
                  <a16:creationId xmlns:a16="http://schemas.microsoft.com/office/drawing/2014/main" id="{00000000-0008-0000-0100-000004000000}"/>
                </a:ext>
              </a:extLst>
            </p:cNvPr>
            <p:cNvPicPr>
              <a:picLocks noChangeAspect="1"/>
            </p:cNvPicPr>
            <p:nvPr/>
          </p:nvPicPr>
          <p:blipFill rotWithShape="1">
            <a:blip r:embed="rId2">
              <a:extLst>
                <a:ext uri="{28A0092B-C50C-407E-A947-70E740481C1C}">
                  <a14:useLocalDpi xmlns:a14="http://schemas.microsoft.com/office/drawing/2010/main" val="0"/>
                </a:ext>
              </a:extLst>
            </a:blip>
            <a:srcRect l="59538" t="56963"/>
            <a:stretch/>
          </p:blipFill>
          <p:spPr>
            <a:xfrm>
              <a:off x="1124744" y="8789560"/>
              <a:ext cx="5720553" cy="354439"/>
            </a:xfrm>
            <a:prstGeom prst="rect">
              <a:avLst/>
            </a:prstGeom>
          </p:spPr>
        </p:pic>
        <p:pic>
          <p:nvPicPr>
            <p:cNvPr id="24" name="図 23">
              <a:extLst>
                <a:ext uri="{FF2B5EF4-FFF2-40B4-BE49-F238E27FC236}">
                  <a16:creationId xmlns:a16="http://schemas.microsoft.com/office/drawing/2014/main" id="{00000000-0008-0000-0100-000005000000}"/>
                </a:ext>
              </a:extLst>
            </p:cNvPr>
            <p:cNvPicPr>
              <a:picLocks noChangeAspect="1"/>
            </p:cNvPicPr>
            <p:nvPr/>
          </p:nvPicPr>
          <p:blipFill rotWithShape="1">
            <a:blip r:embed="rId2">
              <a:extLst>
                <a:ext uri="{28A0092B-C50C-407E-A947-70E740481C1C}">
                  <a14:useLocalDpi xmlns:a14="http://schemas.microsoft.com/office/drawing/2010/main" val="0"/>
                </a:ext>
              </a:extLst>
            </a:blip>
            <a:srcRect r="28008"/>
            <a:stretch/>
          </p:blipFill>
          <p:spPr>
            <a:xfrm>
              <a:off x="11112" y="8425413"/>
              <a:ext cx="1545680" cy="718587"/>
            </a:xfrm>
            <a:prstGeom prst="rect">
              <a:avLst/>
            </a:prstGeom>
          </p:spPr>
        </p:pic>
        <p:pic>
          <p:nvPicPr>
            <p:cNvPr id="25" name="Picture 2" descr="C:\Users\user\Desktop\MMIロゴ.jpg">
              <a:extLst>
                <a:ext uri="{FF2B5EF4-FFF2-40B4-BE49-F238E27FC236}">
                  <a16:creationId xmlns:a16="http://schemas.microsoft.com/office/drawing/2014/main" id="{00000000-0008-0000-0100-00000600000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42465" y="8706936"/>
              <a:ext cx="668079" cy="218539"/>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13" name="Google Shape;1346;p122">
            <a:extLst>
              <a:ext uri="{FF2B5EF4-FFF2-40B4-BE49-F238E27FC236}">
                <a16:creationId xmlns:a16="http://schemas.microsoft.com/office/drawing/2014/main" id="{21C730A1-4F84-45C2-89AE-120EFB8A06B8}"/>
              </a:ext>
            </a:extLst>
          </p:cNvPr>
          <p:cNvSpPr txBox="1"/>
          <p:nvPr/>
        </p:nvSpPr>
        <p:spPr>
          <a:xfrm>
            <a:off x="6308725" y="8993188"/>
            <a:ext cx="538163" cy="158750"/>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728D71D6-3455-4614-AB48-1DC83F526FD5}"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32</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sp>
        <p:nvSpPr>
          <p:cNvPr id="14" name="Rectangle 26">
            <a:extLst>
              <a:ext uri="{FF2B5EF4-FFF2-40B4-BE49-F238E27FC236}">
                <a16:creationId xmlns:a16="http://schemas.microsoft.com/office/drawing/2014/main" id="{00000000-0008-0000-0100-000003000000}"/>
              </a:ext>
            </a:extLst>
          </p:cNvPr>
          <p:cNvSpPr>
            <a:spLocks noChangeArrowheads="1"/>
          </p:cNvSpPr>
          <p:nvPr/>
        </p:nvSpPr>
        <p:spPr bwMode="auto">
          <a:xfrm rot="10800000">
            <a:off x="12698" y="-6188"/>
            <a:ext cx="6845301" cy="369795"/>
          </a:xfrm>
          <a:prstGeom prst="rect">
            <a:avLst/>
          </a:prstGeom>
          <a:solidFill>
            <a:srgbClr val="FF9999"/>
          </a:solidFill>
          <a:ln w="9525">
            <a:noFill/>
            <a:miter lim="800000"/>
            <a:headEnd/>
            <a:tailEnd/>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r" rtl="1">
              <a:defRPr sz="1000"/>
            </a:pPr>
            <a:endParaRPr lang="en-US" altLang="ja-JP" sz="1800" b="1" i="0" strike="noStrike">
              <a:solidFill>
                <a:schemeClr val="tx1"/>
              </a:solidFill>
              <a:latin typeface="+mj-ea"/>
              <a:ea typeface="+mj-ea"/>
            </a:endParaRPr>
          </a:p>
        </p:txBody>
      </p:sp>
      <p:sp>
        <p:nvSpPr>
          <p:cNvPr id="15" name="テキスト ボックス 8">
            <a:extLst>
              <a:ext uri="{FF2B5EF4-FFF2-40B4-BE49-F238E27FC236}">
                <a16:creationId xmlns:a16="http://schemas.microsoft.com/office/drawing/2014/main" id="{A8419715-4FC4-4D62-BCD2-A0664A6EB391}"/>
              </a:ext>
            </a:extLst>
          </p:cNvPr>
          <p:cNvSpPr txBox="1"/>
          <p:nvPr/>
        </p:nvSpPr>
        <p:spPr>
          <a:xfrm>
            <a:off x="1844824" y="-44896"/>
            <a:ext cx="5000477" cy="443141"/>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r"/>
            <a:r>
              <a:rPr lang="ja-JP" altLang="en-US" sz="1400" b="1" dirty="0">
                <a:latin typeface="メイリオ" panose="020B0604030504040204" pitchFamily="50" charset="-128"/>
                <a:ea typeface="メイリオ" panose="020B0604030504040204" pitchFamily="50" charset="-128"/>
              </a:rPr>
              <a:t>イズム </a:t>
            </a:r>
            <a:r>
              <a:rPr lang="en-US" altLang="ja-JP" sz="1400" b="1" dirty="0">
                <a:latin typeface="メイリオ" panose="020B0604030504040204" pitchFamily="50" charset="-128"/>
                <a:ea typeface="メイリオ" panose="020B0604030504040204" pitchFamily="50" charset="-128"/>
              </a:rPr>
              <a:t>of</a:t>
            </a:r>
            <a:r>
              <a:rPr lang="ja-JP" altLang="en-US" sz="1400" b="1" dirty="0">
                <a:latin typeface="メイリオ" panose="020B0604030504040204" pitchFamily="50" charset="-128"/>
                <a:ea typeface="メイリオ" panose="020B0604030504040204" pitchFamily="50" charset="-128"/>
              </a:rPr>
              <a:t> </a:t>
            </a:r>
            <a:r>
              <a:rPr lang="en-US" altLang="ja-JP" sz="1400" b="1" dirty="0">
                <a:latin typeface="メイリオ" panose="020B0604030504040204" pitchFamily="50" charset="-128"/>
                <a:ea typeface="メイリオ" panose="020B0604030504040204" pitchFamily="50" charset="-128"/>
              </a:rPr>
              <a:t>Month</a:t>
            </a:r>
            <a:r>
              <a:rPr kumimoji="1" lang="en-US" altLang="ja-JP" sz="1400" b="1" dirty="0">
                <a:latin typeface="メイリオ" panose="020B0604030504040204" pitchFamily="50" charset="-128"/>
                <a:ea typeface="メイリオ" panose="020B0604030504040204" pitchFamily="50" charset="-128"/>
              </a:rPr>
              <a:t> </a:t>
            </a:r>
            <a:r>
              <a:rPr kumimoji="1" lang="ja-JP" altLang="en-US" sz="1400" b="1" dirty="0">
                <a:latin typeface="メイリオ" panose="020B0604030504040204" pitchFamily="50" charset="-128"/>
                <a:ea typeface="メイリオ" panose="020B0604030504040204" pitchFamily="50" charset="-128"/>
              </a:rPr>
              <a:t>～</a:t>
            </a:r>
            <a:r>
              <a:rPr kumimoji="1" lang="en-US" altLang="ja-JP" sz="1400" b="1" dirty="0">
                <a:latin typeface="メイリオ" panose="020B0604030504040204" pitchFamily="50" charset="-128"/>
                <a:ea typeface="メイリオ" panose="020B0604030504040204" pitchFamily="50" charset="-128"/>
              </a:rPr>
              <a:t>2022</a:t>
            </a:r>
            <a:r>
              <a:rPr kumimoji="1" lang="ja-JP" altLang="en-US" sz="1400" b="1" dirty="0">
                <a:latin typeface="メイリオ" panose="020B0604030504040204" pitchFamily="50" charset="-128"/>
                <a:ea typeface="メイリオ" panose="020B0604030504040204" pitchFamily="50" charset="-128"/>
              </a:rPr>
              <a:t>年</a:t>
            </a:r>
            <a:r>
              <a:rPr lang="en-US" altLang="ja-JP" sz="1400" b="1" dirty="0">
                <a:latin typeface="メイリオ" panose="020B0604030504040204" pitchFamily="50" charset="-128"/>
                <a:ea typeface="メイリオ" panose="020B0604030504040204" pitchFamily="50" charset="-128"/>
              </a:rPr>
              <a:t>3</a:t>
            </a:r>
            <a:r>
              <a:rPr kumimoji="1" lang="ja-JP" altLang="en-US" sz="1400" b="1" dirty="0">
                <a:latin typeface="メイリオ" panose="020B0604030504040204" pitchFamily="50" charset="-128"/>
                <a:ea typeface="メイリオ" panose="020B0604030504040204" pitchFamily="50" charset="-128"/>
              </a:rPr>
              <a:t>月度代表エピソード～</a:t>
            </a:r>
          </a:p>
        </p:txBody>
      </p:sp>
      <p:pic>
        <p:nvPicPr>
          <p:cNvPr id="16" name="図 15">
            <a:extLst>
              <a:ext uri="{FF2B5EF4-FFF2-40B4-BE49-F238E27FC236}">
                <a16:creationId xmlns:a16="http://schemas.microsoft.com/office/drawing/2014/main" id="{00000000-0008-0000-0100-000002000000}"/>
              </a:ext>
            </a:extLst>
          </p:cNvPr>
          <p:cNvPicPr>
            <a:picLocks noChangeAspect="1"/>
          </p:cNvPicPr>
          <p:nvPr/>
        </p:nvPicPr>
        <p:blipFill rotWithShape="1">
          <a:blip r:embed="rId4">
            <a:extLst>
              <a:ext uri="{28A0092B-C50C-407E-A947-70E740481C1C}">
                <a14:useLocalDpi xmlns:a14="http://schemas.microsoft.com/office/drawing/2010/main" val="0"/>
              </a:ext>
            </a:extLst>
          </a:blip>
          <a:srcRect l="10629" t="50589" b="27489"/>
          <a:stretch/>
        </p:blipFill>
        <p:spPr>
          <a:xfrm flipH="1">
            <a:off x="-1" y="954708"/>
            <a:ext cx="6845298" cy="354833"/>
          </a:xfrm>
          <a:prstGeom prst="rect">
            <a:avLst/>
          </a:prstGeom>
        </p:spPr>
      </p:pic>
      <p:graphicFrame>
        <p:nvGraphicFramePr>
          <p:cNvPr id="3" name="表 2">
            <a:extLst>
              <a:ext uri="{FF2B5EF4-FFF2-40B4-BE49-F238E27FC236}">
                <a16:creationId xmlns:a16="http://schemas.microsoft.com/office/drawing/2014/main" id="{8C139B86-40AC-45F7-87DB-228867D7DFA6}"/>
              </a:ext>
            </a:extLst>
          </p:cNvPr>
          <p:cNvGraphicFramePr>
            <a:graphicFrameLocks noGrp="1"/>
          </p:cNvGraphicFramePr>
          <p:nvPr>
            <p:extLst>
              <p:ext uri="{D42A27DB-BD31-4B8C-83A1-F6EECF244321}">
                <p14:modId xmlns:p14="http://schemas.microsoft.com/office/powerpoint/2010/main" val="2204715183"/>
              </p:ext>
            </p:extLst>
          </p:nvPr>
        </p:nvGraphicFramePr>
        <p:xfrm>
          <a:off x="0" y="586160"/>
          <a:ext cx="6858000" cy="609600"/>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3352499802"/>
                    </a:ext>
                  </a:extLst>
                </a:gridCol>
              </a:tblGrid>
              <a:tr h="354439">
                <a:tc>
                  <a:txBody>
                    <a:bodyPr/>
                    <a:lstStyle/>
                    <a:p>
                      <a:pPr algn="ctr" fontAlgn="ctr"/>
                      <a:r>
                        <a:rPr lang="ja-JP" altLang="en-US" sz="2000" b="1" i="0" u="none" strike="noStrike" dirty="0">
                          <a:effectLst/>
                          <a:latin typeface="メイリオ" panose="020B0604030504040204" pitchFamily="50" charset="-128"/>
                          <a:ea typeface="メイリオ" panose="020B0604030504040204" pitchFamily="50" charset="-128"/>
                        </a:rPr>
                        <a:t>最前線で戦う</a:t>
                      </a:r>
                    </a:p>
                    <a:p>
                      <a:pPr algn="ctr" fontAlgn="ctr"/>
                      <a:endParaRPr lang="ja-JP" altLang="en-US" sz="2000" b="1" i="0" u="none" strike="noStrike" dirty="0">
                        <a:effectLst/>
                        <a:latin typeface="メイリオ" panose="020B0604030504040204" pitchFamily="50" charset="-128"/>
                        <a:ea typeface="メイリオ" panose="020B0604030504040204" pitchFamily="50" charset="-128"/>
                      </a:endParaRPr>
                    </a:p>
                  </a:txBody>
                  <a:tcPr marL="0" marR="0" marT="0" marB="0" anchor="ctr">
                    <a:noFill/>
                  </a:tcPr>
                </a:tc>
                <a:extLst>
                  <a:ext uri="{0D108BD9-81ED-4DB2-BD59-A6C34878D82A}">
                    <a16:rowId xmlns:a16="http://schemas.microsoft.com/office/drawing/2014/main" val="51326532"/>
                  </a:ext>
                </a:extLst>
              </a:tr>
            </a:tbl>
          </a:graphicData>
        </a:graphic>
      </p:graphicFrame>
      <p:graphicFrame>
        <p:nvGraphicFramePr>
          <p:cNvPr id="20" name="表 19">
            <a:extLst>
              <a:ext uri="{FF2B5EF4-FFF2-40B4-BE49-F238E27FC236}">
                <a16:creationId xmlns:a16="http://schemas.microsoft.com/office/drawing/2014/main" id="{AF3D3932-C55C-4445-AEFA-77BB58B79194}"/>
              </a:ext>
            </a:extLst>
          </p:cNvPr>
          <p:cNvGraphicFramePr>
            <a:graphicFrameLocks noGrp="1"/>
          </p:cNvGraphicFramePr>
          <p:nvPr/>
        </p:nvGraphicFramePr>
        <p:xfrm>
          <a:off x="-3" y="1187624"/>
          <a:ext cx="6858000" cy="354439"/>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3352499802"/>
                    </a:ext>
                  </a:extLst>
                </a:gridCol>
              </a:tblGrid>
              <a:tr h="354439">
                <a:tc>
                  <a:txBody>
                    <a:bodyPr/>
                    <a:lstStyle/>
                    <a:p>
                      <a:pPr algn="ctr" fontAlgn="ctr"/>
                      <a:r>
                        <a:rPr lang="ja-JP" altLang="en-US" sz="1600" b="1" i="0" u="none" strike="noStrike" dirty="0">
                          <a:effectLst/>
                          <a:latin typeface="メイリオ" panose="020B0604030504040204" pitchFamily="50" charset="-128"/>
                          <a:ea typeface="メイリオ" panose="020B0604030504040204" pitchFamily="50" charset="-128"/>
                        </a:rPr>
                        <a:t>関連するイズム：依存ではなく自立</a:t>
                      </a:r>
                      <a:endParaRPr lang="en-US" altLang="ja-JP" sz="1600" b="1" i="0" u="none" strike="noStrike" dirty="0">
                        <a:effectLst/>
                        <a:latin typeface="メイリオ" panose="020B0604030504040204" pitchFamily="50" charset="-128"/>
                        <a:ea typeface="メイリオ" panose="020B0604030504040204" pitchFamily="50" charset="-128"/>
                      </a:endParaRPr>
                    </a:p>
                  </a:txBody>
                  <a:tcPr marL="0" marR="0" marT="0" marB="0" anchor="ctr">
                    <a:noFill/>
                  </a:tcPr>
                </a:tc>
                <a:extLst>
                  <a:ext uri="{0D108BD9-81ED-4DB2-BD59-A6C34878D82A}">
                    <a16:rowId xmlns:a16="http://schemas.microsoft.com/office/drawing/2014/main" val="51326532"/>
                  </a:ext>
                </a:extLst>
              </a:tr>
            </a:tbl>
          </a:graphicData>
        </a:graphic>
      </p:graphicFrame>
      <p:graphicFrame>
        <p:nvGraphicFramePr>
          <p:cNvPr id="21" name="表 20">
            <a:extLst>
              <a:ext uri="{FF2B5EF4-FFF2-40B4-BE49-F238E27FC236}">
                <a16:creationId xmlns:a16="http://schemas.microsoft.com/office/drawing/2014/main" id="{3EF87205-649E-42A4-A0E3-F2150B4E37B8}"/>
              </a:ext>
            </a:extLst>
          </p:cNvPr>
          <p:cNvGraphicFramePr>
            <a:graphicFrameLocks noGrp="1"/>
          </p:cNvGraphicFramePr>
          <p:nvPr>
            <p:extLst>
              <p:ext uri="{D42A27DB-BD31-4B8C-83A1-F6EECF244321}">
                <p14:modId xmlns:p14="http://schemas.microsoft.com/office/powerpoint/2010/main" val="874793495"/>
              </p:ext>
            </p:extLst>
          </p:nvPr>
        </p:nvGraphicFramePr>
        <p:xfrm>
          <a:off x="224644" y="1696262"/>
          <a:ext cx="6408712" cy="6447184"/>
        </p:xfrm>
        <a:graphic>
          <a:graphicData uri="http://schemas.openxmlformats.org/drawingml/2006/table">
            <a:tbl>
              <a:tblPr>
                <a:tableStyleId>{5C22544A-7EE6-4342-B048-85BDC9FD1C3A}</a:tableStyleId>
              </a:tblPr>
              <a:tblGrid>
                <a:gridCol w="6408712">
                  <a:extLst>
                    <a:ext uri="{9D8B030D-6E8A-4147-A177-3AD203B41FA5}">
                      <a16:colId xmlns:a16="http://schemas.microsoft.com/office/drawing/2014/main" val="3352499802"/>
                    </a:ext>
                  </a:extLst>
                </a:gridCol>
              </a:tblGrid>
              <a:tr h="6447184">
                <a:tc>
                  <a:txBody>
                    <a:bodyPr/>
                    <a:lstStyle/>
                    <a:p>
                      <a:pPr algn="l" fontAlgn="ctr"/>
                      <a:r>
                        <a:rPr lang="ja-JP" altLang="en-US" sz="1600" b="0" i="0" u="none" strike="noStrike" dirty="0">
                          <a:effectLst/>
                          <a:latin typeface="メイリオ" panose="020B0604030504040204" pitchFamily="50" charset="-128"/>
                          <a:ea typeface="メイリオ" panose="020B0604030504040204" pitchFamily="50" charset="-128"/>
                        </a:rPr>
                        <a:t>今回の主人公は</a:t>
                      </a:r>
                      <a:r>
                        <a:rPr lang="en-US" altLang="ja-JP" sz="1600" b="0" i="0" u="none" strike="noStrike" dirty="0">
                          <a:effectLst/>
                          <a:latin typeface="メイリオ" panose="020B0604030504040204" pitchFamily="50" charset="-128"/>
                          <a:ea typeface="メイリオ" panose="020B0604030504040204" pitchFamily="50" charset="-128"/>
                        </a:rPr>
                        <a:t>MMI</a:t>
                      </a:r>
                      <a:r>
                        <a:rPr lang="ja-JP" altLang="en-US" sz="1600" b="0" i="0" u="none" strike="noStrike" dirty="0">
                          <a:effectLst/>
                          <a:latin typeface="メイリオ" panose="020B0604030504040204" pitchFamily="50" charset="-128"/>
                          <a:ea typeface="メイリオ" panose="020B0604030504040204" pitchFamily="50" charset="-128"/>
                        </a:rPr>
                        <a:t>で、今もっともコロナと戦う現場において孤軍奮闘する齊藤翔さんです。</a:t>
                      </a:r>
                    </a:p>
                    <a:p>
                      <a:pPr algn="l" fontAlgn="ctr"/>
                      <a:endParaRPr lang="ja-JP" altLang="en-US" sz="1600" b="0" i="0" u="none" strike="noStrike" dirty="0">
                        <a:effectLst/>
                        <a:latin typeface="メイリオ" panose="020B0604030504040204" pitchFamily="50" charset="-128"/>
                        <a:ea typeface="メイリオ" panose="020B0604030504040204" pitchFamily="50" charset="-128"/>
                      </a:endParaRPr>
                    </a:p>
                    <a:p>
                      <a:pPr algn="l" fontAlgn="ctr"/>
                      <a:r>
                        <a:rPr lang="en-US" altLang="ja-JP" sz="1600" b="0" i="0" u="none" strike="noStrike" dirty="0">
                          <a:effectLst/>
                          <a:latin typeface="メイリオ" panose="020B0604030504040204" pitchFamily="50" charset="-128"/>
                          <a:ea typeface="メイリオ" panose="020B0604030504040204" pitchFamily="50" charset="-128"/>
                        </a:rPr>
                        <a:t>MMI</a:t>
                      </a:r>
                      <a:r>
                        <a:rPr lang="ja-JP" altLang="en-US" sz="1600" b="0" i="0" u="none" strike="noStrike" dirty="0">
                          <a:effectLst/>
                          <a:latin typeface="メイリオ" panose="020B0604030504040204" pitchFamily="50" charset="-128"/>
                          <a:ea typeface="メイリオ" panose="020B0604030504040204" pitchFamily="50" charset="-128"/>
                        </a:rPr>
                        <a:t>が亀田総合病院の日常清掃を受託してから、齊藤さんは、担当者として亀田総合病院近くの勝浦市に生活拠点を移しました。病院との交渉や現場の清掃スタッフの方達の指導まで一手に引き受け、奔走し、手探りのなか、病院の日常清掃という新しい事業分野の立上げに果敢に挑戦してきました。</a:t>
                      </a:r>
                    </a:p>
                    <a:p>
                      <a:pPr algn="l" fontAlgn="ctr"/>
                      <a:endParaRPr lang="ja-JP" altLang="en-US" sz="1600" b="0" i="0" u="none" strike="noStrike" dirty="0">
                        <a:effectLst/>
                        <a:latin typeface="メイリオ" panose="020B0604030504040204" pitchFamily="50" charset="-128"/>
                        <a:ea typeface="メイリオ" panose="020B0604030504040204" pitchFamily="50" charset="-128"/>
                      </a:endParaRPr>
                    </a:p>
                    <a:p>
                      <a:pPr algn="l" fontAlgn="ctr"/>
                      <a:r>
                        <a:rPr lang="ja-JP" altLang="en-US" sz="1600" b="0" i="0" u="none" strike="noStrike" dirty="0">
                          <a:effectLst/>
                          <a:latin typeface="メイリオ" panose="020B0604030504040204" pitchFamily="50" charset="-128"/>
                          <a:ea typeface="メイリオ" panose="020B0604030504040204" pitchFamily="50" charset="-128"/>
                        </a:rPr>
                        <a:t>私は、そうした挑戦を少しだけお手伝いするため</a:t>
                      </a:r>
                      <a:r>
                        <a:rPr lang="en-US" altLang="ja-JP" sz="1600" b="0" i="0" u="none" strike="noStrike" dirty="0">
                          <a:effectLst/>
                          <a:latin typeface="メイリオ" panose="020B0604030504040204" pitchFamily="50" charset="-128"/>
                          <a:ea typeface="メイリオ" panose="020B0604030504040204" pitchFamily="50" charset="-128"/>
                        </a:rPr>
                        <a:t>1</a:t>
                      </a:r>
                      <a:r>
                        <a:rPr lang="ja-JP" altLang="en-US" sz="1600" b="0" i="0" u="none" strike="noStrike" dirty="0">
                          <a:effectLst/>
                          <a:latin typeface="メイリオ" panose="020B0604030504040204" pitchFamily="50" charset="-128"/>
                          <a:ea typeface="メイリオ" panose="020B0604030504040204" pitchFamily="50" charset="-128"/>
                        </a:rPr>
                        <a:t>ヶ月の間、鴨川に通う生活を送りました。そこで感じたことは、齊藤さんが想像以上に責任感を持って仕事に取り組み、そして孤独感の強い場所で戦い続けていたのだという事です。</a:t>
                      </a:r>
                    </a:p>
                    <a:p>
                      <a:pPr algn="l" fontAlgn="ctr"/>
                      <a:endParaRPr lang="ja-JP" altLang="en-US" sz="1600" b="0" i="0" u="none" strike="noStrike" dirty="0">
                        <a:effectLst/>
                        <a:latin typeface="メイリオ" panose="020B0604030504040204" pitchFamily="50" charset="-128"/>
                        <a:ea typeface="メイリオ" panose="020B0604030504040204" pitchFamily="50" charset="-128"/>
                      </a:endParaRPr>
                    </a:p>
                    <a:p>
                      <a:pPr algn="l" fontAlgn="ctr"/>
                      <a:r>
                        <a:rPr lang="ja-JP" altLang="en-US" sz="1600" b="0" i="0" u="none" strike="noStrike" dirty="0">
                          <a:effectLst/>
                          <a:latin typeface="メイリオ" panose="020B0604030504040204" pitchFamily="50" charset="-128"/>
                          <a:ea typeface="メイリオ" panose="020B0604030504040204" pitchFamily="50" charset="-128"/>
                        </a:rPr>
                        <a:t>どの現場においてもそうですが、何か問題や悩みがあっても、すぐに業務内容を理解し、手伝ってくれる人がいるとは限りません。また、本社や営業所等の各拠点との距離も離れているため、各拠点の人員がすぐに駆け付けることも難しく、相談する時間もなく、自分で問題を解決し、お客様へ回答しなければならない場面も多くあります。そのような状況に自立した個人でない人が置かれた場合、心身ともに耐えられないものだと思います。</a:t>
                      </a:r>
                    </a:p>
                    <a:p>
                      <a:pPr algn="l" fontAlgn="ctr"/>
                      <a:endParaRPr lang="ja-JP" altLang="en-US" sz="1600" b="0" i="0" u="none" strike="noStrike" dirty="0">
                        <a:effectLst/>
                        <a:latin typeface="メイリオ" panose="020B0604030504040204" pitchFamily="50" charset="-128"/>
                        <a:ea typeface="メイリオ" panose="020B0604030504040204" pitchFamily="50" charset="-128"/>
                      </a:endParaRPr>
                    </a:p>
                    <a:p>
                      <a:pPr algn="l" fontAlgn="ctr"/>
                      <a:r>
                        <a:rPr lang="ja-JP" altLang="en-US" sz="1600" b="0" i="0" u="none" strike="noStrike" dirty="0">
                          <a:effectLst/>
                          <a:latin typeface="メイリオ" panose="020B0604030504040204" pitchFamily="50" charset="-128"/>
                          <a:ea typeface="メイリオ" panose="020B0604030504040204" pitchFamily="50" charset="-128"/>
                        </a:rPr>
                        <a:t>久しぶりにガッツリ現場に入り、改めて、齊藤さんをはじめとした現場で戦う方たちの自立心に気付くことができました。</a:t>
                      </a:r>
                    </a:p>
                  </a:txBody>
                  <a:tcPr marL="0" marR="0" marT="0" marB="0" anchor="ctr">
                    <a:noFill/>
                  </a:tcPr>
                </a:tc>
                <a:extLst>
                  <a:ext uri="{0D108BD9-81ED-4DB2-BD59-A6C34878D82A}">
                    <a16:rowId xmlns:a16="http://schemas.microsoft.com/office/drawing/2014/main" val="51326532"/>
                  </a:ext>
                </a:extLst>
              </a:tr>
            </a:tbl>
          </a:graphicData>
        </a:graphic>
      </p:graphicFrame>
      <p:graphicFrame>
        <p:nvGraphicFramePr>
          <p:cNvPr id="4" name="表 3">
            <a:extLst>
              <a:ext uri="{FF2B5EF4-FFF2-40B4-BE49-F238E27FC236}">
                <a16:creationId xmlns:a16="http://schemas.microsoft.com/office/drawing/2014/main" id="{B79B7192-0D9C-4382-8D0B-167C3C35CE90}"/>
              </a:ext>
            </a:extLst>
          </p:cNvPr>
          <p:cNvGraphicFramePr>
            <a:graphicFrameLocks noGrp="1"/>
          </p:cNvGraphicFramePr>
          <p:nvPr>
            <p:extLst>
              <p:ext uri="{D42A27DB-BD31-4B8C-83A1-F6EECF244321}">
                <p14:modId xmlns:p14="http://schemas.microsoft.com/office/powerpoint/2010/main" val="2450974335"/>
              </p:ext>
            </p:extLst>
          </p:nvPr>
        </p:nvGraphicFramePr>
        <p:xfrm>
          <a:off x="764704" y="8143446"/>
          <a:ext cx="6048672" cy="605018"/>
        </p:xfrm>
        <a:graphic>
          <a:graphicData uri="http://schemas.openxmlformats.org/drawingml/2006/table">
            <a:tbl>
              <a:tblPr/>
              <a:tblGrid>
                <a:gridCol w="254002">
                  <a:extLst>
                    <a:ext uri="{9D8B030D-6E8A-4147-A177-3AD203B41FA5}">
                      <a16:colId xmlns:a16="http://schemas.microsoft.com/office/drawing/2014/main" val="4026392200"/>
                    </a:ext>
                  </a:extLst>
                </a:gridCol>
                <a:gridCol w="617588">
                  <a:extLst>
                    <a:ext uri="{9D8B030D-6E8A-4147-A177-3AD203B41FA5}">
                      <a16:colId xmlns:a16="http://schemas.microsoft.com/office/drawing/2014/main" val="2265573359"/>
                    </a:ext>
                  </a:extLst>
                </a:gridCol>
                <a:gridCol w="2885454">
                  <a:extLst>
                    <a:ext uri="{9D8B030D-6E8A-4147-A177-3AD203B41FA5}">
                      <a16:colId xmlns:a16="http://schemas.microsoft.com/office/drawing/2014/main" val="2831491253"/>
                    </a:ext>
                  </a:extLst>
                </a:gridCol>
                <a:gridCol w="2291628">
                  <a:extLst>
                    <a:ext uri="{9D8B030D-6E8A-4147-A177-3AD203B41FA5}">
                      <a16:colId xmlns:a16="http://schemas.microsoft.com/office/drawing/2014/main" val="2078562565"/>
                    </a:ext>
                  </a:extLst>
                </a:gridCol>
              </a:tblGrid>
              <a:tr h="302509">
                <a:tc>
                  <a:txBody>
                    <a:bodyPr/>
                    <a:lstStyle/>
                    <a:p>
                      <a:pPr algn="l" fontAlgn="ctr"/>
                      <a:endParaRPr lang="ja-JP" altLang="en-US" sz="900" b="1" i="0" u="none" strike="noStrike" dirty="0">
                        <a:effectLst/>
                        <a:latin typeface="メイリオ" panose="020B0604030504040204" pitchFamily="50" charset="-128"/>
                        <a:ea typeface="メイリオ" panose="020B0604030504040204" pitchFamily="50" charset="-128"/>
                      </a:endParaRPr>
                    </a:p>
                  </a:txBody>
                  <a:tcPr marL="7203" marR="7203" marT="7203" marB="0" anchor="ctr">
                    <a:lnL>
                      <a:noFill/>
                    </a:lnL>
                    <a:lnR>
                      <a:noFill/>
                    </a:lnR>
                    <a:lnT>
                      <a:noFill/>
                    </a:lnT>
                    <a:lnB>
                      <a:noFill/>
                    </a:lnB>
                  </a:tcPr>
                </a:tc>
                <a:tc>
                  <a:txBody>
                    <a:bodyPr/>
                    <a:lstStyle/>
                    <a:p>
                      <a:pPr algn="l" fontAlgn="ctr"/>
                      <a:endParaRPr lang="ja-JP" altLang="en-US" sz="1200" b="1" i="0" u="none" strike="noStrike">
                        <a:effectLst/>
                        <a:latin typeface="メイリオ" panose="020B0604030504040204" pitchFamily="50" charset="-128"/>
                        <a:ea typeface="メイリオ" panose="020B0604030504040204" pitchFamily="50" charset="-128"/>
                      </a:endParaRPr>
                    </a:p>
                  </a:txBody>
                  <a:tcPr marL="7203" marR="7203" marT="7203" marB="0" anchor="ctr">
                    <a:lnL>
                      <a:noFill/>
                    </a:lnL>
                    <a:lnR>
                      <a:noFill/>
                    </a:lnR>
                    <a:lnT>
                      <a:noFill/>
                    </a:lnT>
                    <a:lnB>
                      <a:noFill/>
                    </a:lnB>
                  </a:tcPr>
                </a:tc>
                <a:tc>
                  <a:txBody>
                    <a:bodyPr/>
                    <a:lstStyle/>
                    <a:p>
                      <a:pPr algn="ctr" fontAlgn="ctr"/>
                      <a:r>
                        <a:rPr lang="ja-JP" altLang="en-US" sz="1200" b="1" i="0" u="none" strike="noStrike" dirty="0">
                          <a:effectLst/>
                          <a:latin typeface="メイリオ" panose="020B0604030504040204" pitchFamily="50" charset="-128"/>
                          <a:ea typeface="メイリオ" panose="020B0604030504040204" pitchFamily="50" charset="-128"/>
                        </a:rPr>
                        <a:t>（所属）</a:t>
                      </a:r>
                    </a:p>
                  </a:txBody>
                  <a:tcPr marL="7203" marR="7203" marT="7203" marB="0" anchor="ctr">
                    <a:lnL>
                      <a:noFill/>
                    </a:lnL>
                    <a:lnR>
                      <a:noFill/>
                    </a:lnR>
                    <a:lnT>
                      <a:noFill/>
                    </a:lnT>
                    <a:lnB>
                      <a:noFill/>
                    </a:lnB>
                  </a:tcPr>
                </a:tc>
                <a:tc>
                  <a:txBody>
                    <a:bodyPr/>
                    <a:lstStyle/>
                    <a:p>
                      <a:pPr algn="ctr" fontAlgn="ctr"/>
                      <a:r>
                        <a:rPr lang="ja-JP" altLang="en-US" sz="1200" b="1" i="0" u="none" strike="noStrike" dirty="0">
                          <a:effectLst/>
                          <a:latin typeface="メイリオ" panose="020B0604030504040204" pitchFamily="50" charset="-128"/>
                          <a:ea typeface="メイリオ" panose="020B0604030504040204" pitchFamily="50" charset="-128"/>
                        </a:rPr>
                        <a:t>（氏名）</a:t>
                      </a:r>
                    </a:p>
                  </a:txBody>
                  <a:tcPr marL="7203" marR="7203" marT="7203" marB="0" anchor="ctr">
                    <a:lnL>
                      <a:noFill/>
                    </a:lnL>
                    <a:lnR>
                      <a:noFill/>
                    </a:lnR>
                    <a:lnT>
                      <a:noFill/>
                    </a:lnT>
                    <a:lnB>
                      <a:noFill/>
                    </a:lnB>
                  </a:tcPr>
                </a:tc>
                <a:extLst>
                  <a:ext uri="{0D108BD9-81ED-4DB2-BD59-A6C34878D82A}">
                    <a16:rowId xmlns:a16="http://schemas.microsoft.com/office/drawing/2014/main" val="2937889479"/>
                  </a:ext>
                </a:extLst>
              </a:tr>
              <a:tr h="302509">
                <a:tc gridSpan="2">
                  <a:txBody>
                    <a:bodyPr/>
                    <a:lstStyle/>
                    <a:p>
                      <a:pPr algn="ctr" fontAlgn="ctr"/>
                      <a:r>
                        <a:rPr lang="ja-JP" altLang="en-US" sz="1200" b="1" i="0" u="none" strike="noStrike" dirty="0">
                          <a:effectLst/>
                          <a:latin typeface="メイリオ" panose="020B0604030504040204" pitchFamily="50" charset="-128"/>
                          <a:ea typeface="メイリオ" panose="020B0604030504040204" pitchFamily="50" charset="-128"/>
                        </a:rPr>
                        <a:t>寄稿者</a:t>
                      </a:r>
                    </a:p>
                  </a:txBody>
                  <a:tcPr marL="7203" marR="7203" marT="7203" marB="0" anchor="ctr">
                    <a:lnL>
                      <a:noFill/>
                    </a:lnL>
                    <a:lnR>
                      <a:noFill/>
                    </a:lnR>
                    <a:lnT>
                      <a:noFill/>
                    </a:lnT>
                    <a:lnB>
                      <a:noFill/>
                    </a:lnB>
                  </a:tcPr>
                </a:tc>
                <a:tc hMerge="1">
                  <a:txBody>
                    <a:bodyPr/>
                    <a:lstStyle/>
                    <a:p>
                      <a:endParaRPr kumimoji="1" lang="ja-JP" altLang="en-US"/>
                    </a:p>
                  </a:txBody>
                  <a:tcPr/>
                </a:tc>
                <a:tc>
                  <a:txBody>
                    <a:bodyPr/>
                    <a:lstStyle/>
                    <a:p>
                      <a:pPr algn="ctr" fontAlgn="ctr"/>
                      <a:r>
                        <a:rPr lang="ja-JP" altLang="en-US" sz="1400" b="1" i="0" u="none" strike="noStrike" dirty="0">
                          <a:effectLst/>
                          <a:latin typeface="メイリオ" panose="020B0604030504040204" pitchFamily="50" charset="-128"/>
                          <a:ea typeface="メイリオ" panose="020B0604030504040204" pitchFamily="50" charset="-128"/>
                        </a:rPr>
                        <a:t>財務経理・情報システムチーム</a:t>
                      </a:r>
                    </a:p>
                  </a:txBody>
                  <a:tcPr marL="7203" marR="7203" marT="7203" marB="0" anchor="ctr">
                    <a:lnL>
                      <a:noFill/>
                    </a:lnL>
                    <a:lnR>
                      <a:noFill/>
                    </a:lnR>
                    <a:lnT>
                      <a:noFill/>
                    </a:lnT>
                    <a:lnB>
                      <a:noFill/>
                    </a:lnB>
                  </a:tcPr>
                </a:tc>
                <a:tc>
                  <a:txBody>
                    <a:bodyPr/>
                    <a:lstStyle/>
                    <a:p>
                      <a:pPr algn="ctr" fontAlgn="ctr"/>
                      <a:r>
                        <a:rPr lang="ja-JP" altLang="en-US" sz="1400" b="1" i="0" u="none" strike="noStrike" dirty="0">
                          <a:effectLst/>
                          <a:latin typeface="メイリオ" panose="020B0604030504040204" pitchFamily="50" charset="-128"/>
                          <a:ea typeface="メイリオ" panose="020B0604030504040204" pitchFamily="50" charset="-128"/>
                        </a:rPr>
                        <a:t>松本　泰貴</a:t>
                      </a:r>
                      <a:endParaRPr lang="en-US" altLang="ja-JP" sz="1400" b="1" i="0" u="none" strike="noStrike" dirty="0">
                        <a:effectLst/>
                        <a:latin typeface="メイリオ" panose="020B0604030504040204" pitchFamily="50" charset="-128"/>
                        <a:ea typeface="メイリオ" panose="020B0604030504040204" pitchFamily="50" charset="-128"/>
                      </a:endParaRPr>
                    </a:p>
                  </a:txBody>
                  <a:tcPr marL="7203" marR="7203" marT="7203" marB="0" anchor="ctr">
                    <a:lnL>
                      <a:noFill/>
                    </a:lnL>
                    <a:lnR>
                      <a:noFill/>
                    </a:lnR>
                    <a:lnT>
                      <a:noFill/>
                    </a:lnT>
                    <a:lnB>
                      <a:noFill/>
                    </a:lnB>
                  </a:tcPr>
                </a:tc>
                <a:extLst>
                  <a:ext uri="{0D108BD9-81ED-4DB2-BD59-A6C34878D82A}">
                    <a16:rowId xmlns:a16="http://schemas.microsoft.com/office/drawing/2014/main" val="4267474516"/>
                  </a:ext>
                </a:extLst>
              </a:tr>
            </a:tbl>
          </a:graphicData>
        </a:graphic>
      </p:graphicFrame>
    </p:spTree>
    <p:extLst>
      <p:ext uri="{BB962C8B-B14F-4D97-AF65-F5344CB8AC3E}">
        <p14:creationId xmlns:p14="http://schemas.microsoft.com/office/powerpoint/2010/main" val="1035246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49639977-163B-4BA3-B96E-D00EA67461F2}"/>
              </a:ext>
            </a:extLst>
          </p:cNvPr>
          <p:cNvSpPr/>
          <p:nvPr/>
        </p:nvSpPr>
        <p:spPr>
          <a:xfrm>
            <a:off x="347663" y="6818313"/>
            <a:ext cx="2879725" cy="2084387"/>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latin typeface="メイリオ" panose="020B0604030504040204" pitchFamily="50" charset="-128"/>
              <a:ea typeface="メイリオ" panose="020B0604030504040204" pitchFamily="50" charset="-128"/>
            </a:endParaRPr>
          </a:p>
        </p:txBody>
      </p:sp>
      <p:grpSp>
        <p:nvGrpSpPr>
          <p:cNvPr id="28675" name="Group 20">
            <a:extLst>
              <a:ext uri="{FF2B5EF4-FFF2-40B4-BE49-F238E27FC236}">
                <a16:creationId xmlns:a16="http://schemas.microsoft.com/office/drawing/2014/main" id="{9D052AF4-2240-4070-94F1-0979DFA28262}"/>
              </a:ext>
            </a:extLst>
          </p:cNvPr>
          <p:cNvGrpSpPr>
            <a:grpSpLocks/>
          </p:cNvGrpSpPr>
          <p:nvPr/>
        </p:nvGrpSpPr>
        <p:grpSpPr bwMode="auto">
          <a:xfrm>
            <a:off x="762000" y="457200"/>
            <a:ext cx="5562600" cy="2435225"/>
            <a:chOff x="567" y="125"/>
            <a:chExt cx="3129" cy="2353"/>
          </a:xfrm>
        </p:grpSpPr>
        <p:sp>
          <p:nvSpPr>
            <p:cNvPr id="28700" name="Rectangle 21">
              <a:extLst>
                <a:ext uri="{FF2B5EF4-FFF2-40B4-BE49-F238E27FC236}">
                  <a16:creationId xmlns:a16="http://schemas.microsoft.com/office/drawing/2014/main" id="{67550C7A-88B9-4A90-80F7-00DC5F2C0FDD}"/>
                </a:ext>
              </a:extLst>
            </p:cNvPr>
            <p:cNvSpPr>
              <a:spLocks noChangeArrowheads="1"/>
            </p:cNvSpPr>
            <p:nvPr/>
          </p:nvSpPr>
          <p:spPr bwMode="auto">
            <a:xfrm>
              <a:off x="593" y="151"/>
              <a:ext cx="3103" cy="2327"/>
            </a:xfrm>
            <a:prstGeom prst="rect">
              <a:avLst/>
            </a:prstGeom>
            <a:solidFill>
              <a:srgbClr val="000000"/>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28701" name="Rectangle 22">
              <a:extLst>
                <a:ext uri="{FF2B5EF4-FFF2-40B4-BE49-F238E27FC236}">
                  <a16:creationId xmlns:a16="http://schemas.microsoft.com/office/drawing/2014/main" id="{83359C9B-F64F-4B33-8752-0FB5F9E66C2C}"/>
                </a:ext>
              </a:extLst>
            </p:cNvPr>
            <p:cNvSpPr>
              <a:spLocks noChangeArrowheads="1"/>
            </p:cNvSpPr>
            <p:nvPr/>
          </p:nvSpPr>
          <p:spPr bwMode="auto">
            <a:xfrm>
              <a:off x="567" y="125"/>
              <a:ext cx="3103" cy="2327"/>
            </a:xfrm>
            <a:prstGeom prst="rect">
              <a:avLst/>
            </a:prstGeom>
            <a:solidFill>
              <a:srgbClr val="FFFFFF"/>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grpSp>
      <p:sp>
        <p:nvSpPr>
          <p:cNvPr id="28676" name="Rectangle 12">
            <a:extLst>
              <a:ext uri="{FF2B5EF4-FFF2-40B4-BE49-F238E27FC236}">
                <a16:creationId xmlns:a16="http://schemas.microsoft.com/office/drawing/2014/main" id="{65DFF88D-CDAB-4763-892B-7146CB7AAA46}"/>
              </a:ext>
            </a:extLst>
          </p:cNvPr>
          <p:cNvSpPr>
            <a:spLocks noChangeArrowheads="1"/>
          </p:cNvSpPr>
          <p:nvPr/>
        </p:nvSpPr>
        <p:spPr bwMode="auto">
          <a:xfrm>
            <a:off x="1119188" y="322263"/>
            <a:ext cx="418782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28677" name="Rectangle 13">
            <a:extLst>
              <a:ext uri="{FF2B5EF4-FFF2-40B4-BE49-F238E27FC236}">
                <a16:creationId xmlns:a16="http://schemas.microsoft.com/office/drawing/2014/main" id="{A3D3396F-1FC1-4E6D-883F-69F3E506D3AA}"/>
              </a:ext>
            </a:extLst>
          </p:cNvPr>
          <p:cNvSpPr>
            <a:spLocks noChangeArrowheads="1"/>
          </p:cNvSpPr>
          <p:nvPr/>
        </p:nvSpPr>
        <p:spPr bwMode="auto">
          <a:xfrm>
            <a:off x="1238250" y="685800"/>
            <a:ext cx="19749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2200" b="1">
                <a:solidFill>
                  <a:srgbClr val="000000"/>
                </a:solidFill>
                <a:latin typeface="メイリオ" panose="020B0604030504040204" pitchFamily="50" charset="-128"/>
                <a:ea typeface="メイリオ" panose="020B0604030504040204" pitchFamily="50" charset="-128"/>
              </a:rPr>
              <a:t>１＋１＝３以上</a:t>
            </a:r>
            <a:endParaRPr lang="ja-JP" altLang="en-US" sz="2200" b="1">
              <a:latin typeface="メイリオ" panose="020B0604030504040204" pitchFamily="50" charset="-128"/>
              <a:ea typeface="メイリオ" panose="020B0604030504040204" pitchFamily="50" charset="-128"/>
            </a:endParaRPr>
          </a:p>
        </p:txBody>
      </p:sp>
      <p:sp>
        <p:nvSpPr>
          <p:cNvPr id="28678" name="Rectangle 15">
            <a:extLst>
              <a:ext uri="{FF2B5EF4-FFF2-40B4-BE49-F238E27FC236}">
                <a16:creationId xmlns:a16="http://schemas.microsoft.com/office/drawing/2014/main" id="{328F3EFC-8A60-42EB-99A4-4D434A7AFF68}"/>
              </a:ext>
            </a:extLst>
          </p:cNvPr>
          <p:cNvSpPr>
            <a:spLocks noChangeArrowheads="1"/>
          </p:cNvSpPr>
          <p:nvPr/>
        </p:nvSpPr>
        <p:spPr bwMode="auto">
          <a:xfrm>
            <a:off x="1168400" y="1239838"/>
            <a:ext cx="4795838" cy="151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60000"/>
              </a:spcBef>
              <a:buFontTx/>
              <a:buNone/>
            </a:pPr>
            <a:r>
              <a:rPr lang="ja-JP" altLang="en-US" sz="1700" b="1">
                <a:solidFill>
                  <a:srgbClr val="000000"/>
                </a:solidFill>
                <a:latin typeface="メイリオ" panose="020B0604030504040204" pitchFamily="50" charset="-128"/>
                <a:ea typeface="メイリオ" panose="020B0604030504040204" pitchFamily="50" charset="-128"/>
              </a:rPr>
              <a:t>私たちは常に相手を思いやり理解することで</a:t>
            </a:r>
          </a:p>
          <a:p>
            <a:pPr eaLnBrk="1" hangingPunct="1">
              <a:spcBef>
                <a:spcPct val="60000"/>
              </a:spcBef>
              <a:buFontTx/>
              <a:buNone/>
            </a:pPr>
            <a:r>
              <a:rPr lang="ja-JP" altLang="en-US" sz="1700" b="1">
                <a:solidFill>
                  <a:srgbClr val="000000"/>
                </a:solidFill>
                <a:latin typeface="メイリオ" panose="020B0604030504040204" pitchFamily="50" charset="-128"/>
                <a:ea typeface="メイリオ" panose="020B0604030504040204" pitchFamily="50" charset="-128"/>
              </a:rPr>
              <a:t>信頼関係を高めます。そして「自立した個人」が</a:t>
            </a:r>
          </a:p>
          <a:p>
            <a:pPr eaLnBrk="1" hangingPunct="1">
              <a:spcBef>
                <a:spcPct val="60000"/>
              </a:spcBef>
              <a:buFontTx/>
              <a:buNone/>
            </a:pPr>
            <a:r>
              <a:rPr lang="ja-JP" altLang="en-US" sz="1700" b="1">
                <a:solidFill>
                  <a:srgbClr val="000000"/>
                </a:solidFill>
                <a:latin typeface="メイリオ" panose="020B0604030504040204" pitchFamily="50" charset="-128"/>
                <a:ea typeface="メイリオ" panose="020B0604030504040204" pitchFamily="50" charset="-128"/>
              </a:rPr>
              <a:t>相互に協力することで、相乗効果を発揮する</a:t>
            </a:r>
          </a:p>
          <a:p>
            <a:pPr eaLnBrk="1" hangingPunct="1">
              <a:spcBef>
                <a:spcPct val="60000"/>
              </a:spcBef>
              <a:buFontTx/>
              <a:buNone/>
            </a:pPr>
            <a:r>
              <a:rPr lang="ja-JP" altLang="en-US" sz="1700" b="1">
                <a:solidFill>
                  <a:srgbClr val="000000"/>
                </a:solidFill>
                <a:latin typeface="メイリオ" panose="020B0604030504040204" pitchFamily="50" charset="-128"/>
                <a:ea typeface="メイリオ" panose="020B0604030504040204" pitchFamily="50" charset="-128"/>
              </a:rPr>
              <a:t>真のチームワークを実現します。</a:t>
            </a:r>
            <a:endParaRPr lang="ja-JP" altLang="en-US" sz="1700" b="1">
              <a:latin typeface="メイリオ" panose="020B0604030504040204" pitchFamily="50" charset="-128"/>
              <a:ea typeface="メイリオ" panose="020B0604030504040204" pitchFamily="50" charset="-128"/>
            </a:endParaRPr>
          </a:p>
        </p:txBody>
      </p:sp>
      <p:sp>
        <p:nvSpPr>
          <p:cNvPr id="28679" name="Rectangle 3">
            <a:extLst>
              <a:ext uri="{FF2B5EF4-FFF2-40B4-BE49-F238E27FC236}">
                <a16:creationId xmlns:a16="http://schemas.microsoft.com/office/drawing/2014/main" id="{D87B0E3A-7935-4177-9A41-D7552FA56473}"/>
              </a:ext>
            </a:extLst>
          </p:cNvPr>
          <p:cNvSpPr>
            <a:spLocks noChangeArrowheads="1"/>
          </p:cNvSpPr>
          <p:nvPr/>
        </p:nvSpPr>
        <p:spPr bwMode="auto">
          <a:xfrm>
            <a:off x="809625" y="4284663"/>
            <a:ext cx="5499100" cy="443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lnSpc>
                <a:spcPct val="130000"/>
              </a:lnSpc>
              <a:buFontTx/>
              <a:buNone/>
            </a:pPr>
            <a:endParaRPr lang="ja-JP" altLang="en-US" sz="1200"/>
          </a:p>
        </p:txBody>
      </p:sp>
      <p:sp>
        <p:nvSpPr>
          <p:cNvPr id="28680" name="Line 23">
            <a:extLst>
              <a:ext uri="{FF2B5EF4-FFF2-40B4-BE49-F238E27FC236}">
                <a16:creationId xmlns:a16="http://schemas.microsoft.com/office/drawing/2014/main" id="{7C0DB2C6-B48D-4C0D-A970-782ABDADAC09}"/>
              </a:ext>
            </a:extLst>
          </p:cNvPr>
          <p:cNvSpPr>
            <a:spLocks noChangeShapeType="1"/>
          </p:cNvSpPr>
          <p:nvPr/>
        </p:nvSpPr>
        <p:spPr bwMode="auto">
          <a:xfrm flipV="1">
            <a:off x="1219200" y="1066800"/>
            <a:ext cx="1981200" cy="0"/>
          </a:xfrm>
          <a:prstGeom prst="line">
            <a:avLst/>
          </a:prstGeom>
          <a:noFill/>
          <a:ln w="69850" cmpd="thinThick">
            <a:solidFill>
              <a:schemeClr val="bg2"/>
            </a:solidFill>
            <a:round/>
            <a:headEnd/>
            <a:tailEnd/>
          </a:ln>
          <a:effectLst>
            <a:outerShdw dist="148106" dir="1857825" algn="ctr" rotWithShape="0">
              <a:srgbClr val="DDDDDD"/>
            </a:outerShdw>
          </a:effectLst>
          <a:extLst>
            <a:ext uri="{909E8E84-426E-40DD-AFC4-6F175D3DCCD1}">
              <a14:hiddenFill xmlns:a14="http://schemas.microsoft.com/office/drawing/2010/main">
                <a:noFill/>
              </a14:hiddenFill>
            </a:ext>
          </a:extLst>
        </p:spPr>
        <p:txBody>
          <a:bodyPr/>
          <a:lstStyle/>
          <a:p>
            <a:endParaRPr lang="ja-JP" altLang="en-US"/>
          </a:p>
        </p:txBody>
      </p:sp>
      <p:sp>
        <p:nvSpPr>
          <p:cNvPr id="29707" name="Rectangle 2060">
            <a:extLst>
              <a:ext uri="{FF2B5EF4-FFF2-40B4-BE49-F238E27FC236}">
                <a16:creationId xmlns:a16="http://schemas.microsoft.com/office/drawing/2014/main" id="{4B9AC41F-C74F-48B6-9B3C-8F5E7877B0E6}"/>
              </a:ext>
            </a:extLst>
          </p:cNvPr>
          <p:cNvSpPr>
            <a:spLocks noChangeArrowheads="1"/>
          </p:cNvSpPr>
          <p:nvPr/>
        </p:nvSpPr>
        <p:spPr bwMode="auto">
          <a:xfrm>
            <a:off x="492125" y="2909888"/>
            <a:ext cx="6003925" cy="3760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lnSpc>
                <a:spcPct val="150000"/>
              </a:lnSpc>
              <a:buFontTx/>
              <a:buNone/>
              <a:defRPr/>
            </a:pPr>
            <a:r>
              <a:rPr lang="ja-JP" altLang="en-US" sz="1200" dirty="0">
                <a:latin typeface="+mj-ea"/>
                <a:ea typeface="+mj-ea"/>
              </a:rPr>
              <a:t>　相乗効果を発揮する「真のチームワーク」を実現するためには、個々人がまず「自立した個人」であることが重要です。「自立した個人」として自ら考え、発言し、行動できるようになること。そのうえで、相手のことも「自立した個人」として尊重することが大切です。</a:t>
            </a:r>
            <a:endParaRPr lang="en-US" altLang="ja-JP" sz="1200" dirty="0">
              <a:latin typeface="+mj-ea"/>
              <a:ea typeface="+mj-ea"/>
            </a:endParaRPr>
          </a:p>
          <a:p>
            <a:pPr eaLnBrk="1" hangingPunct="1">
              <a:lnSpc>
                <a:spcPct val="150000"/>
              </a:lnSpc>
              <a:buFontTx/>
              <a:buNone/>
              <a:defRPr/>
            </a:pPr>
            <a:r>
              <a:rPr lang="ja-JP" altLang="en-US" sz="1200" dirty="0">
                <a:latin typeface="+mj-ea"/>
                <a:ea typeface="+mj-ea"/>
              </a:rPr>
              <a:t>　これらを話の前提とした時、それぞれが「自立した個人」なのですから意見が違うのは当たり前。むしろ、違いがあることは素晴らしいということだと考えることができます。すなわち、個々人の良さを引き出し合いながら、より良い意見である「第３案」を導き出せる可能性があるからです。これを相乗効果（シナジー）と言います。</a:t>
            </a:r>
            <a:endParaRPr lang="en-US" altLang="ja-JP" sz="1200" dirty="0">
              <a:latin typeface="+mj-ea"/>
              <a:ea typeface="+mj-ea"/>
            </a:endParaRPr>
          </a:p>
          <a:p>
            <a:pPr eaLnBrk="1" hangingPunct="1">
              <a:lnSpc>
                <a:spcPct val="150000"/>
              </a:lnSpc>
              <a:buFontTx/>
              <a:buNone/>
              <a:defRPr/>
            </a:pPr>
            <a:r>
              <a:rPr lang="ja-JP" altLang="en-US" sz="1200" dirty="0">
                <a:latin typeface="+mj-ea"/>
                <a:ea typeface="+mj-ea"/>
              </a:rPr>
              <a:t>　私たちは、「第３案」を導き出すためには、自らの主張を理解してもらう為に、まず相手の立場を理解することから始めることが必要です。相手を尊重し、信頼関係を大切にします。自立した個人同士　「１」　として向き合い、互いの違いを尊重し合い、認め合い、信頼関係を高めることができれば、お互いがそれぞれの役割で協力し、補完し合い、チームとしての相乗効果を発揮できます。</a:t>
            </a:r>
            <a:endParaRPr lang="en-US" altLang="ja-JP" sz="1200" dirty="0">
              <a:latin typeface="+mj-ea"/>
              <a:ea typeface="+mj-ea"/>
            </a:endParaRPr>
          </a:p>
          <a:p>
            <a:pPr eaLnBrk="1" hangingPunct="1">
              <a:lnSpc>
                <a:spcPct val="150000"/>
              </a:lnSpc>
              <a:buFontTx/>
              <a:buNone/>
              <a:defRPr/>
            </a:pPr>
            <a:r>
              <a:rPr lang="ja-JP" altLang="en-US" sz="1200" dirty="0">
                <a:latin typeface="+mj-ea"/>
                <a:ea typeface="+mj-ea"/>
              </a:rPr>
              <a:t>　その時、「１＋１」は「２」ではなく「３以上」となり、「第３案」の創造へとつながっていくのです。</a:t>
            </a:r>
          </a:p>
        </p:txBody>
      </p:sp>
      <p:sp>
        <p:nvSpPr>
          <p:cNvPr id="2" name="二等辺三角形 1">
            <a:extLst>
              <a:ext uri="{FF2B5EF4-FFF2-40B4-BE49-F238E27FC236}">
                <a16:creationId xmlns:a16="http://schemas.microsoft.com/office/drawing/2014/main" id="{2CC5862A-78E0-4C3B-BA44-E3C2EDB875AA}"/>
              </a:ext>
            </a:extLst>
          </p:cNvPr>
          <p:cNvSpPr/>
          <p:nvPr/>
        </p:nvSpPr>
        <p:spPr>
          <a:xfrm>
            <a:off x="717550" y="7900988"/>
            <a:ext cx="1257300" cy="849312"/>
          </a:xfrm>
          <a:prstGeom prst="triangle">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a:solidFill>
                <a:schemeClr val="tx1"/>
              </a:solidFill>
              <a:latin typeface="メイリオ" panose="020B0604030504040204" pitchFamily="50" charset="-128"/>
              <a:ea typeface="メイリオ" panose="020B0604030504040204" pitchFamily="50" charset="-128"/>
            </a:endParaRPr>
          </a:p>
        </p:txBody>
      </p:sp>
      <p:sp>
        <p:nvSpPr>
          <p:cNvPr id="14" name="二等辺三角形 13">
            <a:extLst>
              <a:ext uri="{FF2B5EF4-FFF2-40B4-BE49-F238E27FC236}">
                <a16:creationId xmlns:a16="http://schemas.microsoft.com/office/drawing/2014/main" id="{C5801E93-F698-413E-9461-E93BE0E34028}"/>
              </a:ext>
            </a:extLst>
          </p:cNvPr>
          <p:cNvSpPr/>
          <p:nvPr/>
        </p:nvSpPr>
        <p:spPr>
          <a:xfrm>
            <a:off x="1360488" y="7904163"/>
            <a:ext cx="1257300" cy="846137"/>
          </a:xfrm>
          <a:prstGeom prst="triangle">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a:solidFill>
                <a:schemeClr val="tx1"/>
              </a:solidFill>
              <a:latin typeface="メイリオ" panose="020B0604030504040204" pitchFamily="50" charset="-128"/>
              <a:ea typeface="メイリオ" panose="020B0604030504040204" pitchFamily="50" charset="-128"/>
            </a:endParaRPr>
          </a:p>
        </p:txBody>
      </p:sp>
      <p:sp>
        <p:nvSpPr>
          <p:cNvPr id="15" name="二等辺三角形 14">
            <a:extLst>
              <a:ext uri="{FF2B5EF4-FFF2-40B4-BE49-F238E27FC236}">
                <a16:creationId xmlns:a16="http://schemas.microsoft.com/office/drawing/2014/main" id="{2BFB1168-E5FA-42FB-ADB4-64C90A7F2755}"/>
              </a:ext>
            </a:extLst>
          </p:cNvPr>
          <p:cNvSpPr/>
          <p:nvPr/>
        </p:nvSpPr>
        <p:spPr>
          <a:xfrm>
            <a:off x="1347788" y="8335963"/>
            <a:ext cx="627062" cy="411162"/>
          </a:xfrm>
          <a:prstGeom prst="triangle">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a:solidFill>
                <a:schemeClr val="tx1"/>
              </a:solidFill>
              <a:latin typeface="メイリオ" panose="020B0604030504040204" pitchFamily="50" charset="-128"/>
              <a:ea typeface="メイリオ" panose="020B0604030504040204" pitchFamily="50" charset="-128"/>
            </a:endParaRPr>
          </a:p>
        </p:txBody>
      </p:sp>
      <p:sp>
        <p:nvSpPr>
          <p:cNvPr id="28685" name="Rectangle 2060">
            <a:extLst>
              <a:ext uri="{FF2B5EF4-FFF2-40B4-BE49-F238E27FC236}">
                <a16:creationId xmlns:a16="http://schemas.microsoft.com/office/drawing/2014/main" id="{42D28D24-F342-4C5A-A28D-10AFD5A25E4F}"/>
              </a:ext>
            </a:extLst>
          </p:cNvPr>
          <p:cNvSpPr>
            <a:spLocks noChangeArrowheads="1"/>
          </p:cNvSpPr>
          <p:nvPr/>
        </p:nvSpPr>
        <p:spPr bwMode="auto">
          <a:xfrm>
            <a:off x="387350" y="6818313"/>
            <a:ext cx="2697163"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lnSpc>
                <a:spcPct val="130000"/>
              </a:lnSpc>
              <a:buFontTx/>
              <a:buNone/>
            </a:pPr>
            <a:r>
              <a:rPr lang="en-US" altLang="ja-JP" sz="1200" b="1">
                <a:latin typeface="メイリオ" panose="020B0604030504040204" pitchFamily="50" charset="-128"/>
                <a:ea typeface="メイリオ" panose="020B0604030504040204" pitchFamily="50" charset="-128"/>
              </a:rPr>
              <a:t>【</a:t>
            </a:r>
            <a:r>
              <a:rPr lang="ja-JP" altLang="en-US" sz="1200" b="1">
                <a:latin typeface="メイリオ" panose="020B0604030504040204" pitchFamily="50" charset="-128"/>
                <a:ea typeface="メイリオ" panose="020B0604030504040204" pitchFamily="50" charset="-128"/>
              </a:rPr>
              <a:t>妥協（ＡとＢの共通部分）</a:t>
            </a:r>
            <a:r>
              <a:rPr lang="en-US" altLang="ja-JP" sz="1200" b="1">
                <a:latin typeface="メイリオ" panose="020B0604030504040204" pitchFamily="50" charset="-128"/>
                <a:ea typeface="メイリオ" panose="020B0604030504040204" pitchFamily="50" charset="-128"/>
              </a:rPr>
              <a:t>】</a:t>
            </a:r>
          </a:p>
          <a:p>
            <a:pPr eaLnBrk="1" hangingPunct="1">
              <a:lnSpc>
                <a:spcPct val="130000"/>
              </a:lnSpc>
              <a:buFontTx/>
              <a:buNone/>
            </a:pPr>
            <a:r>
              <a:rPr lang="ja-JP" altLang="en-US" sz="1200" b="1">
                <a:latin typeface="メイリオ" panose="020B0604030504040204" pitchFamily="50" charset="-128"/>
                <a:ea typeface="メイリオ" panose="020B0604030504040204" pitchFamily="50" charset="-128"/>
              </a:rPr>
              <a:t>ＡとＢの意見が異なるとき、</a:t>
            </a:r>
            <a:endParaRPr lang="en-US" altLang="ja-JP" sz="1200" b="1">
              <a:latin typeface="メイリオ" panose="020B0604030504040204" pitchFamily="50" charset="-128"/>
              <a:ea typeface="メイリオ" panose="020B0604030504040204" pitchFamily="50" charset="-128"/>
            </a:endParaRPr>
          </a:p>
          <a:p>
            <a:pPr eaLnBrk="1" hangingPunct="1">
              <a:lnSpc>
                <a:spcPct val="130000"/>
              </a:lnSpc>
              <a:buFontTx/>
              <a:buNone/>
            </a:pPr>
            <a:r>
              <a:rPr lang="ja-JP" altLang="en-US" sz="1200" b="1">
                <a:latin typeface="メイリオ" panose="020B0604030504040204" pitchFamily="50" charset="-128"/>
                <a:ea typeface="メイリオ" panose="020B0604030504040204" pitchFamily="50" charset="-128"/>
              </a:rPr>
              <a:t>お互いが消極的になることいたる</a:t>
            </a:r>
          </a:p>
        </p:txBody>
      </p:sp>
      <p:sp>
        <p:nvSpPr>
          <p:cNvPr id="28686" name="Rectangle 2060">
            <a:extLst>
              <a:ext uri="{FF2B5EF4-FFF2-40B4-BE49-F238E27FC236}">
                <a16:creationId xmlns:a16="http://schemas.microsoft.com/office/drawing/2014/main" id="{3ED4A37E-BF28-4E07-A27E-21CAE093ACAD}"/>
              </a:ext>
            </a:extLst>
          </p:cNvPr>
          <p:cNvSpPr>
            <a:spLocks noChangeArrowheads="1"/>
          </p:cNvSpPr>
          <p:nvPr/>
        </p:nvSpPr>
        <p:spPr bwMode="auto">
          <a:xfrm>
            <a:off x="1012825" y="8302625"/>
            <a:ext cx="530225"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lnSpc>
                <a:spcPct val="130000"/>
              </a:lnSpc>
              <a:buFontTx/>
              <a:buNone/>
            </a:pPr>
            <a:r>
              <a:rPr lang="ja-JP" altLang="en-US" sz="1200" b="1">
                <a:latin typeface="メイリオ" panose="020B0604030504040204" pitchFamily="50" charset="-128"/>
                <a:ea typeface="メイリオ" panose="020B0604030504040204" pitchFamily="50" charset="-128"/>
              </a:rPr>
              <a:t>Ａ案</a:t>
            </a:r>
          </a:p>
        </p:txBody>
      </p:sp>
      <p:sp>
        <p:nvSpPr>
          <p:cNvPr id="28687" name="Rectangle 2060">
            <a:extLst>
              <a:ext uri="{FF2B5EF4-FFF2-40B4-BE49-F238E27FC236}">
                <a16:creationId xmlns:a16="http://schemas.microsoft.com/office/drawing/2014/main" id="{F3F18704-9254-4C5D-8F62-1DF7F8D5FA7B}"/>
              </a:ext>
            </a:extLst>
          </p:cNvPr>
          <p:cNvSpPr>
            <a:spLocks noChangeArrowheads="1"/>
          </p:cNvSpPr>
          <p:nvPr/>
        </p:nvSpPr>
        <p:spPr bwMode="auto">
          <a:xfrm>
            <a:off x="1781175" y="8288338"/>
            <a:ext cx="528638"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lnSpc>
                <a:spcPct val="130000"/>
              </a:lnSpc>
              <a:buFontTx/>
              <a:buNone/>
            </a:pPr>
            <a:r>
              <a:rPr lang="ja-JP" altLang="en-US" sz="1200" b="1">
                <a:latin typeface="メイリオ" panose="020B0604030504040204" pitchFamily="50" charset="-128"/>
                <a:ea typeface="メイリオ" panose="020B0604030504040204" pitchFamily="50" charset="-128"/>
              </a:rPr>
              <a:t>Ｂ案</a:t>
            </a:r>
          </a:p>
        </p:txBody>
      </p:sp>
      <p:sp>
        <p:nvSpPr>
          <p:cNvPr id="28688" name="Rectangle 2060">
            <a:extLst>
              <a:ext uri="{FF2B5EF4-FFF2-40B4-BE49-F238E27FC236}">
                <a16:creationId xmlns:a16="http://schemas.microsoft.com/office/drawing/2014/main" id="{5E964C6B-E98C-40F9-9EF8-2BCEFEAE0197}"/>
              </a:ext>
            </a:extLst>
          </p:cNvPr>
          <p:cNvSpPr>
            <a:spLocks noChangeArrowheads="1"/>
          </p:cNvSpPr>
          <p:nvPr/>
        </p:nvSpPr>
        <p:spPr bwMode="auto">
          <a:xfrm>
            <a:off x="1335088" y="8488363"/>
            <a:ext cx="776287"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lnSpc>
                <a:spcPct val="130000"/>
              </a:lnSpc>
              <a:buFontTx/>
              <a:buNone/>
            </a:pPr>
            <a:r>
              <a:rPr lang="ja-JP" altLang="en-US" sz="1200" b="1">
                <a:latin typeface="メイリオ" panose="020B0604030504040204" pitchFamily="50" charset="-128"/>
                <a:ea typeface="メイリオ" panose="020B0604030504040204" pitchFamily="50" charset="-128"/>
              </a:rPr>
              <a:t>妥協案</a:t>
            </a:r>
          </a:p>
        </p:txBody>
      </p:sp>
      <p:sp>
        <p:nvSpPr>
          <p:cNvPr id="21" name="正方形/長方形 20">
            <a:extLst>
              <a:ext uri="{FF2B5EF4-FFF2-40B4-BE49-F238E27FC236}">
                <a16:creationId xmlns:a16="http://schemas.microsoft.com/office/drawing/2014/main" id="{C668D2B0-FD21-4A62-8075-097F284BB0B2}"/>
              </a:ext>
            </a:extLst>
          </p:cNvPr>
          <p:cNvSpPr/>
          <p:nvPr/>
        </p:nvSpPr>
        <p:spPr>
          <a:xfrm>
            <a:off x="3716338" y="6818313"/>
            <a:ext cx="2884487" cy="2084387"/>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latin typeface="メイリオ" panose="020B0604030504040204" pitchFamily="50" charset="-128"/>
              <a:ea typeface="メイリオ" panose="020B0604030504040204" pitchFamily="50" charset="-128"/>
            </a:endParaRPr>
          </a:p>
        </p:txBody>
      </p:sp>
      <p:sp>
        <p:nvSpPr>
          <p:cNvPr id="22" name="二等辺三角形 21">
            <a:extLst>
              <a:ext uri="{FF2B5EF4-FFF2-40B4-BE49-F238E27FC236}">
                <a16:creationId xmlns:a16="http://schemas.microsoft.com/office/drawing/2014/main" id="{AE6212DA-7D41-4397-AFAC-EA6312553025}"/>
              </a:ext>
            </a:extLst>
          </p:cNvPr>
          <p:cNvSpPr/>
          <p:nvPr/>
        </p:nvSpPr>
        <p:spPr>
          <a:xfrm>
            <a:off x="4086225" y="8029575"/>
            <a:ext cx="1225550" cy="720725"/>
          </a:xfrm>
          <a:prstGeom prst="triangle">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a:solidFill>
                <a:schemeClr val="tx1"/>
              </a:solidFill>
              <a:latin typeface="メイリオ" panose="020B0604030504040204" pitchFamily="50" charset="-128"/>
              <a:ea typeface="メイリオ" panose="020B0604030504040204" pitchFamily="50" charset="-128"/>
            </a:endParaRPr>
          </a:p>
        </p:txBody>
      </p:sp>
      <p:sp>
        <p:nvSpPr>
          <p:cNvPr id="23" name="二等辺三角形 22">
            <a:extLst>
              <a:ext uri="{FF2B5EF4-FFF2-40B4-BE49-F238E27FC236}">
                <a16:creationId xmlns:a16="http://schemas.microsoft.com/office/drawing/2014/main" id="{3C4CDCE6-88A7-4C01-8D00-10C8EA429888}"/>
              </a:ext>
            </a:extLst>
          </p:cNvPr>
          <p:cNvSpPr/>
          <p:nvPr/>
        </p:nvSpPr>
        <p:spPr>
          <a:xfrm>
            <a:off x="4729163" y="8031163"/>
            <a:ext cx="1223962" cy="719137"/>
          </a:xfrm>
          <a:prstGeom prst="triangle">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a:solidFill>
                <a:schemeClr val="tx1"/>
              </a:solidFill>
              <a:latin typeface="メイリオ" panose="020B0604030504040204" pitchFamily="50" charset="-128"/>
              <a:ea typeface="メイリオ" panose="020B0604030504040204" pitchFamily="50" charset="-128"/>
            </a:endParaRPr>
          </a:p>
        </p:txBody>
      </p:sp>
      <p:sp>
        <p:nvSpPr>
          <p:cNvPr id="24" name="二等辺三角形 23">
            <a:extLst>
              <a:ext uri="{FF2B5EF4-FFF2-40B4-BE49-F238E27FC236}">
                <a16:creationId xmlns:a16="http://schemas.microsoft.com/office/drawing/2014/main" id="{DF5A7590-A6DD-4F31-8E12-7E195C3ADD35}"/>
              </a:ext>
            </a:extLst>
          </p:cNvPr>
          <p:cNvSpPr/>
          <p:nvPr/>
        </p:nvSpPr>
        <p:spPr>
          <a:xfrm>
            <a:off x="4716463" y="8385175"/>
            <a:ext cx="592137" cy="361950"/>
          </a:xfrm>
          <a:prstGeom prst="triangle">
            <a:avLst/>
          </a:prstGeom>
          <a:solidFill>
            <a:schemeClr val="bg1">
              <a:lumMod val="85000"/>
            </a:schemeClr>
          </a:solidFill>
          <a:ln>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a:solidFill>
                <a:schemeClr val="tx1"/>
              </a:solidFill>
              <a:latin typeface="メイリオ" panose="020B0604030504040204" pitchFamily="50" charset="-128"/>
              <a:ea typeface="メイリオ" panose="020B0604030504040204" pitchFamily="50" charset="-128"/>
            </a:endParaRPr>
          </a:p>
        </p:txBody>
      </p:sp>
      <p:sp>
        <p:nvSpPr>
          <p:cNvPr id="28693" name="Rectangle 2060">
            <a:extLst>
              <a:ext uri="{FF2B5EF4-FFF2-40B4-BE49-F238E27FC236}">
                <a16:creationId xmlns:a16="http://schemas.microsoft.com/office/drawing/2014/main" id="{A8F6EFAA-3B54-45A0-98B8-1F56768EDEEC}"/>
              </a:ext>
            </a:extLst>
          </p:cNvPr>
          <p:cNvSpPr>
            <a:spLocks noChangeArrowheads="1"/>
          </p:cNvSpPr>
          <p:nvPr/>
        </p:nvSpPr>
        <p:spPr bwMode="auto">
          <a:xfrm>
            <a:off x="3756025" y="6818313"/>
            <a:ext cx="2844800"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lnSpc>
                <a:spcPct val="130000"/>
              </a:lnSpc>
              <a:buFontTx/>
              <a:buNone/>
            </a:pPr>
            <a:r>
              <a:rPr lang="en-US" altLang="ja-JP" sz="1200" b="1">
                <a:latin typeface="メイリオ" panose="020B0604030504040204" pitchFamily="50" charset="-128"/>
                <a:ea typeface="メイリオ" panose="020B0604030504040204" pitchFamily="50" charset="-128"/>
              </a:rPr>
              <a:t>【</a:t>
            </a:r>
            <a:r>
              <a:rPr lang="ja-JP" altLang="en-US" sz="1200" b="1">
                <a:latin typeface="メイリオ" panose="020B0604030504040204" pitchFamily="50" charset="-128"/>
                <a:ea typeface="メイリオ" panose="020B0604030504040204" pitchFamily="50" charset="-128"/>
              </a:rPr>
              <a:t>相乗効果・シナジー（第３案）</a:t>
            </a:r>
            <a:r>
              <a:rPr lang="en-US" altLang="ja-JP" sz="1200" b="1">
                <a:latin typeface="メイリオ" panose="020B0604030504040204" pitchFamily="50" charset="-128"/>
                <a:ea typeface="メイリオ" panose="020B0604030504040204" pitchFamily="50" charset="-128"/>
              </a:rPr>
              <a:t>】</a:t>
            </a:r>
          </a:p>
          <a:p>
            <a:pPr eaLnBrk="1" hangingPunct="1">
              <a:lnSpc>
                <a:spcPct val="130000"/>
              </a:lnSpc>
              <a:buFontTx/>
              <a:buNone/>
            </a:pPr>
            <a:r>
              <a:rPr lang="ja-JP" altLang="en-US" sz="1200" b="1">
                <a:latin typeface="メイリオ" panose="020B0604030504040204" pitchFamily="50" charset="-128"/>
                <a:ea typeface="メイリオ" panose="020B0604030504040204" pitchFamily="50" charset="-128"/>
              </a:rPr>
              <a:t>ＡでもないＢでもない新しい第３案を</a:t>
            </a:r>
            <a:endParaRPr lang="en-US" altLang="ja-JP" sz="1200" b="1">
              <a:latin typeface="メイリオ" panose="020B0604030504040204" pitchFamily="50" charset="-128"/>
              <a:ea typeface="メイリオ" panose="020B0604030504040204" pitchFamily="50" charset="-128"/>
            </a:endParaRPr>
          </a:p>
          <a:p>
            <a:pPr eaLnBrk="1" hangingPunct="1">
              <a:lnSpc>
                <a:spcPct val="130000"/>
              </a:lnSpc>
              <a:buFontTx/>
              <a:buNone/>
            </a:pPr>
            <a:r>
              <a:rPr lang="ja-JP" altLang="en-US" sz="1200" b="1">
                <a:latin typeface="メイリオ" panose="020B0604030504040204" pitchFamily="50" charset="-128"/>
                <a:ea typeface="メイリオ" panose="020B0604030504040204" pitchFamily="50" charset="-128"/>
              </a:rPr>
              <a:t>生み出すことで大きな成果が生まれる</a:t>
            </a:r>
          </a:p>
        </p:txBody>
      </p:sp>
      <p:sp>
        <p:nvSpPr>
          <p:cNvPr id="28694" name="Rectangle 2060">
            <a:extLst>
              <a:ext uri="{FF2B5EF4-FFF2-40B4-BE49-F238E27FC236}">
                <a16:creationId xmlns:a16="http://schemas.microsoft.com/office/drawing/2014/main" id="{F9E84A5F-D0A7-4391-86CB-ADAD697B813F}"/>
              </a:ext>
            </a:extLst>
          </p:cNvPr>
          <p:cNvSpPr>
            <a:spLocks noChangeArrowheads="1"/>
          </p:cNvSpPr>
          <p:nvPr/>
        </p:nvSpPr>
        <p:spPr bwMode="auto">
          <a:xfrm>
            <a:off x="4330700" y="8302625"/>
            <a:ext cx="530225"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lnSpc>
                <a:spcPct val="130000"/>
              </a:lnSpc>
              <a:buFontTx/>
              <a:buNone/>
            </a:pPr>
            <a:r>
              <a:rPr lang="ja-JP" altLang="en-US" sz="1200" b="1">
                <a:latin typeface="メイリオ" panose="020B0604030504040204" pitchFamily="50" charset="-128"/>
                <a:ea typeface="メイリオ" panose="020B0604030504040204" pitchFamily="50" charset="-128"/>
              </a:rPr>
              <a:t>Ａ案</a:t>
            </a:r>
          </a:p>
        </p:txBody>
      </p:sp>
      <p:sp>
        <p:nvSpPr>
          <p:cNvPr id="28695" name="Rectangle 2060">
            <a:extLst>
              <a:ext uri="{FF2B5EF4-FFF2-40B4-BE49-F238E27FC236}">
                <a16:creationId xmlns:a16="http://schemas.microsoft.com/office/drawing/2014/main" id="{9AC61D39-E5D8-421C-8043-91436038BC3C}"/>
              </a:ext>
            </a:extLst>
          </p:cNvPr>
          <p:cNvSpPr>
            <a:spLocks noChangeArrowheads="1"/>
          </p:cNvSpPr>
          <p:nvPr/>
        </p:nvSpPr>
        <p:spPr bwMode="auto">
          <a:xfrm>
            <a:off x="5149850" y="8288338"/>
            <a:ext cx="528638"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lnSpc>
                <a:spcPct val="130000"/>
              </a:lnSpc>
              <a:buFontTx/>
              <a:buNone/>
            </a:pPr>
            <a:r>
              <a:rPr lang="ja-JP" altLang="en-US" sz="1200" b="1">
                <a:latin typeface="メイリオ" panose="020B0604030504040204" pitchFamily="50" charset="-128"/>
                <a:ea typeface="メイリオ" panose="020B0604030504040204" pitchFamily="50" charset="-128"/>
              </a:rPr>
              <a:t>Ｂ案</a:t>
            </a:r>
          </a:p>
        </p:txBody>
      </p:sp>
      <p:sp>
        <p:nvSpPr>
          <p:cNvPr id="4" name="フローチャート: 判断 3">
            <a:extLst>
              <a:ext uri="{FF2B5EF4-FFF2-40B4-BE49-F238E27FC236}">
                <a16:creationId xmlns:a16="http://schemas.microsoft.com/office/drawing/2014/main" id="{FDBE5F9E-3BDC-406D-9387-0BE005EFEDF7}"/>
              </a:ext>
            </a:extLst>
          </p:cNvPr>
          <p:cNvSpPr/>
          <p:nvPr/>
        </p:nvSpPr>
        <p:spPr>
          <a:xfrm>
            <a:off x="4727575" y="7664450"/>
            <a:ext cx="590550" cy="671513"/>
          </a:xfrm>
          <a:prstGeom prst="flowChartDecision">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a:solidFill>
                <a:schemeClr val="tx1"/>
              </a:solidFill>
              <a:latin typeface="メイリオ" panose="020B0604030504040204" pitchFamily="50" charset="-128"/>
              <a:ea typeface="メイリオ" panose="020B0604030504040204" pitchFamily="50" charset="-128"/>
            </a:endParaRPr>
          </a:p>
        </p:txBody>
      </p:sp>
      <p:sp>
        <p:nvSpPr>
          <p:cNvPr id="28697" name="Rectangle 2060">
            <a:extLst>
              <a:ext uri="{FF2B5EF4-FFF2-40B4-BE49-F238E27FC236}">
                <a16:creationId xmlns:a16="http://schemas.microsoft.com/office/drawing/2014/main" id="{946ABA2A-945D-499C-B1DE-C530EFA6D82A}"/>
              </a:ext>
            </a:extLst>
          </p:cNvPr>
          <p:cNvSpPr>
            <a:spLocks noChangeArrowheads="1"/>
          </p:cNvSpPr>
          <p:nvPr/>
        </p:nvSpPr>
        <p:spPr bwMode="auto">
          <a:xfrm>
            <a:off x="4621213" y="7802563"/>
            <a:ext cx="776287"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lnSpc>
                <a:spcPct val="130000"/>
              </a:lnSpc>
              <a:buFontTx/>
              <a:buNone/>
            </a:pPr>
            <a:r>
              <a:rPr lang="ja-JP" altLang="en-US" sz="1200" b="1">
                <a:latin typeface="メイリオ" panose="020B0604030504040204" pitchFamily="50" charset="-128"/>
                <a:ea typeface="メイリオ" panose="020B0604030504040204" pitchFamily="50" charset="-128"/>
              </a:rPr>
              <a:t>第３案</a:t>
            </a:r>
          </a:p>
        </p:txBody>
      </p:sp>
      <p:sp>
        <p:nvSpPr>
          <p:cNvPr id="28698" name="Rectangle 1028">
            <a:extLst>
              <a:ext uri="{FF2B5EF4-FFF2-40B4-BE49-F238E27FC236}">
                <a16:creationId xmlns:a16="http://schemas.microsoft.com/office/drawing/2014/main" id="{39A9CB6C-B67F-4FEA-B320-D966E33703AE}"/>
              </a:ext>
            </a:extLst>
          </p:cNvPr>
          <p:cNvSpPr>
            <a:spLocks noChangeArrowheads="1"/>
          </p:cNvSpPr>
          <p:nvPr/>
        </p:nvSpPr>
        <p:spPr bwMode="auto">
          <a:xfrm>
            <a:off x="4584700" y="-28575"/>
            <a:ext cx="226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dist" eaLnBrk="1" hangingPunct="1">
              <a:spcBef>
                <a:spcPct val="0"/>
              </a:spcBef>
              <a:buFontTx/>
              <a:buNone/>
            </a:pPr>
            <a:r>
              <a:rPr lang="ja-JP" altLang="en-US" sz="1600">
                <a:latin typeface="メイリオ" panose="020B0604030504040204" pitchFamily="50" charset="-128"/>
                <a:ea typeface="メイリオ" panose="020B0604030504040204" pitchFamily="50" charset="-128"/>
              </a:rPr>
              <a:t>行動指針</a:t>
            </a:r>
          </a:p>
        </p:txBody>
      </p:sp>
      <p:sp>
        <p:nvSpPr>
          <p:cNvPr id="31" name="Google Shape;1346;p122">
            <a:extLst>
              <a:ext uri="{FF2B5EF4-FFF2-40B4-BE49-F238E27FC236}">
                <a16:creationId xmlns:a16="http://schemas.microsoft.com/office/drawing/2014/main" id="{3A1E47F3-34DC-4E9E-8826-C9671C343F2C}"/>
              </a:ext>
            </a:extLst>
          </p:cNvPr>
          <p:cNvSpPr txBox="1"/>
          <p:nvPr/>
        </p:nvSpPr>
        <p:spPr>
          <a:xfrm>
            <a:off x="6308725" y="8993188"/>
            <a:ext cx="538163" cy="158750"/>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CD2FF16D-A5EA-49EF-913A-DF1EE76E2962}"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33</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22" name="Group 20">
            <a:extLst>
              <a:ext uri="{FF2B5EF4-FFF2-40B4-BE49-F238E27FC236}">
                <a16:creationId xmlns:a16="http://schemas.microsoft.com/office/drawing/2014/main" id="{8D868401-5FB6-4E98-9B96-706812C0310E}"/>
              </a:ext>
            </a:extLst>
          </p:cNvPr>
          <p:cNvGrpSpPr>
            <a:grpSpLocks/>
          </p:cNvGrpSpPr>
          <p:nvPr/>
        </p:nvGrpSpPr>
        <p:grpSpPr bwMode="auto">
          <a:xfrm>
            <a:off x="762000" y="457200"/>
            <a:ext cx="5562600" cy="2530475"/>
            <a:chOff x="567" y="125"/>
            <a:chExt cx="3129" cy="2353"/>
          </a:xfrm>
        </p:grpSpPr>
        <p:sp>
          <p:nvSpPr>
            <p:cNvPr id="30730" name="Rectangle 21">
              <a:extLst>
                <a:ext uri="{FF2B5EF4-FFF2-40B4-BE49-F238E27FC236}">
                  <a16:creationId xmlns:a16="http://schemas.microsoft.com/office/drawing/2014/main" id="{4F724825-F447-476D-A6E7-1076DF905C2B}"/>
                </a:ext>
              </a:extLst>
            </p:cNvPr>
            <p:cNvSpPr>
              <a:spLocks noChangeArrowheads="1"/>
            </p:cNvSpPr>
            <p:nvPr/>
          </p:nvSpPr>
          <p:spPr bwMode="auto">
            <a:xfrm>
              <a:off x="593" y="151"/>
              <a:ext cx="3103" cy="2327"/>
            </a:xfrm>
            <a:prstGeom prst="rect">
              <a:avLst/>
            </a:prstGeom>
            <a:solidFill>
              <a:srgbClr val="000000"/>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30731" name="Rectangle 22">
              <a:extLst>
                <a:ext uri="{FF2B5EF4-FFF2-40B4-BE49-F238E27FC236}">
                  <a16:creationId xmlns:a16="http://schemas.microsoft.com/office/drawing/2014/main" id="{980CEE75-8B1E-4BD2-A53F-432AB0DF7171}"/>
                </a:ext>
              </a:extLst>
            </p:cNvPr>
            <p:cNvSpPr>
              <a:spLocks noChangeArrowheads="1"/>
            </p:cNvSpPr>
            <p:nvPr/>
          </p:nvSpPr>
          <p:spPr bwMode="auto">
            <a:xfrm>
              <a:off x="567" y="125"/>
              <a:ext cx="3103" cy="2327"/>
            </a:xfrm>
            <a:prstGeom prst="rect">
              <a:avLst/>
            </a:prstGeom>
            <a:solidFill>
              <a:srgbClr val="FFFFFF"/>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grpSp>
      <p:sp>
        <p:nvSpPr>
          <p:cNvPr id="30723" name="Rectangle 11">
            <a:extLst>
              <a:ext uri="{FF2B5EF4-FFF2-40B4-BE49-F238E27FC236}">
                <a16:creationId xmlns:a16="http://schemas.microsoft.com/office/drawing/2014/main" id="{70730A4C-2B83-4CFC-AD1E-0D56E1F63E04}"/>
              </a:ext>
            </a:extLst>
          </p:cNvPr>
          <p:cNvSpPr>
            <a:spLocks noChangeArrowheads="1"/>
          </p:cNvSpPr>
          <p:nvPr/>
        </p:nvSpPr>
        <p:spPr bwMode="auto">
          <a:xfrm>
            <a:off x="900113" y="322263"/>
            <a:ext cx="48037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30724" name="Rectangle 12">
            <a:extLst>
              <a:ext uri="{FF2B5EF4-FFF2-40B4-BE49-F238E27FC236}">
                <a16:creationId xmlns:a16="http://schemas.microsoft.com/office/drawing/2014/main" id="{9C77ACEF-3B80-4500-A389-3AD5258EC88B}"/>
              </a:ext>
            </a:extLst>
          </p:cNvPr>
          <p:cNvSpPr>
            <a:spLocks noChangeArrowheads="1"/>
          </p:cNvSpPr>
          <p:nvPr/>
        </p:nvSpPr>
        <p:spPr bwMode="auto">
          <a:xfrm>
            <a:off x="1219200" y="685800"/>
            <a:ext cx="25384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2200" b="1">
                <a:solidFill>
                  <a:srgbClr val="000000"/>
                </a:solidFill>
                <a:latin typeface="メイリオ" panose="020B0604030504040204" pitchFamily="50" charset="-128"/>
                <a:ea typeface="メイリオ" panose="020B0604030504040204" pitchFamily="50" charset="-128"/>
              </a:rPr>
              <a:t>プラスのストローク</a:t>
            </a:r>
            <a:endParaRPr lang="ja-JP" altLang="en-US" sz="2200" b="1">
              <a:latin typeface="メイリオ" panose="020B0604030504040204" pitchFamily="50" charset="-128"/>
              <a:ea typeface="メイリオ" panose="020B0604030504040204" pitchFamily="50" charset="-128"/>
            </a:endParaRPr>
          </a:p>
        </p:txBody>
      </p:sp>
      <p:sp>
        <p:nvSpPr>
          <p:cNvPr id="30725" name="Rectangle 14">
            <a:extLst>
              <a:ext uri="{FF2B5EF4-FFF2-40B4-BE49-F238E27FC236}">
                <a16:creationId xmlns:a16="http://schemas.microsoft.com/office/drawing/2014/main" id="{B72903F1-4A0F-4017-91D3-D7AFC6DB7AD5}"/>
              </a:ext>
            </a:extLst>
          </p:cNvPr>
          <p:cNvSpPr>
            <a:spLocks noChangeArrowheads="1"/>
          </p:cNvSpPr>
          <p:nvPr/>
        </p:nvSpPr>
        <p:spPr bwMode="auto">
          <a:xfrm>
            <a:off x="1038225" y="1331913"/>
            <a:ext cx="5022850" cy="149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lnSpc>
                <a:spcPct val="150000"/>
              </a:lnSpc>
              <a:spcBef>
                <a:spcPct val="60000"/>
              </a:spcBef>
              <a:buFontTx/>
              <a:buNone/>
            </a:pPr>
            <a:r>
              <a:rPr lang="ja-JP" altLang="en-US" sz="1700" b="1">
                <a:solidFill>
                  <a:srgbClr val="000000"/>
                </a:solidFill>
                <a:latin typeface="メイリオ" panose="020B0604030504040204" pitchFamily="50" charset="-128"/>
                <a:ea typeface="メイリオ" panose="020B0604030504040204" pitchFamily="50" charset="-128"/>
              </a:rPr>
              <a:t>私たちはお互いの長所を認め合います。</a:t>
            </a:r>
          </a:p>
          <a:p>
            <a:pPr eaLnBrk="1" hangingPunct="1">
              <a:lnSpc>
                <a:spcPct val="150000"/>
              </a:lnSpc>
              <a:spcBef>
                <a:spcPct val="60000"/>
              </a:spcBef>
              <a:buFontTx/>
              <a:buNone/>
            </a:pPr>
            <a:r>
              <a:rPr lang="ja-JP" altLang="en-US" sz="1700" b="1">
                <a:solidFill>
                  <a:srgbClr val="000000"/>
                </a:solidFill>
                <a:latin typeface="メイリオ" panose="020B0604030504040204" pitchFamily="50" charset="-128"/>
                <a:ea typeface="メイリオ" panose="020B0604030504040204" pitchFamily="50" charset="-128"/>
              </a:rPr>
              <a:t>「もっと良くしたい」と一歩踏み出した勇気を称え、</a:t>
            </a:r>
          </a:p>
          <a:p>
            <a:pPr eaLnBrk="1" hangingPunct="1">
              <a:lnSpc>
                <a:spcPct val="150000"/>
              </a:lnSpc>
              <a:spcBef>
                <a:spcPct val="60000"/>
              </a:spcBef>
              <a:buFontTx/>
              <a:buNone/>
            </a:pPr>
            <a:r>
              <a:rPr lang="ja-JP" altLang="en-US" sz="1700" b="1">
                <a:solidFill>
                  <a:srgbClr val="000000"/>
                </a:solidFill>
                <a:latin typeface="メイリオ" panose="020B0604030504040204" pitchFamily="50" charset="-128"/>
                <a:ea typeface="メイリオ" panose="020B0604030504040204" pitchFamily="50" charset="-128"/>
              </a:rPr>
              <a:t>人の可能性を引き出す風土を創ります。</a:t>
            </a:r>
            <a:endParaRPr lang="ja-JP" altLang="en-US" sz="1400" b="1">
              <a:latin typeface="メイリオ" panose="020B0604030504040204" pitchFamily="50" charset="-128"/>
              <a:ea typeface="メイリオ" panose="020B0604030504040204" pitchFamily="50" charset="-128"/>
            </a:endParaRPr>
          </a:p>
        </p:txBody>
      </p:sp>
      <p:sp>
        <p:nvSpPr>
          <p:cNvPr id="30726" name="Rectangle 3">
            <a:extLst>
              <a:ext uri="{FF2B5EF4-FFF2-40B4-BE49-F238E27FC236}">
                <a16:creationId xmlns:a16="http://schemas.microsoft.com/office/drawing/2014/main" id="{8192638F-9B54-4A29-8C9C-201BCD4939E9}"/>
              </a:ext>
            </a:extLst>
          </p:cNvPr>
          <p:cNvSpPr>
            <a:spLocks noChangeArrowheads="1"/>
          </p:cNvSpPr>
          <p:nvPr/>
        </p:nvSpPr>
        <p:spPr bwMode="auto">
          <a:xfrm>
            <a:off x="981075" y="4140200"/>
            <a:ext cx="5259388" cy="443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30000"/>
              </a:spcBef>
              <a:buFontTx/>
              <a:buNone/>
            </a:pPr>
            <a:endParaRPr lang="ja-JP" altLang="en-US" sz="1200">
              <a:latin typeface="ＭＳ Ｐゴシック" panose="020B0600070205080204" pitchFamily="50" charset="-128"/>
            </a:endParaRPr>
          </a:p>
        </p:txBody>
      </p:sp>
      <p:sp>
        <p:nvSpPr>
          <p:cNvPr id="30727" name="Line 24">
            <a:extLst>
              <a:ext uri="{FF2B5EF4-FFF2-40B4-BE49-F238E27FC236}">
                <a16:creationId xmlns:a16="http://schemas.microsoft.com/office/drawing/2014/main" id="{1C068A72-9A1E-4D63-8B18-F97F795104D3}"/>
              </a:ext>
            </a:extLst>
          </p:cNvPr>
          <p:cNvSpPr>
            <a:spLocks noChangeShapeType="1"/>
          </p:cNvSpPr>
          <p:nvPr/>
        </p:nvSpPr>
        <p:spPr bwMode="auto">
          <a:xfrm flipV="1">
            <a:off x="1219200" y="1066800"/>
            <a:ext cx="2786063" cy="0"/>
          </a:xfrm>
          <a:prstGeom prst="line">
            <a:avLst/>
          </a:prstGeom>
          <a:noFill/>
          <a:ln w="69850" cmpd="thinThick">
            <a:solidFill>
              <a:schemeClr val="bg2"/>
            </a:solidFill>
            <a:round/>
            <a:headEnd/>
            <a:tailEnd/>
          </a:ln>
          <a:effectLst>
            <a:outerShdw dist="148106" dir="1857825" algn="ctr" rotWithShape="0">
              <a:srgbClr val="DDDDDD"/>
            </a:outerShdw>
          </a:effectLst>
          <a:extLst>
            <a:ext uri="{909E8E84-426E-40DD-AFC4-6F175D3DCCD1}">
              <a14:hiddenFill xmlns:a14="http://schemas.microsoft.com/office/drawing/2010/main">
                <a:noFill/>
              </a14:hiddenFill>
            </a:ext>
          </a:extLst>
        </p:spPr>
        <p:txBody>
          <a:bodyPr/>
          <a:lstStyle/>
          <a:p>
            <a:endParaRPr lang="ja-JP" altLang="en-US"/>
          </a:p>
        </p:txBody>
      </p:sp>
      <p:sp>
        <p:nvSpPr>
          <p:cNvPr id="31753" name="Rectangle 2060">
            <a:extLst>
              <a:ext uri="{FF2B5EF4-FFF2-40B4-BE49-F238E27FC236}">
                <a16:creationId xmlns:a16="http://schemas.microsoft.com/office/drawing/2014/main" id="{1608D071-F9A6-4432-B0BB-418D7B3949FA}"/>
              </a:ext>
            </a:extLst>
          </p:cNvPr>
          <p:cNvSpPr>
            <a:spLocks noChangeArrowheads="1"/>
          </p:cNvSpPr>
          <p:nvPr/>
        </p:nvSpPr>
        <p:spPr bwMode="auto">
          <a:xfrm>
            <a:off x="476250" y="3022600"/>
            <a:ext cx="6048375" cy="586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lnSpc>
                <a:spcPct val="150000"/>
              </a:lnSpc>
              <a:spcBef>
                <a:spcPct val="30000"/>
              </a:spcBef>
              <a:buFontTx/>
              <a:buNone/>
              <a:defRPr/>
            </a:pPr>
            <a:r>
              <a:rPr lang="ja-JP" altLang="en-US" sz="1200" dirty="0">
                <a:latin typeface="+mj-ea"/>
                <a:ea typeface="+mj-ea"/>
              </a:rPr>
              <a:t>　プラスのストロークでは、人間関係においてお互いの長所を認め合うことの重要性を伝えています。ストロークとは「働きかけ」のことです。相手に対しても、自分に対しても、言葉や態度でポジティブに働きかけていこうというものです。</a:t>
            </a:r>
            <a:endParaRPr lang="en-US" altLang="ja-JP" sz="1200" dirty="0">
              <a:latin typeface="+mj-ea"/>
              <a:ea typeface="+mj-ea"/>
            </a:endParaRPr>
          </a:p>
          <a:p>
            <a:pPr eaLnBrk="1" hangingPunct="1">
              <a:lnSpc>
                <a:spcPct val="150000"/>
              </a:lnSpc>
              <a:spcBef>
                <a:spcPct val="30000"/>
              </a:spcBef>
              <a:buFontTx/>
              <a:buNone/>
              <a:defRPr/>
            </a:pPr>
            <a:r>
              <a:rPr lang="ja-JP" altLang="en-US" sz="1200" dirty="0">
                <a:latin typeface="+mj-ea"/>
                <a:ea typeface="+mj-ea"/>
              </a:rPr>
              <a:t>　人は、叱られ強いられたことにより、長期的に頑張れたり、また動機付けられる性質は持ち合わせていません。この逆に、承認され、誉められることにより、長期的に頑張れたり、また動機づけられるものです。</a:t>
            </a:r>
            <a:endParaRPr lang="en-US" altLang="ja-JP" sz="1200" dirty="0">
              <a:latin typeface="+mj-ea"/>
              <a:ea typeface="+mj-ea"/>
            </a:endParaRPr>
          </a:p>
          <a:p>
            <a:pPr eaLnBrk="1" hangingPunct="1">
              <a:lnSpc>
                <a:spcPct val="150000"/>
              </a:lnSpc>
              <a:spcBef>
                <a:spcPct val="30000"/>
              </a:spcBef>
              <a:buFontTx/>
              <a:buNone/>
              <a:defRPr/>
            </a:pPr>
            <a:r>
              <a:rPr lang="ja-JP" altLang="en-US" sz="1200" dirty="0">
                <a:latin typeface="+mj-ea"/>
                <a:ea typeface="+mj-ea"/>
              </a:rPr>
              <a:t>新しいことを行うと、失敗することの方が多いものです。しかし、私たちはたとえ誰かが失敗したとしても、「理想に向かって、もっと良くしたい」と１歩踏み出した勇気あっての行動であるなら、結果は失敗や未達成でもその勇気を尊び、その頑張りを認め、誉めていく精神を持ちます。このような考え方があるからこそ、私たちは失敗や困難に負けず、やる気を高め、次の挑戦に取り組めるのです。</a:t>
            </a:r>
            <a:endParaRPr lang="en-US" altLang="ja-JP" sz="1200" dirty="0">
              <a:latin typeface="+mj-ea"/>
              <a:ea typeface="+mj-ea"/>
            </a:endParaRPr>
          </a:p>
          <a:p>
            <a:pPr eaLnBrk="1" hangingPunct="1">
              <a:lnSpc>
                <a:spcPct val="150000"/>
              </a:lnSpc>
              <a:spcBef>
                <a:spcPct val="30000"/>
              </a:spcBef>
              <a:buFontTx/>
              <a:buNone/>
              <a:defRPr/>
            </a:pPr>
            <a:r>
              <a:rPr lang="ja-JP" altLang="en-US" sz="1200" dirty="0">
                <a:latin typeface="+mj-ea"/>
                <a:ea typeface="+mj-ea"/>
              </a:rPr>
              <a:t>　大切なことは、その人の長所を認め、１歩踏み出した挑戦の勇気を称えること。その人のやる気を支え、次の成長を期待し、可能性を引き出すこと。認めること、誉めること、感謝を伝えること。また、時に「できていない」と指摘する時であても、相手の成長を期待し、次の成長や挑戦につながるプラスの助言を伝えましょう。</a:t>
            </a:r>
            <a:endParaRPr lang="en-US" altLang="ja-JP" sz="1200" dirty="0">
              <a:latin typeface="+mj-ea"/>
              <a:ea typeface="+mj-ea"/>
            </a:endParaRPr>
          </a:p>
          <a:p>
            <a:pPr eaLnBrk="1" hangingPunct="1">
              <a:lnSpc>
                <a:spcPct val="150000"/>
              </a:lnSpc>
              <a:spcBef>
                <a:spcPct val="30000"/>
              </a:spcBef>
              <a:buFontTx/>
              <a:buNone/>
              <a:defRPr/>
            </a:pPr>
            <a:r>
              <a:rPr lang="ja-JP" altLang="en-US" sz="1200" dirty="0">
                <a:latin typeface="+mj-ea"/>
                <a:ea typeface="+mj-ea"/>
              </a:rPr>
              <a:t>　私たち１人１人がプラスのストロークを与え合い、互いにやる気を高め、可能性を引き出し合うことで、会社自体が「失敗や変化を恐れず挑戦する組織」へと成長することができます。このような「人の可能性を引き出す風土」を創り出す源泉は、私たち</a:t>
            </a:r>
            <a:r>
              <a:rPr lang="en-US" altLang="ja-JP" sz="1200" dirty="0">
                <a:latin typeface="+mj-ea"/>
                <a:ea typeface="+mj-ea"/>
              </a:rPr>
              <a:t>1</a:t>
            </a:r>
            <a:r>
              <a:rPr lang="ja-JP" altLang="en-US" sz="1200" dirty="0">
                <a:latin typeface="+mj-ea"/>
                <a:ea typeface="+mj-ea"/>
              </a:rPr>
              <a:t>人</a:t>
            </a:r>
            <a:r>
              <a:rPr lang="en-US" altLang="ja-JP" sz="1200" dirty="0">
                <a:latin typeface="+mj-ea"/>
                <a:ea typeface="+mj-ea"/>
              </a:rPr>
              <a:t>1</a:t>
            </a:r>
            <a:r>
              <a:rPr lang="ja-JP" altLang="en-US" sz="1200" dirty="0">
                <a:latin typeface="+mj-ea"/>
                <a:ea typeface="+mj-ea"/>
              </a:rPr>
              <a:t>人の個人です。誰かが何かをやってくれるのではありません。自分のことだけで精一杯ではなく、他のことに目を向けるプラスのストロークによって、相手の可能性引き出していきましょう。</a:t>
            </a:r>
          </a:p>
        </p:txBody>
      </p:sp>
      <p:sp>
        <p:nvSpPr>
          <p:cNvPr id="30729" name="Rectangle 1028">
            <a:extLst>
              <a:ext uri="{FF2B5EF4-FFF2-40B4-BE49-F238E27FC236}">
                <a16:creationId xmlns:a16="http://schemas.microsoft.com/office/drawing/2014/main" id="{27C96ADE-2024-4A39-9F27-D50B0DF5701A}"/>
              </a:ext>
            </a:extLst>
          </p:cNvPr>
          <p:cNvSpPr>
            <a:spLocks noChangeArrowheads="1"/>
          </p:cNvSpPr>
          <p:nvPr/>
        </p:nvSpPr>
        <p:spPr bwMode="auto">
          <a:xfrm>
            <a:off x="4584700" y="-28575"/>
            <a:ext cx="226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dist" eaLnBrk="1" hangingPunct="1">
              <a:spcBef>
                <a:spcPct val="0"/>
              </a:spcBef>
              <a:buFontTx/>
              <a:buNone/>
            </a:pPr>
            <a:r>
              <a:rPr lang="ja-JP" altLang="en-US" sz="1600">
                <a:latin typeface="メイリオ" panose="020B0604030504040204" pitchFamily="50" charset="-128"/>
                <a:ea typeface="メイリオ" panose="020B0604030504040204" pitchFamily="50" charset="-128"/>
              </a:rPr>
              <a:t>行動指針</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B4A6AA3-1F1E-4D40-B71A-F2B8A90E4D47}"/>
              </a:ext>
            </a:extLst>
          </p:cNvPr>
          <p:cNvSpPr/>
          <p:nvPr/>
        </p:nvSpPr>
        <p:spPr>
          <a:xfrm>
            <a:off x="2276475" y="6577013"/>
            <a:ext cx="2305050" cy="20955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a:solidFill>
                <a:schemeClr val="tx1"/>
              </a:solidFill>
              <a:latin typeface="メイリオ" panose="020B0604030504040204" pitchFamily="50" charset="-128"/>
              <a:ea typeface="メイリオ" panose="020B0604030504040204" pitchFamily="50" charset="-128"/>
            </a:endParaRPr>
          </a:p>
        </p:txBody>
      </p:sp>
      <p:sp>
        <p:nvSpPr>
          <p:cNvPr id="39" name="吹き出し: 四角形 38">
            <a:extLst>
              <a:ext uri="{FF2B5EF4-FFF2-40B4-BE49-F238E27FC236}">
                <a16:creationId xmlns:a16="http://schemas.microsoft.com/office/drawing/2014/main" id="{2A5B78F5-21D5-4E67-819E-19381920AF64}"/>
              </a:ext>
            </a:extLst>
          </p:cNvPr>
          <p:cNvSpPr/>
          <p:nvPr/>
        </p:nvSpPr>
        <p:spPr>
          <a:xfrm>
            <a:off x="5075238" y="7989888"/>
            <a:ext cx="1689100" cy="768350"/>
          </a:xfrm>
          <a:prstGeom prst="wedgeRectCallout">
            <a:avLst>
              <a:gd name="adj1" fmla="val -84731"/>
              <a:gd name="adj2" fmla="val 17287"/>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dirty="0">
              <a:solidFill>
                <a:schemeClr val="tx1"/>
              </a:solidFill>
              <a:latin typeface="メイリオ" panose="020B0604030504040204" pitchFamily="50" charset="-128"/>
              <a:ea typeface="メイリオ" panose="020B0604030504040204" pitchFamily="50" charset="-128"/>
            </a:endParaRPr>
          </a:p>
        </p:txBody>
      </p:sp>
      <p:cxnSp>
        <p:nvCxnSpPr>
          <p:cNvPr id="6" name="直線矢印コネクタ 5">
            <a:extLst>
              <a:ext uri="{FF2B5EF4-FFF2-40B4-BE49-F238E27FC236}">
                <a16:creationId xmlns:a16="http://schemas.microsoft.com/office/drawing/2014/main" id="{1704473D-C9FD-4BBD-B198-4A9E17542B5A}"/>
              </a:ext>
            </a:extLst>
          </p:cNvPr>
          <p:cNvCxnSpPr/>
          <p:nvPr/>
        </p:nvCxnSpPr>
        <p:spPr>
          <a:xfrm>
            <a:off x="2008188" y="6770688"/>
            <a:ext cx="0" cy="1797050"/>
          </a:xfrm>
          <a:prstGeom prst="straightConnector1">
            <a:avLst/>
          </a:prstGeom>
          <a:ln w="47625">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32773" name="Group 21">
            <a:extLst>
              <a:ext uri="{FF2B5EF4-FFF2-40B4-BE49-F238E27FC236}">
                <a16:creationId xmlns:a16="http://schemas.microsoft.com/office/drawing/2014/main" id="{93343335-B144-45A3-9AF2-59442C543ED2}"/>
              </a:ext>
            </a:extLst>
          </p:cNvPr>
          <p:cNvGrpSpPr>
            <a:grpSpLocks/>
          </p:cNvGrpSpPr>
          <p:nvPr/>
        </p:nvGrpSpPr>
        <p:grpSpPr bwMode="auto">
          <a:xfrm>
            <a:off x="762000" y="457200"/>
            <a:ext cx="5562600" cy="2771775"/>
            <a:chOff x="567" y="125"/>
            <a:chExt cx="3129" cy="2353"/>
          </a:xfrm>
        </p:grpSpPr>
        <p:sp>
          <p:nvSpPr>
            <p:cNvPr id="32802" name="Rectangle 22">
              <a:extLst>
                <a:ext uri="{FF2B5EF4-FFF2-40B4-BE49-F238E27FC236}">
                  <a16:creationId xmlns:a16="http://schemas.microsoft.com/office/drawing/2014/main" id="{D3C59B00-696A-4E89-A9BC-3DFE6D477193}"/>
                </a:ext>
              </a:extLst>
            </p:cNvPr>
            <p:cNvSpPr>
              <a:spLocks noChangeArrowheads="1"/>
            </p:cNvSpPr>
            <p:nvPr/>
          </p:nvSpPr>
          <p:spPr bwMode="auto">
            <a:xfrm>
              <a:off x="593" y="151"/>
              <a:ext cx="3103" cy="2327"/>
            </a:xfrm>
            <a:prstGeom prst="rect">
              <a:avLst/>
            </a:prstGeom>
            <a:solidFill>
              <a:srgbClr val="000000"/>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32803" name="Rectangle 23">
              <a:extLst>
                <a:ext uri="{FF2B5EF4-FFF2-40B4-BE49-F238E27FC236}">
                  <a16:creationId xmlns:a16="http://schemas.microsoft.com/office/drawing/2014/main" id="{267AEA9A-FF18-4BB6-B2A9-405215E19999}"/>
                </a:ext>
              </a:extLst>
            </p:cNvPr>
            <p:cNvSpPr>
              <a:spLocks noChangeArrowheads="1"/>
            </p:cNvSpPr>
            <p:nvPr/>
          </p:nvSpPr>
          <p:spPr bwMode="auto">
            <a:xfrm>
              <a:off x="567" y="125"/>
              <a:ext cx="3103" cy="2327"/>
            </a:xfrm>
            <a:prstGeom prst="rect">
              <a:avLst/>
            </a:prstGeom>
            <a:solidFill>
              <a:srgbClr val="FFFFFF"/>
            </a:solidFill>
            <a:ln w="9525">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grpSp>
      <p:sp>
        <p:nvSpPr>
          <p:cNvPr id="32774" name="Rectangle 12">
            <a:extLst>
              <a:ext uri="{FF2B5EF4-FFF2-40B4-BE49-F238E27FC236}">
                <a16:creationId xmlns:a16="http://schemas.microsoft.com/office/drawing/2014/main" id="{B1993CD2-937B-4F4A-9BDD-84BCE5FC373A}"/>
              </a:ext>
            </a:extLst>
          </p:cNvPr>
          <p:cNvSpPr>
            <a:spLocks noChangeArrowheads="1"/>
          </p:cNvSpPr>
          <p:nvPr/>
        </p:nvSpPr>
        <p:spPr bwMode="auto">
          <a:xfrm>
            <a:off x="1119188" y="322263"/>
            <a:ext cx="418782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32775" name="Rectangle 13">
            <a:extLst>
              <a:ext uri="{FF2B5EF4-FFF2-40B4-BE49-F238E27FC236}">
                <a16:creationId xmlns:a16="http://schemas.microsoft.com/office/drawing/2014/main" id="{53DEA53A-5D54-4DC7-8764-C2BBE642F81F}"/>
              </a:ext>
            </a:extLst>
          </p:cNvPr>
          <p:cNvSpPr>
            <a:spLocks noChangeArrowheads="1"/>
          </p:cNvSpPr>
          <p:nvPr/>
        </p:nvSpPr>
        <p:spPr bwMode="auto">
          <a:xfrm>
            <a:off x="1219200" y="685800"/>
            <a:ext cx="25384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2200" b="1">
                <a:solidFill>
                  <a:srgbClr val="000000"/>
                </a:solidFill>
                <a:latin typeface="メイリオ" panose="020B0604030504040204" pitchFamily="50" charset="-128"/>
                <a:ea typeface="メイリオ" panose="020B0604030504040204" pitchFamily="50" charset="-128"/>
              </a:rPr>
              <a:t>正しいことは正しい</a:t>
            </a:r>
            <a:endParaRPr lang="ja-JP" altLang="en-US" sz="1400" b="1">
              <a:latin typeface="メイリオ" panose="020B0604030504040204" pitchFamily="50" charset="-128"/>
              <a:ea typeface="メイリオ" panose="020B0604030504040204" pitchFamily="50" charset="-128"/>
            </a:endParaRPr>
          </a:p>
        </p:txBody>
      </p:sp>
      <p:sp>
        <p:nvSpPr>
          <p:cNvPr id="32776" name="Rectangle 14">
            <a:extLst>
              <a:ext uri="{FF2B5EF4-FFF2-40B4-BE49-F238E27FC236}">
                <a16:creationId xmlns:a16="http://schemas.microsoft.com/office/drawing/2014/main" id="{9F16CB3A-BBEE-47F9-9D3A-340A99B068CE}"/>
              </a:ext>
            </a:extLst>
          </p:cNvPr>
          <p:cNvSpPr>
            <a:spLocks noChangeArrowheads="1"/>
          </p:cNvSpPr>
          <p:nvPr/>
        </p:nvSpPr>
        <p:spPr bwMode="auto">
          <a:xfrm>
            <a:off x="1160463" y="1265238"/>
            <a:ext cx="4406900"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3600">
              <a:latin typeface="メイリオ" panose="020B0604030504040204" pitchFamily="50" charset="-128"/>
              <a:ea typeface="メイリオ" panose="020B0604030504040204" pitchFamily="50" charset="-128"/>
            </a:endParaRPr>
          </a:p>
        </p:txBody>
      </p:sp>
      <p:sp>
        <p:nvSpPr>
          <p:cNvPr id="32777" name="Rectangle 15">
            <a:extLst>
              <a:ext uri="{FF2B5EF4-FFF2-40B4-BE49-F238E27FC236}">
                <a16:creationId xmlns:a16="http://schemas.microsoft.com/office/drawing/2014/main" id="{F33E1AE8-CA3E-4782-8395-520AD4BA5107}"/>
              </a:ext>
            </a:extLst>
          </p:cNvPr>
          <p:cNvSpPr>
            <a:spLocks noChangeArrowheads="1"/>
          </p:cNvSpPr>
          <p:nvPr/>
        </p:nvSpPr>
        <p:spPr bwMode="auto">
          <a:xfrm>
            <a:off x="1143000" y="1227138"/>
            <a:ext cx="4795838" cy="193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60000"/>
              </a:spcBef>
              <a:buFontTx/>
              <a:buNone/>
            </a:pPr>
            <a:r>
              <a:rPr lang="ja-JP" altLang="en-US" sz="1700" b="1" dirty="0">
                <a:solidFill>
                  <a:srgbClr val="000000"/>
                </a:solidFill>
                <a:latin typeface="メイリオ" panose="020B0604030504040204" pitchFamily="50" charset="-128"/>
                <a:ea typeface="メイリオ" panose="020B0604030504040204" pitchFamily="50" charset="-128"/>
              </a:rPr>
              <a:t>私たちは「正しいこと」を「正しい」と言える</a:t>
            </a:r>
          </a:p>
          <a:p>
            <a:pPr eaLnBrk="1" hangingPunct="1">
              <a:spcBef>
                <a:spcPct val="60000"/>
              </a:spcBef>
              <a:buFontTx/>
              <a:buNone/>
            </a:pPr>
            <a:r>
              <a:rPr lang="ja-JP" altLang="en-US" sz="1700" b="1" dirty="0">
                <a:solidFill>
                  <a:srgbClr val="000000"/>
                </a:solidFill>
                <a:latin typeface="メイリオ" panose="020B0604030504040204" pitchFamily="50" charset="-128"/>
                <a:ea typeface="メイリオ" panose="020B0604030504040204" pitchFamily="50" charset="-128"/>
              </a:rPr>
              <a:t>勇気を持ち続けます。</a:t>
            </a:r>
          </a:p>
          <a:p>
            <a:pPr eaLnBrk="1" hangingPunct="1">
              <a:spcBef>
                <a:spcPct val="60000"/>
              </a:spcBef>
              <a:buFontTx/>
              <a:buNone/>
            </a:pPr>
            <a:r>
              <a:rPr lang="ja-JP" altLang="en-US" sz="1700" b="1" dirty="0">
                <a:solidFill>
                  <a:srgbClr val="000000"/>
                </a:solidFill>
                <a:latin typeface="メイリオ" panose="020B0604030504040204" pitchFamily="50" charset="-128"/>
                <a:ea typeface="メイリオ" panose="020B0604030504040204" pitchFamily="50" charset="-128"/>
              </a:rPr>
              <a:t>「誰が言ったか」「誰がしたか」に影響されて、</a:t>
            </a:r>
          </a:p>
          <a:p>
            <a:pPr eaLnBrk="1" hangingPunct="1">
              <a:spcBef>
                <a:spcPct val="60000"/>
              </a:spcBef>
              <a:buFontTx/>
              <a:buNone/>
            </a:pPr>
            <a:r>
              <a:rPr lang="ja-JP" altLang="en-US" sz="1700" b="1" dirty="0">
                <a:solidFill>
                  <a:srgbClr val="000000"/>
                </a:solidFill>
                <a:latin typeface="メイリオ" panose="020B0604030504040204" pitchFamily="50" charset="-128"/>
                <a:ea typeface="メイリオ" panose="020B0604030504040204" pitchFamily="50" charset="-128"/>
              </a:rPr>
              <a:t>善悪を取り違える過ちを犯しません。</a:t>
            </a:r>
          </a:p>
          <a:p>
            <a:pPr eaLnBrk="1" hangingPunct="1">
              <a:spcBef>
                <a:spcPct val="60000"/>
              </a:spcBef>
              <a:buFontTx/>
              <a:buNone/>
            </a:pPr>
            <a:r>
              <a:rPr lang="ja-JP" altLang="en-US" sz="1700" b="1" dirty="0">
                <a:solidFill>
                  <a:srgbClr val="000000"/>
                </a:solidFill>
                <a:latin typeface="メイリオ" panose="020B0604030504040204" pitchFamily="50" charset="-128"/>
                <a:ea typeface="メイリオ" panose="020B0604030504040204" pitchFamily="50" charset="-128"/>
              </a:rPr>
              <a:t>またその勇気を受け入れる風土を創ります。</a:t>
            </a:r>
            <a:endParaRPr lang="ja-JP" altLang="en-US" sz="1400" b="1" dirty="0">
              <a:latin typeface="メイリオ" panose="020B0604030504040204" pitchFamily="50" charset="-128"/>
              <a:ea typeface="メイリオ" panose="020B0604030504040204" pitchFamily="50" charset="-128"/>
            </a:endParaRPr>
          </a:p>
        </p:txBody>
      </p:sp>
      <p:sp>
        <p:nvSpPr>
          <p:cNvPr id="32778" name="Rectangle 3">
            <a:extLst>
              <a:ext uri="{FF2B5EF4-FFF2-40B4-BE49-F238E27FC236}">
                <a16:creationId xmlns:a16="http://schemas.microsoft.com/office/drawing/2014/main" id="{FD3F8A60-E24F-4073-9660-85DF8281CFFB}"/>
              </a:ext>
            </a:extLst>
          </p:cNvPr>
          <p:cNvSpPr>
            <a:spLocks noChangeArrowheads="1"/>
          </p:cNvSpPr>
          <p:nvPr/>
        </p:nvSpPr>
        <p:spPr bwMode="auto">
          <a:xfrm>
            <a:off x="762000" y="4343400"/>
            <a:ext cx="5546725" cy="443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lnSpc>
                <a:spcPct val="130000"/>
              </a:lnSpc>
              <a:buFontTx/>
              <a:buNone/>
            </a:pPr>
            <a:endParaRPr lang="ja-JP" altLang="en-US" sz="1200">
              <a:latin typeface="ＭＳ Ｐゴシック" panose="020B0600070205080204" pitchFamily="50" charset="-128"/>
            </a:endParaRPr>
          </a:p>
        </p:txBody>
      </p:sp>
      <p:sp>
        <p:nvSpPr>
          <p:cNvPr id="32779" name="Line 24">
            <a:extLst>
              <a:ext uri="{FF2B5EF4-FFF2-40B4-BE49-F238E27FC236}">
                <a16:creationId xmlns:a16="http://schemas.microsoft.com/office/drawing/2014/main" id="{69C44C06-6202-4BC7-8C45-715D914EFAA3}"/>
              </a:ext>
            </a:extLst>
          </p:cNvPr>
          <p:cNvSpPr>
            <a:spLocks noChangeShapeType="1"/>
          </p:cNvSpPr>
          <p:nvPr/>
        </p:nvSpPr>
        <p:spPr bwMode="auto">
          <a:xfrm flipV="1">
            <a:off x="1219200" y="1066800"/>
            <a:ext cx="2514600" cy="0"/>
          </a:xfrm>
          <a:prstGeom prst="line">
            <a:avLst/>
          </a:prstGeom>
          <a:noFill/>
          <a:ln w="69850" cmpd="thinThick">
            <a:solidFill>
              <a:schemeClr val="bg2"/>
            </a:solidFill>
            <a:round/>
            <a:headEnd/>
            <a:tailEnd/>
          </a:ln>
          <a:effectLst>
            <a:outerShdw dist="148106" dir="1857825" algn="ctr" rotWithShape="0">
              <a:srgbClr val="DDDDDD"/>
            </a:outerShdw>
          </a:effectLst>
          <a:extLst>
            <a:ext uri="{909E8E84-426E-40DD-AFC4-6F175D3DCCD1}">
              <a14:hiddenFill xmlns:a14="http://schemas.microsoft.com/office/drawing/2010/main">
                <a:noFill/>
              </a14:hiddenFill>
            </a:ext>
          </a:extLst>
        </p:spPr>
        <p:txBody>
          <a:bodyPr/>
          <a:lstStyle/>
          <a:p>
            <a:endParaRPr lang="ja-JP" altLang="en-US"/>
          </a:p>
        </p:txBody>
      </p:sp>
      <p:sp>
        <p:nvSpPr>
          <p:cNvPr id="33805" name="Rectangle 2060">
            <a:extLst>
              <a:ext uri="{FF2B5EF4-FFF2-40B4-BE49-F238E27FC236}">
                <a16:creationId xmlns:a16="http://schemas.microsoft.com/office/drawing/2014/main" id="{A7C6461D-4F95-4451-A00D-D05FC5884CB5}"/>
              </a:ext>
            </a:extLst>
          </p:cNvPr>
          <p:cNvSpPr>
            <a:spLocks noChangeArrowheads="1"/>
          </p:cNvSpPr>
          <p:nvPr/>
        </p:nvSpPr>
        <p:spPr bwMode="auto">
          <a:xfrm>
            <a:off x="530225" y="3314700"/>
            <a:ext cx="5975350" cy="300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lnSpc>
                <a:spcPts val="1700"/>
              </a:lnSpc>
              <a:buFontTx/>
              <a:buNone/>
              <a:defRPr/>
            </a:pPr>
            <a:r>
              <a:rPr lang="ja-JP" altLang="en-US" sz="1200" dirty="0">
                <a:latin typeface="+mj-ea"/>
                <a:ea typeface="+mj-ea"/>
              </a:rPr>
              <a:t>　「正しいことは正しい」は、実践することが難しい行動指針の１つです。</a:t>
            </a:r>
            <a:endParaRPr lang="en-US" altLang="ja-JP" sz="1200" dirty="0">
              <a:latin typeface="+mj-ea"/>
              <a:ea typeface="+mj-ea"/>
            </a:endParaRPr>
          </a:p>
          <a:p>
            <a:pPr eaLnBrk="1" hangingPunct="1">
              <a:lnSpc>
                <a:spcPts val="1700"/>
              </a:lnSpc>
              <a:buFontTx/>
              <a:buNone/>
              <a:defRPr/>
            </a:pPr>
            <a:r>
              <a:rPr lang="ja-JP" altLang="en-US" sz="1200" dirty="0">
                <a:latin typeface="+mj-ea"/>
                <a:ea typeface="+mj-ea"/>
              </a:rPr>
              <a:t>　誰かが「正しくない」と思える行動をした際に、相手へ「改めるべき点」を素直に伝えた方が当人のためになるとわかっていても、伝えることができない場合があります。それは、相手を落ち込ませてしまったり、指摘した相手に嫌悪感を抱かせてしまうという気持ちから、素直に伝えることができないからです。</a:t>
            </a:r>
            <a:endParaRPr lang="en-US" altLang="ja-JP" sz="1200" dirty="0">
              <a:latin typeface="+mj-ea"/>
              <a:ea typeface="+mj-ea"/>
            </a:endParaRPr>
          </a:p>
          <a:p>
            <a:pPr eaLnBrk="1" hangingPunct="1">
              <a:lnSpc>
                <a:spcPts val="1700"/>
              </a:lnSpc>
              <a:buFontTx/>
              <a:buNone/>
              <a:defRPr/>
            </a:pPr>
            <a:r>
              <a:rPr lang="ja-JP" altLang="en-US" sz="1200" dirty="0">
                <a:latin typeface="+mj-ea"/>
                <a:ea typeface="+mj-ea"/>
              </a:rPr>
              <a:t>　私たちは、時として</a:t>
            </a:r>
            <a:r>
              <a:rPr lang="en-US" altLang="ja-JP" sz="1200" dirty="0">
                <a:latin typeface="+mj-ea"/>
                <a:ea typeface="+mj-ea"/>
              </a:rPr>
              <a:t>､</a:t>
            </a:r>
            <a:r>
              <a:rPr lang="ja-JP" altLang="en-US" sz="1200" dirty="0">
                <a:latin typeface="+mj-ea"/>
                <a:ea typeface="+mj-ea"/>
              </a:rPr>
              <a:t>「意見の内容＝何を言ったか」ではなく、「意見の発言者＝誰が言ったか」に影響されます。これは、私たちの目指す姿ではありません。たとえ、相手が声の大きい発言力のある人間だとしても、発言内容が正しくない場合は、勇気をもって異を唱え、皆の力で正しい会社（組織・職場）を築いていきます。</a:t>
            </a:r>
            <a:endParaRPr lang="en-US" altLang="ja-JP" sz="1200" dirty="0">
              <a:latin typeface="+mj-ea"/>
              <a:ea typeface="+mj-ea"/>
            </a:endParaRPr>
          </a:p>
          <a:p>
            <a:pPr eaLnBrk="1" hangingPunct="1">
              <a:lnSpc>
                <a:spcPts val="1700"/>
              </a:lnSpc>
              <a:buFontTx/>
              <a:buNone/>
              <a:defRPr/>
            </a:pPr>
            <a:r>
              <a:rPr lang="ja-JP" altLang="en-US" sz="1200" dirty="0">
                <a:latin typeface="+mj-ea"/>
                <a:ea typeface="+mj-ea"/>
              </a:rPr>
              <a:t>　また、注意を受けたときは、言われたことを自らを振り返る機会と捉えることが重要です。「指摘を受け入れる勇気」を大切にします。「私を正してくれてありがとう。私は、あなたの勇気を受け入れます」と、私たち１人１人が勇気を持って指摘し、思いやりを持って受け入れる。この２つが成り立つことによって、自分と相手にとって「</a:t>
            </a:r>
            <a:r>
              <a:rPr lang="en-US" altLang="ja-JP" sz="1200" dirty="0">
                <a:latin typeface="+mj-ea"/>
                <a:ea typeface="+mj-ea"/>
              </a:rPr>
              <a:t>Win-Win</a:t>
            </a:r>
            <a:r>
              <a:rPr lang="ja-JP" altLang="en-US" sz="1200" dirty="0">
                <a:latin typeface="+mj-ea"/>
                <a:ea typeface="+mj-ea"/>
              </a:rPr>
              <a:t>」の関係性が構築されます。</a:t>
            </a:r>
          </a:p>
        </p:txBody>
      </p:sp>
      <p:sp>
        <p:nvSpPr>
          <p:cNvPr id="33806" name="テキスト ボックス 16">
            <a:extLst>
              <a:ext uri="{FF2B5EF4-FFF2-40B4-BE49-F238E27FC236}">
                <a16:creationId xmlns:a16="http://schemas.microsoft.com/office/drawing/2014/main" id="{40DB1DB7-B66C-4497-AE64-8639363721BE}"/>
              </a:ext>
            </a:extLst>
          </p:cNvPr>
          <p:cNvSpPr txBox="1">
            <a:spLocks noChangeArrowheads="1"/>
          </p:cNvSpPr>
          <p:nvPr/>
        </p:nvSpPr>
        <p:spPr bwMode="auto">
          <a:xfrm>
            <a:off x="1779588" y="7366000"/>
            <a:ext cx="430212" cy="560388"/>
          </a:xfrm>
          <a:prstGeom prst="rect">
            <a:avLst/>
          </a:prstGeom>
          <a:solidFill>
            <a:schemeClr val="bg1"/>
          </a:solidFill>
          <a:ln>
            <a:solidFill>
              <a:schemeClr val="bg1">
                <a:lumMod val="75000"/>
              </a:schemeClr>
            </a:solidFill>
          </a:ln>
        </p:spPr>
        <p:txBody>
          <a:bodyPr vert="eaVert">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a:spcBef>
                <a:spcPct val="0"/>
              </a:spcBef>
              <a:buFontTx/>
              <a:buNone/>
              <a:defRPr/>
            </a:pPr>
            <a:r>
              <a:rPr lang="ja-JP" altLang="en-US" sz="1600" b="1" dirty="0">
                <a:latin typeface="メイリオ" panose="020B0604030504040204" pitchFamily="50" charset="-128"/>
                <a:ea typeface="メイリオ" panose="020B0604030504040204" pitchFamily="50" charset="-128"/>
              </a:rPr>
              <a:t>勇気</a:t>
            </a:r>
            <a:endParaRPr lang="en-US" altLang="ja-JP" sz="1600" b="1" dirty="0">
              <a:latin typeface="メイリオ" panose="020B0604030504040204" pitchFamily="50" charset="-128"/>
              <a:ea typeface="メイリオ" panose="020B0604030504040204" pitchFamily="50" charset="-128"/>
            </a:endParaRPr>
          </a:p>
        </p:txBody>
      </p:sp>
      <p:cxnSp>
        <p:nvCxnSpPr>
          <p:cNvPr id="21" name="直線矢印コネクタ 20">
            <a:extLst>
              <a:ext uri="{FF2B5EF4-FFF2-40B4-BE49-F238E27FC236}">
                <a16:creationId xmlns:a16="http://schemas.microsoft.com/office/drawing/2014/main" id="{4D5461A4-C737-4B24-8BA7-F4A75B85E23A}"/>
              </a:ext>
            </a:extLst>
          </p:cNvPr>
          <p:cNvCxnSpPr>
            <a:cxnSpLocks/>
          </p:cNvCxnSpPr>
          <p:nvPr/>
        </p:nvCxnSpPr>
        <p:spPr>
          <a:xfrm flipH="1">
            <a:off x="2303463" y="8863013"/>
            <a:ext cx="2160587" cy="0"/>
          </a:xfrm>
          <a:prstGeom prst="straightConnector1">
            <a:avLst/>
          </a:prstGeom>
          <a:ln w="47625">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3808" name="Rectangle 2060">
            <a:extLst>
              <a:ext uri="{FF2B5EF4-FFF2-40B4-BE49-F238E27FC236}">
                <a16:creationId xmlns:a16="http://schemas.microsoft.com/office/drawing/2014/main" id="{9B7918A7-8BF3-4AD8-B33A-013D242C5D95}"/>
              </a:ext>
            </a:extLst>
          </p:cNvPr>
          <p:cNvSpPr>
            <a:spLocks noChangeArrowheads="1"/>
          </p:cNvSpPr>
          <p:nvPr/>
        </p:nvSpPr>
        <p:spPr bwMode="auto">
          <a:xfrm>
            <a:off x="2898775" y="8724900"/>
            <a:ext cx="1071563" cy="338138"/>
          </a:xfrm>
          <a:prstGeom prst="rect">
            <a:avLst/>
          </a:prstGeom>
          <a:solidFill>
            <a:schemeClr val="bg1"/>
          </a:solidFill>
          <a:ln>
            <a:solidFill>
              <a:schemeClr val="bg1">
                <a:lumMod val="75000"/>
              </a:schemeClr>
            </a:solidFill>
          </a:ln>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30000"/>
              </a:spcBef>
              <a:buFontTx/>
              <a:buNone/>
              <a:defRPr/>
            </a:pPr>
            <a:r>
              <a:rPr lang="ja-JP" altLang="en-US" sz="1600" b="1" dirty="0">
                <a:latin typeface="メイリオ" panose="020B0604030504040204" pitchFamily="50" charset="-128"/>
                <a:ea typeface="メイリオ" panose="020B0604030504040204" pitchFamily="50" charset="-128"/>
              </a:rPr>
              <a:t>思いやり</a:t>
            </a:r>
          </a:p>
        </p:txBody>
      </p:sp>
      <p:sp>
        <p:nvSpPr>
          <p:cNvPr id="32784" name="テキスト ボックス 24">
            <a:extLst>
              <a:ext uri="{FF2B5EF4-FFF2-40B4-BE49-F238E27FC236}">
                <a16:creationId xmlns:a16="http://schemas.microsoft.com/office/drawing/2014/main" id="{7DC66EE6-7E18-445A-A58F-E78D00ED154D}"/>
              </a:ext>
            </a:extLst>
          </p:cNvPr>
          <p:cNvSpPr txBox="1">
            <a:spLocks noChangeArrowheads="1"/>
          </p:cNvSpPr>
          <p:nvPr/>
        </p:nvSpPr>
        <p:spPr bwMode="auto">
          <a:xfrm>
            <a:off x="1803400" y="6361113"/>
            <a:ext cx="430213"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a:spcBef>
                <a:spcPct val="0"/>
              </a:spcBef>
              <a:buFontTx/>
              <a:buNone/>
            </a:pPr>
            <a:r>
              <a:rPr lang="ja-JP" altLang="en-US" sz="1600" b="1">
                <a:latin typeface="メイリオ" panose="020B0604030504040204" pitchFamily="50" charset="-128"/>
                <a:ea typeface="メイリオ" panose="020B0604030504040204" pitchFamily="50" charset="-128"/>
              </a:rPr>
              <a:t>高</a:t>
            </a:r>
            <a:endParaRPr lang="en-US" altLang="ja-JP" sz="1600" b="1">
              <a:latin typeface="メイリオ" panose="020B0604030504040204" pitchFamily="50" charset="-128"/>
              <a:ea typeface="メイリオ" panose="020B0604030504040204" pitchFamily="50" charset="-128"/>
            </a:endParaRPr>
          </a:p>
        </p:txBody>
      </p:sp>
      <p:sp>
        <p:nvSpPr>
          <p:cNvPr id="32785" name="テキスト ボックス 25">
            <a:extLst>
              <a:ext uri="{FF2B5EF4-FFF2-40B4-BE49-F238E27FC236}">
                <a16:creationId xmlns:a16="http://schemas.microsoft.com/office/drawing/2014/main" id="{E5F3B67E-FECC-4E0E-8FB4-350F5EF01030}"/>
              </a:ext>
            </a:extLst>
          </p:cNvPr>
          <p:cNvSpPr txBox="1">
            <a:spLocks noChangeArrowheads="1"/>
          </p:cNvSpPr>
          <p:nvPr/>
        </p:nvSpPr>
        <p:spPr bwMode="auto">
          <a:xfrm>
            <a:off x="1803400" y="8716963"/>
            <a:ext cx="430213"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a:spcBef>
                <a:spcPct val="0"/>
              </a:spcBef>
              <a:buFontTx/>
              <a:buNone/>
            </a:pPr>
            <a:r>
              <a:rPr lang="ja-JP" altLang="en-US" sz="1600" b="1">
                <a:latin typeface="メイリオ" panose="020B0604030504040204" pitchFamily="50" charset="-128"/>
                <a:ea typeface="メイリオ" panose="020B0604030504040204" pitchFamily="50" charset="-128"/>
              </a:rPr>
              <a:t>低</a:t>
            </a:r>
            <a:endParaRPr lang="en-US" altLang="ja-JP" sz="1600" b="1">
              <a:latin typeface="メイリオ" panose="020B0604030504040204" pitchFamily="50" charset="-128"/>
              <a:ea typeface="メイリオ" panose="020B0604030504040204" pitchFamily="50" charset="-128"/>
            </a:endParaRPr>
          </a:p>
        </p:txBody>
      </p:sp>
      <p:sp>
        <p:nvSpPr>
          <p:cNvPr id="32786" name="テキスト ボックス 26">
            <a:extLst>
              <a:ext uri="{FF2B5EF4-FFF2-40B4-BE49-F238E27FC236}">
                <a16:creationId xmlns:a16="http://schemas.microsoft.com/office/drawing/2014/main" id="{7C26F700-8E74-4903-BB2E-B6D36BD8F29F}"/>
              </a:ext>
            </a:extLst>
          </p:cNvPr>
          <p:cNvSpPr txBox="1">
            <a:spLocks noChangeArrowheads="1"/>
          </p:cNvSpPr>
          <p:nvPr/>
        </p:nvSpPr>
        <p:spPr bwMode="auto">
          <a:xfrm>
            <a:off x="4449763" y="8716963"/>
            <a:ext cx="430212"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a:spcBef>
                <a:spcPct val="0"/>
              </a:spcBef>
              <a:buFontTx/>
              <a:buNone/>
            </a:pPr>
            <a:r>
              <a:rPr lang="ja-JP" altLang="en-US" sz="1600" b="1">
                <a:latin typeface="メイリオ" panose="020B0604030504040204" pitchFamily="50" charset="-128"/>
                <a:ea typeface="メイリオ" panose="020B0604030504040204" pitchFamily="50" charset="-128"/>
              </a:rPr>
              <a:t>高</a:t>
            </a:r>
            <a:endParaRPr lang="en-US" altLang="ja-JP" sz="1600" b="1">
              <a:latin typeface="メイリオ" panose="020B0604030504040204" pitchFamily="50" charset="-128"/>
              <a:ea typeface="メイリオ" panose="020B0604030504040204" pitchFamily="50" charset="-128"/>
            </a:endParaRPr>
          </a:p>
        </p:txBody>
      </p:sp>
      <p:cxnSp>
        <p:nvCxnSpPr>
          <p:cNvPr id="11" name="直線コネクタ 10">
            <a:extLst>
              <a:ext uri="{FF2B5EF4-FFF2-40B4-BE49-F238E27FC236}">
                <a16:creationId xmlns:a16="http://schemas.microsoft.com/office/drawing/2014/main" id="{15FDF76B-1EEA-4159-A789-60876C632066}"/>
              </a:ext>
            </a:extLst>
          </p:cNvPr>
          <p:cNvCxnSpPr>
            <a:stCxn id="2" idx="0"/>
            <a:endCxn id="2" idx="2"/>
          </p:cNvCxnSpPr>
          <p:nvPr/>
        </p:nvCxnSpPr>
        <p:spPr>
          <a:xfrm>
            <a:off x="3429000" y="6577013"/>
            <a:ext cx="0" cy="2095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3456470F-B9A6-4A08-B639-D132A6057832}"/>
              </a:ext>
            </a:extLst>
          </p:cNvPr>
          <p:cNvCxnSpPr>
            <a:cxnSpLocks/>
            <a:stCxn id="2" idx="1"/>
            <a:endCxn id="2" idx="3"/>
          </p:cNvCxnSpPr>
          <p:nvPr/>
        </p:nvCxnSpPr>
        <p:spPr>
          <a:xfrm>
            <a:off x="2276475" y="7624763"/>
            <a:ext cx="230505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2789" name="Rectangle 2060">
            <a:extLst>
              <a:ext uri="{FF2B5EF4-FFF2-40B4-BE49-F238E27FC236}">
                <a16:creationId xmlns:a16="http://schemas.microsoft.com/office/drawing/2014/main" id="{8368C16A-E434-417B-8515-A048E28A52AD}"/>
              </a:ext>
            </a:extLst>
          </p:cNvPr>
          <p:cNvSpPr>
            <a:spLocks noChangeArrowheads="1"/>
          </p:cNvSpPr>
          <p:nvPr/>
        </p:nvSpPr>
        <p:spPr bwMode="auto">
          <a:xfrm>
            <a:off x="3300413" y="7040563"/>
            <a:ext cx="1395412"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30000"/>
              </a:spcBef>
              <a:buFontTx/>
              <a:buNone/>
            </a:pPr>
            <a:r>
              <a:rPr lang="ja-JP" altLang="en-US" sz="1000" b="1">
                <a:latin typeface="メイリオ" panose="020B0604030504040204" pitchFamily="50" charset="-128"/>
                <a:ea typeface="メイリオ" panose="020B0604030504040204" pitchFamily="50" charset="-128"/>
              </a:rPr>
              <a:t>Ｗｉｎ</a:t>
            </a:r>
            <a:r>
              <a:rPr lang="en-US" altLang="ja-JP" sz="1000" b="1">
                <a:latin typeface="メイリオ" panose="020B0604030504040204" pitchFamily="50" charset="-128"/>
                <a:ea typeface="メイリオ" panose="020B0604030504040204" pitchFamily="50" charset="-128"/>
              </a:rPr>
              <a:t>-</a:t>
            </a:r>
            <a:r>
              <a:rPr lang="ja-JP" altLang="en-US" sz="1000" b="1">
                <a:latin typeface="メイリオ" panose="020B0604030504040204" pitchFamily="50" charset="-128"/>
                <a:ea typeface="メイリオ" panose="020B0604030504040204" pitchFamily="50" charset="-128"/>
              </a:rPr>
              <a:t>Ｗｉｎ</a:t>
            </a:r>
          </a:p>
        </p:txBody>
      </p:sp>
      <p:sp>
        <p:nvSpPr>
          <p:cNvPr id="32790" name="Rectangle 2060">
            <a:extLst>
              <a:ext uri="{FF2B5EF4-FFF2-40B4-BE49-F238E27FC236}">
                <a16:creationId xmlns:a16="http://schemas.microsoft.com/office/drawing/2014/main" id="{83534369-9FA4-4E7E-A888-22E785A85349}"/>
              </a:ext>
            </a:extLst>
          </p:cNvPr>
          <p:cNvSpPr>
            <a:spLocks noChangeArrowheads="1"/>
          </p:cNvSpPr>
          <p:nvPr/>
        </p:nvSpPr>
        <p:spPr bwMode="auto">
          <a:xfrm>
            <a:off x="2184400" y="7040563"/>
            <a:ext cx="13970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30000"/>
              </a:spcBef>
              <a:buFontTx/>
              <a:buNone/>
            </a:pPr>
            <a:r>
              <a:rPr lang="ja-JP" altLang="en-US" sz="1000" b="1">
                <a:latin typeface="メイリオ" panose="020B0604030504040204" pitchFamily="50" charset="-128"/>
                <a:ea typeface="メイリオ" panose="020B0604030504040204" pitchFamily="50" charset="-128"/>
              </a:rPr>
              <a:t>Ｗｉｎ</a:t>
            </a:r>
            <a:r>
              <a:rPr lang="en-US" altLang="ja-JP" sz="1000" b="1">
                <a:latin typeface="メイリオ" panose="020B0604030504040204" pitchFamily="50" charset="-128"/>
                <a:ea typeface="メイリオ" panose="020B0604030504040204" pitchFamily="50" charset="-128"/>
              </a:rPr>
              <a:t>-</a:t>
            </a:r>
            <a:r>
              <a:rPr lang="ja-JP" altLang="en-US" sz="1000" b="1">
                <a:latin typeface="メイリオ" panose="020B0604030504040204" pitchFamily="50" charset="-128"/>
                <a:ea typeface="メイリオ" panose="020B0604030504040204" pitchFamily="50" charset="-128"/>
              </a:rPr>
              <a:t>Ｌｏｓｅ</a:t>
            </a:r>
          </a:p>
        </p:txBody>
      </p:sp>
      <p:sp>
        <p:nvSpPr>
          <p:cNvPr id="32791" name="Rectangle 2060">
            <a:extLst>
              <a:ext uri="{FF2B5EF4-FFF2-40B4-BE49-F238E27FC236}">
                <a16:creationId xmlns:a16="http://schemas.microsoft.com/office/drawing/2014/main" id="{1E1742C6-2D96-4E07-B16A-B2C5F26E7398}"/>
              </a:ext>
            </a:extLst>
          </p:cNvPr>
          <p:cNvSpPr>
            <a:spLocks noChangeArrowheads="1"/>
          </p:cNvSpPr>
          <p:nvPr/>
        </p:nvSpPr>
        <p:spPr bwMode="auto">
          <a:xfrm>
            <a:off x="2147888" y="8042275"/>
            <a:ext cx="13970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30000"/>
              </a:spcBef>
              <a:buFontTx/>
              <a:buNone/>
            </a:pPr>
            <a:r>
              <a:rPr lang="ja-JP" altLang="en-US" sz="1000" b="1">
                <a:latin typeface="メイリオ" panose="020B0604030504040204" pitchFamily="50" charset="-128"/>
                <a:ea typeface="メイリオ" panose="020B0604030504040204" pitchFamily="50" charset="-128"/>
              </a:rPr>
              <a:t>Ｌｏｓｅ</a:t>
            </a:r>
            <a:r>
              <a:rPr lang="en-US" altLang="ja-JP" sz="1000" b="1">
                <a:latin typeface="メイリオ" panose="020B0604030504040204" pitchFamily="50" charset="-128"/>
                <a:ea typeface="メイリオ" panose="020B0604030504040204" pitchFamily="50" charset="-128"/>
              </a:rPr>
              <a:t>-</a:t>
            </a:r>
            <a:r>
              <a:rPr lang="ja-JP" altLang="en-US" sz="1000" b="1">
                <a:latin typeface="メイリオ" panose="020B0604030504040204" pitchFamily="50" charset="-128"/>
                <a:ea typeface="メイリオ" panose="020B0604030504040204" pitchFamily="50" charset="-128"/>
              </a:rPr>
              <a:t>Ｌｏｓｅ</a:t>
            </a:r>
          </a:p>
        </p:txBody>
      </p:sp>
      <p:sp>
        <p:nvSpPr>
          <p:cNvPr id="32792" name="Rectangle 2060">
            <a:extLst>
              <a:ext uri="{FF2B5EF4-FFF2-40B4-BE49-F238E27FC236}">
                <a16:creationId xmlns:a16="http://schemas.microsoft.com/office/drawing/2014/main" id="{477090CD-06C0-48BA-A503-B83E0F3C2FAC}"/>
              </a:ext>
            </a:extLst>
          </p:cNvPr>
          <p:cNvSpPr>
            <a:spLocks noChangeArrowheads="1"/>
          </p:cNvSpPr>
          <p:nvPr/>
        </p:nvSpPr>
        <p:spPr bwMode="auto">
          <a:xfrm>
            <a:off x="3328988" y="8042275"/>
            <a:ext cx="1395412"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30000"/>
              </a:spcBef>
              <a:buFontTx/>
              <a:buNone/>
            </a:pPr>
            <a:r>
              <a:rPr lang="ja-JP" altLang="en-US" sz="1000" b="1">
                <a:latin typeface="メイリオ" panose="020B0604030504040204" pitchFamily="50" charset="-128"/>
                <a:ea typeface="メイリオ" panose="020B0604030504040204" pitchFamily="50" charset="-128"/>
              </a:rPr>
              <a:t>Ｌｏｓｅ</a:t>
            </a:r>
            <a:r>
              <a:rPr lang="en-US" altLang="ja-JP" sz="1000" b="1">
                <a:latin typeface="メイリオ" panose="020B0604030504040204" pitchFamily="50" charset="-128"/>
                <a:ea typeface="メイリオ" panose="020B0604030504040204" pitchFamily="50" charset="-128"/>
              </a:rPr>
              <a:t>-</a:t>
            </a:r>
            <a:r>
              <a:rPr lang="ja-JP" altLang="en-US" sz="1000" b="1">
                <a:latin typeface="メイリオ" panose="020B0604030504040204" pitchFamily="50" charset="-128"/>
                <a:ea typeface="メイリオ" panose="020B0604030504040204" pitchFamily="50" charset="-128"/>
              </a:rPr>
              <a:t>Ｗｉｎ</a:t>
            </a:r>
          </a:p>
        </p:txBody>
      </p:sp>
      <p:sp>
        <p:nvSpPr>
          <p:cNvPr id="32793" name="Rectangle 1028">
            <a:extLst>
              <a:ext uri="{FF2B5EF4-FFF2-40B4-BE49-F238E27FC236}">
                <a16:creationId xmlns:a16="http://schemas.microsoft.com/office/drawing/2014/main" id="{B6AC9F56-15CD-4AB8-95EC-9255B5B42834}"/>
              </a:ext>
            </a:extLst>
          </p:cNvPr>
          <p:cNvSpPr>
            <a:spLocks noChangeArrowheads="1"/>
          </p:cNvSpPr>
          <p:nvPr/>
        </p:nvSpPr>
        <p:spPr bwMode="auto">
          <a:xfrm>
            <a:off x="4584700" y="-28575"/>
            <a:ext cx="226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dist" eaLnBrk="1" hangingPunct="1">
              <a:spcBef>
                <a:spcPct val="0"/>
              </a:spcBef>
              <a:buFontTx/>
              <a:buNone/>
            </a:pPr>
            <a:r>
              <a:rPr lang="ja-JP" altLang="en-US" sz="1600">
                <a:latin typeface="メイリオ" panose="020B0604030504040204" pitchFamily="50" charset="-128"/>
                <a:ea typeface="メイリオ" panose="020B0604030504040204" pitchFamily="50" charset="-128"/>
              </a:rPr>
              <a:t>行動指針</a:t>
            </a:r>
          </a:p>
        </p:txBody>
      </p:sp>
      <p:sp>
        <p:nvSpPr>
          <p:cNvPr id="3" name="吹き出し: 四角形 2">
            <a:extLst>
              <a:ext uri="{FF2B5EF4-FFF2-40B4-BE49-F238E27FC236}">
                <a16:creationId xmlns:a16="http://schemas.microsoft.com/office/drawing/2014/main" id="{D5DF1C01-D0C4-4258-A973-801A768C5990}"/>
              </a:ext>
            </a:extLst>
          </p:cNvPr>
          <p:cNvSpPr/>
          <p:nvPr/>
        </p:nvSpPr>
        <p:spPr>
          <a:xfrm>
            <a:off x="60325" y="6618288"/>
            <a:ext cx="1617663" cy="768350"/>
          </a:xfrm>
          <a:prstGeom prst="wedgeRectCallout">
            <a:avLst>
              <a:gd name="adj1" fmla="val 87202"/>
              <a:gd name="adj2" fmla="val 8105"/>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dirty="0">
              <a:solidFill>
                <a:schemeClr val="tx1"/>
              </a:solidFill>
              <a:latin typeface="メイリオ" panose="020B0604030504040204" pitchFamily="50" charset="-128"/>
              <a:ea typeface="メイリオ" panose="020B0604030504040204" pitchFamily="50" charset="-128"/>
            </a:endParaRPr>
          </a:p>
        </p:txBody>
      </p:sp>
      <p:sp>
        <p:nvSpPr>
          <p:cNvPr id="32795" name="Rectangle 2060">
            <a:extLst>
              <a:ext uri="{FF2B5EF4-FFF2-40B4-BE49-F238E27FC236}">
                <a16:creationId xmlns:a16="http://schemas.microsoft.com/office/drawing/2014/main" id="{F85DFCE0-0AED-4AB1-929E-77E3C01A3325}"/>
              </a:ext>
            </a:extLst>
          </p:cNvPr>
          <p:cNvSpPr>
            <a:spLocks noChangeArrowheads="1"/>
          </p:cNvSpPr>
          <p:nvPr/>
        </p:nvSpPr>
        <p:spPr bwMode="auto">
          <a:xfrm>
            <a:off x="90488" y="6700838"/>
            <a:ext cx="15605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buFontTx/>
              <a:buNone/>
            </a:pPr>
            <a:r>
              <a:rPr lang="ja-JP" altLang="en-US" sz="1200" b="1">
                <a:latin typeface="メイリオ" panose="020B0604030504040204" pitchFamily="50" charset="-128"/>
                <a:ea typeface="メイリオ" panose="020B0604030504040204" pitchFamily="50" charset="-128"/>
              </a:rPr>
              <a:t>自分の言いたいことだけを伝えて、相手に届いていない状態</a:t>
            </a:r>
            <a:endParaRPr lang="en-US" altLang="ja-JP" sz="1200" b="1">
              <a:latin typeface="メイリオ" panose="020B0604030504040204" pitchFamily="50" charset="-128"/>
              <a:ea typeface="メイリオ" panose="020B0604030504040204" pitchFamily="50" charset="-128"/>
            </a:endParaRPr>
          </a:p>
        </p:txBody>
      </p:sp>
      <p:sp>
        <p:nvSpPr>
          <p:cNvPr id="31" name="吹き出し: 四角形 30">
            <a:extLst>
              <a:ext uri="{FF2B5EF4-FFF2-40B4-BE49-F238E27FC236}">
                <a16:creationId xmlns:a16="http://schemas.microsoft.com/office/drawing/2014/main" id="{75EA5D1D-D3C9-4068-9843-3E407140F23D}"/>
              </a:ext>
            </a:extLst>
          </p:cNvPr>
          <p:cNvSpPr/>
          <p:nvPr/>
        </p:nvSpPr>
        <p:spPr>
          <a:xfrm>
            <a:off x="49213" y="7877175"/>
            <a:ext cx="1617662" cy="768350"/>
          </a:xfrm>
          <a:prstGeom prst="wedgeRectCallout">
            <a:avLst>
              <a:gd name="adj1" fmla="val 88379"/>
              <a:gd name="adj2" fmla="val -2167"/>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dirty="0">
              <a:solidFill>
                <a:schemeClr val="tx1"/>
              </a:solidFill>
              <a:latin typeface="メイリオ" panose="020B0604030504040204" pitchFamily="50" charset="-128"/>
              <a:ea typeface="メイリオ" panose="020B0604030504040204" pitchFamily="50" charset="-128"/>
            </a:endParaRPr>
          </a:p>
        </p:txBody>
      </p:sp>
      <p:sp>
        <p:nvSpPr>
          <p:cNvPr id="32797" name="Rectangle 2060">
            <a:extLst>
              <a:ext uri="{FF2B5EF4-FFF2-40B4-BE49-F238E27FC236}">
                <a16:creationId xmlns:a16="http://schemas.microsoft.com/office/drawing/2014/main" id="{1DDD82B1-3868-4CC6-B6DB-C1533753E104}"/>
              </a:ext>
            </a:extLst>
          </p:cNvPr>
          <p:cNvSpPr>
            <a:spLocks noChangeArrowheads="1"/>
          </p:cNvSpPr>
          <p:nvPr/>
        </p:nvSpPr>
        <p:spPr bwMode="auto">
          <a:xfrm>
            <a:off x="12700" y="7927975"/>
            <a:ext cx="172243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buFontTx/>
              <a:buNone/>
            </a:pPr>
            <a:r>
              <a:rPr lang="ja-JP" altLang="en-US" sz="1200" b="1">
                <a:latin typeface="メイリオ" panose="020B0604030504040204" pitchFamily="50" charset="-128"/>
                <a:ea typeface="メイリオ" panose="020B0604030504040204" pitchFamily="50" charset="-128"/>
              </a:rPr>
              <a:t>お互いに言いたいことも言えず、周りからも悪く思われる状態</a:t>
            </a:r>
            <a:endParaRPr lang="en-US" altLang="ja-JP" sz="1200" b="1">
              <a:latin typeface="メイリオ" panose="020B0604030504040204" pitchFamily="50" charset="-128"/>
              <a:ea typeface="メイリオ" panose="020B0604030504040204" pitchFamily="50" charset="-128"/>
            </a:endParaRPr>
          </a:p>
        </p:txBody>
      </p:sp>
      <p:sp>
        <p:nvSpPr>
          <p:cNvPr id="35" name="吹き出し: 四角形 34">
            <a:extLst>
              <a:ext uri="{FF2B5EF4-FFF2-40B4-BE49-F238E27FC236}">
                <a16:creationId xmlns:a16="http://schemas.microsoft.com/office/drawing/2014/main" id="{E8AA640F-ADAD-45F8-AB27-7371FB89EB8A}"/>
              </a:ext>
            </a:extLst>
          </p:cNvPr>
          <p:cNvSpPr/>
          <p:nvPr/>
        </p:nvSpPr>
        <p:spPr>
          <a:xfrm>
            <a:off x="5078413" y="6577013"/>
            <a:ext cx="1689100" cy="935037"/>
          </a:xfrm>
          <a:prstGeom prst="wedgeRectCallout">
            <a:avLst>
              <a:gd name="adj1" fmla="val -88853"/>
              <a:gd name="adj2" fmla="val -24862"/>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dirty="0">
              <a:solidFill>
                <a:schemeClr val="tx1"/>
              </a:solidFill>
              <a:latin typeface="メイリオ" panose="020B0604030504040204" pitchFamily="50" charset="-128"/>
              <a:ea typeface="メイリオ" panose="020B0604030504040204" pitchFamily="50" charset="-128"/>
            </a:endParaRPr>
          </a:p>
        </p:txBody>
      </p:sp>
      <p:sp>
        <p:nvSpPr>
          <p:cNvPr id="32799" name="Rectangle 2060">
            <a:extLst>
              <a:ext uri="{FF2B5EF4-FFF2-40B4-BE49-F238E27FC236}">
                <a16:creationId xmlns:a16="http://schemas.microsoft.com/office/drawing/2014/main" id="{99909ED2-F520-4C1F-B51F-2D9583B01CED}"/>
              </a:ext>
            </a:extLst>
          </p:cNvPr>
          <p:cNvSpPr>
            <a:spLocks noChangeArrowheads="1"/>
          </p:cNvSpPr>
          <p:nvPr/>
        </p:nvSpPr>
        <p:spPr bwMode="auto">
          <a:xfrm>
            <a:off x="5092700" y="6651625"/>
            <a:ext cx="175577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buFontTx/>
              <a:buNone/>
            </a:pPr>
            <a:r>
              <a:rPr lang="ja-JP" altLang="en-US" sz="1200" b="1">
                <a:latin typeface="メイリオ" panose="020B0604030504040204" pitchFamily="50" charset="-128"/>
                <a:ea typeface="メイリオ" panose="020B0604030504040204" pitchFamily="50" charset="-128"/>
              </a:rPr>
              <a:t>気づいたことを言え、言われた相手も受け入れてくれて、自分も相手も良くなる状態</a:t>
            </a:r>
            <a:endParaRPr lang="en-US" altLang="ja-JP" sz="1200" b="1">
              <a:latin typeface="メイリオ" panose="020B0604030504040204" pitchFamily="50" charset="-128"/>
              <a:ea typeface="メイリオ" panose="020B0604030504040204" pitchFamily="50" charset="-128"/>
            </a:endParaRPr>
          </a:p>
        </p:txBody>
      </p:sp>
      <p:sp>
        <p:nvSpPr>
          <p:cNvPr id="32800" name="Rectangle 2060">
            <a:extLst>
              <a:ext uri="{FF2B5EF4-FFF2-40B4-BE49-F238E27FC236}">
                <a16:creationId xmlns:a16="http://schemas.microsoft.com/office/drawing/2014/main" id="{B23BD385-78F7-4F8B-AE08-4CFFFAFA28C4}"/>
              </a:ext>
            </a:extLst>
          </p:cNvPr>
          <p:cNvSpPr>
            <a:spLocks noChangeArrowheads="1"/>
          </p:cNvSpPr>
          <p:nvPr/>
        </p:nvSpPr>
        <p:spPr bwMode="auto">
          <a:xfrm>
            <a:off x="5099050" y="7997825"/>
            <a:ext cx="16891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buFontTx/>
              <a:buNone/>
            </a:pPr>
            <a:r>
              <a:rPr lang="ja-JP" altLang="en-US" sz="1200" b="1">
                <a:latin typeface="メイリオ" panose="020B0604030504040204" pitchFamily="50" charset="-128"/>
                <a:ea typeface="メイリオ" panose="020B0604030504040204" pitchFamily="50" charset="-128"/>
              </a:rPr>
              <a:t>悪いことに気づいているのに嫌われることが怖くて言えない状態</a:t>
            </a:r>
            <a:endParaRPr lang="en-US" altLang="ja-JP" sz="1200" b="1">
              <a:latin typeface="メイリオ" panose="020B0604030504040204" pitchFamily="50" charset="-128"/>
              <a:ea typeface="メイリオ" panose="020B0604030504040204" pitchFamily="50" charset="-128"/>
            </a:endParaRPr>
          </a:p>
        </p:txBody>
      </p:sp>
      <p:sp>
        <p:nvSpPr>
          <p:cNvPr id="38" name="Google Shape;1346;p122">
            <a:extLst>
              <a:ext uri="{FF2B5EF4-FFF2-40B4-BE49-F238E27FC236}">
                <a16:creationId xmlns:a16="http://schemas.microsoft.com/office/drawing/2014/main" id="{96AE8992-8C0E-4B89-B12B-A5E6EE273597}"/>
              </a:ext>
            </a:extLst>
          </p:cNvPr>
          <p:cNvSpPr txBox="1"/>
          <p:nvPr/>
        </p:nvSpPr>
        <p:spPr>
          <a:xfrm>
            <a:off x="6308725" y="8993188"/>
            <a:ext cx="538163" cy="158750"/>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D471032A-8448-44A2-9C0F-FE889A10B5FE}"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35</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AutoShape 1033">
            <a:extLst>
              <a:ext uri="{FF2B5EF4-FFF2-40B4-BE49-F238E27FC236}">
                <a16:creationId xmlns:a16="http://schemas.microsoft.com/office/drawing/2014/main" id="{19A6263F-7725-4F31-9FF3-C3565F961BFE}"/>
              </a:ext>
            </a:extLst>
          </p:cNvPr>
          <p:cNvSpPr>
            <a:spLocks noChangeArrowheads="1"/>
          </p:cNvSpPr>
          <p:nvPr/>
        </p:nvSpPr>
        <p:spPr bwMode="auto">
          <a:xfrm>
            <a:off x="990600" y="304800"/>
            <a:ext cx="4953000" cy="838200"/>
          </a:xfrm>
          <a:prstGeom prst="roundRect">
            <a:avLst>
              <a:gd name="adj" fmla="val 16667"/>
            </a:avLst>
          </a:prstGeom>
          <a:solidFill>
            <a:schemeClr val="bg1">
              <a:lumMod val="75000"/>
            </a:schemeClr>
          </a:solidFill>
          <a:ln>
            <a:noFill/>
          </a:ln>
        </p:spPr>
        <p:txBody>
          <a:bodyPr wrap="none"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defRPr/>
            </a:pPr>
            <a:endParaRPr lang="ja-JP" altLang="en-US" sz="3600">
              <a:latin typeface="メイリオ" panose="020B0604030504040204" pitchFamily="50" charset="-128"/>
              <a:ea typeface="メイリオ" panose="020B0604030504040204" pitchFamily="50" charset="-128"/>
            </a:endParaRPr>
          </a:p>
        </p:txBody>
      </p:sp>
      <p:sp>
        <p:nvSpPr>
          <p:cNvPr id="12291" name="Text Box 1034">
            <a:extLst>
              <a:ext uri="{FF2B5EF4-FFF2-40B4-BE49-F238E27FC236}">
                <a16:creationId xmlns:a16="http://schemas.microsoft.com/office/drawing/2014/main" id="{DB5551F1-8B37-4E23-8C52-9706C7F5741A}"/>
              </a:ext>
            </a:extLst>
          </p:cNvPr>
          <p:cNvSpPr txBox="1">
            <a:spLocks noChangeArrowheads="1"/>
          </p:cNvSpPr>
          <p:nvPr/>
        </p:nvSpPr>
        <p:spPr bwMode="auto">
          <a:xfrm>
            <a:off x="1143000" y="365125"/>
            <a:ext cx="4648200" cy="701675"/>
          </a:xfrm>
          <a:prstGeom prst="rect">
            <a:avLst/>
          </a:prstGeom>
          <a:noFill/>
          <a:ln>
            <a:noFill/>
          </a:ln>
          <a:effectLst>
            <a:outerShdw dist="35921" dir="2700000" algn="ctr" rotWithShape="0">
              <a:srgbClr val="B2B2B2">
                <a:alpha val="5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50000"/>
              </a:spcBef>
              <a:buFontTx/>
              <a:buNone/>
            </a:pPr>
            <a:r>
              <a:rPr lang="ja-JP" altLang="en-US" sz="4000" b="1" dirty="0">
                <a:solidFill>
                  <a:srgbClr val="FF0000"/>
                </a:solidFill>
                <a:latin typeface="メイリオ" panose="020B0604030504040204" pitchFamily="50" charset="-128"/>
                <a:ea typeface="メイリオ" panose="020B0604030504040204" pitchFamily="50" charset="-128"/>
              </a:rPr>
              <a:t>中期経営方針</a:t>
            </a:r>
          </a:p>
        </p:txBody>
      </p:sp>
      <p:sp>
        <p:nvSpPr>
          <p:cNvPr id="12294" name="Rectangle 1028">
            <a:extLst>
              <a:ext uri="{FF2B5EF4-FFF2-40B4-BE49-F238E27FC236}">
                <a16:creationId xmlns:a16="http://schemas.microsoft.com/office/drawing/2014/main" id="{7A8A11AA-EE87-49C0-82A5-DA7506FC68A8}"/>
              </a:ext>
            </a:extLst>
          </p:cNvPr>
          <p:cNvSpPr>
            <a:spLocks noChangeArrowheads="1"/>
          </p:cNvSpPr>
          <p:nvPr/>
        </p:nvSpPr>
        <p:spPr bwMode="auto">
          <a:xfrm>
            <a:off x="4584700" y="-28575"/>
            <a:ext cx="226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dist" eaLnBrk="1" hangingPunct="1">
              <a:spcBef>
                <a:spcPct val="0"/>
              </a:spcBef>
              <a:buFontTx/>
              <a:buNone/>
            </a:pPr>
            <a:r>
              <a:rPr lang="ja-JP" altLang="en-US" sz="1600" dirty="0">
                <a:latin typeface="メイリオ" panose="020B0604030504040204" pitchFamily="50" charset="-128"/>
                <a:ea typeface="メイリオ" panose="020B0604030504040204" pitchFamily="50" charset="-128"/>
              </a:rPr>
              <a:t>中期経営方針</a:t>
            </a:r>
          </a:p>
        </p:txBody>
      </p:sp>
      <p:sp>
        <p:nvSpPr>
          <p:cNvPr id="17" name="Google Shape;1346;p122">
            <a:extLst>
              <a:ext uri="{FF2B5EF4-FFF2-40B4-BE49-F238E27FC236}">
                <a16:creationId xmlns:a16="http://schemas.microsoft.com/office/drawing/2014/main" id="{D116738F-E6E7-432A-9C28-C0150A81C59E}"/>
              </a:ext>
            </a:extLst>
          </p:cNvPr>
          <p:cNvSpPr txBox="1"/>
          <p:nvPr/>
        </p:nvSpPr>
        <p:spPr>
          <a:xfrm>
            <a:off x="6502400" y="8990013"/>
            <a:ext cx="344488" cy="161925"/>
          </a:xfrm>
          <a:prstGeom prst="rect">
            <a:avLst/>
          </a:prstGeom>
          <a:noFill/>
          <a:ln>
            <a:noFill/>
          </a:ln>
        </p:spPr>
        <p:txBody>
          <a:bodyPr lIns="0" tIns="0" rIns="0" bIns="0"/>
          <a:lstStyle>
            <a:lvl1pPr>
              <a:defRPr kumimoji="1" sz="36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36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36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36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36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ＭＳ Ｐゴシック" panose="020B0600070205080204" pitchFamily="50" charset="-128"/>
              </a:defRPr>
            </a:lvl9pPr>
          </a:lstStyle>
          <a:p>
            <a:pPr algn="ctr">
              <a:buClr>
                <a:srgbClr val="000000"/>
              </a:buClr>
              <a:buSzPts val="1100"/>
              <a:buFont typeface="Calibri" panose="020F0502020204030204" pitchFamily="34" charset="0"/>
              <a:buNone/>
            </a:pPr>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fld id="{0B0DDC01-380F-4A99-B261-61138CC4E5B2}" type="slidenum">
              <a:rPr lang="en-US"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pPr algn="ctr">
                <a:buClr>
                  <a:srgbClr val="000000"/>
                </a:buClr>
                <a:buSzPts val="1100"/>
                <a:buFont typeface="Calibri" panose="020F0502020204030204" pitchFamily="34" charset="0"/>
                <a:buNone/>
              </a:pPr>
              <a:t>36</a:t>
            </a:fld>
            <a:r>
              <a:rPr lang="ja-JP" altLang="ja-JP" sz="100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ja-JP" altLang="ja-JP"/>
          </a:p>
        </p:txBody>
      </p:sp>
      <p:sp>
        <p:nvSpPr>
          <p:cNvPr id="18" name="角丸四角形 20">
            <a:extLst>
              <a:ext uri="{FF2B5EF4-FFF2-40B4-BE49-F238E27FC236}">
                <a16:creationId xmlns:a16="http://schemas.microsoft.com/office/drawing/2014/main" id="{849B4FD1-A32F-4987-AA32-47A47B20B78A}"/>
              </a:ext>
            </a:extLst>
          </p:cNvPr>
          <p:cNvSpPr/>
          <p:nvPr/>
        </p:nvSpPr>
        <p:spPr>
          <a:xfrm>
            <a:off x="476672" y="1725453"/>
            <a:ext cx="5616624" cy="5726867"/>
          </a:xfrm>
          <a:prstGeom prst="roundRect">
            <a:avLst>
              <a:gd name="adj" fmla="val 0"/>
            </a:avLst>
          </a:prstGeom>
          <a:solidFill>
            <a:srgbClr val="FFFFCC"/>
          </a:solidFill>
          <a:ln w="28575">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marL="171450" indent="-171450">
              <a:buFont typeface="Arial" panose="020B0604020202020204" pitchFamily="34" charset="0"/>
              <a:buChar char="•"/>
            </a:pPr>
            <a:r>
              <a:rPr lang="ja-JP" altLang="en-US" sz="2400" b="1" dirty="0">
                <a:solidFill>
                  <a:schemeClr val="tx1"/>
                </a:solidFill>
                <a:latin typeface="+mj-ea"/>
                <a:ea typeface="+mj-ea"/>
              </a:rPr>
              <a:t>顧客志向</a:t>
            </a:r>
            <a:endParaRPr lang="en-US" altLang="ja-JP" sz="2400" b="1" dirty="0">
              <a:solidFill>
                <a:schemeClr val="tx1"/>
              </a:solidFill>
              <a:latin typeface="+mj-ea"/>
              <a:ea typeface="+mj-ea"/>
            </a:endParaRPr>
          </a:p>
          <a:p>
            <a:r>
              <a:rPr lang="ja-JP" altLang="en-US" sz="2400" b="1" dirty="0">
                <a:solidFill>
                  <a:schemeClr val="tx1"/>
                </a:solidFill>
                <a:latin typeface="+mj-ea"/>
                <a:ea typeface="+mj-ea"/>
              </a:rPr>
              <a:t>　今、私たちに何が求められているのか、</a:t>
            </a:r>
            <a:endParaRPr lang="en-US" altLang="ja-JP" sz="2400" b="1" dirty="0">
              <a:solidFill>
                <a:schemeClr val="tx1"/>
              </a:solidFill>
              <a:latin typeface="+mj-ea"/>
              <a:ea typeface="+mj-ea"/>
            </a:endParaRPr>
          </a:p>
          <a:p>
            <a:r>
              <a:rPr lang="ja-JP" altLang="en-US" sz="2400" b="1" dirty="0">
                <a:solidFill>
                  <a:schemeClr val="tx1"/>
                </a:solidFill>
                <a:latin typeface="+mj-ea"/>
                <a:ea typeface="+mj-ea"/>
              </a:rPr>
              <a:t>　時代の波動や潮流を掴み、顧客が</a:t>
            </a:r>
            <a:endParaRPr lang="en-US" altLang="ja-JP" sz="2400" b="1" dirty="0">
              <a:solidFill>
                <a:schemeClr val="tx1"/>
              </a:solidFill>
              <a:latin typeface="+mj-ea"/>
              <a:ea typeface="+mj-ea"/>
            </a:endParaRPr>
          </a:p>
          <a:p>
            <a:r>
              <a:rPr lang="ja-JP" altLang="en-US" sz="2400" b="1" dirty="0">
                <a:solidFill>
                  <a:schemeClr val="tx1"/>
                </a:solidFill>
                <a:latin typeface="+mj-ea"/>
                <a:ea typeface="+mj-ea"/>
              </a:rPr>
              <a:t>　真に望むことを探し続ける。</a:t>
            </a:r>
            <a:endParaRPr lang="en-US" altLang="ja-JP" sz="2400" b="1" dirty="0">
              <a:solidFill>
                <a:schemeClr val="tx1"/>
              </a:solidFill>
              <a:latin typeface="+mj-ea"/>
              <a:ea typeface="+mj-ea"/>
            </a:endParaRPr>
          </a:p>
          <a:p>
            <a:endParaRPr lang="en-US" altLang="ja-JP" sz="2400" b="1" dirty="0">
              <a:solidFill>
                <a:schemeClr val="tx1"/>
              </a:solidFill>
              <a:latin typeface="+mj-ea"/>
              <a:ea typeface="+mj-ea"/>
            </a:endParaRPr>
          </a:p>
          <a:p>
            <a:pPr marL="171450" indent="-171450">
              <a:buFont typeface="Arial" panose="020B0604020202020204" pitchFamily="34" charset="0"/>
              <a:buChar char="•"/>
            </a:pPr>
            <a:r>
              <a:rPr lang="ja-JP" altLang="en-US" sz="2400" b="1" dirty="0">
                <a:solidFill>
                  <a:schemeClr val="tx1"/>
                </a:solidFill>
                <a:latin typeface="+mj-ea"/>
                <a:ea typeface="+mj-ea"/>
              </a:rPr>
              <a:t>革新志向</a:t>
            </a:r>
            <a:endParaRPr lang="en-US" altLang="ja-JP" sz="2400" b="1" dirty="0">
              <a:solidFill>
                <a:schemeClr val="tx1"/>
              </a:solidFill>
              <a:latin typeface="+mj-ea"/>
              <a:ea typeface="+mj-ea"/>
            </a:endParaRPr>
          </a:p>
          <a:p>
            <a:r>
              <a:rPr lang="ja-JP" altLang="en-US" sz="2400" b="1" dirty="0">
                <a:solidFill>
                  <a:schemeClr val="tx1"/>
                </a:solidFill>
                <a:latin typeface="+mj-ea"/>
                <a:ea typeface="+mj-ea"/>
              </a:rPr>
              <a:t>　テクノロジーを有効に活用し、今までの</a:t>
            </a:r>
            <a:endParaRPr lang="en-US" altLang="ja-JP" sz="2400" b="1" dirty="0">
              <a:solidFill>
                <a:schemeClr val="tx1"/>
              </a:solidFill>
              <a:latin typeface="+mj-ea"/>
              <a:ea typeface="+mj-ea"/>
            </a:endParaRPr>
          </a:p>
          <a:p>
            <a:r>
              <a:rPr lang="ja-JP" altLang="en-US" sz="2400" b="1" dirty="0">
                <a:solidFill>
                  <a:schemeClr val="tx1"/>
                </a:solidFill>
                <a:latin typeface="+mj-ea"/>
                <a:ea typeface="+mj-ea"/>
              </a:rPr>
              <a:t>　ビルメンテナンス業界にはない、付加</a:t>
            </a:r>
            <a:endParaRPr lang="en-US" altLang="ja-JP" sz="2400" b="1" dirty="0">
              <a:solidFill>
                <a:schemeClr val="tx1"/>
              </a:solidFill>
              <a:latin typeface="+mj-ea"/>
              <a:ea typeface="+mj-ea"/>
            </a:endParaRPr>
          </a:p>
          <a:p>
            <a:r>
              <a:rPr lang="ja-JP" altLang="en-US" sz="2400" b="1" dirty="0">
                <a:solidFill>
                  <a:schemeClr val="tx1"/>
                </a:solidFill>
                <a:latin typeface="+mj-ea"/>
                <a:ea typeface="+mj-ea"/>
              </a:rPr>
              <a:t>　価値提案を実現する。</a:t>
            </a:r>
            <a:endParaRPr lang="en-US" altLang="ja-JP" sz="2400" b="1" dirty="0">
              <a:solidFill>
                <a:schemeClr val="tx1"/>
              </a:solidFill>
              <a:latin typeface="+mj-ea"/>
              <a:ea typeface="+mj-ea"/>
            </a:endParaRPr>
          </a:p>
          <a:p>
            <a:endParaRPr lang="en-US" altLang="ja-JP" sz="2400" b="1" dirty="0">
              <a:solidFill>
                <a:schemeClr val="tx1"/>
              </a:solidFill>
              <a:latin typeface="+mj-ea"/>
              <a:ea typeface="+mj-ea"/>
            </a:endParaRPr>
          </a:p>
          <a:p>
            <a:pPr marL="171450" indent="-171450">
              <a:buFont typeface="Arial" panose="020B0604020202020204" pitchFamily="34" charset="0"/>
              <a:buChar char="•"/>
            </a:pPr>
            <a:r>
              <a:rPr lang="ja-JP" altLang="en-US" sz="2400" b="1" dirty="0">
                <a:solidFill>
                  <a:schemeClr val="tx1"/>
                </a:solidFill>
                <a:latin typeface="+mj-ea"/>
                <a:ea typeface="+mj-ea"/>
              </a:rPr>
              <a:t>改善志向</a:t>
            </a:r>
            <a:endParaRPr lang="en-US" altLang="ja-JP" sz="2400" b="1" dirty="0">
              <a:solidFill>
                <a:schemeClr val="tx1"/>
              </a:solidFill>
              <a:latin typeface="+mj-ea"/>
              <a:ea typeface="+mj-ea"/>
            </a:endParaRPr>
          </a:p>
          <a:p>
            <a:r>
              <a:rPr lang="ja-JP" altLang="en-US" sz="2400" b="1" dirty="0">
                <a:solidFill>
                  <a:schemeClr val="tx1"/>
                </a:solidFill>
                <a:latin typeface="+mj-ea"/>
                <a:ea typeface="+mj-ea"/>
              </a:rPr>
              <a:t>　サービス提供力の強化を最優先事項と</a:t>
            </a:r>
            <a:endParaRPr lang="en-US" altLang="ja-JP" sz="2400" b="1" dirty="0">
              <a:solidFill>
                <a:schemeClr val="tx1"/>
              </a:solidFill>
              <a:latin typeface="+mj-ea"/>
              <a:ea typeface="+mj-ea"/>
            </a:endParaRPr>
          </a:p>
          <a:p>
            <a:r>
              <a:rPr lang="ja-JP" altLang="en-US" sz="2400" b="1" dirty="0">
                <a:solidFill>
                  <a:schemeClr val="tx1"/>
                </a:solidFill>
                <a:latin typeface="+mj-ea"/>
                <a:ea typeface="+mj-ea"/>
              </a:rPr>
              <a:t>　設定</a:t>
            </a:r>
            <a:r>
              <a:rPr lang="ja-JP" altLang="en-US" sz="2400" b="1" dirty="0">
                <a:latin typeface="+mj-ea"/>
                <a:ea typeface="+mj-ea"/>
              </a:rPr>
              <a:t>し、顧客要望に沿ったサービスの</a:t>
            </a:r>
            <a:endParaRPr lang="en-US" altLang="ja-JP" sz="2400" b="1" dirty="0">
              <a:latin typeface="+mj-ea"/>
              <a:ea typeface="+mj-ea"/>
            </a:endParaRPr>
          </a:p>
          <a:p>
            <a:r>
              <a:rPr lang="ja-JP" altLang="en-US" sz="2400" b="1" dirty="0">
                <a:latin typeface="+mj-ea"/>
                <a:ea typeface="+mj-ea"/>
              </a:rPr>
              <a:t>　改良を行い続ける。</a:t>
            </a:r>
            <a:endParaRPr lang="en-US" altLang="ja-JP" sz="2400" b="1" dirty="0">
              <a:latin typeface="+mj-ea"/>
              <a:ea typeface="+mj-ea"/>
            </a:endParaRPr>
          </a:p>
        </p:txBody>
      </p:sp>
    </p:spTree>
    <p:extLst>
      <p:ext uri="{BB962C8B-B14F-4D97-AF65-F5344CB8AC3E}">
        <p14:creationId xmlns:p14="http://schemas.microsoft.com/office/powerpoint/2010/main" val="3727379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図 4">
            <a:extLst>
              <a:ext uri="{FF2B5EF4-FFF2-40B4-BE49-F238E27FC236}">
                <a16:creationId xmlns:a16="http://schemas.microsoft.com/office/drawing/2014/main" id="{7710775A-69C6-496F-963F-C560F0254D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41583"/>
          <a:stretch>
            <a:fillRect/>
          </a:stretch>
        </p:blipFill>
        <p:spPr bwMode="auto">
          <a:xfrm>
            <a:off x="2133600" y="7812088"/>
            <a:ext cx="25908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3" name="Rectangle 13">
            <a:extLst>
              <a:ext uri="{FF2B5EF4-FFF2-40B4-BE49-F238E27FC236}">
                <a16:creationId xmlns:a16="http://schemas.microsoft.com/office/drawing/2014/main" id="{43C507A0-5E61-44A8-BEB1-871AB964D791}"/>
              </a:ext>
            </a:extLst>
          </p:cNvPr>
          <p:cNvSpPr>
            <a:spLocks noChangeArrowheads="1"/>
          </p:cNvSpPr>
          <p:nvPr/>
        </p:nvSpPr>
        <p:spPr bwMode="auto">
          <a:xfrm>
            <a:off x="260350" y="395536"/>
            <a:ext cx="4319588" cy="2954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600" b="1" dirty="0">
                <a:solidFill>
                  <a:srgbClr val="000000"/>
                </a:solidFill>
                <a:latin typeface="メイリオ" panose="020B0604030504040204" pitchFamily="50" charset="-128"/>
                <a:ea typeface="メイリオ" panose="020B0604030504040204" pitchFamily="50" charset="-128"/>
              </a:rPr>
              <a:t>2021</a:t>
            </a:r>
            <a:r>
              <a:rPr lang="ja-JP" altLang="en-US" sz="1600" b="1" dirty="0">
                <a:solidFill>
                  <a:srgbClr val="000000"/>
                </a:solidFill>
                <a:latin typeface="メイリオ" panose="020B0604030504040204" pitchFamily="50" charset="-128"/>
                <a:ea typeface="メイリオ" panose="020B0604030504040204" pitchFamily="50" charset="-128"/>
              </a:rPr>
              <a:t>年度ＭＭＩイズム副読本</a:t>
            </a:r>
            <a:endParaRPr lang="en-US" altLang="ja-JP" sz="1600" b="1" dirty="0">
              <a:solidFill>
                <a:srgbClr val="000000"/>
              </a:solidFill>
              <a:latin typeface="メイリオ" panose="020B0604030504040204" pitchFamily="50" charset="-128"/>
              <a:ea typeface="メイリオ" panose="020B0604030504040204" pitchFamily="50" charset="-128"/>
            </a:endParaRPr>
          </a:p>
          <a:p>
            <a:pPr eaLnBrk="1" hangingPunct="1">
              <a:spcBef>
                <a:spcPct val="0"/>
              </a:spcBef>
              <a:buFontTx/>
              <a:buNone/>
            </a:pPr>
            <a:r>
              <a:rPr lang="ja-JP" altLang="en-US" sz="1600" b="1" dirty="0">
                <a:solidFill>
                  <a:srgbClr val="000000"/>
                </a:solidFill>
                <a:latin typeface="メイリオ" panose="020B0604030504040204" pitchFamily="50" charset="-128"/>
                <a:ea typeface="メイリオ" panose="020B0604030504040204" pitchFamily="50" charset="-128"/>
              </a:rPr>
              <a:t>・</a:t>
            </a:r>
            <a:r>
              <a:rPr lang="en-US" altLang="ja-JP" sz="1600" b="1" dirty="0">
                <a:solidFill>
                  <a:srgbClr val="000000"/>
                </a:solidFill>
                <a:latin typeface="メイリオ" panose="020B0604030504040204" pitchFamily="50" charset="-128"/>
                <a:ea typeface="メイリオ" panose="020B0604030504040204" pitchFamily="50" charset="-128"/>
              </a:rPr>
              <a:t>2021</a:t>
            </a:r>
            <a:r>
              <a:rPr lang="ja-JP" altLang="en-US" sz="1600" b="1" dirty="0">
                <a:solidFill>
                  <a:srgbClr val="000000"/>
                </a:solidFill>
                <a:latin typeface="メイリオ" panose="020B0604030504040204" pitchFamily="50" charset="-128"/>
                <a:ea typeface="メイリオ" panose="020B0604030504040204" pitchFamily="50" charset="-128"/>
              </a:rPr>
              <a:t>年</a:t>
            </a:r>
            <a:r>
              <a:rPr lang="en-US" altLang="ja-JP" sz="1600" b="1" dirty="0">
                <a:solidFill>
                  <a:srgbClr val="000000"/>
                </a:solidFill>
                <a:latin typeface="メイリオ" panose="020B0604030504040204" pitchFamily="50" charset="-128"/>
                <a:ea typeface="メイリオ" panose="020B0604030504040204" pitchFamily="50" charset="-128"/>
              </a:rPr>
              <a:t>5</a:t>
            </a:r>
            <a:r>
              <a:rPr lang="ja-JP" altLang="en-US" sz="1600" b="1" dirty="0">
                <a:solidFill>
                  <a:srgbClr val="000000"/>
                </a:solidFill>
                <a:latin typeface="メイリオ" panose="020B0604030504040204" pitchFamily="50" charset="-128"/>
                <a:ea typeface="メイリオ" panose="020B0604030504040204" pitchFamily="50" charset="-128"/>
              </a:rPr>
              <a:t>月</a:t>
            </a:r>
            <a:r>
              <a:rPr lang="en-US" altLang="ja-JP" sz="1600" b="1" dirty="0">
                <a:solidFill>
                  <a:srgbClr val="000000"/>
                </a:solidFill>
                <a:latin typeface="メイリオ" panose="020B0604030504040204" pitchFamily="50" charset="-128"/>
                <a:ea typeface="メイリオ" panose="020B0604030504040204" pitchFamily="50" charset="-128"/>
              </a:rPr>
              <a:t>31</a:t>
            </a:r>
            <a:r>
              <a:rPr lang="ja-JP" altLang="en-US" sz="1600" b="1" dirty="0">
                <a:solidFill>
                  <a:srgbClr val="000000"/>
                </a:solidFill>
                <a:latin typeface="メイリオ" panose="020B0604030504040204" pitchFamily="50" charset="-128"/>
                <a:ea typeface="メイリオ" panose="020B0604030504040204" pitchFamily="50" charset="-128"/>
              </a:rPr>
              <a:t>日　  初版発行</a:t>
            </a:r>
            <a:endParaRPr lang="en-US" altLang="ja-JP" sz="1600" b="1" dirty="0">
              <a:solidFill>
                <a:srgbClr val="000000"/>
              </a:solidFill>
              <a:latin typeface="メイリオ" panose="020B0604030504040204" pitchFamily="50" charset="-128"/>
              <a:ea typeface="メイリオ" panose="020B0604030504040204" pitchFamily="50" charset="-128"/>
            </a:endParaRPr>
          </a:p>
          <a:p>
            <a:pPr eaLnBrk="1" hangingPunct="1">
              <a:spcBef>
                <a:spcPct val="0"/>
              </a:spcBef>
              <a:buFontTx/>
              <a:buNone/>
            </a:pPr>
            <a:r>
              <a:rPr lang="ja-JP" altLang="en-US" sz="1600" b="1" dirty="0">
                <a:solidFill>
                  <a:srgbClr val="000000"/>
                </a:solidFill>
                <a:latin typeface="メイリオ" panose="020B0604030504040204" pitchFamily="50" charset="-128"/>
                <a:ea typeface="メイリオ" panose="020B0604030504040204" pitchFamily="50" charset="-128"/>
              </a:rPr>
              <a:t>・</a:t>
            </a:r>
            <a:r>
              <a:rPr lang="en-US" altLang="ja-JP" sz="1600" b="1" dirty="0">
                <a:solidFill>
                  <a:srgbClr val="000000"/>
                </a:solidFill>
                <a:latin typeface="メイリオ" panose="020B0604030504040204" pitchFamily="50" charset="-128"/>
                <a:ea typeface="メイリオ" panose="020B0604030504040204" pitchFamily="50" charset="-128"/>
              </a:rPr>
              <a:t>2021</a:t>
            </a:r>
            <a:r>
              <a:rPr lang="ja-JP" altLang="en-US" sz="1600" b="1" dirty="0">
                <a:solidFill>
                  <a:srgbClr val="000000"/>
                </a:solidFill>
                <a:latin typeface="メイリオ" panose="020B0604030504040204" pitchFamily="50" charset="-128"/>
                <a:ea typeface="メイリオ" panose="020B0604030504040204" pitchFamily="50" charset="-128"/>
              </a:rPr>
              <a:t>年</a:t>
            </a:r>
            <a:r>
              <a:rPr lang="en-US" altLang="ja-JP" sz="1600" b="1" dirty="0">
                <a:solidFill>
                  <a:srgbClr val="000000"/>
                </a:solidFill>
                <a:latin typeface="メイリオ" panose="020B0604030504040204" pitchFamily="50" charset="-128"/>
                <a:ea typeface="メイリオ" panose="020B0604030504040204" pitchFamily="50" charset="-128"/>
              </a:rPr>
              <a:t>6</a:t>
            </a:r>
            <a:r>
              <a:rPr lang="ja-JP" altLang="en-US" sz="1600" b="1" dirty="0">
                <a:solidFill>
                  <a:srgbClr val="000000"/>
                </a:solidFill>
                <a:latin typeface="メイリオ" panose="020B0604030504040204" pitchFamily="50" charset="-128"/>
                <a:ea typeface="メイリオ" panose="020B0604030504040204" pitchFamily="50" charset="-128"/>
              </a:rPr>
              <a:t>月</a:t>
            </a:r>
            <a:r>
              <a:rPr lang="en-US" altLang="ja-JP" sz="1600" b="1" dirty="0">
                <a:solidFill>
                  <a:srgbClr val="000000"/>
                </a:solidFill>
                <a:latin typeface="メイリオ" panose="020B0604030504040204" pitchFamily="50" charset="-128"/>
                <a:ea typeface="メイリオ" panose="020B0604030504040204" pitchFamily="50" charset="-128"/>
              </a:rPr>
              <a:t>24</a:t>
            </a:r>
            <a:r>
              <a:rPr lang="ja-JP" altLang="en-US" sz="1600" b="1" dirty="0">
                <a:solidFill>
                  <a:srgbClr val="000000"/>
                </a:solidFill>
                <a:latin typeface="メイリオ" panose="020B0604030504040204" pitchFamily="50" charset="-128"/>
                <a:ea typeface="メイリオ" panose="020B0604030504040204" pitchFamily="50" charset="-128"/>
              </a:rPr>
              <a:t>日　  </a:t>
            </a:r>
            <a:r>
              <a:rPr lang="en-US" altLang="ja-JP" sz="1600" b="1" dirty="0">
                <a:solidFill>
                  <a:srgbClr val="000000"/>
                </a:solidFill>
                <a:latin typeface="メイリオ" panose="020B0604030504040204" pitchFamily="50" charset="-128"/>
                <a:ea typeface="メイリオ" panose="020B0604030504040204" pitchFamily="50" charset="-128"/>
              </a:rPr>
              <a:t>2</a:t>
            </a:r>
            <a:r>
              <a:rPr lang="ja-JP" altLang="en-US" sz="1600" b="1" dirty="0">
                <a:solidFill>
                  <a:srgbClr val="000000"/>
                </a:solidFill>
                <a:latin typeface="メイリオ" panose="020B0604030504040204" pitchFamily="50" charset="-128"/>
                <a:ea typeface="メイリオ" panose="020B0604030504040204" pitchFamily="50" charset="-128"/>
              </a:rPr>
              <a:t>版発行</a:t>
            </a:r>
            <a:endParaRPr lang="en-US" altLang="ja-JP" sz="1600" b="1" dirty="0">
              <a:solidFill>
                <a:srgbClr val="000000"/>
              </a:solidFill>
              <a:latin typeface="メイリオ" panose="020B0604030504040204" pitchFamily="50" charset="-128"/>
              <a:ea typeface="メイリオ" panose="020B0604030504040204" pitchFamily="50" charset="-128"/>
            </a:endParaRPr>
          </a:p>
          <a:p>
            <a:pPr eaLnBrk="1" hangingPunct="1">
              <a:spcBef>
                <a:spcPct val="0"/>
              </a:spcBef>
              <a:buFontTx/>
              <a:buNone/>
            </a:pPr>
            <a:r>
              <a:rPr lang="ja-JP" altLang="en-US" sz="1600" b="1" dirty="0">
                <a:solidFill>
                  <a:srgbClr val="000000"/>
                </a:solidFill>
                <a:latin typeface="メイリオ" panose="020B0604030504040204" pitchFamily="50" charset="-128"/>
                <a:ea typeface="メイリオ" panose="020B0604030504040204" pitchFamily="50" charset="-128"/>
              </a:rPr>
              <a:t>・</a:t>
            </a:r>
            <a:r>
              <a:rPr lang="en-US" altLang="ja-JP" sz="1600" b="1" dirty="0">
                <a:solidFill>
                  <a:srgbClr val="000000"/>
                </a:solidFill>
                <a:latin typeface="メイリオ" panose="020B0604030504040204" pitchFamily="50" charset="-128"/>
                <a:ea typeface="メイリオ" panose="020B0604030504040204" pitchFamily="50" charset="-128"/>
              </a:rPr>
              <a:t>2021</a:t>
            </a:r>
            <a:r>
              <a:rPr lang="ja-JP" altLang="en-US" sz="1600" b="1" dirty="0">
                <a:solidFill>
                  <a:srgbClr val="000000"/>
                </a:solidFill>
                <a:latin typeface="メイリオ" panose="020B0604030504040204" pitchFamily="50" charset="-128"/>
                <a:ea typeface="メイリオ" panose="020B0604030504040204" pitchFamily="50" charset="-128"/>
              </a:rPr>
              <a:t>年</a:t>
            </a:r>
            <a:r>
              <a:rPr lang="en-US" altLang="ja-JP" sz="1600" b="1" dirty="0">
                <a:solidFill>
                  <a:srgbClr val="000000"/>
                </a:solidFill>
                <a:latin typeface="メイリオ" panose="020B0604030504040204" pitchFamily="50" charset="-128"/>
                <a:ea typeface="メイリオ" panose="020B0604030504040204" pitchFamily="50" charset="-128"/>
              </a:rPr>
              <a:t>7</a:t>
            </a:r>
            <a:r>
              <a:rPr lang="ja-JP" altLang="en-US" sz="1600" b="1" dirty="0">
                <a:solidFill>
                  <a:srgbClr val="000000"/>
                </a:solidFill>
                <a:latin typeface="メイリオ" panose="020B0604030504040204" pitchFamily="50" charset="-128"/>
                <a:ea typeface="メイリオ" panose="020B0604030504040204" pitchFamily="50" charset="-128"/>
              </a:rPr>
              <a:t>月</a:t>
            </a:r>
            <a:r>
              <a:rPr lang="en-US" altLang="ja-JP" sz="1600" b="1" dirty="0">
                <a:solidFill>
                  <a:srgbClr val="000000"/>
                </a:solidFill>
                <a:latin typeface="メイリオ" panose="020B0604030504040204" pitchFamily="50" charset="-128"/>
                <a:ea typeface="メイリオ" panose="020B0604030504040204" pitchFamily="50" charset="-128"/>
              </a:rPr>
              <a:t>14</a:t>
            </a:r>
            <a:r>
              <a:rPr lang="ja-JP" altLang="en-US" sz="1600" b="1" dirty="0">
                <a:solidFill>
                  <a:srgbClr val="000000"/>
                </a:solidFill>
                <a:latin typeface="メイリオ" panose="020B0604030504040204" pitchFamily="50" charset="-128"/>
                <a:ea typeface="メイリオ" panose="020B0604030504040204" pitchFamily="50" charset="-128"/>
              </a:rPr>
              <a:t>日　  </a:t>
            </a:r>
            <a:r>
              <a:rPr lang="en-US" altLang="ja-JP" sz="1600" b="1" dirty="0">
                <a:solidFill>
                  <a:srgbClr val="000000"/>
                </a:solidFill>
                <a:latin typeface="メイリオ" panose="020B0604030504040204" pitchFamily="50" charset="-128"/>
                <a:ea typeface="メイリオ" panose="020B0604030504040204" pitchFamily="50" charset="-128"/>
              </a:rPr>
              <a:t>3</a:t>
            </a:r>
            <a:r>
              <a:rPr lang="ja-JP" altLang="en-US" sz="1600" b="1" dirty="0">
                <a:solidFill>
                  <a:srgbClr val="000000"/>
                </a:solidFill>
                <a:latin typeface="メイリオ" panose="020B0604030504040204" pitchFamily="50" charset="-128"/>
                <a:ea typeface="メイリオ" panose="020B0604030504040204" pitchFamily="50" charset="-128"/>
              </a:rPr>
              <a:t>版発行</a:t>
            </a:r>
            <a:endParaRPr lang="en-US" altLang="ja-JP" sz="1600" b="1" dirty="0">
              <a:solidFill>
                <a:srgbClr val="000000"/>
              </a:solidFill>
              <a:latin typeface="メイリオ" panose="020B0604030504040204" pitchFamily="50" charset="-128"/>
              <a:ea typeface="メイリオ" panose="020B0604030504040204" pitchFamily="50" charset="-128"/>
            </a:endParaRPr>
          </a:p>
          <a:p>
            <a:pPr eaLnBrk="1" hangingPunct="1">
              <a:spcBef>
                <a:spcPct val="0"/>
              </a:spcBef>
              <a:buNone/>
            </a:pPr>
            <a:r>
              <a:rPr lang="ja-JP" altLang="en-US" sz="1600" b="1" dirty="0">
                <a:solidFill>
                  <a:srgbClr val="000000"/>
                </a:solidFill>
                <a:latin typeface="メイリオ" panose="020B0604030504040204" pitchFamily="50" charset="-128"/>
                <a:ea typeface="メイリオ" panose="020B0604030504040204" pitchFamily="50" charset="-128"/>
              </a:rPr>
              <a:t>・</a:t>
            </a:r>
            <a:r>
              <a:rPr lang="en-US" altLang="ja-JP" sz="1600" b="1" dirty="0">
                <a:solidFill>
                  <a:srgbClr val="000000"/>
                </a:solidFill>
                <a:latin typeface="メイリオ" panose="020B0604030504040204" pitchFamily="50" charset="-128"/>
                <a:ea typeface="メイリオ" panose="020B0604030504040204" pitchFamily="50" charset="-128"/>
              </a:rPr>
              <a:t>2021</a:t>
            </a:r>
            <a:r>
              <a:rPr lang="ja-JP" altLang="en-US" sz="1600" b="1" dirty="0">
                <a:solidFill>
                  <a:srgbClr val="000000"/>
                </a:solidFill>
                <a:latin typeface="メイリオ" panose="020B0604030504040204" pitchFamily="50" charset="-128"/>
                <a:ea typeface="メイリオ" panose="020B0604030504040204" pitchFamily="50" charset="-128"/>
              </a:rPr>
              <a:t>年</a:t>
            </a:r>
            <a:r>
              <a:rPr lang="en-US" altLang="ja-JP" sz="1600" b="1" dirty="0">
                <a:solidFill>
                  <a:srgbClr val="000000"/>
                </a:solidFill>
                <a:latin typeface="メイリオ" panose="020B0604030504040204" pitchFamily="50" charset="-128"/>
                <a:ea typeface="メイリオ" panose="020B0604030504040204" pitchFamily="50" charset="-128"/>
              </a:rPr>
              <a:t>8</a:t>
            </a:r>
            <a:r>
              <a:rPr lang="ja-JP" altLang="en-US" sz="1600" b="1" dirty="0">
                <a:solidFill>
                  <a:srgbClr val="000000"/>
                </a:solidFill>
                <a:latin typeface="メイリオ" panose="020B0604030504040204" pitchFamily="50" charset="-128"/>
                <a:ea typeface="メイリオ" panose="020B0604030504040204" pitchFamily="50" charset="-128"/>
              </a:rPr>
              <a:t>月</a:t>
            </a:r>
            <a:r>
              <a:rPr lang="en-US" altLang="ja-JP" sz="1600" b="1" dirty="0">
                <a:solidFill>
                  <a:srgbClr val="000000"/>
                </a:solidFill>
                <a:latin typeface="メイリオ" panose="020B0604030504040204" pitchFamily="50" charset="-128"/>
                <a:ea typeface="メイリオ" panose="020B0604030504040204" pitchFamily="50" charset="-128"/>
              </a:rPr>
              <a:t>26</a:t>
            </a:r>
            <a:r>
              <a:rPr lang="ja-JP" altLang="en-US" sz="1600" b="1" dirty="0">
                <a:solidFill>
                  <a:srgbClr val="000000"/>
                </a:solidFill>
                <a:latin typeface="メイリオ" panose="020B0604030504040204" pitchFamily="50" charset="-128"/>
                <a:ea typeface="メイリオ" panose="020B0604030504040204" pitchFamily="50" charset="-128"/>
              </a:rPr>
              <a:t>日　  </a:t>
            </a:r>
            <a:r>
              <a:rPr lang="en-US" altLang="ja-JP" sz="1600" b="1" dirty="0">
                <a:solidFill>
                  <a:srgbClr val="000000"/>
                </a:solidFill>
                <a:latin typeface="メイリオ" panose="020B0604030504040204" pitchFamily="50" charset="-128"/>
                <a:ea typeface="メイリオ" panose="020B0604030504040204" pitchFamily="50" charset="-128"/>
              </a:rPr>
              <a:t>4</a:t>
            </a:r>
            <a:r>
              <a:rPr lang="ja-JP" altLang="en-US" sz="1600" b="1" dirty="0">
                <a:solidFill>
                  <a:srgbClr val="000000"/>
                </a:solidFill>
                <a:latin typeface="メイリオ" panose="020B0604030504040204" pitchFamily="50" charset="-128"/>
                <a:ea typeface="メイリオ" panose="020B0604030504040204" pitchFamily="50" charset="-128"/>
              </a:rPr>
              <a:t>版発行</a:t>
            </a:r>
            <a:endParaRPr lang="en-US" altLang="ja-JP" sz="1600" b="1" dirty="0">
              <a:solidFill>
                <a:srgbClr val="000000"/>
              </a:solidFill>
              <a:latin typeface="メイリオ" panose="020B0604030504040204" pitchFamily="50" charset="-128"/>
              <a:ea typeface="メイリオ" panose="020B0604030504040204" pitchFamily="50" charset="-128"/>
            </a:endParaRPr>
          </a:p>
          <a:p>
            <a:pPr eaLnBrk="1" hangingPunct="1">
              <a:spcBef>
                <a:spcPct val="0"/>
              </a:spcBef>
              <a:buNone/>
            </a:pPr>
            <a:r>
              <a:rPr lang="ja-JP" altLang="en-US" sz="1600" b="1" dirty="0">
                <a:solidFill>
                  <a:srgbClr val="000000"/>
                </a:solidFill>
                <a:latin typeface="メイリオ" panose="020B0604030504040204" pitchFamily="50" charset="-128"/>
                <a:ea typeface="メイリオ" panose="020B0604030504040204" pitchFamily="50" charset="-128"/>
              </a:rPr>
              <a:t>・</a:t>
            </a:r>
            <a:r>
              <a:rPr lang="en-US" altLang="ja-JP" sz="1600" b="1" dirty="0">
                <a:solidFill>
                  <a:srgbClr val="000000"/>
                </a:solidFill>
                <a:latin typeface="メイリオ" panose="020B0604030504040204" pitchFamily="50" charset="-128"/>
                <a:ea typeface="メイリオ" panose="020B0604030504040204" pitchFamily="50" charset="-128"/>
              </a:rPr>
              <a:t>2021</a:t>
            </a:r>
            <a:r>
              <a:rPr lang="ja-JP" altLang="en-US" sz="1600" b="1" dirty="0">
                <a:solidFill>
                  <a:srgbClr val="000000"/>
                </a:solidFill>
                <a:latin typeface="メイリオ" panose="020B0604030504040204" pitchFamily="50" charset="-128"/>
                <a:ea typeface="メイリオ" panose="020B0604030504040204" pitchFamily="50" charset="-128"/>
              </a:rPr>
              <a:t>年</a:t>
            </a:r>
            <a:r>
              <a:rPr lang="en-US" altLang="ja-JP" sz="1600" b="1" dirty="0">
                <a:solidFill>
                  <a:srgbClr val="000000"/>
                </a:solidFill>
                <a:latin typeface="メイリオ" panose="020B0604030504040204" pitchFamily="50" charset="-128"/>
                <a:ea typeface="メイリオ" panose="020B0604030504040204" pitchFamily="50" charset="-128"/>
              </a:rPr>
              <a:t>9</a:t>
            </a:r>
            <a:r>
              <a:rPr lang="ja-JP" altLang="en-US" sz="1600" b="1" dirty="0">
                <a:solidFill>
                  <a:srgbClr val="000000"/>
                </a:solidFill>
                <a:latin typeface="メイリオ" panose="020B0604030504040204" pitchFamily="50" charset="-128"/>
                <a:ea typeface="メイリオ" panose="020B0604030504040204" pitchFamily="50" charset="-128"/>
              </a:rPr>
              <a:t>月</a:t>
            </a:r>
            <a:r>
              <a:rPr lang="en-US" altLang="ja-JP" sz="1600" b="1" dirty="0">
                <a:solidFill>
                  <a:srgbClr val="000000"/>
                </a:solidFill>
                <a:latin typeface="メイリオ" panose="020B0604030504040204" pitchFamily="50" charset="-128"/>
                <a:ea typeface="メイリオ" panose="020B0604030504040204" pitchFamily="50" charset="-128"/>
              </a:rPr>
              <a:t>17</a:t>
            </a:r>
            <a:r>
              <a:rPr lang="ja-JP" altLang="en-US" sz="1600" b="1" dirty="0">
                <a:solidFill>
                  <a:srgbClr val="000000"/>
                </a:solidFill>
                <a:latin typeface="メイリオ" panose="020B0604030504040204" pitchFamily="50" charset="-128"/>
                <a:ea typeface="メイリオ" panose="020B0604030504040204" pitchFamily="50" charset="-128"/>
              </a:rPr>
              <a:t>日  　</a:t>
            </a:r>
            <a:r>
              <a:rPr lang="en-US" altLang="ja-JP" sz="1600" b="1" dirty="0">
                <a:solidFill>
                  <a:srgbClr val="000000"/>
                </a:solidFill>
                <a:latin typeface="メイリオ" panose="020B0604030504040204" pitchFamily="50" charset="-128"/>
                <a:ea typeface="メイリオ" panose="020B0604030504040204" pitchFamily="50" charset="-128"/>
              </a:rPr>
              <a:t>5</a:t>
            </a:r>
            <a:r>
              <a:rPr lang="ja-JP" altLang="en-US" sz="1600" b="1" dirty="0">
                <a:solidFill>
                  <a:srgbClr val="000000"/>
                </a:solidFill>
                <a:latin typeface="メイリオ" panose="020B0604030504040204" pitchFamily="50" charset="-128"/>
                <a:ea typeface="メイリオ" panose="020B0604030504040204" pitchFamily="50" charset="-128"/>
              </a:rPr>
              <a:t>版発行</a:t>
            </a:r>
            <a:endParaRPr lang="en-US" altLang="ja-JP" sz="1600" b="1" dirty="0">
              <a:solidFill>
                <a:srgbClr val="000000"/>
              </a:solidFill>
              <a:latin typeface="メイリオ" panose="020B0604030504040204" pitchFamily="50" charset="-128"/>
              <a:ea typeface="メイリオ" panose="020B0604030504040204" pitchFamily="50" charset="-128"/>
            </a:endParaRPr>
          </a:p>
          <a:p>
            <a:pPr eaLnBrk="1" hangingPunct="1">
              <a:spcBef>
                <a:spcPct val="0"/>
              </a:spcBef>
              <a:buNone/>
            </a:pPr>
            <a:r>
              <a:rPr lang="ja-JP" altLang="en-US" sz="1600" b="1" dirty="0">
                <a:solidFill>
                  <a:srgbClr val="000000"/>
                </a:solidFill>
                <a:latin typeface="メイリオ" panose="020B0604030504040204" pitchFamily="50" charset="-128"/>
                <a:ea typeface="メイリオ" panose="020B0604030504040204" pitchFamily="50" charset="-128"/>
              </a:rPr>
              <a:t>・</a:t>
            </a:r>
            <a:r>
              <a:rPr lang="en-US" altLang="ja-JP" sz="1600" b="1" dirty="0">
                <a:solidFill>
                  <a:srgbClr val="000000"/>
                </a:solidFill>
                <a:latin typeface="メイリオ" panose="020B0604030504040204" pitchFamily="50" charset="-128"/>
                <a:ea typeface="メイリオ" panose="020B0604030504040204" pitchFamily="50" charset="-128"/>
              </a:rPr>
              <a:t>2021</a:t>
            </a:r>
            <a:r>
              <a:rPr lang="ja-JP" altLang="en-US" sz="1600" b="1" dirty="0">
                <a:solidFill>
                  <a:srgbClr val="000000"/>
                </a:solidFill>
                <a:latin typeface="メイリオ" panose="020B0604030504040204" pitchFamily="50" charset="-128"/>
                <a:ea typeface="メイリオ" panose="020B0604030504040204" pitchFamily="50" charset="-128"/>
              </a:rPr>
              <a:t>年</a:t>
            </a:r>
            <a:r>
              <a:rPr lang="en-US" altLang="ja-JP" sz="1600" b="1" dirty="0">
                <a:solidFill>
                  <a:srgbClr val="000000"/>
                </a:solidFill>
                <a:latin typeface="メイリオ" panose="020B0604030504040204" pitchFamily="50" charset="-128"/>
                <a:ea typeface="メイリオ" panose="020B0604030504040204" pitchFamily="50" charset="-128"/>
              </a:rPr>
              <a:t>10</a:t>
            </a:r>
            <a:r>
              <a:rPr lang="ja-JP" altLang="en-US" sz="1600" b="1" dirty="0">
                <a:solidFill>
                  <a:srgbClr val="000000"/>
                </a:solidFill>
                <a:latin typeface="メイリオ" panose="020B0604030504040204" pitchFamily="50" charset="-128"/>
                <a:ea typeface="メイリオ" panose="020B0604030504040204" pitchFamily="50" charset="-128"/>
              </a:rPr>
              <a:t>月</a:t>
            </a:r>
            <a:r>
              <a:rPr lang="en-US" altLang="ja-JP" sz="1600" b="1" dirty="0">
                <a:solidFill>
                  <a:srgbClr val="000000"/>
                </a:solidFill>
                <a:latin typeface="メイリオ" panose="020B0604030504040204" pitchFamily="50" charset="-128"/>
                <a:ea typeface="メイリオ" panose="020B0604030504040204" pitchFamily="50" charset="-128"/>
              </a:rPr>
              <a:t>15</a:t>
            </a:r>
            <a:r>
              <a:rPr lang="ja-JP" altLang="en-US" sz="1600" b="1" dirty="0">
                <a:solidFill>
                  <a:srgbClr val="000000"/>
                </a:solidFill>
                <a:latin typeface="メイリオ" panose="020B0604030504040204" pitchFamily="50" charset="-128"/>
                <a:ea typeface="メイリオ" panose="020B0604030504040204" pitchFamily="50" charset="-128"/>
              </a:rPr>
              <a:t>日　</a:t>
            </a:r>
            <a:r>
              <a:rPr lang="en-US" altLang="ja-JP" sz="1600" b="1" dirty="0">
                <a:solidFill>
                  <a:srgbClr val="000000"/>
                </a:solidFill>
                <a:latin typeface="メイリオ" panose="020B0604030504040204" pitchFamily="50" charset="-128"/>
                <a:ea typeface="メイリオ" panose="020B0604030504040204" pitchFamily="50" charset="-128"/>
              </a:rPr>
              <a:t>6</a:t>
            </a:r>
            <a:r>
              <a:rPr lang="ja-JP" altLang="en-US" sz="1600" b="1" dirty="0">
                <a:solidFill>
                  <a:srgbClr val="000000"/>
                </a:solidFill>
                <a:latin typeface="メイリオ" panose="020B0604030504040204" pitchFamily="50" charset="-128"/>
                <a:ea typeface="メイリオ" panose="020B0604030504040204" pitchFamily="50" charset="-128"/>
              </a:rPr>
              <a:t>版発行</a:t>
            </a:r>
            <a:endParaRPr lang="en-US" altLang="ja-JP" sz="1600" b="1" dirty="0">
              <a:solidFill>
                <a:srgbClr val="000000"/>
              </a:solidFill>
              <a:latin typeface="メイリオ" panose="020B0604030504040204" pitchFamily="50" charset="-128"/>
              <a:ea typeface="メイリオ" panose="020B0604030504040204" pitchFamily="50" charset="-128"/>
            </a:endParaRPr>
          </a:p>
          <a:p>
            <a:pPr eaLnBrk="1" hangingPunct="1">
              <a:spcBef>
                <a:spcPct val="0"/>
              </a:spcBef>
              <a:buNone/>
            </a:pPr>
            <a:r>
              <a:rPr lang="ja-JP" altLang="en-US" sz="1600" b="1" dirty="0">
                <a:solidFill>
                  <a:srgbClr val="000000"/>
                </a:solidFill>
                <a:latin typeface="メイリオ" panose="020B0604030504040204" pitchFamily="50" charset="-128"/>
                <a:ea typeface="メイリオ" panose="020B0604030504040204" pitchFamily="50" charset="-128"/>
              </a:rPr>
              <a:t>・</a:t>
            </a:r>
            <a:r>
              <a:rPr lang="en-US" altLang="ja-JP" sz="1600" b="1" dirty="0">
                <a:solidFill>
                  <a:srgbClr val="000000"/>
                </a:solidFill>
                <a:latin typeface="メイリオ" panose="020B0604030504040204" pitchFamily="50" charset="-128"/>
                <a:ea typeface="メイリオ" panose="020B0604030504040204" pitchFamily="50" charset="-128"/>
              </a:rPr>
              <a:t>2021</a:t>
            </a:r>
            <a:r>
              <a:rPr lang="ja-JP" altLang="en-US" sz="1600" b="1" dirty="0">
                <a:solidFill>
                  <a:srgbClr val="000000"/>
                </a:solidFill>
                <a:latin typeface="メイリオ" panose="020B0604030504040204" pitchFamily="50" charset="-128"/>
                <a:ea typeface="メイリオ" panose="020B0604030504040204" pitchFamily="50" charset="-128"/>
              </a:rPr>
              <a:t>年</a:t>
            </a:r>
            <a:r>
              <a:rPr lang="en-US" altLang="ja-JP" sz="1600" b="1" dirty="0">
                <a:solidFill>
                  <a:srgbClr val="000000"/>
                </a:solidFill>
                <a:latin typeface="メイリオ" panose="020B0604030504040204" pitchFamily="50" charset="-128"/>
                <a:ea typeface="メイリオ" panose="020B0604030504040204" pitchFamily="50" charset="-128"/>
              </a:rPr>
              <a:t>11</a:t>
            </a:r>
            <a:r>
              <a:rPr lang="ja-JP" altLang="en-US" sz="1600" b="1" dirty="0">
                <a:solidFill>
                  <a:srgbClr val="000000"/>
                </a:solidFill>
                <a:latin typeface="メイリオ" panose="020B0604030504040204" pitchFamily="50" charset="-128"/>
                <a:ea typeface="メイリオ" panose="020B0604030504040204" pitchFamily="50" charset="-128"/>
              </a:rPr>
              <a:t>月</a:t>
            </a:r>
            <a:r>
              <a:rPr lang="en-US" altLang="ja-JP" sz="1600" b="1" dirty="0">
                <a:solidFill>
                  <a:srgbClr val="000000"/>
                </a:solidFill>
                <a:latin typeface="メイリオ" panose="020B0604030504040204" pitchFamily="50" charset="-128"/>
                <a:ea typeface="メイリオ" panose="020B0604030504040204" pitchFamily="50" charset="-128"/>
              </a:rPr>
              <a:t>24</a:t>
            </a:r>
            <a:r>
              <a:rPr lang="ja-JP" altLang="en-US" sz="1600" b="1" dirty="0">
                <a:solidFill>
                  <a:srgbClr val="000000"/>
                </a:solidFill>
                <a:latin typeface="メイリオ" panose="020B0604030504040204" pitchFamily="50" charset="-128"/>
                <a:ea typeface="メイリオ" panose="020B0604030504040204" pitchFamily="50" charset="-128"/>
              </a:rPr>
              <a:t>日　</a:t>
            </a:r>
            <a:r>
              <a:rPr lang="en-US" altLang="ja-JP" sz="1600" b="1" dirty="0">
                <a:solidFill>
                  <a:srgbClr val="000000"/>
                </a:solidFill>
                <a:latin typeface="メイリオ" panose="020B0604030504040204" pitchFamily="50" charset="-128"/>
                <a:ea typeface="メイリオ" panose="020B0604030504040204" pitchFamily="50" charset="-128"/>
              </a:rPr>
              <a:t>7</a:t>
            </a:r>
            <a:r>
              <a:rPr lang="ja-JP" altLang="en-US" sz="1600" b="1" dirty="0">
                <a:solidFill>
                  <a:srgbClr val="000000"/>
                </a:solidFill>
                <a:latin typeface="メイリオ" panose="020B0604030504040204" pitchFamily="50" charset="-128"/>
                <a:ea typeface="メイリオ" panose="020B0604030504040204" pitchFamily="50" charset="-128"/>
              </a:rPr>
              <a:t>版発行</a:t>
            </a:r>
            <a:endParaRPr lang="en-US" altLang="ja-JP" sz="1600" b="1" dirty="0">
              <a:solidFill>
                <a:srgbClr val="000000"/>
              </a:solidFill>
              <a:latin typeface="メイリオ" panose="020B0604030504040204" pitchFamily="50" charset="-128"/>
              <a:ea typeface="メイリオ" panose="020B0604030504040204" pitchFamily="50" charset="-128"/>
            </a:endParaRPr>
          </a:p>
          <a:p>
            <a:pPr eaLnBrk="1" hangingPunct="1">
              <a:spcBef>
                <a:spcPct val="0"/>
              </a:spcBef>
              <a:buNone/>
            </a:pPr>
            <a:r>
              <a:rPr lang="ja-JP" altLang="en-US" sz="1600" b="1" dirty="0">
                <a:solidFill>
                  <a:srgbClr val="000000"/>
                </a:solidFill>
                <a:latin typeface="メイリオ" panose="020B0604030504040204" pitchFamily="50" charset="-128"/>
                <a:ea typeface="メイリオ" panose="020B0604030504040204" pitchFamily="50" charset="-128"/>
              </a:rPr>
              <a:t>・</a:t>
            </a:r>
            <a:r>
              <a:rPr lang="en-US" altLang="ja-JP" sz="1600" b="1" dirty="0">
                <a:solidFill>
                  <a:srgbClr val="000000"/>
                </a:solidFill>
                <a:latin typeface="メイリオ" panose="020B0604030504040204" pitchFamily="50" charset="-128"/>
                <a:ea typeface="メイリオ" panose="020B0604030504040204" pitchFamily="50" charset="-128"/>
              </a:rPr>
              <a:t>2021</a:t>
            </a:r>
            <a:r>
              <a:rPr lang="ja-JP" altLang="en-US" sz="1600" b="1" dirty="0">
                <a:solidFill>
                  <a:srgbClr val="000000"/>
                </a:solidFill>
                <a:latin typeface="メイリオ" panose="020B0604030504040204" pitchFamily="50" charset="-128"/>
                <a:ea typeface="メイリオ" panose="020B0604030504040204" pitchFamily="50" charset="-128"/>
              </a:rPr>
              <a:t>年</a:t>
            </a:r>
            <a:r>
              <a:rPr lang="en-US" altLang="ja-JP" sz="1600" b="1" dirty="0">
                <a:solidFill>
                  <a:srgbClr val="000000"/>
                </a:solidFill>
                <a:latin typeface="メイリオ" panose="020B0604030504040204" pitchFamily="50" charset="-128"/>
                <a:ea typeface="メイリオ" panose="020B0604030504040204" pitchFamily="50" charset="-128"/>
              </a:rPr>
              <a:t>12</a:t>
            </a:r>
            <a:r>
              <a:rPr lang="ja-JP" altLang="en-US" sz="1600" b="1" dirty="0">
                <a:solidFill>
                  <a:srgbClr val="000000"/>
                </a:solidFill>
                <a:latin typeface="メイリオ" panose="020B0604030504040204" pitchFamily="50" charset="-128"/>
                <a:ea typeface="メイリオ" panose="020B0604030504040204" pitchFamily="50" charset="-128"/>
              </a:rPr>
              <a:t>月</a:t>
            </a:r>
            <a:r>
              <a:rPr lang="en-US" altLang="ja-JP" sz="1600" b="1" dirty="0">
                <a:solidFill>
                  <a:srgbClr val="000000"/>
                </a:solidFill>
                <a:latin typeface="メイリオ" panose="020B0604030504040204" pitchFamily="50" charset="-128"/>
                <a:ea typeface="メイリオ" panose="020B0604030504040204" pitchFamily="50" charset="-128"/>
              </a:rPr>
              <a:t>20</a:t>
            </a:r>
            <a:r>
              <a:rPr lang="ja-JP" altLang="en-US" sz="1600" b="1" dirty="0">
                <a:solidFill>
                  <a:srgbClr val="000000"/>
                </a:solidFill>
                <a:latin typeface="メイリオ" panose="020B0604030504040204" pitchFamily="50" charset="-128"/>
                <a:ea typeface="メイリオ" panose="020B0604030504040204" pitchFamily="50" charset="-128"/>
              </a:rPr>
              <a:t>日　</a:t>
            </a:r>
            <a:r>
              <a:rPr lang="en-US" altLang="ja-JP" sz="1600" b="1" dirty="0">
                <a:solidFill>
                  <a:srgbClr val="000000"/>
                </a:solidFill>
                <a:latin typeface="メイリオ" panose="020B0604030504040204" pitchFamily="50" charset="-128"/>
                <a:ea typeface="メイリオ" panose="020B0604030504040204" pitchFamily="50" charset="-128"/>
              </a:rPr>
              <a:t>8</a:t>
            </a:r>
            <a:r>
              <a:rPr lang="ja-JP" altLang="en-US" sz="1600" b="1" dirty="0">
                <a:solidFill>
                  <a:srgbClr val="000000"/>
                </a:solidFill>
                <a:latin typeface="メイリオ" panose="020B0604030504040204" pitchFamily="50" charset="-128"/>
                <a:ea typeface="メイリオ" panose="020B0604030504040204" pitchFamily="50" charset="-128"/>
              </a:rPr>
              <a:t>版発行</a:t>
            </a:r>
            <a:endParaRPr lang="en-US" altLang="ja-JP" sz="1600" b="1" dirty="0">
              <a:solidFill>
                <a:srgbClr val="000000"/>
              </a:solidFill>
              <a:latin typeface="メイリオ" panose="020B0604030504040204" pitchFamily="50" charset="-128"/>
              <a:ea typeface="メイリオ" panose="020B0604030504040204" pitchFamily="50" charset="-128"/>
            </a:endParaRPr>
          </a:p>
          <a:p>
            <a:pPr eaLnBrk="1" hangingPunct="1">
              <a:spcBef>
                <a:spcPct val="0"/>
              </a:spcBef>
              <a:buNone/>
            </a:pPr>
            <a:r>
              <a:rPr lang="ja-JP" altLang="en-US" sz="1600" b="1" dirty="0">
                <a:solidFill>
                  <a:srgbClr val="000000"/>
                </a:solidFill>
                <a:latin typeface="メイリオ" panose="020B0604030504040204" pitchFamily="50" charset="-128"/>
                <a:ea typeface="メイリオ" panose="020B0604030504040204" pitchFamily="50" charset="-128"/>
              </a:rPr>
              <a:t>・</a:t>
            </a:r>
            <a:r>
              <a:rPr lang="en-US" altLang="ja-JP" sz="1600" b="1" dirty="0">
                <a:solidFill>
                  <a:srgbClr val="000000"/>
                </a:solidFill>
                <a:latin typeface="メイリオ" panose="020B0604030504040204" pitchFamily="50" charset="-128"/>
                <a:ea typeface="メイリオ" panose="020B0604030504040204" pitchFamily="50" charset="-128"/>
              </a:rPr>
              <a:t>2022</a:t>
            </a:r>
            <a:r>
              <a:rPr lang="ja-JP" altLang="en-US" sz="1600" b="1" dirty="0">
                <a:solidFill>
                  <a:srgbClr val="000000"/>
                </a:solidFill>
                <a:latin typeface="メイリオ" panose="020B0604030504040204" pitchFamily="50" charset="-128"/>
                <a:ea typeface="メイリオ" panose="020B0604030504040204" pitchFamily="50" charset="-128"/>
              </a:rPr>
              <a:t>年</a:t>
            </a:r>
            <a:r>
              <a:rPr lang="en-US" altLang="ja-JP" sz="1600" b="1" dirty="0">
                <a:solidFill>
                  <a:srgbClr val="000000"/>
                </a:solidFill>
                <a:latin typeface="メイリオ" panose="020B0604030504040204" pitchFamily="50" charset="-128"/>
                <a:ea typeface="メイリオ" panose="020B0604030504040204" pitchFamily="50" charset="-128"/>
              </a:rPr>
              <a:t>1</a:t>
            </a:r>
            <a:r>
              <a:rPr lang="ja-JP" altLang="en-US" sz="1600" b="1" dirty="0">
                <a:solidFill>
                  <a:srgbClr val="000000"/>
                </a:solidFill>
                <a:latin typeface="メイリオ" panose="020B0604030504040204" pitchFamily="50" charset="-128"/>
                <a:ea typeface="メイリオ" panose="020B0604030504040204" pitchFamily="50" charset="-128"/>
              </a:rPr>
              <a:t>月</a:t>
            </a:r>
            <a:r>
              <a:rPr lang="en-US" altLang="ja-JP" sz="1600" b="1" dirty="0">
                <a:solidFill>
                  <a:srgbClr val="000000"/>
                </a:solidFill>
                <a:latin typeface="メイリオ" panose="020B0604030504040204" pitchFamily="50" charset="-128"/>
                <a:ea typeface="メイリオ" panose="020B0604030504040204" pitchFamily="50" charset="-128"/>
              </a:rPr>
              <a:t>27</a:t>
            </a:r>
            <a:r>
              <a:rPr lang="ja-JP" altLang="en-US" sz="1600" b="1" dirty="0">
                <a:solidFill>
                  <a:srgbClr val="000000"/>
                </a:solidFill>
                <a:latin typeface="メイリオ" panose="020B0604030504040204" pitchFamily="50" charset="-128"/>
                <a:ea typeface="メイリオ" panose="020B0604030504040204" pitchFamily="50" charset="-128"/>
              </a:rPr>
              <a:t>日　  </a:t>
            </a:r>
            <a:r>
              <a:rPr lang="en-US" altLang="ja-JP" sz="1600" b="1" dirty="0">
                <a:solidFill>
                  <a:srgbClr val="000000"/>
                </a:solidFill>
                <a:latin typeface="メイリオ" panose="020B0604030504040204" pitchFamily="50" charset="-128"/>
                <a:ea typeface="メイリオ" panose="020B0604030504040204" pitchFamily="50" charset="-128"/>
              </a:rPr>
              <a:t>9</a:t>
            </a:r>
            <a:r>
              <a:rPr lang="ja-JP" altLang="en-US" sz="1600" b="1" dirty="0">
                <a:solidFill>
                  <a:srgbClr val="000000"/>
                </a:solidFill>
                <a:latin typeface="メイリオ" panose="020B0604030504040204" pitchFamily="50" charset="-128"/>
                <a:ea typeface="メイリオ" panose="020B0604030504040204" pitchFamily="50" charset="-128"/>
              </a:rPr>
              <a:t>版発行</a:t>
            </a:r>
            <a:endParaRPr lang="en-US" altLang="ja-JP" sz="1600" b="1" dirty="0">
              <a:solidFill>
                <a:srgbClr val="000000"/>
              </a:solidFill>
              <a:latin typeface="メイリオ" panose="020B0604030504040204" pitchFamily="50" charset="-128"/>
              <a:ea typeface="メイリオ" panose="020B0604030504040204" pitchFamily="50" charset="-128"/>
            </a:endParaRPr>
          </a:p>
          <a:p>
            <a:pPr eaLnBrk="1" hangingPunct="1">
              <a:spcBef>
                <a:spcPct val="0"/>
              </a:spcBef>
              <a:buNone/>
            </a:pPr>
            <a:r>
              <a:rPr lang="ja-JP" altLang="en-US" sz="1600" b="1" dirty="0">
                <a:solidFill>
                  <a:srgbClr val="000000"/>
                </a:solidFill>
                <a:latin typeface="メイリオ" panose="020B0604030504040204" pitchFamily="50" charset="-128"/>
                <a:ea typeface="メイリオ" panose="020B0604030504040204" pitchFamily="50" charset="-128"/>
              </a:rPr>
              <a:t>・</a:t>
            </a:r>
            <a:r>
              <a:rPr lang="en-US" altLang="ja-JP" sz="1600" b="1" dirty="0">
                <a:solidFill>
                  <a:srgbClr val="000000"/>
                </a:solidFill>
                <a:latin typeface="メイリオ" panose="020B0604030504040204" pitchFamily="50" charset="-128"/>
                <a:ea typeface="メイリオ" panose="020B0604030504040204" pitchFamily="50" charset="-128"/>
              </a:rPr>
              <a:t>2022</a:t>
            </a:r>
            <a:r>
              <a:rPr lang="ja-JP" altLang="en-US" sz="1600" b="1" dirty="0">
                <a:solidFill>
                  <a:srgbClr val="000000"/>
                </a:solidFill>
                <a:latin typeface="メイリオ" panose="020B0604030504040204" pitchFamily="50" charset="-128"/>
                <a:ea typeface="メイリオ" panose="020B0604030504040204" pitchFamily="50" charset="-128"/>
              </a:rPr>
              <a:t>年</a:t>
            </a:r>
            <a:r>
              <a:rPr lang="en-US" altLang="ja-JP" sz="1600" b="1" dirty="0">
                <a:solidFill>
                  <a:srgbClr val="000000"/>
                </a:solidFill>
                <a:latin typeface="メイリオ" panose="020B0604030504040204" pitchFamily="50" charset="-128"/>
                <a:ea typeface="メイリオ" panose="020B0604030504040204" pitchFamily="50" charset="-128"/>
              </a:rPr>
              <a:t>2</a:t>
            </a:r>
            <a:r>
              <a:rPr lang="ja-JP" altLang="en-US" sz="1600" b="1" dirty="0">
                <a:solidFill>
                  <a:srgbClr val="000000"/>
                </a:solidFill>
                <a:latin typeface="メイリオ" panose="020B0604030504040204" pitchFamily="50" charset="-128"/>
                <a:ea typeface="メイリオ" panose="020B0604030504040204" pitchFamily="50" charset="-128"/>
              </a:rPr>
              <a:t>月</a:t>
            </a:r>
            <a:r>
              <a:rPr lang="en-US" altLang="ja-JP" sz="1600" b="1" dirty="0">
                <a:solidFill>
                  <a:srgbClr val="000000"/>
                </a:solidFill>
                <a:latin typeface="メイリオ" panose="020B0604030504040204" pitchFamily="50" charset="-128"/>
                <a:ea typeface="メイリオ" panose="020B0604030504040204" pitchFamily="50" charset="-128"/>
              </a:rPr>
              <a:t>24</a:t>
            </a:r>
            <a:r>
              <a:rPr lang="ja-JP" altLang="en-US" sz="1600" b="1" dirty="0">
                <a:solidFill>
                  <a:srgbClr val="000000"/>
                </a:solidFill>
                <a:latin typeface="メイリオ" panose="020B0604030504040204" pitchFamily="50" charset="-128"/>
                <a:ea typeface="メイリオ" panose="020B0604030504040204" pitchFamily="50" charset="-128"/>
              </a:rPr>
              <a:t>日　</a:t>
            </a:r>
            <a:r>
              <a:rPr lang="en-US" altLang="ja-JP" sz="1600" b="1" dirty="0">
                <a:solidFill>
                  <a:srgbClr val="000000"/>
                </a:solidFill>
                <a:latin typeface="メイリオ" panose="020B0604030504040204" pitchFamily="50" charset="-128"/>
                <a:ea typeface="メイリオ" panose="020B0604030504040204" pitchFamily="50" charset="-128"/>
              </a:rPr>
              <a:t>10</a:t>
            </a:r>
            <a:r>
              <a:rPr lang="ja-JP" altLang="en-US" sz="1600" b="1" dirty="0">
                <a:solidFill>
                  <a:srgbClr val="000000"/>
                </a:solidFill>
                <a:latin typeface="メイリオ" panose="020B0604030504040204" pitchFamily="50" charset="-128"/>
                <a:ea typeface="メイリオ" panose="020B0604030504040204" pitchFamily="50" charset="-128"/>
              </a:rPr>
              <a:t>版発行</a:t>
            </a:r>
            <a:endParaRPr lang="en-US" altLang="ja-JP" sz="1600" b="1" dirty="0">
              <a:solidFill>
                <a:srgbClr val="000000"/>
              </a:solidFill>
              <a:latin typeface="メイリオ" panose="020B0604030504040204" pitchFamily="50" charset="-128"/>
              <a:ea typeface="メイリオ" panose="020B0604030504040204" pitchFamily="50" charset="-128"/>
            </a:endParaRPr>
          </a:p>
          <a:p>
            <a:pPr eaLnBrk="1" hangingPunct="1">
              <a:spcBef>
                <a:spcPct val="0"/>
              </a:spcBef>
              <a:buNone/>
            </a:pPr>
            <a:r>
              <a:rPr lang="ja-JP" altLang="en-US" sz="1600" b="1" dirty="0">
                <a:solidFill>
                  <a:srgbClr val="000000"/>
                </a:solidFill>
                <a:latin typeface="メイリオ" panose="020B0604030504040204" pitchFamily="50" charset="-128"/>
                <a:ea typeface="メイリオ" panose="020B0604030504040204" pitchFamily="50" charset="-128"/>
              </a:rPr>
              <a:t>・</a:t>
            </a:r>
            <a:r>
              <a:rPr lang="en-US" altLang="ja-JP" sz="1600" b="1" dirty="0">
                <a:solidFill>
                  <a:srgbClr val="000000"/>
                </a:solidFill>
                <a:latin typeface="メイリオ" panose="020B0604030504040204" pitchFamily="50" charset="-128"/>
                <a:ea typeface="メイリオ" panose="020B0604030504040204" pitchFamily="50" charset="-128"/>
              </a:rPr>
              <a:t>2022</a:t>
            </a:r>
            <a:r>
              <a:rPr lang="ja-JP" altLang="en-US" sz="1600" b="1" dirty="0">
                <a:solidFill>
                  <a:srgbClr val="000000"/>
                </a:solidFill>
                <a:latin typeface="メイリオ" panose="020B0604030504040204" pitchFamily="50" charset="-128"/>
                <a:ea typeface="メイリオ" panose="020B0604030504040204" pitchFamily="50" charset="-128"/>
              </a:rPr>
              <a:t>年</a:t>
            </a:r>
            <a:r>
              <a:rPr lang="en-US" altLang="ja-JP" sz="1600" b="1" dirty="0">
                <a:solidFill>
                  <a:srgbClr val="000000"/>
                </a:solidFill>
                <a:latin typeface="メイリオ" panose="020B0604030504040204" pitchFamily="50" charset="-128"/>
                <a:ea typeface="メイリオ" panose="020B0604030504040204" pitchFamily="50" charset="-128"/>
              </a:rPr>
              <a:t>3</a:t>
            </a:r>
            <a:r>
              <a:rPr lang="ja-JP" altLang="en-US" sz="1600" b="1" dirty="0">
                <a:solidFill>
                  <a:srgbClr val="000000"/>
                </a:solidFill>
                <a:latin typeface="メイリオ" panose="020B0604030504040204" pitchFamily="50" charset="-128"/>
                <a:ea typeface="メイリオ" panose="020B0604030504040204" pitchFamily="50" charset="-128"/>
              </a:rPr>
              <a:t>月</a:t>
            </a:r>
            <a:r>
              <a:rPr lang="en-US" altLang="ja-JP" sz="1600" b="1" dirty="0">
                <a:solidFill>
                  <a:srgbClr val="000000"/>
                </a:solidFill>
                <a:latin typeface="メイリオ" panose="020B0604030504040204" pitchFamily="50" charset="-128"/>
                <a:ea typeface="メイリオ" panose="020B0604030504040204" pitchFamily="50" charset="-128"/>
              </a:rPr>
              <a:t>23</a:t>
            </a:r>
            <a:r>
              <a:rPr lang="ja-JP" altLang="en-US" sz="1600" b="1" dirty="0">
                <a:solidFill>
                  <a:srgbClr val="000000"/>
                </a:solidFill>
                <a:latin typeface="メイリオ" panose="020B0604030504040204" pitchFamily="50" charset="-128"/>
                <a:ea typeface="メイリオ" panose="020B0604030504040204" pitchFamily="50" charset="-128"/>
              </a:rPr>
              <a:t>日　</a:t>
            </a:r>
            <a:r>
              <a:rPr lang="en-US" altLang="ja-JP" sz="1600" b="1" dirty="0">
                <a:solidFill>
                  <a:srgbClr val="000000"/>
                </a:solidFill>
                <a:latin typeface="メイリオ" panose="020B0604030504040204" pitchFamily="50" charset="-128"/>
                <a:ea typeface="メイリオ" panose="020B0604030504040204" pitchFamily="50" charset="-128"/>
              </a:rPr>
              <a:t>11</a:t>
            </a:r>
            <a:r>
              <a:rPr lang="ja-JP" altLang="en-US" sz="1600" b="1" dirty="0">
                <a:solidFill>
                  <a:srgbClr val="000000"/>
                </a:solidFill>
                <a:latin typeface="メイリオ" panose="020B0604030504040204" pitchFamily="50" charset="-128"/>
                <a:ea typeface="メイリオ" panose="020B0604030504040204" pitchFamily="50" charset="-128"/>
              </a:rPr>
              <a:t>版発行</a:t>
            </a:r>
            <a:endParaRPr lang="en-US" altLang="ja-JP" sz="1600" b="1" dirty="0">
              <a:solidFill>
                <a:srgbClr val="000000"/>
              </a:solidFill>
              <a:latin typeface="メイリオ" panose="020B0604030504040204" pitchFamily="50" charset="-128"/>
              <a:ea typeface="メイリオ" panose="020B0604030504040204" pitchFamily="50" charset="-128"/>
            </a:endParaRPr>
          </a:p>
        </p:txBody>
      </p:sp>
    </p:spTree>
  </p:cSld>
  <p:clrMapOvr>
    <a:masterClrMapping/>
  </p:clrMapOvr>
</p:sld>
</file>

<file path=ppt/theme/theme1.xml><?xml version="1.0" encoding="utf-8"?>
<a:theme xmlns:a="http://schemas.openxmlformats.org/drawingml/2006/main" name="標準デザイン">
  <a:themeElements>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標準デザイン">
      <a:majorFont>
        <a:latin typeface="Times New Roman"/>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7160</TotalTime>
  <Words>11201</Words>
  <Application>Microsoft Office PowerPoint</Application>
  <PresentationFormat>画面に合わせる (4:3)</PresentationFormat>
  <Paragraphs>684</Paragraphs>
  <Slides>37</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37</vt:i4>
      </vt:variant>
    </vt:vector>
  </HeadingPairs>
  <TitlesOfParts>
    <vt:vector size="44" baseType="lpstr">
      <vt:lpstr>HGP創英角ｺﾞｼｯｸUB</vt:lpstr>
      <vt:lpstr>ＭＳ Ｐゴシック</vt:lpstr>
      <vt:lpstr>メイリオ</vt:lpstr>
      <vt:lpstr>Arial</vt:lpstr>
      <vt:lpstr>Calibri</vt:lpstr>
      <vt:lpstr>Times New Roman</vt:lpstr>
      <vt:lpstr>標準デザイン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（株） マルハン</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東京人事</dc:creator>
  <cp:lastModifiedBy>mmi047</cp:lastModifiedBy>
  <cp:revision>585</cp:revision>
  <cp:lastPrinted>2023-01-23T22:11:53Z</cp:lastPrinted>
  <dcterms:created xsi:type="dcterms:W3CDTF">2001-05-22T09:25:17Z</dcterms:created>
  <dcterms:modified xsi:type="dcterms:W3CDTF">2023-01-23T22:15:16Z</dcterms:modified>
</cp:coreProperties>
</file>