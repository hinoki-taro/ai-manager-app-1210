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971" r:id="rId2"/>
    <p:sldId id="968" r:id="rId3"/>
    <p:sldId id="964" r:id="rId4"/>
    <p:sldId id="970" r:id="rId5"/>
    <p:sldId id="969" r:id="rId6"/>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31ADB98-79DD-4422-81CD-27E670192F86}">
          <p14:sldIdLst>
            <p14:sldId id="971"/>
            <p14:sldId id="968"/>
            <p14:sldId id="964"/>
            <p14:sldId id="970"/>
            <p14:sldId id="9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5B5"/>
    <a:srgbClr val="006600"/>
    <a:srgbClr val="000000"/>
    <a:srgbClr val="FF00FF"/>
    <a:srgbClr val="FFFFFF"/>
    <a:srgbClr val="FFFFCC"/>
    <a:srgbClr val="CC3300"/>
    <a:srgbClr val="FFC000"/>
    <a:srgbClr val="CCFFCC"/>
    <a:srgbClr val="F79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32E155-7A3F-4998-98C1-32B477A3ED92}" v="1" dt="2025-05-14T23:47:53.220"/>
  </p1510:revLst>
</p1510:revInfo>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90" autoAdjust="0"/>
    <p:restoredTop sz="96242" autoAdjust="0"/>
  </p:normalViewPr>
  <p:slideViewPr>
    <p:cSldViewPr>
      <p:cViewPr varScale="1">
        <p:scale>
          <a:sx n="124" d="100"/>
          <a:sy n="124" d="100"/>
        </p:scale>
        <p:origin x="612" y="90"/>
      </p:cViewPr>
      <p:guideLst>
        <p:guide orient="horz" pos="2160"/>
        <p:guide pos="3840"/>
      </p:guideLst>
    </p:cSldViewPr>
  </p:slideViewPr>
  <p:outlineViewPr>
    <p:cViewPr>
      <p:scale>
        <a:sx n="33" d="100"/>
        <a:sy n="33" d="100"/>
      </p:scale>
      <p:origin x="0" y="-126"/>
    </p:cViewPr>
  </p:outlineViewPr>
  <p:notesTextViewPr>
    <p:cViewPr>
      <p:scale>
        <a:sx n="1" d="1"/>
        <a:sy n="1" d="1"/>
      </p:scale>
      <p:origin x="0" y="0"/>
    </p:cViewPr>
  </p:notesTextViewPr>
  <p:sorterViewPr>
    <p:cViewPr>
      <p:scale>
        <a:sx n="125" d="100"/>
        <a:sy n="125" d="100"/>
      </p:scale>
      <p:origin x="0" y="-6960"/>
    </p:cViewPr>
  </p:sorterViewPr>
  <p:notesViewPr>
    <p:cSldViewPr>
      <p:cViewPr varScale="1">
        <p:scale>
          <a:sx n="52" d="100"/>
          <a:sy n="52" d="100"/>
        </p:scale>
        <p:origin x="-2892"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346 mtokyo" userId="ae30fc0ab57ad2dd" providerId="LiveId" clId="{CF32E155-7A3F-4998-98C1-32B477A3ED92}"/>
    <pc:docChg chg="undo custSel modSld">
      <pc:chgData name="346 mtokyo" userId="ae30fc0ab57ad2dd" providerId="LiveId" clId="{CF32E155-7A3F-4998-98C1-32B477A3ED92}" dt="2025-05-14T23:47:53.220" v="2" actId="478"/>
      <pc:docMkLst>
        <pc:docMk/>
      </pc:docMkLst>
      <pc:sldChg chg="modSp mod">
        <pc:chgData name="346 mtokyo" userId="ae30fc0ab57ad2dd" providerId="LiveId" clId="{CF32E155-7A3F-4998-98C1-32B477A3ED92}" dt="2025-05-14T23:46:04.927" v="1" actId="1076"/>
        <pc:sldMkLst>
          <pc:docMk/>
          <pc:sldMk cId="2909960120" sldId="968"/>
        </pc:sldMkLst>
        <pc:spChg chg="mod">
          <ac:chgData name="346 mtokyo" userId="ae30fc0ab57ad2dd" providerId="LiveId" clId="{CF32E155-7A3F-4998-98C1-32B477A3ED92}" dt="2025-05-14T23:46:04.927" v="1" actId="1076"/>
          <ac:spMkLst>
            <pc:docMk/>
            <pc:sldMk cId="2909960120" sldId="968"/>
            <ac:spMk id="82" creationId="{10B249DA-412E-5262-5CE0-CF5E6A68F683}"/>
          </ac:spMkLst>
        </pc:spChg>
      </pc:sldChg>
      <pc:sldChg chg="delSp">
        <pc:chgData name="346 mtokyo" userId="ae30fc0ab57ad2dd" providerId="LiveId" clId="{CF32E155-7A3F-4998-98C1-32B477A3ED92}" dt="2025-05-14T23:47:53.220" v="2" actId="478"/>
        <pc:sldMkLst>
          <pc:docMk/>
          <pc:sldMk cId="4174976836" sldId="969"/>
        </pc:sldMkLst>
        <pc:spChg chg="del">
          <ac:chgData name="346 mtokyo" userId="ae30fc0ab57ad2dd" providerId="LiveId" clId="{CF32E155-7A3F-4998-98C1-32B477A3ED92}" dt="2025-05-14T23:47:53.220" v="2" actId="478"/>
          <ac:spMkLst>
            <pc:docMk/>
            <pc:sldMk cId="4174976836" sldId="969"/>
            <ac:spMk id="10" creationId="{1D6998A5-8787-C507-DDA6-2AF3A04A882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0644" tIns="45322" rIns="90644" bIns="45322"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4" y="0"/>
            <a:ext cx="2918831" cy="493316"/>
          </a:xfrm>
          <a:prstGeom prst="rect">
            <a:avLst/>
          </a:prstGeom>
        </p:spPr>
        <p:txBody>
          <a:bodyPr vert="horz" lIns="90644" tIns="45322" rIns="90644" bIns="45322" rtlCol="0"/>
          <a:lstStyle>
            <a:lvl1pPr algn="r">
              <a:defRPr sz="1200"/>
            </a:lvl1pPr>
          </a:lstStyle>
          <a:p>
            <a:fld id="{DFBD5DC3-5787-4F32-9DCB-57337AF42B0D}" type="datetimeFigureOut">
              <a:rPr kumimoji="1" lang="ja-JP" altLang="en-US" smtClean="0"/>
              <a:t>2025/5/15</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0644" tIns="45322" rIns="90644" bIns="45322"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4" y="9371285"/>
            <a:ext cx="2918831" cy="493316"/>
          </a:xfrm>
          <a:prstGeom prst="rect">
            <a:avLst/>
          </a:prstGeom>
        </p:spPr>
        <p:txBody>
          <a:bodyPr vert="horz" lIns="90644" tIns="45322" rIns="90644" bIns="45322" rtlCol="0" anchor="b"/>
          <a:lstStyle>
            <a:lvl1pPr algn="r">
              <a:defRPr sz="1200"/>
            </a:lvl1pPr>
          </a:lstStyle>
          <a:p>
            <a:fld id="{5A99C0A6-C08C-4F6E-8975-3E45454956A7}" type="slidenum">
              <a:rPr kumimoji="1" lang="ja-JP" altLang="en-US" smtClean="0"/>
              <a:t>‹#›</a:t>
            </a:fld>
            <a:endParaRPr kumimoji="1" lang="ja-JP" altLang="en-US"/>
          </a:p>
        </p:txBody>
      </p:sp>
    </p:spTree>
    <p:extLst>
      <p:ext uri="{BB962C8B-B14F-4D97-AF65-F5344CB8AC3E}">
        <p14:creationId xmlns:p14="http://schemas.microsoft.com/office/powerpoint/2010/main" val="71506820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0644" tIns="45322" rIns="90644" bIns="45322"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0"/>
            <a:ext cx="2918831" cy="493316"/>
          </a:xfrm>
          <a:prstGeom prst="rect">
            <a:avLst/>
          </a:prstGeom>
        </p:spPr>
        <p:txBody>
          <a:bodyPr vert="horz" lIns="90644" tIns="45322" rIns="90644" bIns="45322" rtlCol="0"/>
          <a:lstStyle>
            <a:lvl1pPr algn="r">
              <a:defRPr sz="1200"/>
            </a:lvl1pPr>
          </a:lstStyle>
          <a:p>
            <a:fld id="{1A171E73-C824-4AF2-AF6B-36A951B8B564}" type="datetimeFigureOut">
              <a:rPr kumimoji="1" lang="ja-JP" altLang="en-US" smtClean="0"/>
              <a:t>2025/5/15</a:t>
            </a:fld>
            <a:endParaRPr kumimoji="1" lang="ja-JP" altLang="en-US"/>
          </a:p>
        </p:txBody>
      </p:sp>
      <p:sp>
        <p:nvSpPr>
          <p:cNvPr id="4" name="スライド イメージ プレースホルダー 3"/>
          <p:cNvSpPr>
            <a:spLocks noGrp="1" noRot="1" noChangeAspect="1"/>
          </p:cNvSpPr>
          <p:nvPr>
            <p:ph type="sldImg" idx="2"/>
          </p:nvPr>
        </p:nvSpPr>
        <p:spPr>
          <a:xfrm>
            <a:off x="82550" y="741363"/>
            <a:ext cx="6570663" cy="3697287"/>
          </a:xfrm>
          <a:prstGeom prst="rect">
            <a:avLst/>
          </a:prstGeom>
          <a:noFill/>
          <a:ln w="12700">
            <a:solidFill>
              <a:prstClr val="black"/>
            </a:solidFill>
          </a:ln>
        </p:spPr>
        <p:txBody>
          <a:bodyPr vert="horz" lIns="90644" tIns="45322" rIns="90644" bIns="45322"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0644" tIns="45322" rIns="90644" bIns="4532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0644" tIns="45322" rIns="90644" bIns="45322"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5"/>
            <a:ext cx="2918831" cy="493316"/>
          </a:xfrm>
          <a:prstGeom prst="rect">
            <a:avLst/>
          </a:prstGeom>
        </p:spPr>
        <p:txBody>
          <a:bodyPr vert="horz" lIns="90644" tIns="45322" rIns="90644" bIns="45322" rtlCol="0" anchor="b"/>
          <a:lstStyle>
            <a:lvl1pPr algn="r">
              <a:defRPr sz="1200"/>
            </a:lvl1pPr>
          </a:lstStyle>
          <a:p>
            <a:fld id="{ED6D6A56-9D20-4FE5-A1FA-9B52A37DE55F}" type="slidenum">
              <a:rPr kumimoji="1" lang="ja-JP" altLang="en-US" smtClean="0"/>
              <a:t>‹#›</a:t>
            </a:fld>
            <a:endParaRPr kumimoji="1" lang="ja-JP" altLang="en-US"/>
          </a:p>
        </p:txBody>
      </p:sp>
    </p:spTree>
    <p:extLst>
      <p:ext uri="{BB962C8B-B14F-4D97-AF65-F5344CB8AC3E}">
        <p14:creationId xmlns:p14="http://schemas.microsoft.com/office/powerpoint/2010/main" val="269671519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7" name="図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2927648" y="5612086"/>
            <a:ext cx="9093200" cy="1057275"/>
          </a:xfrm>
          <a:prstGeom prst="rect">
            <a:avLst/>
          </a:prstGeom>
        </p:spPr>
      </p:pic>
      <p:pic>
        <p:nvPicPr>
          <p:cNvPr id="8" name="図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3339" y="199894"/>
            <a:ext cx="2016760" cy="499110"/>
          </a:xfrm>
          <a:prstGeom prst="rect">
            <a:avLst/>
          </a:prstGeom>
        </p:spPr>
      </p:pic>
      <p:sp>
        <p:nvSpPr>
          <p:cNvPr id="11" name="タイトル 1"/>
          <p:cNvSpPr>
            <a:spLocks noGrp="1"/>
          </p:cNvSpPr>
          <p:nvPr>
            <p:ph type="ctrTitle"/>
          </p:nvPr>
        </p:nvSpPr>
        <p:spPr>
          <a:xfrm>
            <a:off x="977867" y="2130426"/>
            <a:ext cx="10363200" cy="1470025"/>
          </a:xfrm>
        </p:spPr>
        <p:txBody>
          <a:bodyPr/>
          <a:lstStyle/>
          <a:p>
            <a:r>
              <a:rPr kumimoji="1" lang="ja-JP" altLang="en-US"/>
              <a:t>マスター タイトルの書式設定</a:t>
            </a:r>
            <a:endParaRPr kumimoji="1" lang="ja-JP" altLang="en-US" dirty="0"/>
          </a:p>
        </p:txBody>
      </p:sp>
      <p:sp>
        <p:nvSpPr>
          <p:cNvPr id="12" name="日付プレースホルダー 2"/>
          <p:cNvSpPr>
            <a:spLocks noGrp="1"/>
          </p:cNvSpPr>
          <p:nvPr>
            <p:ph type="dt" sz="half" idx="10"/>
          </p:nvPr>
        </p:nvSpPr>
        <p:spPr>
          <a:xfrm>
            <a:off x="8496267" y="4581129"/>
            <a:ext cx="2844800" cy="365125"/>
          </a:xfrm>
        </p:spPr>
        <p:txBody>
          <a:bodyPr/>
          <a:lstStyle>
            <a:lvl1pPr algn="r">
              <a:defRPr sz="1600"/>
            </a:lvl1pPr>
          </a:lstStyle>
          <a:p>
            <a:fld id="{D4D5F538-8D86-40C6-BE96-01B6BF35D085}" type="datetime1">
              <a:rPr lang="ja-JP" altLang="en-US" smtClean="0"/>
              <a:t>2025/5/15</a:t>
            </a:fld>
            <a:endParaRPr lang="ja-JP" altLang="en-US"/>
          </a:p>
        </p:txBody>
      </p:sp>
      <p:sp>
        <p:nvSpPr>
          <p:cNvPr id="14" name="テキスト ボックス 13"/>
          <p:cNvSpPr txBox="1"/>
          <p:nvPr userDrawn="1"/>
        </p:nvSpPr>
        <p:spPr>
          <a:xfrm>
            <a:off x="4943872" y="6597352"/>
            <a:ext cx="7200800" cy="246122"/>
          </a:xfrm>
          <a:prstGeom prst="rect">
            <a:avLst/>
          </a:prstGeom>
          <a:noFill/>
        </p:spPr>
        <p:txBody>
          <a:bodyPr wrap="square" lIns="91341" tIns="45671" rIns="91341" bIns="45671" rtlCol="0">
            <a:spAutoFit/>
          </a:bodyPr>
          <a:lstStyle/>
          <a:p>
            <a:pPr algn="r"/>
            <a:r>
              <a:rPr lang="en-US" altLang="ja-JP" sz="1000" dirty="0">
                <a:solidFill>
                  <a:prstClr val="black"/>
                </a:solidFill>
                <a:latin typeface="+mn-ea"/>
                <a:ea typeface="+mn-ea"/>
              </a:rPr>
              <a:t>Copyright(C) 2024 </a:t>
            </a:r>
            <a:r>
              <a:rPr lang="en-US" altLang="ja-JP" sz="1000" dirty="0" err="1">
                <a:solidFill>
                  <a:prstClr val="black"/>
                </a:solidFill>
                <a:latin typeface="+mn-ea"/>
                <a:ea typeface="+mn-ea"/>
              </a:rPr>
              <a:t>MMInternational</a:t>
            </a:r>
            <a:r>
              <a:rPr lang="en-US" altLang="ja-JP" sz="1000" dirty="0">
                <a:solidFill>
                  <a:prstClr val="black"/>
                </a:solidFill>
                <a:latin typeface="+mn-ea"/>
                <a:ea typeface="+mn-ea"/>
              </a:rPr>
              <a:t> Inc. All rights reserved</a:t>
            </a:r>
            <a:endParaRPr lang="ja-JP" altLang="en-US" sz="1000" dirty="0">
              <a:solidFill>
                <a:prstClr val="black"/>
              </a:solidFill>
              <a:latin typeface="+mn-ea"/>
              <a:ea typeface="+mn-ea"/>
            </a:endParaRPr>
          </a:p>
        </p:txBody>
      </p:sp>
      <p:sp>
        <p:nvSpPr>
          <p:cNvPr id="16" name="テキスト プレースホルダー 15"/>
          <p:cNvSpPr>
            <a:spLocks noGrp="1"/>
          </p:cNvSpPr>
          <p:nvPr>
            <p:ph type="body" sz="quarter" idx="11"/>
          </p:nvPr>
        </p:nvSpPr>
        <p:spPr>
          <a:xfrm>
            <a:off x="1451142" y="3933826"/>
            <a:ext cx="9889925" cy="575295"/>
          </a:xfrm>
        </p:spPr>
        <p:txBody>
          <a:bodyPr>
            <a:normAutofit/>
          </a:bodyPr>
          <a:lstStyle>
            <a:lvl1pPr marL="0" indent="0" algn="ctr">
              <a:buNone/>
              <a:defRPr sz="2800"/>
            </a:lvl1pPr>
          </a:lstStyle>
          <a:p>
            <a:pPr lvl="0"/>
            <a:r>
              <a:rPr kumimoji="1" lang="ja-JP" altLang="en-US"/>
              <a:t>マスター テキストの書式設定</a:t>
            </a:r>
          </a:p>
        </p:txBody>
      </p:sp>
    </p:spTree>
    <p:extLst>
      <p:ext uri="{BB962C8B-B14F-4D97-AF65-F5344CB8AC3E}">
        <p14:creationId xmlns:p14="http://schemas.microsoft.com/office/powerpoint/2010/main" val="3967099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 y="6118078"/>
            <a:ext cx="12192000" cy="727725"/>
          </a:xfrm>
          <a:prstGeom prst="rect">
            <a:avLst/>
          </a:prstGeom>
        </p:spPr>
      </p:pic>
      <p:sp>
        <p:nvSpPr>
          <p:cNvPr id="2" name="タイトル 1"/>
          <p:cNvSpPr>
            <a:spLocks noGrp="1"/>
          </p:cNvSpPr>
          <p:nvPr>
            <p:ph type="title"/>
          </p:nvPr>
        </p:nvSpPr>
        <p:spPr>
          <a:xfrm>
            <a:off x="83722" y="62863"/>
            <a:ext cx="10972800" cy="720000"/>
          </a:xfrm>
        </p:spPr>
        <p:txBody>
          <a:bodyPr>
            <a:normAutofit/>
          </a:bodyPr>
          <a:lstStyle>
            <a:lvl1pPr algn="l">
              <a:defRPr sz="3200"/>
            </a:lvl1pPr>
          </a:lstStyle>
          <a:p>
            <a:r>
              <a:rPr kumimoji="1" lang="ja-JP" altLang="en-US"/>
              <a:t>マスター タイトルの書式設定</a:t>
            </a:r>
          </a:p>
        </p:txBody>
      </p:sp>
      <p:sp>
        <p:nvSpPr>
          <p:cNvPr id="6" name="テキスト ボックス 5"/>
          <p:cNvSpPr txBox="1"/>
          <p:nvPr userDrawn="1"/>
        </p:nvSpPr>
        <p:spPr>
          <a:xfrm>
            <a:off x="93301" y="6579761"/>
            <a:ext cx="3842731" cy="246122"/>
          </a:xfrm>
          <a:prstGeom prst="rect">
            <a:avLst/>
          </a:prstGeom>
          <a:noFill/>
        </p:spPr>
        <p:txBody>
          <a:bodyPr wrap="square" lIns="91341" tIns="45671" rIns="91341" bIns="45671" rtlCol="0">
            <a:spAutoFit/>
          </a:bodyPr>
          <a:lstStyle/>
          <a:p>
            <a:pPr algn="l"/>
            <a:r>
              <a:rPr lang="en-US" altLang="ja-JP" sz="1000" dirty="0">
                <a:solidFill>
                  <a:prstClr val="black"/>
                </a:solidFill>
                <a:latin typeface="+mn-ea"/>
                <a:ea typeface="+mn-ea"/>
              </a:rPr>
              <a:t>Copyright(C) 2025 </a:t>
            </a:r>
            <a:r>
              <a:rPr lang="en-US" altLang="ja-JP" sz="1000" dirty="0" err="1">
                <a:solidFill>
                  <a:prstClr val="black"/>
                </a:solidFill>
                <a:latin typeface="+mn-ea"/>
                <a:ea typeface="+mn-ea"/>
              </a:rPr>
              <a:t>MMInternational</a:t>
            </a:r>
            <a:r>
              <a:rPr lang="en-US" altLang="ja-JP" sz="1000" dirty="0">
                <a:solidFill>
                  <a:prstClr val="black"/>
                </a:solidFill>
                <a:latin typeface="+mn-ea"/>
                <a:ea typeface="+mn-ea"/>
              </a:rPr>
              <a:t> Inc. All rights reserved</a:t>
            </a:r>
            <a:endParaRPr lang="ja-JP" altLang="en-US" sz="1000" dirty="0">
              <a:solidFill>
                <a:prstClr val="black"/>
              </a:solidFill>
              <a:latin typeface="+mn-ea"/>
              <a:ea typeface="+mn-ea"/>
            </a:endParaRPr>
          </a:p>
        </p:txBody>
      </p:sp>
      <p:pic>
        <p:nvPicPr>
          <p:cNvPr id="7" name="図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95707" y="235697"/>
            <a:ext cx="1512571" cy="374333"/>
          </a:xfrm>
          <a:prstGeom prst="rect">
            <a:avLst/>
          </a:prstGeom>
        </p:spPr>
      </p:pic>
      <p:pic>
        <p:nvPicPr>
          <p:cNvPr id="10" name="図 9"/>
          <p:cNvPicPr>
            <a:picLocks noChangeAspect="1"/>
          </p:cNvPicPr>
          <p:nvPr userDrawn="1"/>
        </p:nvPicPr>
        <p:blipFill rotWithShape="1">
          <a:blip r:embed="rId2">
            <a:extLst>
              <a:ext uri="{28A0092B-C50C-407E-A947-70E740481C1C}">
                <a14:useLocalDpi xmlns:a14="http://schemas.microsoft.com/office/drawing/2010/main" val="0"/>
              </a:ext>
            </a:extLst>
          </a:blip>
          <a:srcRect l="10629"/>
          <a:stretch/>
        </p:blipFill>
        <p:spPr>
          <a:xfrm flipH="1">
            <a:off x="-7264" y="135042"/>
            <a:ext cx="12192000" cy="989703"/>
          </a:xfrm>
          <a:prstGeom prst="rect">
            <a:avLst/>
          </a:prstGeom>
        </p:spPr>
      </p:pic>
      <p:sp>
        <p:nvSpPr>
          <p:cNvPr id="15" name="スライド番号プレースホルダー 14"/>
          <p:cNvSpPr>
            <a:spLocks noGrp="1"/>
          </p:cNvSpPr>
          <p:nvPr>
            <p:ph type="sldNum" sz="quarter" idx="12"/>
          </p:nvPr>
        </p:nvSpPr>
        <p:spPr>
          <a:xfrm>
            <a:off x="9279552" y="6520260"/>
            <a:ext cx="2844800" cy="305623"/>
          </a:xfrm>
        </p:spPr>
        <p:txBody>
          <a:bodyPr/>
          <a:lstStyle/>
          <a:p>
            <a:fld id="{E6FB4C7C-607D-4683-B379-1611BA2EE53A}" type="slidenum">
              <a:rPr kumimoji="1" lang="ja-JP" altLang="en-US" smtClean="0"/>
              <a:t>‹#›</a:t>
            </a:fld>
            <a:endParaRPr kumimoji="1" lang="ja-JP" altLang="en-US"/>
          </a:p>
        </p:txBody>
      </p:sp>
    </p:spTree>
    <p:extLst>
      <p:ext uri="{BB962C8B-B14F-4D97-AF65-F5344CB8AC3E}">
        <p14:creationId xmlns:p14="http://schemas.microsoft.com/office/powerpoint/2010/main" val="75958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83722" y="75768"/>
            <a:ext cx="11498678" cy="720000"/>
          </a:xfrm>
        </p:spPr>
        <p:txBody>
          <a:bodyPr>
            <a:normAutofit/>
          </a:bodyPr>
          <a:lstStyle>
            <a:lvl1pPr algn="l">
              <a:defRPr sz="3200"/>
            </a:lvl1pPr>
          </a:lstStyle>
          <a:p>
            <a:r>
              <a:rPr kumimoji="1" lang="ja-JP" altLang="en-US"/>
              <a:t>マスター タイトルの書式設定</a:t>
            </a:r>
          </a:p>
        </p:txBody>
      </p:sp>
      <p:sp>
        <p:nvSpPr>
          <p:cNvPr id="6" name="テキスト ボックス 5"/>
          <p:cNvSpPr txBox="1"/>
          <p:nvPr userDrawn="1"/>
        </p:nvSpPr>
        <p:spPr>
          <a:xfrm>
            <a:off x="4559829" y="6599898"/>
            <a:ext cx="7200800" cy="246122"/>
          </a:xfrm>
          <a:prstGeom prst="rect">
            <a:avLst/>
          </a:prstGeom>
          <a:noFill/>
        </p:spPr>
        <p:txBody>
          <a:bodyPr wrap="square" lIns="91341" tIns="45671" rIns="91341" bIns="45671" rtlCol="0">
            <a:spAutoFit/>
          </a:bodyPr>
          <a:lstStyle/>
          <a:p>
            <a:pPr algn="r"/>
            <a:r>
              <a:rPr lang="en-US" altLang="ja-JP" sz="1000" dirty="0">
                <a:solidFill>
                  <a:prstClr val="black"/>
                </a:solidFill>
                <a:latin typeface="+mn-ea"/>
                <a:ea typeface="+mn-ea"/>
              </a:rPr>
              <a:t>Copyright(C) 2023 </a:t>
            </a:r>
            <a:r>
              <a:rPr lang="en-US" altLang="ja-JP" sz="1000" dirty="0" err="1">
                <a:solidFill>
                  <a:prstClr val="black"/>
                </a:solidFill>
                <a:latin typeface="+mn-ea"/>
                <a:ea typeface="+mn-ea"/>
              </a:rPr>
              <a:t>MMInternational</a:t>
            </a:r>
            <a:r>
              <a:rPr lang="en-US" altLang="ja-JP" sz="1000" dirty="0">
                <a:solidFill>
                  <a:prstClr val="black"/>
                </a:solidFill>
                <a:latin typeface="+mn-ea"/>
                <a:ea typeface="+mn-ea"/>
              </a:rPr>
              <a:t> Inc. All rights reserved</a:t>
            </a:r>
            <a:endParaRPr lang="ja-JP" altLang="en-US" sz="1000" dirty="0">
              <a:solidFill>
                <a:prstClr val="black"/>
              </a:solidFill>
              <a:latin typeface="+mn-ea"/>
              <a:ea typeface="+mn-ea"/>
            </a:endParaRPr>
          </a:p>
        </p:txBody>
      </p:sp>
      <p:pic>
        <p:nvPicPr>
          <p:cNvPr id="7" name="図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95707" y="235697"/>
            <a:ext cx="1512571" cy="374333"/>
          </a:xfrm>
          <a:prstGeom prst="rect">
            <a:avLst/>
          </a:prstGeom>
        </p:spPr>
      </p:pic>
      <p:pic>
        <p:nvPicPr>
          <p:cNvPr id="10" name="図 9"/>
          <p:cNvPicPr>
            <a:picLocks noChangeAspect="1"/>
          </p:cNvPicPr>
          <p:nvPr userDrawn="1"/>
        </p:nvPicPr>
        <p:blipFill rotWithShape="1">
          <a:blip r:embed="rId3">
            <a:extLst>
              <a:ext uri="{28A0092B-C50C-407E-A947-70E740481C1C}">
                <a14:useLocalDpi xmlns:a14="http://schemas.microsoft.com/office/drawing/2010/main" val="0"/>
              </a:ext>
            </a:extLst>
          </a:blip>
          <a:srcRect l="10629"/>
          <a:stretch/>
        </p:blipFill>
        <p:spPr>
          <a:xfrm flipH="1">
            <a:off x="-7264" y="135042"/>
            <a:ext cx="12192000" cy="989703"/>
          </a:xfrm>
          <a:prstGeom prst="rect">
            <a:avLst/>
          </a:prstGeom>
        </p:spPr>
      </p:pic>
      <p:pic>
        <p:nvPicPr>
          <p:cNvPr id="11" name="図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93296"/>
            <a:ext cx="12192000" cy="764704"/>
          </a:xfrm>
          <a:prstGeom prst="rect">
            <a:avLst/>
          </a:prstGeom>
        </p:spPr>
      </p:pic>
      <p:sp>
        <p:nvSpPr>
          <p:cNvPr id="15" name="スライド番号プレースホルダー 14"/>
          <p:cNvSpPr>
            <a:spLocks noGrp="1"/>
          </p:cNvSpPr>
          <p:nvPr>
            <p:ph type="sldNum" sz="quarter" idx="12"/>
          </p:nvPr>
        </p:nvSpPr>
        <p:spPr>
          <a:xfrm>
            <a:off x="9279552" y="6520261"/>
            <a:ext cx="2844800" cy="325760"/>
          </a:xfrm>
        </p:spPr>
        <p:txBody>
          <a:bodyPr/>
          <a:lstStyle/>
          <a:p>
            <a:fld id="{E6FB4C7C-607D-4683-B379-1611BA2EE53A}" type="slidenum">
              <a:rPr kumimoji="1" lang="ja-JP" altLang="en-US" smtClean="0"/>
              <a:t>‹#›</a:t>
            </a:fld>
            <a:endParaRPr kumimoji="1" lang="ja-JP" altLang="en-US" dirty="0"/>
          </a:p>
        </p:txBody>
      </p:sp>
    </p:spTree>
    <p:extLst>
      <p:ext uri="{BB962C8B-B14F-4D97-AF65-F5344CB8AC3E}">
        <p14:creationId xmlns:p14="http://schemas.microsoft.com/office/powerpoint/2010/main" val="870393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63084" y="2906715"/>
            <a:ext cx="10363200" cy="1500187"/>
          </a:xfrm>
        </p:spPr>
        <p:txBody>
          <a:bodyPr anchor="b"/>
          <a:lstStyle>
            <a:lvl1pPr marL="0" indent="0">
              <a:buNone/>
              <a:defRPr sz="2000">
                <a:solidFill>
                  <a:schemeClr val="tx1">
                    <a:tint val="75000"/>
                  </a:schemeClr>
                </a:solidFill>
              </a:defRPr>
            </a:lvl1pPr>
            <a:lvl2pPr marL="457162" indent="0">
              <a:buNone/>
              <a:defRPr sz="1800">
                <a:solidFill>
                  <a:schemeClr val="tx1">
                    <a:tint val="75000"/>
                  </a:schemeClr>
                </a:solidFill>
              </a:defRPr>
            </a:lvl2pPr>
            <a:lvl3pPr marL="914325" indent="0">
              <a:buNone/>
              <a:defRPr sz="1600">
                <a:solidFill>
                  <a:schemeClr val="tx1">
                    <a:tint val="75000"/>
                  </a:schemeClr>
                </a:solidFill>
              </a:defRPr>
            </a:lvl3pPr>
            <a:lvl4pPr marL="1371487" indent="0">
              <a:buNone/>
              <a:defRPr sz="1400">
                <a:solidFill>
                  <a:schemeClr val="tx1">
                    <a:tint val="75000"/>
                  </a:schemeClr>
                </a:solidFill>
              </a:defRPr>
            </a:lvl4pPr>
            <a:lvl5pPr marL="1828650" indent="0">
              <a:buNone/>
              <a:defRPr sz="1400">
                <a:solidFill>
                  <a:schemeClr val="tx1">
                    <a:tint val="75000"/>
                  </a:schemeClr>
                </a:solidFill>
              </a:defRPr>
            </a:lvl5pPr>
            <a:lvl6pPr marL="2285811" indent="0">
              <a:buNone/>
              <a:defRPr sz="1400">
                <a:solidFill>
                  <a:schemeClr val="tx1">
                    <a:tint val="75000"/>
                  </a:schemeClr>
                </a:solidFill>
              </a:defRPr>
            </a:lvl6pPr>
            <a:lvl7pPr marL="2742974" indent="0">
              <a:buNone/>
              <a:defRPr sz="1400">
                <a:solidFill>
                  <a:schemeClr val="tx1">
                    <a:tint val="75000"/>
                  </a:schemeClr>
                </a:solidFill>
              </a:defRPr>
            </a:lvl7pPr>
            <a:lvl8pPr marL="3200136" indent="0">
              <a:buNone/>
              <a:defRPr sz="1400">
                <a:solidFill>
                  <a:schemeClr val="tx1">
                    <a:tint val="75000"/>
                  </a:schemeClr>
                </a:solidFill>
              </a:defRPr>
            </a:lvl8pPr>
            <a:lvl9pPr marL="3657299"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49ACAD7C-6642-472D-9F23-BF99D4930328}" type="datetime1">
              <a:rPr lang="ja-JP" altLang="en-US" smtClean="0">
                <a:solidFill>
                  <a:prstClr val="black">
                    <a:tint val="75000"/>
                  </a:prstClr>
                </a:solidFill>
              </a:rPr>
              <a:t>2025/5/15</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5"/>
            <a:ext cx="12192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sz="1800">
              <a:solidFill>
                <a:prstClr val="white"/>
              </a:solidFill>
            </a:endParaRPr>
          </a:p>
        </p:txBody>
      </p:sp>
      <p:sp>
        <p:nvSpPr>
          <p:cNvPr id="8" name="正方形/長方形 7"/>
          <p:cNvSpPr/>
          <p:nvPr/>
        </p:nvSpPr>
        <p:spPr>
          <a:xfrm>
            <a:off x="0" y="723287"/>
            <a:ext cx="12192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sz="1800">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172620" y="415231"/>
            <a:ext cx="950976" cy="262128"/>
          </a:xfrm>
          <a:prstGeom prst="rect">
            <a:avLst/>
          </a:prstGeom>
        </p:spPr>
      </p:pic>
    </p:spTree>
    <p:extLst>
      <p:ext uri="{BB962C8B-B14F-4D97-AF65-F5344CB8AC3E}">
        <p14:creationId xmlns:p14="http://schemas.microsoft.com/office/powerpoint/2010/main" val="41875311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8C2823-D9BA-4AE6-AC40-49A696A47B6B}" type="datetime1">
              <a:rPr kumimoji="1" lang="ja-JP" altLang="en-US" smtClean="0"/>
              <a:t>2025/5/15</a:t>
            </a:fld>
            <a:endParaRPr kumimoji="1" lang="ja-JP" altLang="en-US"/>
          </a:p>
        </p:txBody>
      </p:sp>
      <p:sp>
        <p:nvSpPr>
          <p:cNvPr id="5" name="フッター プレースホルダー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FB4C7C-607D-4683-B379-1611BA2EE53A}" type="slidenum">
              <a:rPr kumimoji="1" lang="ja-JP" altLang="en-US" smtClean="0"/>
              <a:t>‹#›</a:t>
            </a:fld>
            <a:endParaRPr kumimoji="1" lang="ja-JP" altLang="en-US"/>
          </a:p>
        </p:txBody>
      </p:sp>
    </p:spTree>
    <p:extLst>
      <p:ext uri="{BB962C8B-B14F-4D97-AF65-F5344CB8AC3E}">
        <p14:creationId xmlns:p14="http://schemas.microsoft.com/office/powerpoint/2010/main" val="4216824264"/>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74" r:id="rId3"/>
    <p:sldLayoutId id="2147483688" r:id="rId4"/>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60B06-FBA9-C7A7-6C20-47267A977857}"/>
            </a:ext>
          </a:extLst>
        </p:cNvPr>
        <p:cNvGrpSpPr/>
        <p:nvPr/>
      </p:nvGrpSpPr>
      <p:grpSpPr>
        <a:xfrm>
          <a:off x="0" y="0"/>
          <a:ext cx="0" cy="0"/>
          <a:chOff x="0" y="0"/>
          <a:chExt cx="0" cy="0"/>
        </a:xfrm>
      </p:grpSpPr>
      <p:sp>
        <p:nvSpPr>
          <p:cNvPr id="86" name="Text Box 31">
            <a:extLst>
              <a:ext uri="{FF2B5EF4-FFF2-40B4-BE49-F238E27FC236}">
                <a16:creationId xmlns:a16="http://schemas.microsoft.com/office/drawing/2014/main" id="{33948DCF-8788-4C33-B70D-645FABD05255}"/>
              </a:ext>
            </a:extLst>
          </p:cNvPr>
          <p:cNvSpPr txBox="1">
            <a:spLocks noChangeArrowheads="1"/>
          </p:cNvSpPr>
          <p:nvPr/>
        </p:nvSpPr>
        <p:spPr bwMode="auto">
          <a:xfrm>
            <a:off x="11817444" y="6671998"/>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a:t>
            </a:fld>
            <a:r>
              <a:rPr lang="ja-JP" altLang="en-US" sz="1050" dirty="0">
                <a:latin typeface="Helvetica" pitchFamily="34" charset="0"/>
                <a:ea typeface="中ゴシックBBB" pitchFamily="49" charset="-128"/>
              </a:rPr>
              <a:t>－</a:t>
            </a:r>
          </a:p>
        </p:txBody>
      </p:sp>
      <p:sp>
        <p:nvSpPr>
          <p:cNvPr id="4" name="タイトル 2">
            <a:extLst>
              <a:ext uri="{FF2B5EF4-FFF2-40B4-BE49-F238E27FC236}">
                <a16:creationId xmlns:a16="http://schemas.microsoft.com/office/drawing/2014/main" id="{1B0430C3-41FC-F374-009B-C9A652671FCA}"/>
              </a:ext>
            </a:extLst>
          </p:cNvPr>
          <p:cNvSpPr txBox="1">
            <a:spLocks/>
          </p:cNvSpPr>
          <p:nvPr/>
        </p:nvSpPr>
        <p:spPr>
          <a:xfrm>
            <a:off x="-23834" y="2996952"/>
            <a:ext cx="12161124"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2800" dirty="0">
                <a:latin typeface="BIZ UDPゴシック" panose="020B0400000000000000" pitchFamily="50" charset="-128"/>
                <a:ea typeface="BIZ UDPゴシック" panose="020B0400000000000000" pitchFamily="50" charset="-128"/>
              </a:rPr>
              <a:t>2025</a:t>
            </a:r>
            <a:r>
              <a:rPr lang="ja-JP" altLang="en-US" sz="2800" dirty="0">
                <a:latin typeface="BIZ UDPゴシック" panose="020B0400000000000000" pitchFamily="50" charset="-128"/>
                <a:ea typeface="BIZ UDPゴシック" panose="020B0400000000000000" pitchFamily="50" charset="-128"/>
              </a:rPr>
              <a:t>年度（</a:t>
            </a:r>
            <a:r>
              <a:rPr lang="en-US" altLang="ja-JP" sz="2800" dirty="0">
                <a:latin typeface="BIZ UDPゴシック" panose="020B0400000000000000" pitchFamily="50" charset="-128"/>
                <a:ea typeface="BIZ UDPゴシック" panose="020B0400000000000000" pitchFamily="50" charset="-128"/>
              </a:rPr>
              <a:t>31</a:t>
            </a:r>
            <a:r>
              <a:rPr lang="ja-JP" altLang="en-US" sz="2800" dirty="0">
                <a:latin typeface="BIZ UDPゴシック" panose="020B0400000000000000" pitchFamily="50" charset="-128"/>
                <a:ea typeface="BIZ UDPゴシック" panose="020B0400000000000000" pitchFamily="50" charset="-128"/>
              </a:rPr>
              <a:t>期）上期　</a:t>
            </a:r>
            <a:endParaRPr lang="en-US" altLang="ja-JP" sz="2800" dirty="0">
              <a:latin typeface="BIZ UDPゴシック" panose="020B0400000000000000" pitchFamily="50" charset="-128"/>
              <a:ea typeface="BIZ UDPゴシック" panose="020B0400000000000000" pitchFamily="50" charset="-128"/>
            </a:endParaRPr>
          </a:p>
          <a:p>
            <a:pPr algn="ctr"/>
            <a:r>
              <a:rPr lang="ja-JP" altLang="en-US" sz="2800" dirty="0">
                <a:latin typeface="BIZ UDPゴシック" panose="020B0400000000000000" pitchFamily="50" charset="-128"/>
                <a:ea typeface="BIZ UDPゴシック" panose="020B0400000000000000" pitchFamily="50" charset="-128"/>
              </a:rPr>
              <a:t>清掃ロボット販売の営業インセンティブについて</a:t>
            </a:r>
            <a:endParaRPr lang="en-US" altLang="ja-JP" sz="2800" dirty="0">
              <a:latin typeface="BIZ UDPゴシック" panose="020B0400000000000000" pitchFamily="50" charset="-128"/>
              <a:ea typeface="BIZ UDPゴシック" panose="020B0400000000000000" pitchFamily="50" charset="-128"/>
            </a:endParaRPr>
          </a:p>
        </p:txBody>
      </p:sp>
      <p:sp>
        <p:nvSpPr>
          <p:cNvPr id="5" name="タイトル 2">
            <a:extLst>
              <a:ext uri="{FF2B5EF4-FFF2-40B4-BE49-F238E27FC236}">
                <a16:creationId xmlns:a16="http://schemas.microsoft.com/office/drawing/2014/main" id="{65773E18-9083-E634-7B55-9EC97E71222C}"/>
              </a:ext>
            </a:extLst>
          </p:cNvPr>
          <p:cNvSpPr txBox="1">
            <a:spLocks/>
          </p:cNvSpPr>
          <p:nvPr/>
        </p:nvSpPr>
        <p:spPr>
          <a:xfrm>
            <a:off x="8297280" y="4272401"/>
            <a:ext cx="3520164"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r"/>
            <a:r>
              <a:rPr lang="en-US" altLang="ja-JP" sz="1800" dirty="0">
                <a:latin typeface="BIZ UDPゴシック" panose="020B0400000000000000" pitchFamily="50" charset="-128"/>
                <a:ea typeface="BIZ UDPゴシック" panose="020B0400000000000000" pitchFamily="50" charset="-128"/>
              </a:rPr>
              <a:t>2025</a:t>
            </a:r>
            <a:r>
              <a:rPr lang="ja-JP" altLang="en-US" sz="1800" dirty="0">
                <a:latin typeface="BIZ UDPゴシック" panose="020B0400000000000000" pitchFamily="50" charset="-128"/>
                <a:ea typeface="BIZ UDPゴシック" panose="020B0400000000000000" pitchFamily="50" charset="-128"/>
              </a:rPr>
              <a:t>年</a:t>
            </a:r>
            <a:r>
              <a:rPr lang="en-US" altLang="ja-JP" sz="1800" dirty="0">
                <a:latin typeface="BIZ UDPゴシック" panose="020B0400000000000000" pitchFamily="50" charset="-128"/>
                <a:ea typeface="BIZ UDPゴシック" panose="020B0400000000000000" pitchFamily="50" charset="-128"/>
              </a:rPr>
              <a:t>5</a:t>
            </a:r>
            <a:r>
              <a:rPr lang="ja-JP" altLang="en-US" sz="1800" dirty="0">
                <a:latin typeface="BIZ UDPゴシック" panose="020B0400000000000000" pitchFamily="50" charset="-128"/>
                <a:ea typeface="BIZ UDPゴシック" panose="020B0400000000000000" pitchFamily="50" charset="-128"/>
              </a:rPr>
              <a:t>月</a:t>
            </a:r>
            <a:r>
              <a:rPr lang="en-US" altLang="ja-JP" sz="1800" dirty="0">
                <a:latin typeface="BIZ UDPゴシック" panose="020B0400000000000000" pitchFamily="50" charset="-128"/>
                <a:ea typeface="BIZ UDPゴシック" panose="020B0400000000000000" pitchFamily="50" charset="-128"/>
              </a:rPr>
              <a:t>12</a:t>
            </a:r>
            <a:r>
              <a:rPr lang="ja-JP" altLang="en-US" sz="1800" dirty="0">
                <a:latin typeface="BIZ UDPゴシック" panose="020B0400000000000000" pitchFamily="50" charset="-128"/>
                <a:ea typeface="BIZ UDPゴシック" panose="020B0400000000000000" pitchFamily="50" charset="-128"/>
              </a:rPr>
              <a:t>日</a:t>
            </a:r>
            <a:endParaRPr lang="en-US" altLang="ja-JP" sz="1800" dirty="0">
              <a:latin typeface="BIZ UDPゴシック" panose="020B0400000000000000" pitchFamily="50" charset="-128"/>
              <a:ea typeface="BIZ UDPゴシック" panose="020B0400000000000000" pitchFamily="50" charset="-128"/>
            </a:endParaRPr>
          </a:p>
          <a:p>
            <a:pPr algn="r"/>
            <a:r>
              <a:rPr lang="en-US" altLang="ja-JP" sz="1800" dirty="0">
                <a:latin typeface="BIZ UDPゴシック" panose="020B0400000000000000" pitchFamily="50" charset="-128"/>
                <a:ea typeface="BIZ UDPゴシック" panose="020B0400000000000000" pitchFamily="50" charset="-128"/>
              </a:rPr>
              <a:t>MMI</a:t>
            </a:r>
            <a:r>
              <a:rPr lang="ja-JP" altLang="en-US" sz="1800" dirty="0">
                <a:latin typeface="BIZ UDPゴシック" panose="020B0400000000000000" pitchFamily="50" charset="-128"/>
                <a:ea typeface="BIZ UDPゴシック" panose="020B0400000000000000" pitchFamily="50" charset="-128"/>
              </a:rPr>
              <a:t>戦略会議</a:t>
            </a:r>
            <a:endParaRPr lang="en-US" altLang="ja-JP" sz="18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642349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F53A4-0267-502F-352B-F9639320A73C}"/>
            </a:ext>
          </a:extLst>
        </p:cNvPr>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6EB5A25B-9183-53A2-8B4C-23CE05E455C0}"/>
              </a:ext>
            </a:extLst>
          </p:cNvPr>
          <p:cNvSpPr/>
          <p:nvPr/>
        </p:nvSpPr>
        <p:spPr>
          <a:xfrm>
            <a:off x="131149" y="1124744"/>
            <a:ext cx="11880000" cy="864000"/>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600"/>
              </a:lnSpc>
            </a:pPr>
            <a:r>
              <a:rPr lang="ja-JP" altLang="en-US" sz="1400" b="1" dirty="0">
                <a:solidFill>
                  <a:schemeClr val="tx1"/>
                </a:solidFill>
                <a:latin typeface="BIZ UDPゴシック" panose="020B0400000000000000" pitchFamily="50" charset="-128"/>
                <a:ea typeface="BIZ UDPゴシック" panose="020B0400000000000000" pitchFamily="50" charset="-128"/>
              </a:rPr>
              <a:t>■ロボ販売におけるインセンティブ制度の導入について</a:t>
            </a:r>
            <a:endParaRPr lang="en-US" altLang="ja-JP" sz="1400" b="1" dirty="0">
              <a:solidFill>
                <a:schemeClr val="tx1"/>
              </a:solidFill>
              <a:latin typeface="BIZ UDPゴシック" panose="020B0400000000000000" pitchFamily="50" charset="-128"/>
              <a:ea typeface="BIZ UDPゴシック" panose="020B0400000000000000" pitchFamily="50" charset="-128"/>
            </a:endParaRPr>
          </a:p>
          <a:p>
            <a:pPr marL="800100" lvl="1" indent="-342900">
              <a:lnSpc>
                <a:spcPts val="1600"/>
              </a:lnSpc>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社員一人ひとりの業績を正当に評価し、働きがいを高めることを目的に、</a:t>
            </a:r>
            <a:r>
              <a:rPr lang="en-US" altLang="ja-JP" sz="1100" dirty="0">
                <a:solidFill>
                  <a:schemeClr val="tx1"/>
                </a:solidFill>
                <a:latin typeface="BIZ UDPゴシック" panose="020B0400000000000000" pitchFamily="50" charset="-128"/>
                <a:ea typeface="BIZ UDPゴシック" panose="020B0400000000000000" pitchFamily="50" charset="-128"/>
              </a:rPr>
              <a:t>2025</a:t>
            </a:r>
            <a:r>
              <a:rPr lang="ja-JP" altLang="en-US" sz="1100" dirty="0">
                <a:solidFill>
                  <a:schemeClr val="tx1"/>
                </a:solidFill>
                <a:latin typeface="BIZ UDPゴシック" panose="020B0400000000000000" pitchFamily="50" charset="-128"/>
                <a:ea typeface="BIZ UDPゴシック" panose="020B0400000000000000" pitchFamily="50" charset="-128"/>
              </a:rPr>
              <a:t>年度上期中の期間限定でロボット販売に対する営業インセンティブ（エムエムポイント）を導入します。</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800100" lvl="1" indent="-342900">
              <a:lnSpc>
                <a:spcPts val="1600"/>
              </a:lnSpc>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これにより、</a:t>
            </a:r>
            <a:r>
              <a:rPr lang="ja-JP" altLang="en-US" sz="1200" b="1" dirty="0">
                <a:solidFill>
                  <a:srgbClr val="FF0000"/>
                </a:solidFill>
                <a:latin typeface="BIZ UDPゴシック" panose="020B0400000000000000" pitchFamily="50" charset="-128"/>
                <a:ea typeface="BIZ UDPゴシック" panose="020B0400000000000000" pitchFamily="50" charset="-128"/>
              </a:rPr>
              <a:t>全社で目標達成に向けた一体感を育み、さらなる業績向上を目指します。</a:t>
            </a:r>
            <a:endParaRPr lang="ja-JP" altLang="en-US" sz="1100" b="1" dirty="0">
              <a:solidFill>
                <a:srgbClr val="FF0000"/>
              </a:solidFill>
              <a:latin typeface="BIZ UDPゴシック" panose="020B0400000000000000" pitchFamily="50" charset="-128"/>
              <a:ea typeface="BIZ UDPゴシック" panose="020B0400000000000000" pitchFamily="50" charset="-128"/>
            </a:endParaRPr>
          </a:p>
        </p:txBody>
      </p:sp>
      <p:sp>
        <p:nvSpPr>
          <p:cNvPr id="82" name="正方形/長方形 81">
            <a:extLst>
              <a:ext uri="{FF2B5EF4-FFF2-40B4-BE49-F238E27FC236}">
                <a16:creationId xmlns:a16="http://schemas.microsoft.com/office/drawing/2014/main" id="{10B249DA-412E-5262-5CE0-CF5E6A68F683}"/>
              </a:ext>
            </a:extLst>
          </p:cNvPr>
          <p:cNvSpPr/>
          <p:nvPr/>
        </p:nvSpPr>
        <p:spPr>
          <a:xfrm>
            <a:off x="131149" y="2075159"/>
            <a:ext cx="11880000" cy="864000"/>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ja-JP" altLang="en-US" sz="1400" b="1" dirty="0">
                <a:solidFill>
                  <a:schemeClr val="tx1"/>
                </a:solidFill>
                <a:latin typeface="BIZ UDPゴシック" panose="020B0400000000000000" pitchFamily="50" charset="-128"/>
                <a:ea typeface="BIZ UDPゴシック" panose="020B0400000000000000" pitchFamily="50" charset="-128"/>
              </a:rPr>
              <a:t>■原資分配方法について</a:t>
            </a:r>
            <a:endParaRPr lang="en-US" altLang="ja-JP" sz="1400" b="1" dirty="0">
              <a:solidFill>
                <a:schemeClr val="tx1"/>
              </a:solidFill>
              <a:latin typeface="BIZ UDPゴシック" panose="020B0400000000000000" pitchFamily="50" charset="-128"/>
              <a:ea typeface="BIZ UDPゴシック" panose="020B0400000000000000" pitchFamily="50" charset="-128"/>
            </a:endParaRPr>
          </a:p>
          <a:p>
            <a:pPr marL="800100" lvl="1" indent="-342900">
              <a:lnSpc>
                <a:spcPts val="1800"/>
              </a:lnSpc>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インセンティブの原資は、役割ごとのルールに基づいて分配します。</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800100" lvl="1" indent="-342900">
              <a:lnSpc>
                <a:spcPts val="1800"/>
              </a:lnSpc>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ただし、複数の人が担当した場合は、</a:t>
            </a:r>
            <a:r>
              <a:rPr lang="ja-JP" altLang="en-US" sz="1200" b="1" dirty="0">
                <a:solidFill>
                  <a:srgbClr val="FF0000"/>
                </a:solidFill>
                <a:latin typeface="BIZ UDPゴシック" panose="020B0400000000000000" pitchFamily="50" charset="-128"/>
                <a:ea typeface="BIZ UDPゴシック" panose="020B0400000000000000" pitchFamily="50" charset="-128"/>
              </a:rPr>
              <a:t>当事者同士で話し合い、貢献度に応じて柔軟に調整することがあります</a:t>
            </a:r>
            <a:r>
              <a:rPr lang="ja-JP" altLang="en-US" sz="1100" dirty="0">
                <a:solidFill>
                  <a:schemeClr val="tx1"/>
                </a:solidFill>
                <a:latin typeface="BIZ UDPゴシック" panose="020B0400000000000000" pitchFamily="50" charset="-128"/>
                <a:ea typeface="BIZ UDPゴシック" panose="020B0400000000000000" pitchFamily="50" charset="-128"/>
              </a:rPr>
              <a:t>。</a:t>
            </a:r>
            <a:endParaRPr lang="en-US" altLang="ja-JP" sz="1100" b="1" dirty="0">
              <a:solidFill>
                <a:srgbClr val="FF0000"/>
              </a:solidFill>
              <a:latin typeface="BIZ UDPゴシック" panose="020B0400000000000000" pitchFamily="50" charset="-128"/>
              <a:ea typeface="BIZ UDPゴシック" panose="020B0400000000000000" pitchFamily="50" charset="-128"/>
            </a:endParaRPr>
          </a:p>
        </p:txBody>
      </p:sp>
      <p:sp>
        <p:nvSpPr>
          <p:cNvPr id="83" name="正方形/長方形 82">
            <a:extLst>
              <a:ext uri="{FF2B5EF4-FFF2-40B4-BE49-F238E27FC236}">
                <a16:creationId xmlns:a16="http://schemas.microsoft.com/office/drawing/2014/main" id="{7491A8AC-2A1B-E675-1CE5-694CF8F471DC}"/>
              </a:ext>
            </a:extLst>
          </p:cNvPr>
          <p:cNvSpPr/>
          <p:nvPr/>
        </p:nvSpPr>
        <p:spPr>
          <a:xfrm>
            <a:off x="131149" y="3025574"/>
            <a:ext cx="11880000" cy="864000"/>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ja-JP" altLang="en-US" sz="1400" b="1" dirty="0">
                <a:solidFill>
                  <a:schemeClr val="tx1"/>
                </a:solidFill>
                <a:latin typeface="BIZ UDPゴシック" panose="020B0400000000000000" pitchFamily="50" charset="-128"/>
                <a:ea typeface="BIZ UDPゴシック" panose="020B0400000000000000" pitchFamily="50" charset="-128"/>
              </a:rPr>
              <a:t>■インセンティブ原資の予算化（最大：１</a:t>
            </a:r>
            <a:r>
              <a:rPr lang="en-US" altLang="ja-JP" sz="1400" b="1" dirty="0">
                <a:solidFill>
                  <a:schemeClr val="tx1"/>
                </a:solidFill>
                <a:latin typeface="BIZ UDPゴシック" panose="020B0400000000000000" pitchFamily="50" charset="-128"/>
                <a:ea typeface="BIZ UDPゴシック" panose="020B0400000000000000" pitchFamily="50" charset="-128"/>
              </a:rPr>
              <a:t>1,000</a:t>
            </a:r>
            <a:r>
              <a:rPr lang="ja-JP" altLang="en-US" sz="1400" b="1" dirty="0">
                <a:solidFill>
                  <a:schemeClr val="tx1"/>
                </a:solidFill>
                <a:latin typeface="BIZ UDPゴシック" panose="020B0400000000000000" pitchFamily="50" charset="-128"/>
                <a:ea typeface="BIZ UDPゴシック" panose="020B0400000000000000" pitchFamily="50" charset="-128"/>
              </a:rPr>
              <a:t>千円）について</a:t>
            </a:r>
            <a:endParaRPr lang="en-US" altLang="ja-JP" sz="1400" b="1" dirty="0">
              <a:solidFill>
                <a:schemeClr val="tx1"/>
              </a:solidFill>
              <a:latin typeface="BIZ UDPゴシック" panose="020B0400000000000000" pitchFamily="50" charset="-128"/>
              <a:ea typeface="BIZ UDPゴシック" panose="020B0400000000000000" pitchFamily="50" charset="-128"/>
            </a:endParaRPr>
          </a:p>
          <a:p>
            <a:pPr marL="800100" lvl="1" indent="-342900">
              <a:lnSpc>
                <a:spcPts val="1800"/>
              </a:lnSpc>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本制度を安定的かつ持続可能に運用するため、インセンティブ原資は人件費として事前に予算化します。</a:t>
            </a:r>
            <a:endParaRPr lang="en-US" altLang="ja-JP" sz="1100" dirty="0">
              <a:solidFill>
                <a:schemeClr val="tx1"/>
              </a:solidFill>
              <a:latin typeface="BIZ UDPゴシック" panose="020B0400000000000000" pitchFamily="50" charset="-128"/>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2E70C8A8-9B9C-0052-547D-D1F819DE6EF6}"/>
              </a:ext>
            </a:extLst>
          </p:cNvPr>
          <p:cNvSpPr/>
          <p:nvPr/>
        </p:nvSpPr>
        <p:spPr>
          <a:xfrm>
            <a:off x="131149" y="3975989"/>
            <a:ext cx="11880000" cy="864000"/>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BIZ UDPゴシック" panose="020B0400000000000000" pitchFamily="50" charset="-128"/>
                <a:ea typeface="BIZ UDPゴシック" panose="020B0400000000000000" pitchFamily="50" charset="-128"/>
              </a:rPr>
              <a:t>■適用範囲について</a:t>
            </a:r>
            <a:endParaRPr lang="en-US" altLang="ja-JP" sz="1400" b="1" dirty="0">
              <a:solidFill>
                <a:schemeClr val="tx1"/>
              </a:solidFill>
              <a:latin typeface="BIZ UDPゴシック" panose="020B0400000000000000" pitchFamily="50" charset="-128"/>
              <a:ea typeface="BIZ UDPゴシック" panose="020B0400000000000000" pitchFamily="50" charset="-128"/>
            </a:endParaRPr>
          </a:p>
          <a:p>
            <a:pPr marL="800100" lvl="1" indent="-342900">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本制度の対象</a:t>
            </a:r>
            <a:r>
              <a:rPr lang="ja-JP" altLang="en-US" sz="1100">
                <a:solidFill>
                  <a:schemeClr val="tx1"/>
                </a:solidFill>
                <a:latin typeface="BIZ UDPゴシック" panose="020B0400000000000000" pitchFamily="50" charset="-128"/>
                <a:ea typeface="BIZ UDPゴシック" panose="020B0400000000000000" pitchFamily="50" charset="-128"/>
              </a:rPr>
              <a:t>は、役員を除き</a:t>
            </a:r>
            <a:r>
              <a:rPr lang="ja-JP" altLang="en-US" sz="1200" b="1">
                <a:solidFill>
                  <a:srgbClr val="FF0000"/>
                </a:solidFill>
                <a:latin typeface="BIZ UDPゴシック" panose="020B0400000000000000" pitchFamily="50" charset="-128"/>
                <a:ea typeface="BIZ UDPゴシック" panose="020B0400000000000000" pitchFamily="50" charset="-128"/>
              </a:rPr>
              <a:t>部門</a:t>
            </a:r>
            <a:r>
              <a:rPr lang="ja-JP" altLang="en-US" sz="1200" b="1" dirty="0">
                <a:solidFill>
                  <a:srgbClr val="FF0000"/>
                </a:solidFill>
                <a:latin typeface="BIZ UDPゴシック" panose="020B0400000000000000" pitchFamily="50" charset="-128"/>
                <a:ea typeface="BIZ UDPゴシック" panose="020B0400000000000000" pitchFamily="50" charset="-128"/>
              </a:rPr>
              <a:t>や役職を問わず</a:t>
            </a:r>
            <a:r>
              <a:rPr lang="ja-JP" altLang="en-US" sz="1100" dirty="0">
                <a:solidFill>
                  <a:schemeClr val="tx1"/>
                </a:solidFill>
                <a:latin typeface="BIZ UDPゴシック" panose="020B0400000000000000" pitchFamily="50" charset="-128"/>
                <a:ea typeface="BIZ UDPゴシック" panose="020B0400000000000000" pitchFamily="50" charset="-128"/>
              </a:rPr>
              <a:t>、</a:t>
            </a:r>
            <a:r>
              <a:rPr lang="ja-JP" altLang="en-US" sz="1200" b="1" dirty="0">
                <a:solidFill>
                  <a:srgbClr val="FF0000"/>
                </a:solidFill>
                <a:latin typeface="BIZ UDPゴシック" panose="020B0400000000000000" pitchFamily="50" charset="-128"/>
                <a:ea typeface="BIZ UDPゴシック" panose="020B0400000000000000" pitchFamily="50" charset="-128"/>
              </a:rPr>
              <a:t>「</a:t>
            </a:r>
            <a:r>
              <a:rPr lang="en-US" altLang="ja-JP" sz="1200" b="1" dirty="0">
                <a:solidFill>
                  <a:srgbClr val="FF0000"/>
                </a:solidFill>
                <a:latin typeface="BIZ UDPゴシック" panose="020B0400000000000000" pitchFamily="50" charset="-128"/>
                <a:ea typeface="BIZ UDPゴシック" panose="020B0400000000000000" pitchFamily="50" charset="-128"/>
              </a:rPr>
              <a:t>MMI</a:t>
            </a:r>
            <a:r>
              <a:rPr lang="ja-JP" altLang="en-US" sz="1200" b="1" dirty="0">
                <a:solidFill>
                  <a:srgbClr val="FF0000"/>
                </a:solidFill>
                <a:latin typeface="BIZ UDPゴシック" panose="020B0400000000000000" pitchFamily="50" charset="-128"/>
                <a:ea typeface="BIZ UDPゴシック" panose="020B0400000000000000" pitchFamily="50" charset="-128"/>
              </a:rPr>
              <a:t>正社員、</a:t>
            </a:r>
            <a:r>
              <a:rPr lang="en-US" altLang="ja-JP" sz="1200" b="1" dirty="0">
                <a:solidFill>
                  <a:srgbClr val="FF0000"/>
                </a:solidFill>
                <a:latin typeface="BIZ UDPゴシック" panose="020B0400000000000000" pitchFamily="50" charset="-128"/>
                <a:ea typeface="BIZ UDPゴシック" panose="020B0400000000000000" pitchFamily="50" charset="-128"/>
              </a:rPr>
              <a:t>MMI</a:t>
            </a:r>
            <a:r>
              <a:rPr lang="ja-JP" altLang="en-US" sz="1200" b="1" dirty="0">
                <a:solidFill>
                  <a:srgbClr val="FF0000"/>
                </a:solidFill>
                <a:latin typeface="BIZ UDPゴシック" panose="020B0400000000000000" pitchFamily="50" charset="-128"/>
                <a:ea typeface="BIZ UDPゴシック" panose="020B0400000000000000" pitchFamily="50" charset="-128"/>
              </a:rPr>
              <a:t>契約社員（特定技能の方も対象）、</a:t>
            </a:r>
            <a:r>
              <a:rPr lang="en-US" altLang="ja-JP" sz="1200" b="1" dirty="0">
                <a:solidFill>
                  <a:srgbClr val="FF0000"/>
                </a:solidFill>
                <a:latin typeface="BIZ UDPゴシック" panose="020B0400000000000000" pitchFamily="50" charset="-128"/>
                <a:ea typeface="BIZ UDPゴシック" panose="020B0400000000000000" pitchFamily="50" charset="-128"/>
              </a:rPr>
              <a:t>MMI</a:t>
            </a:r>
            <a:r>
              <a:rPr lang="ja-JP" altLang="en-US" sz="1200" b="1" dirty="0">
                <a:solidFill>
                  <a:srgbClr val="FF0000"/>
                </a:solidFill>
                <a:latin typeface="BIZ UDPゴシック" panose="020B0400000000000000" pitchFamily="50" charset="-128"/>
                <a:ea typeface="BIZ UDPゴシック" panose="020B0400000000000000" pitchFamily="50" charset="-128"/>
              </a:rPr>
              <a:t>時給社員、マルハン出向社員」</a:t>
            </a:r>
            <a:r>
              <a:rPr lang="ja-JP" altLang="en-US" sz="1100" dirty="0">
                <a:solidFill>
                  <a:schemeClr val="tx1"/>
                </a:solidFill>
                <a:latin typeface="BIZ UDPゴシック" panose="020B0400000000000000" pitchFamily="50" charset="-128"/>
                <a:ea typeface="BIZ UDPゴシック" panose="020B0400000000000000" pitchFamily="50" charset="-128"/>
              </a:rPr>
              <a:t>とします。</a:t>
            </a:r>
            <a:endParaRPr lang="en-US" altLang="ja-JP" sz="1100" dirty="0">
              <a:solidFill>
                <a:schemeClr val="tx1"/>
              </a:solidFill>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83F910EB-4168-BFA7-A73A-2B08C723820F}"/>
              </a:ext>
            </a:extLst>
          </p:cNvPr>
          <p:cNvSpPr/>
          <p:nvPr/>
        </p:nvSpPr>
        <p:spPr>
          <a:xfrm>
            <a:off x="131149" y="4926405"/>
            <a:ext cx="11880000" cy="864000"/>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BIZ UDPゴシック" panose="020B0400000000000000" pitchFamily="50" charset="-128"/>
                <a:ea typeface="BIZ UDPゴシック" panose="020B0400000000000000" pitchFamily="50" charset="-128"/>
              </a:rPr>
              <a:t>■実施期間について</a:t>
            </a:r>
            <a:endParaRPr lang="en-US" altLang="ja-JP" sz="1400" b="1" dirty="0">
              <a:solidFill>
                <a:schemeClr val="tx1"/>
              </a:solidFill>
              <a:latin typeface="BIZ UDPゴシック" panose="020B0400000000000000" pitchFamily="50" charset="-128"/>
              <a:ea typeface="BIZ UDPゴシック" panose="020B0400000000000000" pitchFamily="50" charset="-128"/>
            </a:endParaRPr>
          </a:p>
          <a:p>
            <a:pPr marL="800100" lvl="1" indent="-342900">
              <a:buFont typeface="+mj-ea"/>
              <a:buAutoNum type="circleNumDbPlain"/>
            </a:pPr>
            <a:r>
              <a:rPr lang="ja-JP" altLang="en-US" sz="1200" b="1" dirty="0">
                <a:solidFill>
                  <a:srgbClr val="FF0000"/>
                </a:solidFill>
                <a:latin typeface="BIZ UDPゴシック" panose="020B0400000000000000" pitchFamily="50" charset="-128"/>
                <a:ea typeface="BIZ UDPゴシック" panose="020B0400000000000000" pitchFamily="50" charset="-128"/>
              </a:rPr>
              <a:t>期間は</a:t>
            </a:r>
            <a:r>
              <a:rPr lang="en-US" altLang="ja-JP" sz="1200" b="1" dirty="0">
                <a:solidFill>
                  <a:srgbClr val="FF0000"/>
                </a:solidFill>
                <a:latin typeface="BIZ UDPゴシック" panose="020B0400000000000000" pitchFamily="50" charset="-128"/>
                <a:ea typeface="BIZ UDPゴシック" panose="020B0400000000000000" pitchFamily="50" charset="-128"/>
              </a:rPr>
              <a:t>2025</a:t>
            </a:r>
            <a:r>
              <a:rPr lang="ja-JP" altLang="en-US" sz="1200" b="1" dirty="0">
                <a:solidFill>
                  <a:srgbClr val="FF0000"/>
                </a:solidFill>
                <a:latin typeface="BIZ UDPゴシック" panose="020B0400000000000000" pitchFamily="50" charset="-128"/>
                <a:ea typeface="BIZ UDPゴシック" panose="020B0400000000000000" pitchFamily="50" charset="-128"/>
              </a:rPr>
              <a:t>年</a:t>
            </a:r>
            <a:r>
              <a:rPr lang="en-US" altLang="ja-JP" sz="1200" b="1" dirty="0">
                <a:solidFill>
                  <a:srgbClr val="FF0000"/>
                </a:solidFill>
                <a:latin typeface="BIZ UDPゴシック" panose="020B0400000000000000" pitchFamily="50" charset="-128"/>
                <a:ea typeface="BIZ UDPゴシック" panose="020B0400000000000000" pitchFamily="50" charset="-128"/>
              </a:rPr>
              <a:t>4</a:t>
            </a:r>
            <a:r>
              <a:rPr lang="ja-JP" altLang="en-US" sz="1200" b="1" dirty="0">
                <a:solidFill>
                  <a:srgbClr val="FF0000"/>
                </a:solidFill>
                <a:latin typeface="BIZ UDPゴシック" panose="020B0400000000000000" pitchFamily="50" charset="-128"/>
                <a:ea typeface="BIZ UDPゴシック" panose="020B0400000000000000" pitchFamily="50" charset="-128"/>
              </a:rPr>
              <a:t>月から</a:t>
            </a:r>
            <a:r>
              <a:rPr lang="en-US" altLang="ja-JP" sz="1200" b="1" dirty="0">
                <a:solidFill>
                  <a:srgbClr val="FF0000"/>
                </a:solidFill>
                <a:latin typeface="BIZ UDPゴシック" panose="020B0400000000000000" pitchFamily="50" charset="-128"/>
                <a:ea typeface="BIZ UDPゴシック" panose="020B0400000000000000" pitchFamily="50" charset="-128"/>
              </a:rPr>
              <a:t>9</a:t>
            </a:r>
            <a:r>
              <a:rPr lang="ja-JP" altLang="en-US" sz="1200" b="1" dirty="0">
                <a:solidFill>
                  <a:srgbClr val="FF0000"/>
                </a:solidFill>
                <a:latin typeface="BIZ UDPゴシック" panose="020B0400000000000000" pitchFamily="50" charset="-128"/>
                <a:ea typeface="BIZ UDPゴシック" panose="020B0400000000000000" pitchFamily="50" charset="-128"/>
              </a:rPr>
              <a:t>月末までの半年間とします。</a:t>
            </a:r>
            <a:r>
              <a:rPr lang="en-US" altLang="ja-JP" sz="1200" b="1" dirty="0">
                <a:solidFill>
                  <a:srgbClr val="FF0000"/>
                </a:solidFill>
                <a:latin typeface="BIZ UDPゴシック" panose="020B0400000000000000" pitchFamily="50" charset="-128"/>
                <a:ea typeface="BIZ UDPゴシック" panose="020B0400000000000000" pitchFamily="50" charset="-128"/>
              </a:rPr>
              <a:t>2025</a:t>
            </a:r>
            <a:r>
              <a:rPr lang="ja-JP" altLang="en-US" sz="1200" b="1" dirty="0">
                <a:solidFill>
                  <a:srgbClr val="FF0000"/>
                </a:solidFill>
                <a:latin typeface="BIZ UDPゴシック" panose="020B0400000000000000" pitchFamily="50" charset="-128"/>
                <a:ea typeface="BIZ UDPゴシック" panose="020B0400000000000000" pitchFamily="50" charset="-128"/>
              </a:rPr>
              <a:t>年</a:t>
            </a:r>
            <a:r>
              <a:rPr lang="en-US" altLang="ja-JP" sz="1200" b="1" dirty="0">
                <a:solidFill>
                  <a:srgbClr val="FF0000"/>
                </a:solidFill>
                <a:latin typeface="BIZ UDPゴシック" panose="020B0400000000000000" pitchFamily="50" charset="-128"/>
                <a:ea typeface="BIZ UDPゴシック" panose="020B0400000000000000" pitchFamily="50" charset="-128"/>
              </a:rPr>
              <a:t>10</a:t>
            </a:r>
            <a:r>
              <a:rPr lang="ja-JP" altLang="en-US" sz="1200" b="1" dirty="0">
                <a:solidFill>
                  <a:srgbClr val="FF0000"/>
                </a:solidFill>
                <a:latin typeface="BIZ UDPゴシック" panose="020B0400000000000000" pitchFamily="50" charset="-128"/>
                <a:ea typeface="BIZ UDPゴシック" panose="020B0400000000000000" pitchFamily="50" charset="-128"/>
              </a:rPr>
              <a:t>月以降の継続については、営業成績や会社全体の財務状況を踏まえ、別途判断します。</a:t>
            </a:r>
            <a:endParaRPr lang="en-US" altLang="ja-JP" sz="1200" b="1" dirty="0">
              <a:solidFill>
                <a:srgbClr val="FF0000"/>
              </a:solidFill>
              <a:latin typeface="BIZ UDPゴシック" panose="020B0400000000000000" pitchFamily="50" charset="-128"/>
              <a:ea typeface="BIZ UDPゴシック" panose="020B0400000000000000" pitchFamily="50" charset="-128"/>
            </a:endParaRPr>
          </a:p>
          <a:p>
            <a:pPr marL="800100" lvl="1" indent="-342900">
              <a:buFont typeface="+mj-ea"/>
              <a:buAutoNum type="circleNumDbPlain"/>
            </a:pPr>
            <a:r>
              <a:rPr lang="ja-JP" altLang="en-US" sz="1100" dirty="0">
                <a:solidFill>
                  <a:schemeClr val="tx1"/>
                </a:solidFill>
                <a:latin typeface="BIZ UDPゴシック" panose="020B0400000000000000" pitchFamily="50" charset="-128"/>
                <a:ea typeface="BIZ UDPゴシック" panose="020B0400000000000000" pitchFamily="50" charset="-128"/>
              </a:rPr>
              <a:t>インセンティブは引き上げることは容易ですが、一度上げたものを下げるのは困難な場合が多いため、</a:t>
            </a:r>
            <a:r>
              <a:rPr lang="en-US" altLang="ja-JP" sz="1100" dirty="0">
                <a:solidFill>
                  <a:schemeClr val="tx1"/>
                </a:solidFill>
                <a:latin typeface="BIZ UDPゴシック" panose="020B0400000000000000" pitchFamily="50" charset="-128"/>
                <a:ea typeface="BIZ UDPゴシック" panose="020B0400000000000000" pitchFamily="50" charset="-128"/>
              </a:rPr>
              <a:t>2025</a:t>
            </a:r>
            <a:r>
              <a:rPr lang="ja-JP" altLang="en-US" sz="1100" dirty="0">
                <a:solidFill>
                  <a:schemeClr val="tx1"/>
                </a:solidFill>
                <a:latin typeface="BIZ UDPゴシック" panose="020B0400000000000000" pitchFamily="50" charset="-128"/>
                <a:ea typeface="BIZ UDPゴシック" panose="020B0400000000000000" pitchFamily="50" charset="-128"/>
              </a:rPr>
              <a:t>年度内に必要があれば、制度内容の見直しや改善を柔軟に行います。</a:t>
            </a:r>
            <a:endParaRPr lang="en-US" altLang="ja-JP" sz="1050" dirty="0">
              <a:solidFill>
                <a:schemeClr val="tx1"/>
              </a:solidFill>
              <a:latin typeface="BIZ UDPゴシック" panose="020B0400000000000000" pitchFamily="50" charset="-128"/>
              <a:ea typeface="BIZ UDPゴシック" panose="020B0400000000000000" pitchFamily="50" charset="-128"/>
            </a:endParaRPr>
          </a:p>
        </p:txBody>
      </p:sp>
      <p:sp>
        <p:nvSpPr>
          <p:cNvPr id="86" name="Text Box 31">
            <a:extLst>
              <a:ext uri="{FF2B5EF4-FFF2-40B4-BE49-F238E27FC236}">
                <a16:creationId xmlns:a16="http://schemas.microsoft.com/office/drawing/2014/main" id="{0F199988-598B-4526-EDF8-A212285F905C}"/>
              </a:ext>
            </a:extLst>
          </p:cNvPr>
          <p:cNvSpPr txBox="1">
            <a:spLocks noChangeArrowheads="1"/>
          </p:cNvSpPr>
          <p:nvPr/>
        </p:nvSpPr>
        <p:spPr bwMode="auto">
          <a:xfrm>
            <a:off x="11817444" y="6671998"/>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2</a:t>
            </a:fld>
            <a:r>
              <a:rPr lang="ja-JP" altLang="en-US" sz="1050" dirty="0">
                <a:latin typeface="Helvetica" pitchFamily="34" charset="0"/>
                <a:ea typeface="中ゴシックBBB" pitchFamily="49" charset="-128"/>
              </a:rPr>
              <a:t>－</a:t>
            </a:r>
          </a:p>
        </p:txBody>
      </p:sp>
      <p:sp>
        <p:nvSpPr>
          <p:cNvPr id="2" name="タイトル 2">
            <a:extLst>
              <a:ext uri="{FF2B5EF4-FFF2-40B4-BE49-F238E27FC236}">
                <a16:creationId xmlns:a16="http://schemas.microsoft.com/office/drawing/2014/main" id="{4C353032-E09A-7B8D-18F4-261E65D223CD}"/>
              </a:ext>
            </a:extLst>
          </p:cNvPr>
          <p:cNvSpPr txBox="1">
            <a:spLocks/>
          </p:cNvSpPr>
          <p:nvPr/>
        </p:nvSpPr>
        <p:spPr>
          <a:xfrm>
            <a:off x="966" y="43826"/>
            <a:ext cx="8615313"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b="1" dirty="0">
                <a:latin typeface="BIZ UDPゴシック" panose="020B0400000000000000" pitchFamily="50" charset="-128"/>
                <a:ea typeface="BIZ UDPゴシック" panose="020B0400000000000000" pitchFamily="50" charset="-128"/>
              </a:rPr>
              <a:t>2025</a:t>
            </a:r>
            <a:r>
              <a:rPr lang="ja-JP" altLang="en-US" sz="1600" b="1" dirty="0">
                <a:latin typeface="BIZ UDPゴシック" panose="020B0400000000000000" pitchFamily="50" charset="-128"/>
                <a:ea typeface="BIZ UDPゴシック" panose="020B0400000000000000" pitchFamily="50" charset="-128"/>
              </a:rPr>
              <a:t>年度（</a:t>
            </a:r>
            <a:r>
              <a:rPr lang="en-US" altLang="ja-JP" sz="1600" b="1" dirty="0">
                <a:latin typeface="BIZ UDPゴシック" panose="020B0400000000000000" pitchFamily="50" charset="-128"/>
                <a:ea typeface="BIZ UDPゴシック" panose="020B0400000000000000" pitchFamily="50" charset="-128"/>
              </a:rPr>
              <a:t>31</a:t>
            </a:r>
            <a:r>
              <a:rPr lang="ja-JP" altLang="en-US" sz="1600" b="1" dirty="0">
                <a:latin typeface="BIZ UDPゴシック" panose="020B0400000000000000" pitchFamily="50" charset="-128"/>
                <a:ea typeface="BIZ UDPゴシック" panose="020B0400000000000000" pitchFamily="50" charset="-128"/>
              </a:rPr>
              <a:t>期）上期　清掃ロボット販売の営業インセンティブ</a:t>
            </a:r>
            <a:endParaRPr lang="en-US" altLang="ja-JP" sz="1600" b="1" dirty="0">
              <a:latin typeface="BIZ UDPゴシック" panose="020B0400000000000000" pitchFamily="50" charset="-128"/>
              <a:ea typeface="BIZ UDPゴシック" panose="020B0400000000000000" pitchFamily="50" charset="-128"/>
            </a:endParaRPr>
          </a:p>
        </p:txBody>
      </p:sp>
      <p:sp>
        <p:nvSpPr>
          <p:cNvPr id="4" name="タイトル 2">
            <a:extLst>
              <a:ext uri="{FF2B5EF4-FFF2-40B4-BE49-F238E27FC236}">
                <a16:creationId xmlns:a16="http://schemas.microsoft.com/office/drawing/2014/main" id="{A34DB1E5-E8D6-1411-F80E-1602D4482F60}"/>
              </a:ext>
            </a:extLst>
          </p:cNvPr>
          <p:cNvSpPr txBox="1">
            <a:spLocks/>
          </p:cNvSpPr>
          <p:nvPr/>
        </p:nvSpPr>
        <p:spPr>
          <a:xfrm>
            <a:off x="8616278" y="44624"/>
            <a:ext cx="1863981"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r"/>
            <a:r>
              <a:rPr lang="en-US" altLang="ja-JP" sz="1200" dirty="0">
                <a:latin typeface="BIZ UDPゴシック" panose="020B0400000000000000" pitchFamily="50" charset="-128"/>
                <a:ea typeface="BIZ UDPゴシック" panose="020B0400000000000000" pitchFamily="50" charset="-128"/>
              </a:rPr>
              <a:t>2025</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月</a:t>
            </a:r>
            <a:r>
              <a:rPr lang="en-US" altLang="ja-JP" sz="1200" dirty="0">
                <a:latin typeface="BIZ UDPゴシック" panose="020B0400000000000000" pitchFamily="50" charset="-128"/>
                <a:ea typeface="BIZ UDPゴシック" panose="020B0400000000000000" pitchFamily="50" charset="-128"/>
              </a:rPr>
              <a:t>12</a:t>
            </a:r>
            <a:r>
              <a:rPr lang="ja-JP" altLang="en-US" sz="1200" dirty="0">
                <a:latin typeface="BIZ UDPゴシック" panose="020B0400000000000000" pitchFamily="50" charset="-128"/>
                <a:ea typeface="BIZ UDPゴシック" panose="020B0400000000000000" pitchFamily="50" charset="-128"/>
              </a:rPr>
              <a:t>日</a:t>
            </a:r>
            <a:endParaRPr lang="en-US" altLang="ja-JP" sz="1200" dirty="0">
              <a:latin typeface="BIZ UDPゴシック" panose="020B0400000000000000" pitchFamily="50" charset="-128"/>
              <a:ea typeface="BIZ UDPゴシック" panose="020B0400000000000000" pitchFamily="50" charset="-128"/>
            </a:endParaRPr>
          </a:p>
          <a:p>
            <a:pPr algn="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戦略会議</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909960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5DF46-A95A-FA8F-B007-ECC309179067}"/>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BA395472-9390-1030-5C57-DC0EE3F4BAA7}"/>
              </a:ext>
            </a:extLst>
          </p:cNvPr>
          <p:cNvPicPr>
            <a:picLocks noChangeAspect="1"/>
          </p:cNvPicPr>
          <p:nvPr/>
        </p:nvPicPr>
        <p:blipFill>
          <a:blip r:embed="rId2"/>
          <a:stretch>
            <a:fillRect/>
          </a:stretch>
        </p:blipFill>
        <p:spPr>
          <a:xfrm>
            <a:off x="6994976" y="2442581"/>
            <a:ext cx="1184312" cy="892182"/>
          </a:xfrm>
          <a:prstGeom prst="rect">
            <a:avLst/>
          </a:prstGeom>
        </p:spPr>
      </p:pic>
      <p:sp>
        <p:nvSpPr>
          <p:cNvPr id="40" name="正方形/長方形 39">
            <a:extLst>
              <a:ext uri="{FF2B5EF4-FFF2-40B4-BE49-F238E27FC236}">
                <a16:creationId xmlns:a16="http://schemas.microsoft.com/office/drawing/2014/main" id="{0E7CD3AB-E0F1-5952-0EBF-F7722E140A63}"/>
              </a:ext>
            </a:extLst>
          </p:cNvPr>
          <p:cNvSpPr/>
          <p:nvPr/>
        </p:nvSpPr>
        <p:spPr>
          <a:xfrm>
            <a:off x="89703" y="3798890"/>
            <a:ext cx="12005015" cy="2726452"/>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概要</a:t>
            </a:r>
            <a:r>
              <a:rPr lang="en-US" altLang="ja-JP" sz="1050" dirty="0">
                <a:solidFill>
                  <a:schemeClr val="tx1"/>
                </a:solidFill>
                <a:latin typeface="BIZ UDPゴシック" panose="020B0400000000000000" pitchFamily="50" charset="-128"/>
                <a:ea typeface="BIZ UDPゴシック" panose="020B0400000000000000" pitchFamily="50" charset="-128"/>
              </a:rPr>
              <a:t>	</a:t>
            </a:r>
            <a:r>
              <a:rPr lang="ja-JP" altLang="en-US" sz="1050" dirty="0">
                <a:solidFill>
                  <a:schemeClr val="tx1"/>
                </a:solidFill>
                <a:latin typeface="BIZ UDPゴシック" panose="020B0400000000000000" pitchFamily="50" charset="-128"/>
                <a:ea typeface="BIZ UDPゴシック" panose="020B0400000000000000" pitchFamily="50" charset="-128"/>
              </a:rPr>
              <a:t>清掃ロボットの 販売・リース・レンタル契約 が成立した場合、営業インセンティブとして エムエムポイント を支給します。</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付与額</a:t>
            </a:r>
            <a:r>
              <a:rPr lang="en-US" altLang="ja-JP" sz="1050" dirty="0">
                <a:solidFill>
                  <a:schemeClr val="tx1"/>
                </a:solidFill>
                <a:latin typeface="BIZ UDPゴシック" panose="020B0400000000000000" pitchFamily="50" charset="-128"/>
                <a:ea typeface="BIZ UDPゴシック" panose="020B0400000000000000" pitchFamily="50" charset="-128"/>
              </a:rPr>
              <a:t>	</a:t>
            </a:r>
            <a:r>
              <a:rPr lang="ja-JP" altLang="en-US" sz="1050" dirty="0">
                <a:solidFill>
                  <a:schemeClr val="tx1"/>
                </a:solidFill>
                <a:latin typeface="BIZ UDPゴシック" panose="020B0400000000000000" pitchFamily="50" charset="-128"/>
                <a:ea typeface="BIZ UDPゴシック" panose="020B0400000000000000" pitchFamily="50" charset="-128"/>
              </a:rPr>
              <a:t>機種ごとのポイント付与額は以下の通りです。</a:t>
            </a:r>
            <a:r>
              <a:rPr lang="en-US" altLang="ja-JP" sz="1050" dirty="0">
                <a:solidFill>
                  <a:schemeClr val="tx1"/>
                </a:solidFill>
                <a:latin typeface="BIZ UDPゴシック" panose="020B0400000000000000" pitchFamily="50" charset="-128"/>
                <a:ea typeface="BIZ UDPゴシック" panose="020B0400000000000000" pitchFamily="50" charset="-128"/>
              </a:rPr>
              <a:t>【JINNY20</a:t>
            </a:r>
            <a:r>
              <a:rPr lang="ja-JP" altLang="en-US" sz="1050" dirty="0">
                <a:solidFill>
                  <a:schemeClr val="tx1"/>
                </a:solidFill>
                <a:latin typeface="BIZ UDPゴシック" panose="020B0400000000000000" pitchFamily="50" charset="-128"/>
                <a:ea typeface="BIZ UDPゴシック" panose="020B0400000000000000" pitchFamily="50" charset="-128"/>
              </a:rPr>
              <a:t>：５</a:t>
            </a:r>
            <a:r>
              <a:rPr lang="en-US" altLang="ja-JP" sz="1050" dirty="0">
                <a:solidFill>
                  <a:schemeClr val="tx1"/>
                </a:solidFill>
                <a:latin typeface="BIZ UDPゴシック" panose="020B0400000000000000" pitchFamily="50" charset="-128"/>
                <a:ea typeface="BIZ UDPゴシック" panose="020B0400000000000000" pitchFamily="50" charset="-128"/>
              </a:rPr>
              <a:t>,</a:t>
            </a:r>
            <a:r>
              <a:rPr lang="ja-JP" altLang="en-US" sz="1050" dirty="0">
                <a:solidFill>
                  <a:schemeClr val="tx1"/>
                </a:solidFill>
                <a:latin typeface="BIZ UDPゴシック" panose="020B0400000000000000" pitchFamily="50" charset="-128"/>
                <a:ea typeface="BIZ UDPゴシック" panose="020B0400000000000000" pitchFamily="50" charset="-128"/>
              </a:rPr>
              <a:t>０００円</a:t>
            </a:r>
            <a:r>
              <a:rPr lang="en-US" altLang="ja-JP" sz="1050" dirty="0">
                <a:solidFill>
                  <a:schemeClr val="tx1"/>
                </a:solidFill>
                <a:latin typeface="BIZ UDPゴシック" panose="020B0400000000000000" pitchFamily="50" charset="-128"/>
                <a:ea typeface="BIZ UDPゴシック" panose="020B0400000000000000" pitchFamily="50" charset="-128"/>
              </a:rPr>
              <a:t>/</a:t>
            </a:r>
            <a:r>
              <a:rPr lang="ja-JP" altLang="en-US" sz="1050" dirty="0">
                <a:solidFill>
                  <a:schemeClr val="tx1"/>
                </a:solidFill>
                <a:latin typeface="BIZ UDPゴシック" panose="020B0400000000000000" pitchFamily="50" charset="-128"/>
                <a:ea typeface="BIZ UDPゴシック" panose="020B0400000000000000" pitchFamily="50" charset="-128"/>
              </a:rPr>
              <a:t>台</a:t>
            </a:r>
            <a:r>
              <a:rPr lang="en-US" altLang="ja-JP" sz="1050" dirty="0">
                <a:solidFill>
                  <a:schemeClr val="tx1"/>
                </a:solidFill>
                <a:latin typeface="BIZ UDPゴシック" panose="020B0400000000000000" pitchFamily="50" charset="-128"/>
                <a:ea typeface="BIZ UDPゴシック" panose="020B0400000000000000" pitchFamily="50" charset="-128"/>
              </a:rPr>
              <a:t>】</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【JINNY40</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50,000</a:t>
            </a:r>
            <a:r>
              <a:rPr lang="ja-JP" altLang="en-US" sz="1050" dirty="0">
                <a:solidFill>
                  <a:schemeClr val="tx1"/>
                </a:solidFill>
                <a:latin typeface="BIZ UDPゴシック" panose="020B0400000000000000" pitchFamily="50" charset="-128"/>
                <a:ea typeface="BIZ UDPゴシック" panose="020B0400000000000000" pitchFamily="50" charset="-128"/>
              </a:rPr>
              <a:t>円</a:t>
            </a:r>
            <a:r>
              <a:rPr lang="en-US" altLang="ja-JP" sz="1050" dirty="0">
                <a:solidFill>
                  <a:schemeClr val="tx1"/>
                </a:solidFill>
                <a:latin typeface="BIZ UDPゴシック" panose="020B0400000000000000" pitchFamily="50" charset="-128"/>
                <a:ea typeface="BIZ UDPゴシック" panose="020B0400000000000000" pitchFamily="50" charset="-128"/>
              </a:rPr>
              <a:t>/</a:t>
            </a:r>
            <a:r>
              <a:rPr lang="ja-JP" altLang="en-US" sz="1050" dirty="0">
                <a:solidFill>
                  <a:schemeClr val="tx1"/>
                </a:solidFill>
                <a:latin typeface="BIZ UDPゴシック" panose="020B0400000000000000" pitchFamily="50" charset="-128"/>
                <a:ea typeface="BIZ UDPゴシック" panose="020B0400000000000000" pitchFamily="50" charset="-128"/>
              </a:rPr>
              <a:t>台</a:t>
            </a:r>
            <a:r>
              <a:rPr lang="en-US" altLang="ja-JP" sz="1050" dirty="0">
                <a:solidFill>
                  <a:schemeClr val="tx1"/>
                </a:solidFill>
                <a:latin typeface="BIZ UDPゴシック" panose="020B0400000000000000" pitchFamily="50" charset="-128"/>
                <a:ea typeface="BIZ UDPゴシック" panose="020B0400000000000000" pitchFamily="50" charset="-128"/>
              </a:rPr>
              <a:t>】</a:t>
            </a:r>
          </a:p>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対象者</a:t>
            </a:r>
            <a:r>
              <a:rPr lang="en-US" altLang="ja-JP" sz="1050" dirty="0">
                <a:solidFill>
                  <a:schemeClr val="tx1"/>
                </a:solidFill>
                <a:latin typeface="BIZ UDPゴシック" panose="020B0400000000000000" pitchFamily="50" charset="-128"/>
                <a:ea typeface="BIZ UDPゴシック" panose="020B0400000000000000" pitchFamily="50" charset="-128"/>
              </a:rPr>
              <a:t>	</a:t>
            </a:r>
            <a:r>
              <a:rPr lang="ja-JP" altLang="en-US" sz="1050" dirty="0">
                <a:solidFill>
                  <a:schemeClr val="tx1"/>
                </a:solidFill>
                <a:latin typeface="BIZ UDPゴシック" panose="020B0400000000000000" pitchFamily="50" charset="-128"/>
                <a:ea typeface="BIZ UDPゴシック" panose="020B0400000000000000" pitchFamily="50" charset="-128"/>
              </a:rPr>
              <a:t>「①顧客接点への貢献、成約時のみ）」、「②商談・実証実験・成約担当者」、「③納品・セッティング担当者」　</a:t>
            </a:r>
            <a:endParaRPr lang="en-US" altLang="ja-JP" sz="1050" u="sng" dirty="0">
              <a:solidFill>
                <a:srgbClr val="FF0000"/>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配賦基準</a:t>
            </a:r>
            <a:r>
              <a:rPr lang="en-US" altLang="ja-JP" sz="1050" dirty="0">
                <a:solidFill>
                  <a:schemeClr val="tx1"/>
                </a:solidFill>
                <a:latin typeface="BIZ UDPゴシック" panose="020B0400000000000000" pitchFamily="50" charset="-128"/>
                <a:ea typeface="BIZ UDPゴシック" panose="020B0400000000000000" pitchFamily="50" charset="-128"/>
              </a:rPr>
              <a:t>	</a:t>
            </a:r>
            <a:r>
              <a:rPr lang="ja-JP" altLang="en-US" sz="1050" dirty="0">
                <a:solidFill>
                  <a:schemeClr val="tx1"/>
                </a:solidFill>
                <a:latin typeface="BIZ UDPゴシック" panose="020B0400000000000000" pitchFamily="50" charset="-128"/>
                <a:ea typeface="BIZ UDPゴシック" panose="020B0400000000000000" pitchFamily="50" charset="-128"/>
              </a:rPr>
              <a:t>各役割ごとに 決められた分配率 に基づいてポイントを支給します。複数人で担当した場合は、分配率に応じて均等に分けて支給 します。都度支給 します。</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具体例</a:t>
            </a:r>
            <a:r>
              <a:rPr lang="en-US" altLang="ja-JP" sz="1050" dirty="0">
                <a:solidFill>
                  <a:schemeClr val="tx1"/>
                </a:solidFill>
                <a:latin typeface="BIZ UDPゴシック" panose="020B0400000000000000" pitchFamily="50" charset="-128"/>
                <a:ea typeface="BIZ UDPゴシック" panose="020B0400000000000000" pitchFamily="50" charset="-128"/>
              </a:rPr>
              <a:t>	</a:t>
            </a:r>
            <a:r>
              <a:rPr lang="ja-JP" altLang="en-US" sz="1050" dirty="0">
                <a:solidFill>
                  <a:schemeClr val="tx1"/>
                </a:solidFill>
                <a:latin typeface="BIZ UDPゴシック" panose="020B0400000000000000" pitchFamily="50" charset="-128"/>
                <a:ea typeface="BIZ UDPゴシック" panose="020B0400000000000000" pitchFamily="50" charset="-128"/>
              </a:rPr>
              <a:t>例：</a:t>
            </a:r>
            <a:r>
              <a:rPr lang="en-US" altLang="ja-JP" sz="1050" dirty="0">
                <a:solidFill>
                  <a:schemeClr val="tx1"/>
                </a:solidFill>
                <a:latin typeface="BIZ UDPゴシック" panose="020B0400000000000000" pitchFamily="50" charset="-128"/>
                <a:ea typeface="BIZ UDPゴシック" panose="020B0400000000000000" pitchFamily="50" charset="-128"/>
              </a:rPr>
              <a:t>JINNY20</a:t>
            </a:r>
            <a:r>
              <a:rPr lang="ja-JP" altLang="en-US" sz="1050" dirty="0">
                <a:solidFill>
                  <a:schemeClr val="tx1"/>
                </a:solidFill>
                <a:latin typeface="BIZ UDPゴシック" panose="020B0400000000000000" pitchFamily="50" charset="-128"/>
                <a:ea typeface="BIZ UDPゴシック" panose="020B0400000000000000" pitchFamily="50" charset="-128"/>
              </a:rPr>
              <a:t>を</a:t>
            </a:r>
            <a:r>
              <a:rPr lang="en-US" altLang="ja-JP" sz="1050" dirty="0">
                <a:solidFill>
                  <a:schemeClr val="tx1"/>
                </a:solidFill>
                <a:latin typeface="BIZ UDPゴシック" panose="020B0400000000000000" pitchFamily="50" charset="-128"/>
                <a:ea typeface="BIZ UDPゴシック" panose="020B0400000000000000" pitchFamily="50" charset="-128"/>
              </a:rPr>
              <a:t>10</a:t>
            </a:r>
            <a:r>
              <a:rPr lang="ja-JP" altLang="en-US" sz="1050" dirty="0">
                <a:solidFill>
                  <a:schemeClr val="tx1"/>
                </a:solidFill>
                <a:latin typeface="BIZ UDPゴシック" panose="020B0400000000000000" pitchFamily="50" charset="-128"/>
                <a:ea typeface="BIZ UDPゴシック" panose="020B0400000000000000" pitchFamily="50" charset="-128"/>
              </a:rPr>
              <a:t>台販売した場合</a:t>
            </a:r>
            <a:br>
              <a:rPr lang="en-US" altLang="ja-JP" sz="1050" dirty="0">
                <a:solidFill>
                  <a:schemeClr val="tx1"/>
                </a:solidFill>
                <a:latin typeface="BIZ UDPゴシック" panose="020B0400000000000000" pitchFamily="50" charset="-128"/>
                <a:ea typeface="BIZ UDPゴシック" panose="020B0400000000000000" pitchFamily="50" charset="-128"/>
              </a:rPr>
            </a:b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1200150" lvl="2" indent="-285750">
              <a:buFont typeface="+mj-ea"/>
              <a:buAutoNum type="circleNumDbPlain"/>
            </a:pPr>
            <a:r>
              <a:rPr lang="ja-JP" altLang="en-US" sz="1050" dirty="0">
                <a:solidFill>
                  <a:schemeClr val="tx1"/>
                </a:solidFill>
                <a:latin typeface="BIZ UDPゴシック" panose="020B0400000000000000" pitchFamily="50" charset="-128"/>
                <a:ea typeface="BIZ UDPゴシック" panose="020B0400000000000000" pitchFamily="50" charset="-128"/>
              </a:rPr>
              <a:t>顧客接点への貢献（</a:t>
            </a:r>
            <a:r>
              <a:rPr lang="en-US" altLang="ja-JP" sz="1050" dirty="0">
                <a:solidFill>
                  <a:schemeClr val="tx1"/>
                </a:solidFill>
                <a:latin typeface="BIZ UDPゴシック" panose="020B0400000000000000" pitchFamily="50" charset="-128"/>
                <a:ea typeface="BIZ UDPゴシック" panose="020B0400000000000000" pitchFamily="50" charset="-128"/>
              </a:rPr>
              <a:t>5%</a:t>
            </a:r>
            <a:r>
              <a:rPr lang="ja-JP" altLang="en-US" sz="1050" dirty="0">
                <a:solidFill>
                  <a:schemeClr val="tx1"/>
                </a:solidFill>
                <a:latin typeface="BIZ UDPゴシック" panose="020B0400000000000000" pitchFamily="50" charset="-128"/>
                <a:ea typeface="BIZ UDPゴシック" panose="020B0400000000000000" pitchFamily="50" charset="-128"/>
              </a:rPr>
              <a:t>）：　</a:t>
            </a:r>
            <a:r>
              <a:rPr lang="en-US" altLang="ja-JP" sz="1050" dirty="0">
                <a:solidFill>
                  <a:schemeClr val="tx1"/>
                </a:solidFill>
                <a:latin typeface="BIZ UDPゴシック" panose="020B0400000000000000" pitchFamily="50" charset="-128"/>
                <a:ea typeface="BIZ UDPゴシック" panose="020B0400000000000000" pitchFamily="50" charset="-128"/>
              </a:rPr>
              <a:t>5,000</a:t>
            </a:r>
            <a:r>
              <a:rPr lang="ja-JP" altLang="en-US" sz="1050" dirty="0">
                <a:solidFill>
                  <a:schemeClr val="tx1"/>
                </a:solidFill>
                <a:latin typeface="BIZ UDPゴシック" panose="020B0400000000000000" pitchFamily="50" charset="-128"/>
                <a:ea typeface="BIZ UDPゴシック" panose="020B0400000000000000" pitchFamily="50" charset="-128"/>
              </a:rPr>
              <a:t>円 </a:t>
            </a:r>
            <a:r>
              <a:rPr lang="en-US" altLang="ja-JP" sz="1050" dirty="0">
                <a:solidFill>
                  <a:schemeClr val="tx1"/>
                </a:solidFill>
                <a:latin typeface="BIZ UDPゴシック" panose="020B0400000000000000" pitchFamily="50" charset="-128"/>
                <a:ea typeface="BIZ UDPゴシック" panose="020B0400000000000000" pitchFamily="50" charset="-128"/>
              </a:rPr>
              <a:t>× 10</a:t>
            </a:r>
            <a:r>
              <a:rPr lang="ja-JP" altLang="en-US" sz="1050" dirty="0">
                <a:solidFill>
                  <a:schemeClr val="tx1"/>
                </a:solidFill>
                <a:latin typeface="BIZ UDPゴシック" panose="020B0400000000000000" pitchFamily="50" charset="-128"/>
                <a:ea typeface="BIZ UDPゴシック" panose="020B0400000000000000" pitchFamily="50" charset="-128"/>
              </a:rPr>
              <a:t>台 </a:t>
            </a:r>
            <a:r>
              <a:rPr lang="en-US" altLang="ja-JP" sz="1050" dirty="0">
                <a:solidFill>
                  <a:schemeClr val="tx1"/>
                </a:solidFill>
                <a:latin typeface="BIZ UDPゴシック" panose="020B0400000000000000" pitchFamily="50" charset="-128"/>
                <a:ea typeface="BIZ UDPゴシック" panose="020B0400000000000000" pitchFamily="50" charset="-128"/>
              </a:rPr>
              <a:t>× 5% 	</a:t>
            </a:r>
          </a:p>
          <a:p>
            <a:pPr lvl="2"/>
            <a:r>
              <a:rPr lang="en-US" altLang="ja-JP" sz="1050" dirty="0">
                <a:solidFill>
                  <a:schemeClr val="tx1"/>
                </a:solidFill>
                <a:latin typeface="BIZ UDPゴシック" panose="020B0400000000000000" pitchFamily="50" charset="-128"/>
                <a:ea typeface="BIZ UDPゴシック" panose="020B0400000000000000" pitchFamily="50" charset="-128"/>
              </a:rPr>
              <a:t>	</a:t>
            </a:r>
          </a:p>
          <a:p>
            <a:pPr lvl="2"/>
            <a:r>
              <a:rPr lang="ja-JP" altLang="en-US" sz="1050" dirty="0">
                <a:solidFill>
                  <a:schemeClr val="tx1"/>
                </a:solidFill>
                <a:latin typeface="BIZ UDPゴシック" panose="020B0400000000000000" pitchFamily="50" charset="-128"/>
                <a:ea typeface="BIZ UDPゴシック" panose="020B0400000000000000" pitchFamily="50" charset="-128"/>
              </a:rPr>
              <a:t>②　　実証実験・成約担当者（</a:t>
            </a:r>
            <a:r>
              <a:rPr lang="en-US" altLang="ja-JP" sz="1050" dirty="0">
                <a:solidFill>
                  <a:schemeClr val="tx1"/>
                </a:solidFill>
                <a:latin typeface="BIZ UDPゴシック" panose="020B0400000000000000" pitchFamily="50" charset="-128"/>
                <a:ea typeface="BIZ UDPゴシック" panose="020B0400000000000000" pitchFamily="50" charset="-128"/>
              </a:rPr>
              <a:t>65%</a:t>
            </a:r>
            <a:r>
              <a:rPr lang="ja-JP" altLang="en-US" sz="1050" dirty="0">
                <a:solidFill>
                  <a:schemeClr val="tx1"/>
                </a:solidFill>
                <a:latin typeface="BIZ UDPゴシック" panose="020B0400000000000000" pitchFamily="50" charset="-128"/>
                <a:ea typeface="BIZ UDPゴシック" panose="020B0400000000000000" pitchFamily="50" charset="-128"/>
              </a:rPr>
              <a:t>）：　</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1657350" lvl="3"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担当者が</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名の場合：</a:t>
            </a:r>
            <a:r>
              <a:rPr lang="en-US" altLang="ja-JP" sz="1050" dirty="0">
                <a:solidFill>
                  <a:schemeClr val="tx1"/>
                </a:solidFill>
                <a:latin typeface="BIZ UDPゴシック" panose="020B0400000000000000" pitchFamily="50" charset="-128"/>
                <a:ea typeface="BIZ UDPゴシック" panose="020B0400000000000000" pitchFamily="50" charset="-128"/>
              </a:rPr>
              <a:t>5,000</a:t>
            </a:r>
            <a:r>
              <a:rPr lang="ja-JP" altLang="en-US" sz="1050" dirty="0">
                <a:solidFill>
                  <a:schemeClr val="tx1"/>
                </a:solidFill>
                <a:latin typeface="BIZ UDPゴシック" panose="020B0400000000000000" pitchFamily="50" charset="-128"/>
                <a:ea typeface="BIZ UDPゴシック" panose="020B0400000000000000" pitchFamily="50" charset="-128"/>
              </a:rPr>
              <a:t>円 </a:t>
            </a:r>
            <a:r>
              <a:rPr lang="en-US" altLang="ja-JP" sz="1050" dirty="0">
                <a:solidFill>
                  <a:schemeClr val="tx1"/>
                </a:solidFill>
                <a:latin typeface="BIZ UDPゴシック" panose="020B0400000000000000" pitchFamily="50" charset="-128"/>
                <a:ea typeface="BIZ UDPゴシック" panose="020B0400000000000000" pitchFamily="50" charset="-128"/>
              </a:rPr>
              <a:t>× 10</a:t>
            </a:r>
            <a:r>
              <a:rPr lang="ja-JP" altLang="en-US" sz="1050" dirty="0">
                <a:solidFill>
                  <a:schemeClr val="tx1"/>
                </a:solidFill>
                <a:latin typeface="BIZ UDPゴシック" panose="020B0400000000000000" pitchFamily="50" charset="-128"/>
                <a:ea typeface="BIZ UDPゴシック" panose="020B0400000000000000" pitchFamily="50" charset="-128"/>
              </a:rPr>
              <a:t>台 </a:t>
            </a:r>
            <a:r>
              <a:rPr lang="en-US" altLang="ja-JP" sz="1050" dirty="0">
                <a:solidFill>
                  <a:schemeClr val="tx1"/>
                </a:solidFill>
                <a:latin typeface="BIZ UDPゴシック" panose="020B0400000000000000" pitchFamily="50" charset="-128"/>
                <a:ea typeface="BIZ UDPゴシック" panose="020B0400000000000000" pitchFamily="50" charset="-128"/>
              </a:rPr>
              <a:t>× 65% 		</a:t>
            </a:r>
          </a:p>
          <a:p>
            <a:pPr marL="1657350" lvl="3"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担当者が</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名の場合：</a:t>
            </a:r>
            <a:r>
              <a:rPr lang="en-US" altLang="ja-JP" sz="1050" dirty="0">
                <a:solidFill>
                  <a:schemeClr val="tx1"/>
                </a:solidFill>
                <a:latin typeface="BIZ UDPゴシック" panose="020B0400000000000000" pitchFamily="50" charset="-128"/>
                <a:ea typeface="BIZ UDPゴシック" panose="020B0400000000000000" pitchFamily="50" charset="-128"/>
              </a:rPr>
              <a:t>5,000</a:t>
            </a:r>
            <a:r>
              <a:rPr lang="ja-JP" altLang="en-US" sz="1050" dirty="0">
                <a:solidFill>
                  <a:schemeClr val="tx1"/>
                </a:solidFill>
                <a:latin typeface="BIZ UDPゴシック" panose="020B0400000000000000" pitchFamily="50" charset="-128"/>
                <a:ea typeface="BIZ UDPゴシック" panose="020B0400000000000000" pitchFamily="50" charset="-128"/>
              </a:rPr>
              <a:t>円 </a:t>
            </a:r>
            <a:r>
              <a:rPr lang="en-US" altLang="ja-JP" sz="1050" dirty="0">
                <a:solidFill>
                  <a:schemeClr val="tx1"/>
                </a:solidFill>
                <a:latin typeface="BIZ UDPゴシック" panose="020B0400000000000000" pitchFamily="50" charset="-128"/>
                <a:ea typeface="BIZ UDPゴシック" panose="020B0400000000000000" pitchFamily="50" charset="-128"/>
              </a:rPr>
              <a:t>× 10</a:t>
            </a:r>
            <a:r>
              <a:rPr lang="ja-JP" altLang="en-US" sz="1050" dirty="0">
                <a:solidFill>
                  <a:schemeClr val="tx1"/>
                </a:solidFill>
                <a:latin typeface="BIZ UDPゴシック" panose="020B0400000000000000" pitchFamily="50" charset="-128"/>
                <a:ea typeface="BIZ UDPゴシック" panose="020B0400000000000000" pitchFamily="50" charset="-128"/>
              </a:rPr>
              <a:t>台 </a:t>
            </a:r>
            <a:r>
              <a:rPr lang="en-US" altLang="ja-JP" sz="1050" dirty="0">
                <a:solidFill>
                  <a:schemeClr val="tx1"/>
                </a:solidFill>
                <a:latin typeface="BIZ UDPゴシック" panose="020B0400000000000000" pitchFamily="50" charset="-128"/>
                <a:ea typeface="BIZ UDPゴシック" panose="020B0400000000000000" pitchFamily="50" charset="-128"/>
              </a:rPr>
              <a:t>× 65% ÷ 2</a:t>
            </a:r>
          </a:p>
          <a:p>
            <a:pPr lvl="3"/>
            <a:r>
              <a:rPr lang="en-US" altLang="ja-JP" sz="1050" dirty="0">
                <a:solidFill>
                  <a:schemeClr val="tx1"/>
                </a:solidFill>
                <a:latin typeface="BIZ UDPゴシック" panose="020B0400000000000000" pitchFamily="50" charset="-128"/>
                <a:ea typeface="BIZ UDPゴシック" panose="020B0400000000000000" pitchFamily="50" charset="-128"/>
              </a:rPr>
              <a:t>	</a:t>
            </a:r>
          </a:p>
          <a:p>
            <a:pPr marL="1200150" lvl="2" indent="-285750">
              <a:buFont typeface="+mj-ea"/>
              <a:buAutoNum type="circleNumDbPlain"/>
            </a:pPr>
            <a:r>
              <a:rPr lang="ja-JP" altLang="en-US" sz="1050" dirty="0">
                <a:solidFill>
                  <a:schemeClr val="tx1"/>
                </a:solidFill>
                <a:latin typeface="BIZ UDPゴシック" panose="020B0400000000000000" pitchFamily="50" charset="-128"/>
                <a:ea typeface="BIZ UDPゴシック" panose="020B0400000000000000" pitchFamily="50" charset="-128"/>
              </a:rPr>
              <a:t>納品・セッティング担当者（</a:t>
            </a:r>
            <a:r>
              <a:rPr lang="en-US" altLang="ja-JP" sz="1050" dirty="0">
                <a:solidFill>
                  <a:schemeClr val="tx1"/>
                </a:solidFill>
                <a:latin typeface="BIZ UDPゴシック" panose="020B0400000000000000" pitchFamily="50" charset="-128"/>
                <a:ea typeface="BIZ UDPゴシック" panose="020B0400000000000000" pitchFamily="50" charset="-128"/>
              </a:rPr>
              <a:t>30%</a:t>
            </a:r>
            <a:r>
              <a:rPr lang="ja-JP" altLang="en-US" sz="1050" dirty="0">
                <a:solidFill>
                  <a:schemeClr val="tx1"/>
                </a:solidFill>
                <a:latin typeface="BIZ UDPゴシック" panose="020B0400000000000000" pitchFamily="50" charset="-128"/>
                <a:ea typeface="BIZ UDPゴシック" panose="020B0400000000000000" pitchFamily="50" charset="-128"/>
              </a:rPr>
              <a:t>）：　</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1657350" lvl="3"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担当者が</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名の場合：</a:t>
            </a:r>
            <a:r>
              <a:rPr lang="en-US" altLang="ja-JP" sz="1050" dirty="0">
                <a:solidFill>
                  <a:schemeClr val="tx1"/>
                </a:solidFill>
                <a:latin typeface="BIZ UDPゴシック" panose="020B0400000000000000" pitchFamily="50" charset="-128"/>
                <a:ea typeface="BIZ UDPゴシック" panose="020B0400000000000000" pitchFamily="50" charset="-128"/>
              </a:rPr>
              <a:t>5,000</a:t>
            </a:r>
            <a:r>
              <a:rPr lang="ja-JP" altLang="en-US" sz="1050" dirty="0">
                <a:solidFill>
                  <a:schemeClr val="tx1"/>
                </a:solidFill>
                <a:latin typeface="BIZ UDPゴシック" panose="020B0400000000000000" pitchFamily="50" charset="-128"/>
                <a:ea typeface="BIZ UDPゴシック" panose="020B0400000000000000" pitchFamily="50" charset="-128"/>
              </a:rPr>
              <a:t>円 </a:t>
            </a:r>
            <a:r>
              <a:rPr lang="en-US" altLang="ja-JP" sz="1050" dirty="0">
                <a:solidFill>
                  <a:schemeClr val="tx1"/>
                </a:solidFill>
                <a:latin typeface="BIZ UDPゴシック" panose="020B0400000000000000" pitchFamily="50" charset="-128"/>
                <a:ea typeface="BIZ UDPゴシック" panose="020B0400000000000000" pitchFamily="50" charset="-128"/>
              </a:rPr>
              <a:t>× 10</a:t>
            </a:r>
            <a:r>
              <a:rPr lang="ja-JP" altLang="en-US" sz="1050" dirty="0">
                <a:solidFill>
                  <a:schemeClr val="tx1"/>
                </a:solidFill>
                <a:latin typeface="BIZ UDPゴシック" panose="020B0400000000000000" pitchFamily="50" charset="-128"/>
                <a:ea typeface="BIZ UDPゴシック" panose="020B0400000000000000" pitchFamily="50" charset="-128"/>
              </a:rPr>
              <a:t>台 </a:t>
            </a:r>
            <a:r>
              <a:rPr lang="en-US" altLang="ja-JP" sz="1050" dirty="0">
                <a:solidFill>
                  <a:schemeClr val="tx1"/>
                </a:solidFill>
                <a:latin typeface="BIZ UDPゴシック" panose="020B0400000000000000" pitchFamily="50" charset="-128"/>
                <a:ea typeface="BIZ UDPゴシック" panose="020B0400000000000000" pitchFamily="50" charset="-128"/>
              </a:rPr>
              <a:t>× 30% 		</a:t>
            </a:r>
            <a:r>
              <a:rPr lang="ja-JP" altLang="en-US" sz="1050" dirty="0">
                <a:solidFill>
                  <a:schemeClr val="tx1"/>
                </a:solidFill>
                <a:latin typeface="BIZ UDPゴシック" panose="020B0400000000000000" pitchFamily="50" charset="-128"/>
                <a:ea typeface="BIZ UDPゴシック" panose="020B0400000000000000" pitchFamily="50" charset="-128"/>
              </a:rPr>
              <a:t>　</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1657350" lvl="3"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担当者が</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名の場合：</a:t>
            </a:r>
            <a:r>
              <a:rPr lang="en-US" altLang="ja-JP" sz="1050" dirty="0">
                <a:solidFill>
                  <a:schemeClr val="tx1"/>
                </a:solidFill>
                <a:latin typeface="BIZ UDPゴシック" panose="020B0400000000000000" pitchFamily="50" charset="-128"/>
                <a:ea typeface="BIZ UDPゴシック" panose="020B0400000000000000" pitchFamily="50" charset="-128"/>
              </a:rPr>
              <a:t>5,000</a:t>
            </a:r>
            <a:r>
              <a:rPr lang="ja-JP" altLang="en-US" sz="1050" dirty="0">
                <a:solidFill>
                  <a:schemeClr val="tx1"/>
                </a:solidFill>
                <a:latin typeface="BIZ UDPゴシック" panose="020B0400000000000000" pitchFamily="50" charset="-128"/>
                <a:ea typeface="BIZ UDPゴシック" panose="020B0400000000000000" pitchFamily="50" charset="-128"/>
              </a:rPr>
              <a:t>円 </a:t>
            </a:r>
            <a:r>
              <a:rPr lang="en-US" altLang="ja-JP" sz="1050" dirty="0">
                <a:solidFill>
                  <a:schemeClr val="tx1"/>
                </a:solidFill>
                <a:latin typeface="BIZ UDPゴシック" panose="020B0400000000000000" pitchFamily="50" charset="-128"/>
                <a:ea typeface="BIZ UDPゴシック" panose="020B0400000000000000" pitchFamily="50" charset="-128"/>
              </a:rPr>
              <a:t>× 10</a:t>
            </a:r>
            <a:r>
              <a:rPr lang="ja-JP" altLang="en-US" sz="1050" dirty="0">
                <a:solidFill>
                  <a:schemeClr val="tx1"/>
                </a:solidFill>
                <a:latin typeface="BIZ UDPゴシック" panose="020B0400000000000000" pitchFamily="50" charset="-128"/>
                <a:ea typeface="BIZ UDPゴシック" panose="020B0400000000000000" pitchFamily="50" charset="-128"/>
              </a:rPr>
              <a:t>台 </a:t>
            </a:r>
            <a:r>
              <a:rPr lang="en-US" altLang="ja-JP" sz="1050" dirty="0">
                <a:solidFill>
                  <a:schemeClr val="tx1"/>
                </a:solidFill>
                <a:latin typeface="BIZ UDPゴシック" panose="020B0400000000000000" pitchFamily="50" charset="-128"/>
                <a:ea typeface="BIZ UDPゴシック" panose="020B0400000000000000" pitchFamily="50" charset="-128"/>
              </a:rPr>
              <a:t>× 30% ÷ 2 </a:t>
            </a:r>
          </a:p>
        </p:txBody>
      </p:sp>
      <p:sp>
        <p:nvSpPr>
          <p:cNvPr id="3" name="Text Box 31">
            <a:extLst>
              <a:ext uri="{FF2B5EF4-FFF2-40B4-BE49-F238E27FC236}">
                <a16:creationId xmlns:a16="http://schemas.microsoft.com/office/drawing/2014/main" id="{4B6E7D5B-6F7A-54AD-312F-9886B51D8C3F}"/>
              </a:ext>
            </a:extLst>
          </p:cNvPr>
          <p:cNvSpPr txBox="1">
            <a:spLocks noChangeArrowheads="1"/>
          </p:cNvSpPr>
          <p:nvPr/>
        </p:nvSpPr>
        <p:spPr bwMode="auto">
          <a:xfrm>
            <a:off x="11817444" y="6671998"/>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3</a:t>
            </a:fld>
            <a:r>
              <a:rPr lang="ja-JP" altLang="en-US" sz="1050" dirty="0">
                <a:latin typeface="Helvetica" pitchFamily="34" charset="0"/>
                <a:ea typeface="中ゴシックBBB" pitchFamily="49" charset="-128"/>
              </a:rPr>
              <a:t>－</a:t>
            </a:r>
          </a:p>
        </p:txBody>
      </p:sp>
      <p:sp>
        <p:nvSpPr>
          <p:cNvPr id="15" name="フローチャート: 代替処理 14">
            <a:extLst>
              <a:ext uri="{FF2B5EF4-FFF2-40B4-BE49-F238E27FC236}">
                <a16:creationId xmlns:a16="http://schemas.microsoft.com/office/drawing/2014/main" id="{A2C03E78-5526-383D-9D57-7A18DAA39A0E}"/>
              </a:ext>
            </a:extLst>
          </p:cNvPr>
          <p:cNvSpPr/>
          <p:nvPr/>
        </p:nvSpPr>
        <p:spPr>
          <a:xfrm>
            <a:off x="1703512"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00" dirty="0">
                <a:solidFill>
                  <a:schemeClr val="tx1"/>
                </a:solidFill>
                <a:latin typeface="BIZ UDPゴシック" panose="020B0400000000000000" pitchFamily="50" charset="-128"/>
                <a:ea typeface="BIZ UDPゴシック" panose="020B0400000000000000" pitchFamily="50" charset="-128"/>
              </a:rPr>
              <a:t>①</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顧客接点への貢献</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（成約時のみ）</a:t>
            </a:r>
            <a:endParaRPr lang="en-US" altLang="ja-JP" sz="1300" dirty="0">
              <a:solidFill>
                <a:schemeClr val="tx1"/>
              </a:solidFill>
              <a:latin typeface="BIZ UDPゴシック" panose="020B0400000000000000" pitchFamily="50" charset="-128"/>
              <a:ea typeface="BIZ UDPゴシック" panose="020B0400000000000000" pitchFamily="50" charset="-128"/>
            </a:endParaRPr>
          </a:p>
        </p:txBody>
      </p:sp>
      <p:sp>
        <p:nvSpPr>
          <p:cNvPr id="16" name="フローチャート: 代替処理 15">
            <a:extLst>
              <a:ext uri="{FF2B5EF4-FFF2-40B4-BE49-F238E27FC236}">
                <a16:creationId xmlns:a16="http://schemas.microsoft.com/office/drawing/2014/main" id="{E088ECA6-35D0-87D3-1F37-F6EFE9F82CC3}"/>
              </a:ext>
            </a:extLst>
          </p:cNvPr>
          <p:cNvSpPr/>
          <p:nvPr/>
        </p:nvSpPr>
        <p:spPr>
          <a:xfrm>
            <a:off x="4079837"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00" dirty="0">
                <a:solidFill>
                  <a:schemeClr val="tx1"/>
                </a:solidFill>
                <a:latin typeface="BIZ UDPゴシック" panose="020B0400000000000000" pitchFamily="50" charset="-128"/>
                <a:ea typeface="BIZ UDPゴシック" panose="020B0400000000000000" pitchFamily="50" charset="-128"/>
              </a:rPr>
              <a:t>②</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商談・実証実験</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・成約</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sp>
        <p:nvSpPr>
          <p:cNvPr id="17" name="フローチャート: 代替処理 16">
            <a:extLst>
              <a:ext uri="{FF2B5EF4-FFF2-40B4-BE49-F238E27FC236}">
                <a16:creationId xmlns:a16="http://schemas.microsoft.com/office/drawing/2014/main" id="{384C36C9-4BFA-50EA-04E9-1845C512FB66}"/>
              </a:ext>
            </a:extLst>
          </p:cNvPr>
          <p:cNvSpPr/>
          <p:nvPr/>
        </p:nvSpPr>
        <p:spPr>
          <a:xfrm>
            <a:off x="6456162"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③</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納品・セッティング</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cxnSp>
        <p:nvCxnSpPr>
          <p:cNvPr id="19" name="直線矢印コネクタ 18">
            <a:extLst>
              <a:ext uri="{FF2B5EF4-FFF2-40B4-BE49-F238E27FC236}">
                <a16:creationId xmlns:a16="http://schemas.microsoft.com/office/drawing/2014/main" id="{73845A3D-541C-1FB3-225C-89C76466EDFD}"/>
              </a:ext>
            </a:extLst>
          </p:cNvPr>
          <p:cNvCxnSpPr>
            <a:cxnSpLocks/>
            <a:stCxn id="15" idx="3"/>
            <a:endCxn id="16" idx="1"/>
          </p:cNvCxnSpPr>
          <p:nvPr/>
        </p:nvCxnSpPr>
        <p:spPr>
          <a:xfrm>
            <a:off x="3359512" y="2065642"/>
            <a:ext cx="720325"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cxnSp>
        <p:nvCxnSpPr>
          <p:cNvPr id="20" name="直線矢印コネクタ 19">
            <a:extLst>
              <a:ext uri="{FF2B5EF4-FFF2-40B4-BE49-F238E27FC236}">
                <a16:creationId xmlns:a16="http://schemas.microsoft.com/office/drawing/2014/main" id="{8942AA0B-D15F-FF94-410E-9A2F37E5EBDC}"/>
              </a:ext>
            </a:extLst>
          </p:cNvPr>
          <p:cNvCxnSpPr>
            <a:cxnSpLocks/>
            <a:stCxn id="16" idx="3"/>
            <a:endCxn id="17" idx="1"/>
          </p:cNvCxnSpPr>
          <p:nvPr/>
        </p:nvCxnSpPr>
        <p:spPr>
          <a:xfrm>
            <a:off x="5735837" y="2065642"/>
            <a:ext cx="720325"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pic>
        <p:nvPicPr>
          <p:cNvPr id="28" name="図 27">
            <a:extLst>
              <a:ext uri="{FF2B5EF4-FFF2-40B4-BE49-F238E27FC236}">
                <a16:creationId xmlns:a16="http://schemas.microsoft.com/office/drawing/2014/main" id="{B563D4F9-FCAE-A6F6-03DF-DB29AF6956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71302" y="2721042"/>
            <a:ext cx="671977" cy="671977"/>
          </a:xfrm>
          <a:prstGeom prst="rect">
            <a:avLst/>
          </a:prstGeom>
        </p:spPr>
      </p:pic>
      <p:pic>
        <p:nvPicPr>
          <p:cNvPr id="26" name="図 25">
            <a:extLst>
              <a:ext uri="{FF2B5EF4-FFF2-40B4-BE49-F238E27FC236}">
                <a16:creationId xmlns:a16="http://schemas.microsoft.com/office/drawing/2014/main" id="{6BD198B3-6C13-E282-3B03-783B29F6F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917" y="2520216"/>
            <a:ext cx="1193238" cy="1193238"/>
          </a:xfrm>
          <a:prstGeom prst="rect">
            <a:avLst/>
          </a:prstGeom>
        </p:spPr>
      </p:pic>
      <p:sp>
        <p:nvSpPr>
          <p:cNvPr id="50" name="吹き出し: 四角形 49">
            <a:extLst>
              <a:ext uri="{FF2B5EF4-FFF2-40B4-BE49-F238E27FC236}">
                <a16:creationId xmlns:a16="http://schemas.microsoft.com/office/drawing/2014/main" id="{3C244F1E-7B40-FFDC-7CD5-944C24CFA9DC}"/>
              </a:ext>
            </a:extLst>
          </p:cNvPr>
          <p:cNvSpPr/>
          <p:nvPr/>
        </p:nvSpPr>
        <p:spPr>
          <a:xfrm>
            <a:off x="1955448"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600" dirty="0">
                <a:solidFill>
                  <a:schemeClr val="bg1"/>
                </a:solidFill>
                <a:latin typeface="BIZ UDPゴシック" panose="020B0400000000000000" pitchFamily="50" charset="-128"/>
                <a:ea typeface="BIZ UDPゴシック" panose="020B0400000000000000" pitchFamily="50" charset="-128"/>
              </a:rPr>
              <a:t>5</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p>
        </p:txBody>
      </p:sp>
      <p:sp>
        <p:nvSpPr>
          <p:cNvPr id="51" name="吹き出し: 四角形 50">
            <a:extLst>
              <a:ext uri="{FF2B5EF4-FFF2-40B4-BE49-F238E27FC236}">
                <a16:creationId xmlns:a16="http://schemas.microsoft.com/office/drawing/2014/main" id="{6609C52D-B8F3-A2DD-5EB0-B3B9B0EE14E5}"/>
              </a:ext>
            </a:extLst>
          </p:cNvPr>
          <p:cNvSpPr/>
          <p:nvPr/>
        </p:nvSpPr>
        <p:spPr>
          <a:xfrm>
            <a:off x="4367808"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kumimoji="1"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1600" dirty="0">
                <a:solidFill>
                  <a:schemeClr val="bg1"/>
                </a:solidFill>
                <a:latin typeface="BIZ UDPゴシック" panose="020B0400000000000000" pitchFamily="50" charset="-128"/>
                <a:ea typeface="BIZ UDPゴシック" panose="020B0400000000000000" pitchFamily="50" charset="-128"/>
              </a:rPr>
              <a:t>65</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r>
              <a:rPr lang="ja-JP" altLang="en-US" sz="1600" dirty="0">
                <a:solidFill>
                  <a:schemeClr val="bg1"/>
                </a:solidFill>
                <a:latin typeface="BIZ UDPゴシック" panose="020B0400000000000000" pitchFamily="50" charset="-128"/>
                <a:ea typeface="BIZ UDPゴシック" panose="020B0400000000000000" pitchFamily="50" charset="-128"/>
              </a:rPr>
              <a:t>分</a:t>
            </a:r>
            <a:endParaRPr kumimoji="1" lang="ja-JP" altLang="en-US" sz="1600" dirty="0">
              <a:solidFill>
                <a:schemeClr val="bg1"/>
              </a:solidFill>
              <a:latin typeface="BIZ UDPゴシック" panose="020B0400000000000000" pitchFamily="50" charset="-128"/>
              <a:ea typeface="BIZ UDPゴシック" panose="020B0400000000000000" pitchFamily="50" charset="-128"/>
            </a:endParaRPr>
          </a:p>
        </p:txBody>
      </p:sp>
      <p:sp>
        <p:nvSpPr>
          <p:cNvPr id="54" name="吹き出し: 四角形 53">
            <a:extLst>
              <a:ext uri="{FF2B5EF4-FFF2-40B4-BE49-F238E27FC236}">
                <a16:creationId xmlns:a16="http://schemas.microsoft.com/office/drawing/2014/main" id="{FBBF71BF-5FA3-A4D2-6075-6CF79B4D4342}"/>
              </a:ext>
            </a:extLst>
          </p:cNvPr>
          <p:cNvSpPr/>
          <p:nvPr/>
        </p:nvSpPr>
        <p:spPr>
          <a:xfrm>
            <a:off x="6744072"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bg1"/>
                </a:solidFill>
                <a:latin typeface="BIZ UDPゴシック" panose="020B0400000000000000" pitchFamily="50" charset="-128"/>
                <a:ea typeface="BIZ UDPゴシック" panose="020B0400000000000000" pitchFamily="50" charset="-128"/>
              </a:rPr>
              <a:t>３０</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r>
              <a:rPr lang="ja-JP" altLang="en-US" sz="1600" dirty="0">
                <a:solidFill>
                  <a:schemeClr val="bg1"/>
                </a:solidFill>
                <a:latin typeface="BIZ UDPゴシック" panose="020B0400000000000000" pitchFamily="50" charset="-128"/>
                <a:ea typeface="BIZ UDPゴシック" panose="020B0400000000000000" pitchFamily="50" charset="-128"/>
              </a:rPr>
              <a:t>分</a:t>
            </a:r>
            <a:endParaRPr kumimoji="1" lang="ja-JP" altLang="en-US" sz="1600" dirty="0">
              <a:solidFill>
                <a:schemeClr val="bg1"/>
              </a:solidFill>
              <a:latin typeface="BIZ UDPゴシック" panose="020B0400000000000000" pitchFamily="50" charset="-128"/>
              <a:ea typeface="BIZ UDPゴシック" panose="020B0400000000000000" pitchFamily="50" charset="-128"/>
            </a:endParaRPr>
          </a:p>
        </p:txBody>
      </p:sp>
      <p:sp>
        <p:nvSpPr>
          <p:cNvPr id="62" name="フローチャート: 代替処理 61">
            <a:extLst>
              <a:ext uri="{FF2B5EF4-FFF2-40B4-BE49-F238E27FC236}">
                <a16:creationId xmlns:a16="http://schemas.microsoft.com/office/drawing/2014/main" id="{DD90E9D3-B68D-2943-3C83-4250B1DBF78B}"/>
              </a:ext>
            </a:extLst>
          </p:cNvPr>
          <p:cNvSpPr/>
          <p:nvPr/>
        </p:nvSpPr>
        <p:spPr>
          <a:xfrm>
            <a:off x="8832488"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④</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インセンティブ付与</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cxnSp>
        <p:nvCxnSpPr>
          <p:cNvPr id="64" name="直線矢印コネクタ 63">
            <a:extLst>
              <a:ext uri="{FF2B5EF4-FFF2-40B4-BE49-F238E27FC236}">
                <a16:creationId xmlns:a16="http://schemas.microsoft.com/office/drawing/2014/main" id="{19514696-9EBA-D2D1-37DB-0B178BBFDC12}"/>
              </a:ext>
            </a:extLst>
          </p:cNvPr>
          <p:cNvCxnSpPr>
            <a:cxnSpLocks/>
            <a:stCxn id="17" idx="3"/>
            <a:endCxn id="62" idx="1"/>
          </p:cNvCxnSpPr>
          <p:nvPr/>
        </p:nvCxnSpPr>
        <p:spPr>
          <a:xfrm>
            <a:off x="8112162" y="2065642"/>
            <a:ext cx="720326"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pic>
        <p:nvPicPr>
          <p:cNvPr id="69" name="図 68">
            <a:extLst>
              <a:ext uri="{FF2B5EF4-FFF2-40B4-BE49-F238E27FC236}">
                <a16:creationId xmlns:a16="http://schemas.microsoft.com/office/drawing/2014/main" id="{C8C1100B-B929-CCE0-9429-424C6BC033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6876" y="2612538"/>
            <a:ext cx="1008595" cy="1008595"/>
          </a:xfrm>
          <a:prstGeom prst="rect">
            <a:avLst/>
          </a:prstGeom>
        </p:spPr>
      </p:pic>
      <p:pic>
        <p:nvPicPr>
          <p:cNvPr id="6" name="図 5">
            <a:extLst>
              <a:ext uri="{FF2B5EF4-FFF2-40B4-BE49-F238E27FC236}">
                <a16:creationId xmlns:a16="http://schemas.microsoft.com/office/drawing/2014/main" id="{E326EA8B-FB61-0669-5A83-625E57FB3A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9635" y="2632043"/>
            <a:ext cx="1156586" cy="1156586"/>
          </a:xfrm>
          <a:prstGeom prst="rect">
            <a:avLst/>
          </a:prstGeom>
        </p:spPr>
      </p:pic>
      <p:pic>
        <p:nvPicPr>
          <p:cNvPr id="9" name="図 8">
            <a:extLst>
              <a:ext uri="{FF2B5EF4-FFF2-40B4-BE49-F238E27FC236}">
                <a16:creationId xmlns:a16="http://schemas.microsoft.com/office/drawing/2014/main" id="{B4CF6160-FC3A-C9AC-F47A-2F33DB00CEE6}"/>
              </a:ext>
            </a:extLst>
          </p:cNvPr>
          <p:cNvPicPr>
            <a:picLocks noChangeAspect="1"/>
          </p:cNvPicPr>
          <p:nvPr/>
        </p:nvPicPr>
        <p:blipFill>
          <a:blip r:embed="rId2"/>
          <a:stretch>
            <a:fillRect/>
          </a:stretch>
        </p:blipFill>
        <p:spPr>
          <a:xfrm>
            <a:off x="4551648" y="2442581"/>
            <a:ext cx="1184312" cy="892182"/>
          </a:xfrm>
          <a:prstGeom prst="rect">
            <a:avLst/>
          </a:prstGeom>
        </p:spPr>
      </p:pic>
      <p:pic>
        <p:nvPicPr>
          <p:cNvPr id="36" name="図 35">
            <a:extLst>
              <a:ext uri="{FF2B5EF4-FFF2-40B4-BE49-F238E27FC236}">
                <a16:creationId xmlns:a16="http://schemas.microsoft.com/office/drawing/2014/main" id="{F0D5E200-413E-F18E-C26C-44E37CE6EA0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85760" y="2971706"/>
            <a:ext cx="867979" cy="738277"/>
          </a:xfrm>
          <a:prstGeom prst="rect">
            <a:avLst/>
          </a:prstGeom>
        </p:spPr>
      </p:pic>
      <p:pic>
        <p:nvPicPr>
          <p:cNvPr id="31" name="図 30">
            <a:extLst>
              <a:ext uri="{FF2B5EF4-FFF2-40B4-BE49-F238E27FC236}">
                <a16:creationId xmlns:a16="http://schemas.microsoft.com/office/drawing/2014/main" id="{59B3D0F6-2306-3461-D0B4-AB9E548563F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25382" y="2872156"/>
            <a:ext cx="738277" cy="738277"/>
          </a:xfrm>
          <a:prstGeom prst="rect">
            <a:avLst/>
          </a:prstGeom>
        </p:spPr>
      </p:pic>
      <p:sp>
        <p:nvSpPr>
          <p:cNvPr id="4" name="吹き出し: 四角形 3">
            <a:extLst>
              <a:ext uri="{FF2B5EF4-FFF2-40B4-BE49-F238E27FC236}">
                <a16:creationId xmlns:a16="http://schemas.microsoft.com/office/drawing/2014/main" id="{67A956B8-6AAD-FC5E-7CF1-2D0E365ED01B}"/>
              </a:ext>
            </a:extLst>
          </p:cNvPr>
          <p:cNvSpPr/>
          <p:nvPr/>
        </p:nvSpPr>
        <p:spPr>
          <a:xfrm>
            <a:off x="91956" y="908719"/>
            <a:ext cx="1260000" cy="1533862"/>
          </a:xfrm>
          <a:prstGeom prst="wedgeRectCallout">
            <a:avLst>
              <a:gd name="adj1" fmla="val -20833"/>
              <a:gd name="adj2" fmla="val 44210"/>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パターン</a:t>
            </a:r>
            <a:r>
              <a:rPr lang="ja-JP" altLang="en-US" sz="1600" dirty="0">
                <a:solidFill>
                  <a:schemeClr val="tx1"/>
                </a:solidFill>
                <a:latin typeface="BIZ UDPゴシック" panose="020B0400000000000000" pitchFamily="50" charset="-128"/>
                <a:ea typeface="BIZ UDPゴシック" panose="020B0400000000000000" pitchFamily="50" charset="-128"/>
              </a:rPr>
              <a:t>①</a:t>
            </a:r>
            <a:endParaRPr kumimoji="1" lang="en-US" altLang="ja-JP" sz="16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tx1"/>
                </a:solidFill>
                <a:latin typeface="BIZ UDPゴシック" panose="020B0400000000000000" pitchFamily="50" charset="-128"/>
                <a:ea typeface="BIZ UDPゴシック" panose="020B0400000000000000" pitchFamily="50" charset="-128"/>
              </a:rPr>
              <a:t>直販</a:t>
            </a:r>
            <a:endParaRPr lang="en-US" altLang="ja-JP" sz="1600" dirty="0">
              <a:solidFill>
                <a:schemeClr val="tx1"/>
              </a:solidFill>
              <a:latin typeface="BIZ UDPゴシック" panose="020B0400000000000000" pitchFamily="50" charset="-128"/>
              <a:ea typeface="BIZ UDPゴシック" panose="020B0400000000000000" pitchFamily="50" charset="-128"/>
            </a:endParaRPr>
          </a:p>
          <a:p>
            <a:pPr algn="ctr"/>
            <a:endParaRPr lang="en-US" altLang="ja-JP" sz="16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tx1"/>
                </a:solidFill>
                <a:latin typeface="BIZ UDPゴシック" panose="020B0400000000000000" pitchFamily="50" charset="-128"/>
                <a:ea typeface="BIZ UDPゴシック" panose="020B0400000000000000" pitchFamily="50" charset="-128"/>
              </a:rPr>
              <a:t>（初販・再販　共通）</a:t>
            </a:r>
            <a:endParaRPr lang="en-US" altLang="ja-JP" sz="1600" dirty="0">
              <a:solidFill>
                <a:schemeClr val="tx1"/>
              </a:solidFill>
              <a:latin typeface="BIZ UDPゴシック" panose="020B0400000000000000" pitchFamily="50" charset="-128"/>
              <a:ea typeface="BIZ UDPゴシック" panose="020B0400000000000000" pitchFamily="50" charset="-128"/>
            </a:endParaRPr>
          </a:p>
        </p:txBody>
      </p:sp>
      <p:sp>
        <p:nvSpPr>
          <p:cNvPr id="5" name="吹き出し: 四角形 4">
            <a:extLst>
              <a:ext uri="{FF2B5EF4-FFF2-40B4-BE49-F238E27FC236}">
                <a16:creationId xmlns:a16="http://schemas.microsoft.com/office/drawing/2014/main" id="{2211AB82-2BD9-6E6C-662E-C6D0873115F1}"/>
              </a:ext>
            </a:extLst>
          </p:cNvPr>
          <p:cNvSpPr/>
          <p:nvPr/>
        </p:nvSpPr>
        <p:spPr>
          <a:xfrm>
            <a:off x="530318" y="2813099"/>
            <a:ext cx="1288358" cy="581265"/>
          </a:xfrm>
          <a:prstGeom prst="wedgeRectCallout">
            <a:avLst>
              <a:gd name="adj1" fmla="val 50790"/>
              <a:gd name="adj2" fmla="val -73727"/>
            </a:avLst>
          </a:prstGeom>
          <a:solidFill>
            <a:schemeClr val="accent5">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rgbClr val="FF0000"/>
                </a:solidFill>
                <a:latin typeface="BIZ UDPゴシック" panose="020B0400000000000000" pitchFamily="50" charset="-128"/>
                <a:ea typeface="BIZ UDPゴシック" panose="020B0400000000000000" pitchFamily="50" charset="-128"/>
              </a:rPr>
              <a:t>部門は限定しない</a:t>
            </a:r>
            <a:endParaRPr lang="en-US" altLang="ja-JP" sz="1100" dirty="0">
              <a:solidFill>
                <a:srgbClr val="FF0000"/>
              </a:solidFill>
              <a:latin typeface="BIZ UDPゴシック" panose="020B0400000000000000" pitchFamily="50" charset="-128"/>
              <a:ea typeface="BIZ UDPゴシック" panose="020B0400000000000000" pitchFamily="50" charset="-128"/>
            </a:endParaRPr>
          </a:p>
          <a:p>
            <a:pPr algn="ctr"/>
            <a:r>
              <a:rPr kumimoji="1" lang="ja-JP" altLang="en-US" sz="1100" dirty="0">
                <a:solidFill>
                  <a:srgbClr val="FF0000"/>
                </a:solidFill>
                <a:latin typeface="BIZ UDPゴシック" panose="020B0400000000000000" pitchFamily="50" charset="-128"/>
                <a:ea typeface="BIZ UDPゴシック" panose="020B0400000000000000" pitchFamily="50" charset="-128"/>
              </a:rPr>
              <a:t>（全部門対象）</a:t>
            </a:r>
          </a:p>
        </p:txBody>
      </p:sp>
      <p:sp>
        <p:nvSpPr>
          <p:cNvPr id="14" name="正方形/長方形 13">
            <a:extLst>
              <a:ext uri="{FF2B5EF4-FFF2-40B4-BE49-F238E27FC236}">
                <a16:creationId xmlns:a16="http://schemas.microsoft.com/office/drawing/2014/main" id="{910BAE43-7AD1-87F0-8553-85F5405533A2}"/>
              </a:ext>
            </a:extLst>
          </p:cNvPr>
          <p:cNvSpPr/>
          <p:nvPr/>
        </p:nvSpPr>
        <p:spPr>
          <a:xfrm>
            <a:off x="5754145" y="5152140"/>
            <a:ext cx="6156685" cy="11516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rgbClr val="FF0000"/>
                </a:solidFill>
                <a:latin typeface="BIZ UDPゴシック" panose="020B0400000000000000" pitchFamily="50" charset="-128"/>
                <a:ea typeface="BIZ UDPゴシック" panose="020B0400000000000000" pitchFamily="50" charset="-128"/>
              </a:rPr>
              <a:t>（留意点）</a:t>
            </a:r>
            <a:endParaRPr lang="en-US" altLang="ja-JP" sz="1200" dirty="0">
              <a:solidFill>
                <a:srgbClr val="FF0000"/>
              </a:solidFill>
              <a:latin typeface="BIZ UDPゴシック" panose="020B0400000000000000" pitchFamily="50" charset="-128"/>
              <a:ea typeface="BIZ UDPゴシック" panose="020B0400000000000000" pitchFamily="50" charset="-128"/>
            </a:endParaRPr>
          </a:p>
          <a:p>
            <a:endParaRPr lang="en-US" altLang="ja-JP" sz="1200" dirty="0">
              <a:solidFill>
                <a:srgbClr val="FF0000"/>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solidFill>
                  <a:srgbClr val="FF0000"/>
                </a:solidFill>
                <a:latin typeface="BIZ UDPゴシック" panose="020B0400000000000000" pitchFamily="50" charset="-128"/>
                <a:ea typeface="BIZ UDPゴシック" panose="020B0400000000000000" pitchFamily="50" charset="-128"/>
              </a:rPr>
              <a:t>ロボティクス事業部の営業担当などは、①</a:t>
            </a:r>
            <a:r>
              <a:rPr lang="en-US" altLang="ja-JP" sz="1200" dirty="0">
                <a:solidFill>
                  <a:srgbClr val="FF0000"/>
                </a:solidFill>
                <a:latin typeface="BIZ UDPゴシック" panose="020B0400000000000000" pitchFamily="50" charset="-128"/>
                <a:ea typeface="BIZ UDPゴシック" panose="020B0400000000000000" pitchFamily="50" charset="-128"/>
              </a:rPr>
              <a:t>〜③</a:t>
            </a:r>
            <a:r>
              <a:rPr lang="ja-JP" altLang="en-US" sz="1200" dirty="0">
                <a:solidFill>
                  <a:srgbClr val="FF0000"/>
                </a:solidFill>
                <a:latin typeface="BIZ UDPゴシック" panose="020B0400000000000000" pitchFamily="50" charset="-128"/>
                <a:ea typeface="BIZ UDPゴシック" panose="020B0400000000000000" pitchFamily="50" charset="-128"/>
              </a:rPr>
              <a:t>の業務をすべて担当することがあります。</a:t>
            </a:r>
            <a:endParaRPr lang="en-US" altLang="ja-JP" sz="1200" dirty="0">
              <a:solidFill>
                <a:srgbClr val="FF0000"/>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solidFill>
                  <a:srgbClr val="FF0000"/>
                </a:solidFill>
                <a:latin typeface="BIZ UDPゴシック" panose="020B0400000000000000" pitchFamily="50" charset="-128"/>
                <a:ea typeface="BIZ UDPゴシック" panose="020B0400000000000000" pitchFamily="50" charset="-128"/>
              </a:rPr>
              <a:t>なお、③（納品・セッティング：分配率</a:t>
            </a:r>
            <a:r>
              <a:rPr lang="en-US" altLang="ja-JP" sz="1200" dirty="0">
                <a:solidFill>
                  <a:srgbClr val="FF0000"/>
                </a:solidFill>
                <a:latin typeface="BIZ UDPゴシック" panose="020B0400000000000000" pitchFamily="50" charset="-128"/>
                <a:ea typeface="BIZ UDPゴシック" panose="020B0400000000000000" pitchFamily="50" charset="-128"/>
              </a:rPr>
              <a:t>30</a:t>
            </a:r>
            <a:r>
              <a:rPr lang="ja-JP" altLang="en-US" sz="1200" dirty="0">
                <a:solidFill>
                  <a:srgbClr val="FF0000"/>
                </a:solidFill>
                <a:latin typeface="BIZ UDPゴシック" panose="020B0400000000000000" pitchFamily="50" charset="-128"/>
                <a:ea typeface="BIZ UDPゴシック" panose="020B0400000000000000" pitchFamily="50" charset="-128"/>
              </a:rPr>
              <a:t>％）の業務が発生しない場合、全体の分配率は「</a:t>
            </a:r>
            <a:r>
              <a:rPr lang="en-US" altLang="ja-JP" sz="1200" dirty="0">
                <a:solidFill>
                  <a:srgbClr val="FF0000"/>
                </a:solidFill>
                <a:latin typeface="BIZ UDPゴシック" panose="020B0400000000000000" pitchFamily="50" charset="-128"/>
                <a:ea typeface="BIZ UDPゴシック" panose="020B0400000000000000" pitchFamily="50" charset="-128"/>
              </a:rPr>
              <a:t>70</a:t>
            </a:r>
            <a:r>
              <a:rPr lang="ja-JP" altLang="en-US" sz="1200" dirty="0">
                <a:solidFill>
                  <a:srgbClr val="FF0000"/>
                </a:solidFill>
                <a:latin typeface="BIZ UDPゴシック" panose="020B0400000000000000" pitchFamily="50" charset="-128"/>
                <a:ea typeface="BIZ UDPゴシック" panose="020B0400000000000000" pitchFamily="50" charset="-128"/>
              </a:rPr>
              <a:t>％」になります。</a:t>
            </a:r>
            <a:endParaRPr lang="en-US" altLang="ja-JP" sz="1200" dirty="0">
              <a:solidFill>
                <a:srgbClr val="FF0000"/>
              </a:solidFill>
              <a:latin typeface="BIZ UDPゴシック" panose="020B0400000000000000" pitchFamily="50" charset="-128"/>
              <a:ea typeface="BIZ UDPゴシック" panose="020B0400000000000000" pitchFamily="50" charset="-128"/>
            </a:endParaRPr>
          </a:p>
        </p:txBody>
      </p:sp>
      <p:sp>
        <p:nvSpPr>
          <p:cNvPr id="25" name="タイトル 2">
            <a:extLst>
              <a:ext uri="{FF2B5EF4-FFF2-40B4-BE49-F238E27FC236}">
                <a16:creationId xmlns:a16="http://schemas.microsoft.com/office/drawing/2014/main" id="{D267606E-00BA-4DD6-BE3E-B5A98302F069}"/>
              </a:ext>
            </a:extLst>
          </p:cNvPr>
          <p:cNvSpPr txBox="1">
            <a:spLocks/>
          </p:cNvSpPr>
          <p:nvPr/>
        </p:nvSpPr>
        <p:spPr>
          <a:xfrm>
            <a:off x="966" y="43826"/>
            <a:ext cx="8615313"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b="1" dirty="0">
                <a:latin typeface="BIZ UDPゴシック" panose="020B0400000000000000" pitchFamily="50" charset="-128"/>
                <a:ea typeface="BIZ UDPゴシック" panose="020B0400000000000000" pitchFamily="50" charset="-128"/>
              </a:rPr>
              <a:t>2025</a:t>
            </a:r>
            <a:r>
              <a:rPr lang="ja-JP" altLang="en-US" sz="1600" b="1" dirty="0">
                <a:latin typeface="BIZ UDPゴシック" panose="020B0400000000000000" pitchFamily="50" charset="-128"/>
                <a:ea typeface="BIZ UDPゴシック" panose="020B0400000000000000" pitchFamily="50" charset="-128"/>
              </a:rPr>
              <a:t>年度（</a:t>
            </a:r>
            <a:r>
              <a:rPr lang="en-US" altLang="ja-JP" sz="1600" b="1" dirty="0">
                <a:latin typeface="BIZ UDPゴシック" panose="020B0400000000000000" pitchFamily="50" charset="-128"/>
                <a:ea typeface="BIZ UDPゴシック" panose="020B0400000000000000" pitchFamily="50" charset="-128"/>
              </a:rPr>
              <a:t>31</a:t>
            </a:r>
            <a:r>
              <a:rPr lang="ja-JP" altLang="en-US" sz="1600" b="1" dirty="0">
                <a:latin typeface="BIZ UDPゴシック" panose="020B0400000000000000" pitchFamily="50" charset="-128"/>
                <a:ea typeface="BIZ UDPゴシック" panose="020B0400000000000000" pitchFamily="50" charset="-128"/>
              </a:rPr>
              <a:t>期）上期　清掃ロボット販売の営業インセンティブ</a:t>
            </a:r>
            <a:endParaRPr lang="en-US" altLang="ja-JP" sz="1600" b="1" dirty="0">
              <a:latin typeface="BIZ UDPゴシック" panose="020B0400000000000000" pitchFamily="50" charset="-128"/>
              <a:ea typeface="BIZ UDPゴシック" panose="020B0400000000000000" pitchFamily="50" charset="-128"/>
            </a:endParaRPr>
          </a:p>
        </p:txBody>
      </p:sp>
      <p:sp>
        <p:nvSpPr>
          <p:cNvPr id="27" name="タイトル 2">
            <a:extLst>
              <a:ext uri="{FF2B5EF4-FFF2-40B4-BE49-F238E27FC236}">
                <a16:creationId xmlns:a16="http://schemas.microsoft.com/office/drawing/2014/main" id="{8D5407A5-6BC7-535B-EC57-E8FF38B8AA7D}"/>
              </a:ext>
            </a:extLst>
          </p:cNvPr>
          <p:cNvSpPr txBox="1">
            <a:spLocks/>
          </p:cNvSpPr>
          <p:nvPr/>
        </p:nvSpPr>
        <p:spPr>
          <a:xfrm>
            <a:off x="8616278" y="44624"/>
            <a:ext cx="1863981"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r"/>
            <a:r>
              <a:rPr lang="en-US" altLang="ja-JP" sz="1200" dirty="0">
                <a:latin typeface="BIZ UDPゴシック" panose="020B0400000000000000" pitchFamily="50" charset="-128"/>
                <a:ea typeface="BIZ UDPゴシック" panose="020B0400000000000000" pitchFamily="50" charset="-128"/>
              </a:rPr>
              <a:t>2025</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月</a:t>
            </a:r>
            <a:r>
              <a:rPr lang="en-US" altLang="ja-JP" sz="1200" dirty="0">
                <a:latin typeface="BIZ UDPゴシック" panose="020B0400000000000000" pitchFamily="50" charset="-128"/>
                <a:ea typeface="BIZ UDPゴシック" panose="020B0400000000000000" pitchFamily="50" charset="-128"/>
              </a:rPr>
              <a:t>12</a:t>
            </a:r>
            <a:r>
              <a:rPr lang="ja-JP" altLang="en-US" sz="1200" dirty="0">
                <a:latin typeface="BIZ UDPゴシック" panose="020B0400000000000000" pitchFamily="50" charset="-128"/>
                <a:ea typeface="BIZ UDPゴシック" panose="020B0400000000000000" pitchFamily="50" charset="-128"/>
              </a:rPr>
              <a:t>日</a:t>
            </a:r>
            <a:endParaRPr lang="en-US" altLang="ja-JP" sz="1200" dirty="0">
              <a:latin typeface="BIZ UDPゴシック" panose="020B0400000000000000" pitchFamily="50" charset="-128"/>
              <a:ea typeface="BIZ UDPゴシック" panose="020B0400000000000000" pitchFamily="50" charset="-128"/>
            </a:endParaRPr>
          </a:p>
          <a:p>
            <a:pPr algn="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戦略会議</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18067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8ABDA-B120-D5B4-BB02-357E959903E4}"/>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E401EB44-1891-FD3D-1D41-7F2B7A2456FE}"/>
              </a:ext>
            </a:extLst>
          </p:cNvPr>
          <p:cNvPicPr>
            <a:picLocks noChangeAspect="1"/>
          </p:cNvPicPr>
          <p:nvPr/>
        </p:nvPicPr>
        <p:blipFill>
          <a:blip r:embed="rId2"/>
          <a:stretch>
            <a:fillRect/>
          </a:stretch>
        </p:blipFill>
        <p:spPr>
          <a:xfrm>
            <a:off x="6994976" y="2442581"/>
            <a:ext cx="1184312" cy="892182"/>
          </a:xfrm>
          <a:prstGeom prst="rect">
            <a:avLst/>
          </a:prstGeom>
        </p:spPr>
      </p:pic>
      <p:sp>
        <p:nvSpPr>
          <p:cNvPr id="3" name="Text Box 31">
            <a:extLst>
              <a:ext uri="{FF2B5EF4-FFF2-40B4-BE49-F238E27FC236}">
                <a16:creationId xmlns:a16="http://schemas.microsoft.com/office/drawing/2014/main" id="{E87F57F3-254F-85A3-75D6-C43946444329}"/>
              </a:ext>
            </a:extLst>
          </p:cNvPr>
          <p:cNvSpPr txBox="1">
            <a:spLocks noChangeArrowheads="1"/>
          </p:cNvSpPr>
          <p:nvPr/>
        </p:nvSpPr>
        <p:spPr bwMode="auto">
          <a:xfrm>
            <a:off x="11817444" y="6671998"/>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4</a:t>
            </a:fld>
            <a:r>
              <a:rPr lang="ja-JP" altLang="en-US" sz="1050" dirty="0">
                <a:latin typeface="Helvetica" pitchFamily="34" charset="0"/>
                <a:ea typeface="中ゴシックBBB" pitchFamily="49" charset="-128"/>
              </a:rPr>
              <a:t>－</a:t>
            </a:r>
          </a:p>
        </p:txBody>
      </p:sp>
      <p:sp>
        <p:nvSpPr>
          <p:cNvPr id="15" name="フローチャート: 代替処理 14">
            <a:extLst>
              <a:ext uri="{FF2B5EF4-FFF2-40B4-BE49-F238E27FC236}">
                <a16:creationId xmlns:a16="http://schemas.microsoft.com/office/drawing/2014/main" id="{5640A800-0EEF-04BE-87BE-DB3CC674B06E}"/>
              </a:ext>
            </a:extLst>
          </p:cNvPr>
          <p:cNvSpPr/>
          <p:nvPr/>
        </p:nvSpPr>
        <p:spPr>
          <a:xfrm>
            <a:off x="1703512"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00" dirty="0">
                <a:solidFill>
                  <a:schemeClr val="tx1"/>
                </a:solidFill>
                <a:latin typeface="BIZ UDPゴシック" panose="020B0400000000000000" pitchFamily="50" charset="-128"/>
                <a:ea typeface="BIZ UDPゴシック" panose="020B0400000000000000" pitchFamily="50" charset="-128"/>
              </a:rPr>
              <a:t>①</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顧客接点への貢献</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（成約時のみ）</a:t>
            </a:r>
            <a:endParaRPr lang="en-US" altLang="ja-JP" sz="1300" dirty="0">
              <a:solidFill>
                <a:schemeClr val="tx1"/>
              </a:solidFill>
              <a:latin typeface="BIZ UDPゴシック" panose="020B0400000000000000" pitchFamily="50" charset="-128"/>
              <a:ea typeface="BIZ UDPゴシック" panose="020B0400000000000000" pitchFamily="50" charset="-128"/>
            </a:endParaRPr>
          </a:p>
        </p:txBody>
      </p:sp>
      <p:sp>
        <p:nvSpPr>
          <p:cNvPr id="16" name="フローチャート: 代替処理 15">
            <a:extLst>
              <a:ext uri="{FF2B5EF4-FFF2-40B4-BE49-F238E27FC236}">
                <a16:creationId xmlns:a16="http://schemas.microsoft.com/office/drawing/2014/main" id="{6E4D9D54-72DE-1DCE-F740-B76F13D4BF9F}"/>
              </a:ext>
            </a:extLst>
          </p:cNvPr>
          <p:cNvSpPr/>
          <p:nvPr/>
        </p:nvSpPr>
        <p:spPr>
          <a:xfrm>
            <a:off x="4079837"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00" dirty="0">
                <a:solidFill>
                  <a:schemeClr val="tx1"/>
                </a:solidFill>
                <a:latin typeface="BIZ UDPゴシック" panose="020B0400000000000000" pitchFamily="50" charset="-128"/>
                <a:ea typeface="BIZ UDPゴシック" panose="020B0400000000000000" pitchFamily="50" charset="-128"/>
              </a:rPr>
              <a:t>②</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商談・実証実験</a:t>
            </a:r>
            <a:endParaRPr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300" dirty="0">
                <a:solidFill>
                  <a:schemeClr val="tx1"/>
                </a:solidFill>
                <a:latin typeface="BIZ UDPゴシック" panose="020B0400000000000000" pitchFamily="50" charset="-128"/>
                <a:ea typeface="BIZ UDPゴシック" panose="020B0400000000000000" pitchFamily="50" charset="-128"/>
              </a:rPr>
              <a:t>・成約</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sp>
        <p:nvSpPr>
          <p:cNvPr id="17" name="フローチャート: 代替処理 16">
            <a:extLst>
              <a:ext uri="{FF2B5EF4-FFF2-40B4-BE49-F238E27FC236}">
                <a16:creationId xmlns:a16="http://schemas.microsoft.com/office/drawing/2014/main" id="{E1CA00EE-23E8-F3B0-BF2A-7695CB0ACCD5}"/>
              </a:ext>
            </a:extLst>
          </p:cNvPr>
          <p:cNvSpPr/>
          <p:nvPr/>
        </p:nvSpPr>
        <p:spPr>
          <a:xfrm>
            <a:off x="6456162"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③</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納品・セッティング</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cxnSp>
        <p:nvCxnSpPr>
          <p:cNvPr id="19" name="直線矢印コネクタ 18">
            <a:extLst>
              <a:ext uri="{FF2B5EF4-FFF2-40B4-BE49-F238E27FC236}">
                <a16:creationId xmlns:a16="http://schemas.microsoft.com/office/drawing/2014/main" id="{BD2CDD1D-DF5D-1220-0C10-AE1ED9050C3B}"/>
              </a:ext>
            </a:extLst>
          </p:cNvPr>
          <p:cNvCxnSpPr>
            <a:cxnSpLocks/>
            <a:stCxn id="15" idx="3"/>
            <a:endCxn id="16" idx="1"/>
          </p:cNvCxnSpPr>
          <p:nvPr/>
        </p:nvCxnSpPr>
        <p:spPr>
          <a:xfrm>
            <a:off x="3359512" y="2065642"/>
            <a:ext cx="720325"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cxnSp>
        <p:nvCxnSpPr>
          <p:cNvPr id="20" name="直線矢印コネクタ 19">
            <a:extLst>
              <a:ext uri="{FF2B5EF4-FFF2-40B4-BE49-F238E27FC236}">
                <a16:creationId xmlns:a16="http://schemas.microsoft.com/office/drawing/2014/main" id="{F38A2D95-5888-96F7-36CD-2F7D361DCA7E}"/>
              </a:ext>
            </a:extLst>
          </p:cNvPr>
          <p:cNvCxnSpPr>
            <a:cxnSpLocks/>
            <a:stCxn id="16" idx="3"/>
            <a:endCxn id="17" idx="1"/>
          </p:cNvCxnSpPr>
          <p:nvPr/>
        </p:nvCxnSpPr>
        <p:spPr>
          <a:xfrm>
            <a:off x="5735837" y="2065642"/>
            <a:ext cx="720325"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pic>
        <p:nvPicPr>
          <p:cNvPr id="28" name="図 27">
            <a:extLst>
              <a:ext uri="{FF2B5EF4-FFF2-40B4-BE49-F238E27FC236}">
                <a16:creationId xmlns:a16="http://schemas.microsoft.com/office/drawing/2014/main" id="{E9B8FB13-8780-98AD-75B4-40996E0F7A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71302" y="2721042"/>
            <a:ext cx="671977" cy="671977"/>
          </a:xfrm>
          <a:prstGeom prst="rect">
            <a:avLst/>
          </a:prstGeom>
        </p:spPr>
      </p:pic>
      <p:pic>
        <p:nvPicPr>
          <p:cNvPr id="26" name="図 25">
            <a:extLst>
              <a:ext uri="{FF2B5EF4-FFF2-40B4-BE49-F238E27FC236}">
                <a16:creationId xmlns:a16="http://schemas.microsoft.com/office/drawing/2014/main" id="{ED35964D-631C-7657-A1D4-BC57D07DE3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917" y="2520216"/>
            <a:ext cx="1193238" cy="1193238"/>
          </a:xfrm>
          <a:prstGeom prst="rect">
            <a:avLst/>
          </a:prstGeom>
        </p:spPr>
      </p:pic>
      <p:sp>
        <p:nvSpPr>
          <p:cNvPr id="50" name="吹き出し: 四角形 49">
            <a:extLst>
              <a:ext uri="{FF2B5EF4-FFF2-40B4-BE49-F238E27FC236}">
                <a16:creationId xmlns:a16="http://schemas.microsoft.com/office/drawing/2014/main" id="{7058FC08-1E49-E213-1FF1-A2B0EDAE6700}"/>
              </a:ext>
            </a:extLst>
          </p:cNvPr>
          <p:cNvSpPr/>
          <p:nvPr/>
        </p:nvSpPr>
        <p:spPr>
          <a:xfrm>
            <a:off x="1955448"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lang="en-US" altLang="ja-JP" sz="1600" dirty="0">
                <a:solidFill>
                  <a:schemeClr val="bg1"/>
                </a:solidFill>
                <a:latin typeface="BIZ UDPゴシック" panose="020B0400000000000000" pitchFamily="50" charset="-128"/>
                <a:ea typeface="BIZ UDPゴシック" panose="020B0400000000000000" pitchFamily="50" charset="-128"/>
              </a:rPr>
              <a:t>5</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p>
        </p:txBody>
      </p:sp>
      <p:sp>
        <p:nvSpPr>
          <p:cNvPr id="51" name="吹き出し: 四角形 50">
            <a:extLst>
              <a:ext uri="{FF2B5EF4-FFF2-40B4-BE49-F238E27FC236}">
                <a16:creationId xmlns:a16="http://schemas.microsoft.com/office/drawing/2014/main" id="{CA5B08C2-7043-F025-F883-926164680605}"/>
              </a:ext>
            </a:extLst>
          </p:cNvPr>
          <p:cNvSpPr/>
          <p:nvPr/>
        </p:nvSpPr>
        <p:spPr>
          <a:xfrm>
            <a:off x="4367808"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kumimoji="1"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1600" dirty="0">
                <a:solidFill>
                  <a:schemeClr val="bg1"/>
                </a:solidFill>
                <a:latin typeface="BIZ UDPゴシック" panose="020B0400000000000000" pitchFamily="50" charset="-128"/>
                <a:ea typeface="BIZ UDPゴシック" panose="020B0400000000000000" pitchFamily="50" charset="-128"/>
              </a:rPr>
              <a:t>65</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r>
              <a:rPr lang="ja-JP" altLang="en-US" sz="1600" dirty="0">
                <a:solidFill>
                  <a:schemeClr val="bg1"/>
                </a:solidFill>
                <a:latin typeface="BIZ UDPゴシック" panose="020B0400000000000000" pitchFamily="50" charset="-128"/>
                <a:ea typeface="BIZ UDPゴシック" panose="020B0400000000000000" pitchFamily="50" charset="-128"/>
              </a:rPr>
              <a:t>分</a:t>
            </a:r>
            <a:endParaRPr kumimoji="1" lang="ja-JP" altLang="en-US" sz="1600" dirty="0">
              <a:solidFill>
                <a:schemeClr val="bg1"/>
              </a:solidFill>
              <a:latin typeface="BIZ UDPゴシック" panose="020B0400000000000000" pitchFamily="50" charset="-128"/>
              <a:ea typeface="BIZ UDPゴシック" panose="020B0400000000000000" pitchFamily="50" charset="-128"/>
            </a:endParaRPr>
          </a:p>
        </p:txBody>
      </p:sp>
      <p:sp>
        <p:nvSpPr>
          <p:cNvPr id="54" name="吹き出し: 四角形 53">
            <a:extLst>
              <a:ext uri="{FF2B5EF4-FFF2-40B4-BE49-F238E27FC236}">
                <a16:creationId xmlns:a16="http://schemas.microsoft.com/office/drawing/2014/main" id="{FFD3B5B3-0A6E-A990-26A8-2C1D444503FB}"/>
              </a:ext>
            </a:extLst>
          </p:cNvPr>
          <p:cNvSpPr/>
          <p:nvPr/>
        </p:nvSpPr>
        <p:spPr>
          <a:xfrm>
            <a:off x="6744072" y="908720"/>
            <a:ext cx="1152128" cy="648072"/>
          </a:xfrm>
          <a:prstGeom prst="wedgeRectCallou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bg1"/>
                </a:solidFill>
                <a:latin typeface="BIZ UDPゴシック" panose="020B0400000000000000" pitchFamily="50" charset="-128"/>
                <a:ea typeface="BIZ UDPゴシック" panose="020B0400000000000000" pitchFamily="50" charset="-128"/>
              </a:rPr>
              <a:t>分配率</a:t>
            </a:r>
            <a:endParaRPr lang="en-US" altLang="ja-JP" sz="1600"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bg1"/>
                </a:solidFill>
                <a:latin typeface="BIZ UDPゴシック" panose="020B0400000000000000" pitchFamily="50" charset="-128"/>
                <a:ea typeface="BIZ UDPゴシック" panose="020B0400000000000000" pitchFamily="50" charset="-128"/>
              </a:rPr>
              <a:t>３０</a:t>
            </a:r>
            <a:r>
              <a:rPr kumimoji="1" lang="ja-JP" altLang="en-US" sz="1600" dirty="0">
                <a:solidFill>
                  <a:schemeClr val="bg1"/>
                </a:solidFill>
                <a:latin typeface="BIZ UDPゴシック" panose="020B0400000000000000" pitchFamily="50" charset="-128"/>
                <a:ea typeface="BIZ UDPゴシック" panose="020B0400000000000000" pitchFamily="50" charset="-128"/>
              </a:rPr>
              <a:t>％</a:t>
            </a:r>
            <a:r>
              <a:rPr lang="ja-JP" altLang="en-US" sz="1600" dirty="0">
                <a:solidFill>
                  <a:schemeClr val="bg1"/>
                </a:solidFill>
                <a:latin typeface="BIZ UDPゴシック" panose="020B0400000000000000" pitchFamily="50" charset="-128"/>
                <a:ea typeface="BIZ UDPゴシック" panose="020B0400000000000000" pitchFamily="50" charset="-128"/>
              </a:rPr>
              <a:t>分</a:t>
            </a:r>
            <a:endParaRPr kumimoji="1" lang="ja-JP" altLang="en-US" sz="1600" dirty="0">
              <a:solidFill>
                <a:schemeClr val="bg1"/>
              </a:solidFill>
              <a:latin typeface="BIZ UDPゴシック" panose="020B0400000000000000" pitchFamily="50" charset="-128"/>
              <a:ea typeface="BIZ UDPゴシック" panose="020B0400000000000000" pitchFamily="50" charset="-128"/>
            </a:endParaRPr>
          </a:p>
        </p:txBody>
      </p:sp>
      <p:sp>
        <p:nvSpPr>
          <p:cNvPr id="62" name="フローチャート: 代替処理 61">
            <a:extLst>
              <a:ext uri="{FF2B5EF4-FFF2-40B4-BE49-F238E27FC236}">
                <a16:creationId xmlns:a16="http://schemas.microsoft.com/office/drawing/2014/main" id="{AAE12782-667A-082C-3615-5C4A86F7334D}"/>
              </a:ext>
            </a:extLst>
          </p:cNvPr>
          <p:cNvSpPr/>
          <p:nvPr/>
        </p:nvSpPr>
        <p:spPr>
          <a:xfrm>
            <a:off x="8832488" y="1696503"/>
            <a:ext cx="1656000" cy="738277"/>
          </a:xfrm>
          <a:prstGeom prst="flowChartAlternateProcess">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④</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a:p>
            <a:pPr algn="ctr"/>
            <a:r>
              <a:rPr kumimoji="1" lang="ja-JP" altLang="en-US" sz="1300" dirty="0">
                <a:solidFill>
                  <a:schemeClr val="tx1"/>
                </a:solidFill>
                <a:latin typeface="BIZ UDPゴシック" panose="020B0400000000000000" pitchFamily="50" charset="-128"/>
                <a:ea typeface="BIZ UDPゴシック" panose="020B0400000000000000" pitchFamily="50" charset="-128"/>
              </a:rPr>
              <a:t>インセンティブ付与</a:t>
            </a:r>
            <a:endParaRPr kumimoji="1" lang="en-US" altLang="ja-JP" sz="1300" dirty="0">
              <a:solidFill>
                <a:schemeClr val="tx1"/>
              </a:solidFill>
              <a:latin typeface="BIZ UDPゴシック" panose="020B0400000000000000" pitchFamily="50" charset="-128"/>
              <a:ea typeface="BIZ UDPゴシック" panose="020B0400000000000000" pitchFamily="50" charset="-128"/>
            </a:endParaRPr>
          </a:p>
        </p:txBody>
      </p:sp>
      <p:cxnSp>
        <p:nvCxnSpPr>
          <p:cNvPr id="64" name="直線矢印コネクタ 63">
            <a:extLst>
              <a:ext uri="{FF2B5EF4-FFF2-40B4-BE49-F238E27FC236}">
                <a16:creationId xmlns:a16="http://schemas.microsoft.com/office/drawing/2014/main" id="{A3CD2E24-0A97-A42B-F75E-616C52730FDD}"/>
              </a:ext>
            </a:extLst>
          </p:cNvPr>
          <p:cNvCxnSpPr>
            <a:cxnSpLocks/>
            <a:stCxn id="17" idx="3"/>
            <a:endCxn id="62" idx="1"/>
          </p:cNvCxnSpPr>
          <p:nvPr/>
        </p:nvCxnSpPr>
        <p:spPr>
          <a:xfrm>
            <a:off x="8112162" y="2065642"/>
            <a:ext cx="720326" cy="0"/>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pic>
        <p:nvPicPr>
          <p:cNvPr id="69" name="図 68">
            <a:extLst>
              <a:ext uri="{FF2B5EF4-FFF2-40B4-BE49-F238E27FC236}">
                <a16:creationId xmlns:a16="http://schemas.microsoft.com/office/drawing/2014/main" id="{D585A7CD-379F-CFD1-FA5A-D9404F3874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6876" y="2612538"/>
            <a:ext cx="1008595" cy="1008595"/>
          </a:xfrm>
          <a:prstGeom prst="rect">
            <a:avLst/>
          </a:prstGeom>
        </p:spPr>
      </p:pic>
      <p:pic>
        <p:nvPicPr>
          <p:cNvPr id="6" name="図 5">
            <a:extLst>
              <a:ext uri="{FF2B5EF4-FFF2-40B4-BE49-F238E27FC236}">
                <a16:creationId xmlns:a16="http://schemas.microsoft.com/office/drawing/2014/main" id="{B1505373-E987-C6E7-2F17-E23520AE0D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9635" y="2632043"/>
            <a:ext cx="1156586" cy="1156586"/>
          </a:xfrm>
          <a:prstGeom prst="rect">
            <a:avLst/>
          </a:prstGeom>
        </p:spPr>
      </p:pic>
      <p:pic>
        <p:nvPicPr>
          <p:cNvPr id="9" name="図 8">
            <a:extLst>
              <a:ext uri="{FF2B5EF4-FFF2-40B4-BE49-F238E27FC236}">
                <a16:creationId xmlns:a16="http://schemas.microsoft.com/office/drawing/2014/main" id="{976839D1-DBC8-CCC8-45F5-C3DD8B6C230C}"/>
              </a:ext>
            </a:extLst>
          </p:cNvPr>
          <p:cNvPicPr>
            <a:picLocks noChangeAspect="1"/>
          </p:cNvPicPr>
          <p:nvPr/>
        </p:nvPicPr>
        <p:blipFill>
          <a:blip r:embed="rId2"/>
          <a:stretch>
            <a:fillRect/>
          </a:stretch>
        </p:blipFill>
        <p:spPr>
          <a:xfrm>
            <a:off x="4551648" y="2442581"/>
            <a:ext cx="1184312" cy="892182"/>
          </a:xfrm>
          <a:prstGeom prst="rect">
            <a:avLst/>
          </a:prstGeom>
        </p:spPr>
      </p:pic>
      <p:pic>
        <p:nvPicPr>
          <p:cNvPr id="36" name="図 35">
            <a:extLst>
              <a:ext uri="{FF2B5EF4-FFF2-40B4-BE49-F238E27FC236}">
                <a16:creationId xmlns:a16="http://schemas.microsoft.com/office/drawing/2014/main" id="{3E959A5A-EC80-60C3-F6B7-14961D6238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85760" y="2971706"/>
            <a:ext cx="867979" cy="738277"/>
          </a:xfrm>
          <a:prstGeom prst="rect">
            <a:avLst/>
          </a:prstGeom>
        </p:spPr>
      </p:pic>
      <p:pic>
        <p:nvPicPr>
          <p:cNvPr id="31" name="図 30">
            <a:extLst>
              <a:ext uri="{FF2B5EF4-FFF2-40B4-BE49-F238E27FC236}">
                <a16:creationId xmlns:a16="http://schemas.microsoft.com/office/drawing/2014/main" id="{71153821-6E26-D762-70DD-71F9754B4CC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25382" y="2872156"/>
            <a:ext cx="738277" cy="738277"/>
          </a:xfrm>
          <a:prstGeom prst="rect">
            <a:avLst/>
          </a:prstGeom>
        </p:spPr>
      </p:pic>
      <p:sp>
        <p:nvSpPr>
          <p:cNvPr id="4" name="吹き出し: 四角形 3">
            <a:extLst>
              <a:ext uri="{FF2B5EF4-FFF2-40B4-BE49-F238E27FC236}">
                <a16:creationId xmlns:a16="http://schemas.microsoft.com/office/drawing/2014/main" id="{3B5DA26D-D4F0-B223-EA8F-039416CE18D6}"/>
              </a:ext>
            </a:extLst>
          </p:cNvPr>
          <p:cNvSpPr/>
          <p:nvPr/>
        </p:nvSpPr>
        <p:spPr>
          <a:xfrm>
            <a:off x="91956" y="908719"/>
            <a:ext cx="1260000" cy="1533862"/>
          </a:xfrm>
          <a:prstGeom prst="wedgeRectCallout">
            <a:avLst>
              <a:gd name="adj1" fmla="val -20833"/>
              <a:gd name="adj2" fmla="val 44210"/>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パターン②</a:t>
            </a:r>
            <a:endParaRPr kumimoji="1" lang="en-US" altLang="ja-JP" sz="16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tx1"/>
                </a:solidFill>
                <a:latin typeface="BIZ UDPゴシック" panose="020B0400000000000000" pitchFamily="50" charset="-128"/>
                <a:ea typeface="BIZ UDPゴシック" panose="020B0400000000000000" pitchFamily="50" charset="-128"/>
              </a:rPr>
              <a:t>代理店</a:t>
            </a:r>
            <a:endParaRPr lang="en-US" altLang="ja-JP" sz="1600" dirty="0">
              <a:solidFill>
                <a:schemeClr val="tx1"/>
              </a:solidFill>
              <a:latin typeface="BIZ UDPゴシック" panose="020B0400000000000000" pitchFamily="50" charset="-128"/>
              <a:ea typeface="BIZ UDPゴシック" panose="020B0400000000000000" pitchFamily="50" charset="-128"/>
            </a:endParaRPr>
          </a:p>
          <a:p>
            <a:pPr algn="ctr"/>
            <a:endParaRPr lang="en-US" altLang="ja-JP" sz="1600" dirty="0">
              <a:solidFill>
                <a:schemeClr val="tx1"/>
              </a:solidFill>
              <a:latin typeface="BIZ UDPゴシック" panose="020B0400000000000000" pitchFamily="50" charset="-128"/>
              <a:ea typeface="BIZ UDPゴシック" panose="020B0400000000000000" pitchFamily="50" charset="-128"/>
            </a:endParaRPr>
          </a:p>
          <a:p>
            <a:pPr algn="ctr"/>
            <a:r>
              <a:rPr lang="ja-JP" altLang="en-US" sz="1600" dirty="0">
                <a:solidFill>
                  <a:schemeClr val="tx1"/>
                </a:solidFill>
                <a:latin typeface="BIZ UDPゴシック" panose="020B0400000000000000" pitchFamily="50" charset="-128"/>
                <a:ea typeface="BIZ UDPゴシック" panose="020B0400000000000000" pitchFamily="50" charset="-128"/>
              </a:rPr>
              <a:t>（初販・再販　共通）</a:t>
            </a:r>
            <a:endParaRPr lang="en-US" altLang="ja-JP" sz="1600" dirty="0">
              <a:solidFill>
                <a:schemeClr val="tx1"/>
              </a:solidFill>
              <a:latin typeface="BIZ UDPゴシック" panose="020B0400000000000000" pitchFamily="50" charset="-128"/>
              <a:ea typeface="BIZ UDPゴシック" panose="020B0400000000000000" pitchFamily="50" charset="-128"/>
            </a:endParaRPr>
          </a:p>
        </p:txBody>
      </p:sp>
      <p:sp>
        <p:nvSpPr>
          <p:cNvPr id="5" name="吹き出し: 四角形 4">
            <a:extLst>
              <a:ext uri="{FF2B5EF4-FFF2-40B4-BE49-F238E27FC236}">
                <a16:creationId xmlns:a16="http://schemas.microsoft.com/office/drawing/2014/main" id="{B97F4787-79D4-22B5-39DD-48ADB0D6AE54}"/>
              </a:ext>
            </a:extLst>
          </p:cNvPr>
          <p:cNvSpPr/>
          <p:nvPr/>
        </p:nvSpPr>
        <p:spPr>
          <a:xfrm>
            <a:off x="530318" y="2813099"/>
            <a:ext cx="1288358" cy="581265"/>
          </a:xfrm>
          <a:prstGeom prst="wedgeRectCallout">
            <a:avLst>
              <a:gd name="adj1" fmla="val 50790"/>
              <a:gd name="adj2" fmla="val -73727"/>
            </a:avLst>
          </a:prstGeom>
          <a:solidFill>
            <a:schemeClr val="accent5">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rgbClr val="FF0000"/>
                </a:solidFill>
                <a:latin typeface="BIZ UDPゴシック" panose="020B0400000000000000" pitchFamily="50" charset="-128"/>
                <a:ea typeface="BIZ UDPゴシック" panose="020B0400000000000000" pitchFamily="50" charset="-128"/>
              </a:rPr>
              <a:t>部門は限定しない</a:t>
            </a:r>
            <a:endParaRPr lang="en-US" altLang="ja-JP" sz="1100" dirty="0">
              <a:solidFill>
                <a:srgbClr val="FF0000"/>
              </a:solidFill>
              <a:latin typeface="BIZ UDPゴシック" panose="020B0400000000000000" pitchFamily="50" charset="-128"/>
              <a:ea typeface="BIZ UDPゴシック" panose="020B0400000000000000" pitchFamily="50" charset="-128"/>
            </a:endParaRPr>
          </a:p>
          <a:p>
            <a:pPr algn="ctr"/>
            <a:r>
              <a:rPr kumimoji="1" lang="ja-JP" altLang="en-US" sz="1100" dirty="0">
                <a:solidFill>
                  <a:srgbClr val="FF0000"/>
                </a:solidFill>
                <a:latin typeface="BIZ UDPゴシック" panose="020B0400000000000000" pitchFamily="50" charset="-128"/>
                <a:ea typeface="BIZ UDPゴシック" panose="020B0400000000000000" pitchFamily="50" charset="-128"/>
              </a:rPr>
              <a:t>（全部門対象）</a:t>
            </a:r>
          </a:p>
        </p:txBody>
      </p:sp>
      <p:sp>
        <p:nvSpPr>
          <p:cNvPr id="2" name="正方形/長方形 1">
            <a:extLst>
              <a:ext uri="{FF2B5EF4-FFF2-40B4-BE49-F238E27FC236}">
                <a16:creationId xmlns:a16="http://schemas.microsoft.com/office/drawing/2014/main" id="{8A239872-F927-316B-C4C2-2B7F0BB2ACB7}"/>
              </a:ext>
            </a:extLst>
          </p:cNvPr>
          <p:cNvSpPr/>
          <p:nvPr/>
        </p:nvSpPr>
        <p:spPr>
          <a:xfrm>
            <a:off x="3880792" y="778938"/>
            <a:ext cx="2054258" cy="3090577"/>
          </a:xfrm>
          <a:prstGeom prst="rect">
            <a:avLst/>
          </a:prstGeom>
          <a:solidFill>
            <a:schemeClr val="bg1">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正方形/長方形 6">
            <a:extLst>
              <a:ext uri="{FF2B5EF4-FFF2-40B4-BE49-F238E27FC236}">
                <a16:creationId xmlns:a16="http://schemas.microsoft.com/office/drawing/2014/main" id="{70DA0EAD-D8A3-3D7B-2565-D9DC59E13502}"/>
              </a:ext>
            </a:extLst>
          </p:cNvPr>
          <p:cNvSpPr/>
          <p:nvPr/>
        </p:nvSpPr>
        <p:spPr>
          <a:xfrm>
            <a:off x="1535203" y="770471"/>
            <a:ext cx="2054258" cy="3090577"/>
          </a:xfrm>
          <a:prstGeom prst="rect">
            <a:avLst/>
          </a:prstGeom>
          <a:solidFill>
            <a:schemeClr val="bg1">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47662C68-AE9F-34CD-7A63-49EE8DD6CF11}"/>
              </a:ext>
            </a:extLst>
          </p:cNvPr>
          <p:cNvSpPr txBox="1"/>
          <p:nvPr/>
        </p:nvSpPr>
        <p:spPr>
          <a:xfrm>
            <a:off x="4079960" y="3373926"/>
            <a:ext cx="1656000" cy="369332"/>
          </a:xfrm>
          <a:prstGeom prst="rect">
            <a:avLst/>
          </a:prstGeom>
          <a:solidFill>
            <a:schemeClr val="bg1"/>
          </a:solidFill>
        </p:spPr>
        <p:txBody>
          <a:bodyPr wrap="square" rtlCol="0">
            <a:spAutoFit/>
          </a:bodyPr>
          <a:lstStyle/>
          <a:p>
            <a:pPr algn="ctr"/>
            <a:r>
              <a:rPr kumimoji="1" lang="ja-JP" altLang="en-US" dirty="0">
                <a:latin typeface="BIZ UDPゴシック" panose="020B0400000000000000" pitchFamily="50" charset="-128"/>
                <a:ea typeface="BIZ UDPゴシック" panose="020B0400000000000000" pitchFamily="50" charset="-128"/>
              </a:rPr>
              <a:t>なし</a:t>
            </a:r>
          </a:p>
        </p:txBody>
      </p:sp>
      <p:sp>
        <p:nvSpPr>
          <p:cNvPr id="12" name="テキスト ボックス 11">
            <a:extLst>
              <a:ext uri="{FF2B5EF4-FFF2-40B4-BE49-F238E27FC236}">
                <a16:creationId xmlns:a16="http://schemas.microsoft.com/office/drawing/2014/main" id="{848387C9-CB9F-354D-4CEE-32EC8D39A84C}"/>
              </a:ext>
            </a:extLst>
          </p:cNvPr>
          <p:cNvSpPr txBox="1"/>
          <p:nvPr/>
        </p:nvSpPr>
        <p:spPr>
          <a:xfrm>
            <a:off x="1740868" y="3374410"/>
            <a:ext cx="1656000" cy="369332"/>
          </a:xfrm>
          <a:prstGeom prst="rect">
            <a:avLst/>
          </a:prstGeom>
          <a:solidFill>
            <a:schemeClr val="bg1"/>
          </a:solidFill>
        </p:spPr>
        <p:txBody>
          <a:bodyPr wrap="square" rtlCol="0">
            <a:spAutoFit/>
          </a:bodyPr>
          <a:lstStyle/>
          <a:p>
            <a:pPr algn="ctr"/>
            <a:r>
              <a:rPr kumimoji="1" lang="ja-JP" altLang="en-US" dirty="0">
                <a:latin typeface="BIZ UDPゴシック" panose="020B0400000000000000" pitchFamily="50" charset="-128"/>
                <a:ea typeface="BIZ UDPゴシック" panose="020B0400000000000000" pitchFamily="50" charset="-128"/>
              </a:rPr>
              <a:t>なし</a:t>
            </a:r>
          </a:p>
        </p:txBody>
      </p:sp>
      <p:sp>
        <p:nvSpPr>
          <p:cNvPr id="21" name="正方形/長方形 20">
            <a:extLst>
              <a:ext uri="{FF2B5EF4-FFF2-40B4-BE49-F238E27FC236}">
                <a16:creationId xmlns:a16="http://schemas.microsoft.com/office/drawing/2014/main" id="{87BB4833-C66F-DBC4-3169-78BCC3F40675}"/>
              </a:ext>
            </a:extLst>
          </p:cNvPr>
          <p:cNvSpPr/>
          <p:nvPr/>
        </p:nvSpPr>
        <p:spPr>
          <a:xfrm>
            <a:off x="89703" y="4139558"/>
            <a:ext cx="12005015" cy="2385784"/>
          </a:xfrm>
          <a:prstGeom prst="rect">
            <a:avLst/>
          </a:prstGeom>
          <a:solidFill>
            <a:srgbClr val="FFFFCC"/>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代理店の場合も、基本的には前のページに記載のパターン①（直販）と同様です。</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050" dirty="0">
                <a:solidFill>
                  <a:schemeClr val="tx1"/>
                </a:solidFill>
                <a:latin typeface="BIZ UDPゴシック" panose="020B0400000000000000" pitchFamily="50" charset="-128"/>
                <a:ea typeface="BIZ UDPゴシック" panose="020B0400000000000000" pitchFamily="50" charset="-128"/>
              </a:rPr>
              <a:t>ただし、代理店については、③（納品・セッティング）のみが対象となります。</a:t>
            </a:r>
            <a:endParaRPr lang="en-US" altLang="ja-JP" sz="1050" dirty="0">
              <a:solidFill>
                <a:schemeClr val="tx1"/>
              </a:solidFill>
              <a:latin typeface="BIZ UDPゴシック" panose="020B0400000000000000" pitchFamily="50" charset="-128"/>
              <a:ea typeface="BIZ UDPゴシック" panose="020B0400000000000000" pitchFamily="50" charset="-128"/>
            </a:endParaRPr>
          </a:p>
        </p:txBody>
      </p:sp>
      <p:sp>
        <p:nvSpPr>
          <p:cNvPr id="22" name="タイトル 2">
            <a:extLst>
              <a:ext uri="{FF2B5EF4-FFF2-40B4-BE49-F238E27FC236}">
                <a16:creationId xmlns:a16="http://schemas.microsoft.com/office/drawing/2014/main" id="{AFAFDC61-A670-EFB7-F057-87F9CA560641}"/>
              </a:ext>
            </a:extLst>
          </p:cNvPr>
          <p:cNvSpPr txBox="1">
            <a:spLocks/>
          </p:cNvSpPr>
          <p:nvPr/>
        </p:nvSpPr>
        <p:spPr>
          <a:xfrm>
            <a:off x="966" y="43826"/>
            <a:ext cx="8615313"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b="1" dirty="0">
                <a:latin typeface="BIZ UDPゴシック" panose="020B0400000000000000" pitchFamily="50" charset="-128"/>
                <a:ea typeface="BIZ UDPゴシック" panose="020B0400000000000000" pitchFamily="50" charset="-128"/>
              </a:rPr>
              <a:t>2025</a:t>
            </a:r>
            <a:r>
              <a:rPr lang="ja-JP" altLang="en-US" sz="1600" b="1" dirty="0">
                <a:latin typeface="BIZ UDPゴシック" panose="020B0400000000000000" pitchFamily="50" charset="-128"/>
                <a:ea typeface="BIZ UDPゴシック" panose="020B0400000000000000" pitchFamily="50" charset="-128"/>
              </a:rPr>
              <a:t>年度（</a:t>
            </a:r>
            <a:r>
              <a:rPr lang="en-US" altLang="ja-JP" sz="1600" b="1" dirty="0">
                <a:latin typeface="BIZ UDPゴシック" panose="020B0400000000000000" pitchFamily="50" charset="-128"/>
                <a:ea typeface="BIZ UDPゴシック" panose="020B0400000000000000" pitchFamily="50" charset="-128"/>
              </a:rPr>
              <a:t>31</a:t>
            </a:r>
            <a:r>
              <a:rPr lang="ja-JP" altLang="en-US" sz="1600" b="1" dirty="0">
                <a:latin typeface="BIZ UDPゴシック" panose="020B0400000000000000" pitchFamily="50" charset="-128"/>
                <a:ea typeface="BIZ UDPゴシック" panose="020B0400000000000000" pitchFamily="50" charset="-128"/>
              </a:rPr>
              <a:t>期）上期　清掃ロボット販売の営業インセンティブ</a:t>
            </a:r>
            <a:endParaRPr lang="en-US" altLang="ja-JP" sz="1600" b="1" dirty="0">
              <a:latin typeface="BIZ UDPゴシック" panose="020B0400000000000000" pitchFamily="50" charset="-128"/>
              <a:ea typeface="BIZ UDPゴシック" panose="020B0400000000000000" pitchFamily="50" charset="-128"/>
            </a:endParaRPr>
          </a:p>
        </p:txBody>
      </p:sp>
      <p:sp>
        <p:nvSpPr>
          <p:cNvPr id="23" name="タイトル 2">
            <a:extLst>
              <a:ext uri="{FF2B5EF4-FFF2-40B4-BE49-F238E27FC236}">
                <a16:creationId xmlns:a16="http://schemas.microsoft.com/office/drawing/2014/main" id="{D3BD102B-0305-68CF-0D6F-DE843253C1DA}"/>
              </a:ext>
            </a:extLst>
          </p:cNvPr>
          <p:cNvSpPr txBox="1">
            <a:spLocks/>
          </p:cNvSpPr>
          <p:nvPr/>
        </p:nvSpPr>
        <p:spPr>
          <a:xfrm>
            <a:off x="8616278" y="44624"/>
            <a:ext cx="1863981"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r"/>
            <a:r>
              <a:rPr lang="en-US" altLang="ja-JP" sz="1200" dirty="0">
                <a:latin typeface="BIZ UDPゴシック" panose="020B0400000000000000" pitchFamily="50" charset="-128"/>
                <a:ea typeface="BIZ UDPゴシック" panose="020B0400000000000000" pitchFamily="50" charset="-128"/>
              </a:rPr>
              <a:t>2025</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月</a:t>
            </a:r>
            <a:r>
              <a:rPr lang="en-US" altLang="ja-JP" sz="1200" dirty="0">
                <a:latin typeface="BIZ UDPゴシック" panose="020B0400000000000000" pitchFamily="50" charset="-128"/>
                <a:ea typeface="BIZ UDPゴシック" panose="020B0400000000000000" pitchFamily="50" charset="-128"/>
              </a:rPr>
              <a:t>12</a:t>
            </a:r>
            <a:r>
              <a:rPr lang="ja-JP" altLang="en-US" sz="1200" dirty="0">
                <a:latin typeface="BIZ UDPゴシック" panose="020B0400000000000000" pitchFamily="50" charset="-128"/>
                <a:ea typeface="BIZ UDPゴシック" panose="020B0400000000000000" pitchFamily="50" charset="-128"/>
              </a:rPr>
              <a:t>日</a:t>
            </a:r>
            <a:endParaRPr lang="en-US" altLang="ja-JP" sz="1200" dirty="0">
              <a:latin typeface="BIZ UDPゴシック" panose="020B0400000000000000" pitchFamily="50" charset="-128"/>
              <a:ea typeface="BIZ UDPゴシック" panose="020B0400000000000000" pitchFamily="50" charset="-128"/>
            </a:endParaRPr>
          </a:p>
          <a:p>
            <a:pPr algn="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戦略会議</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59428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6F57-D6EE-5719-66F3-032ADE34462D}"/>
            </a:ext>
          </a:extLst>
        </p:cNvPr>
        <p:cNvGrpSpPr/>
        <p:nvPr/>
      </p:nvGrpSpPr>
      <p:grpSpPr>
        <a:xfrm>
          <a:off x="0" y="0"/>
          <a:ext cx="0" cy="0"/>
          <a:chOff x="0" y="0"/>
          <a:chExt cx="0" cy="0"/>
        </a:xfrm>
      </p:grpSpPr>
      <p:sp>
        <p:nvSpPr>
          <p:cNvPr id="3" name="Text Box 31">
            <a:extLst>
              <a:ext uri="{FF2B5EF4-FFF2-40B4-BE49-F238E27FC236}">
                <a16:creationId xmlns:a16="http://schemas.microsoft.com/office/drawing/2014/main" id="{ADF92ABA-007E-5F04-D07C-DB3906260586}"/>
              </a:ext>
            </a:extLst>
          </p:cNvPr>
          <p:cNvSpPr txBox="1">
            <a:spLocks noChangeArrowheads="1"/>
          </p:cNvSpPr>
          <p:nvPr/>
        </p:nvSpPr>
        <p:spPr bwMode="auto">
          <a:xfrm>
            <a:off x="11817444" y="6671998"/>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5</a:t>
            </a:fld>
            <a:r>
              <a:rPr lang="ja-JP" altLang="en-US" sz="1050" dirty="0">
                <a:latin typeface="Helvetica" pitchFamily="34" charset="0"/>
                <a:ea typeface="中ゴシックBBB" pitchFamily="49" charset="-128"/>
              </a:rPr>
              <a:t>－</a:t>
            </a:r>
          </a:p>
        </p:txBody>
      </p:sp>
      <p:sp>
        <p:nvSpPr>
          <p:cNvPr id="14" name="テキスト ボックス 13">
            <a:extLst>
              <a:ext uri="{FF2B5EF4-FFF2-40B4-BE49-F238E27FC236}">
                <a16:creationId xmlns:a16="http://schemas.microsoft.com/office/drawing/2014/main" id="{F4E81AF5-78B2-A11F-029F-5FD9B1D7CBBA}"/>
              </a:ext>
            </a:extLst>
          </p:cNvPr>
          <p:cNvSpPr txBox="1"/>
          <p:nvPr/>
        </p:nvSpPr>
        <p:spPr>
          <a:xfrm>
            <a:off x="88777" y="561693"/>
            <a:ext cx="3126903" cy="369332"/>
          </a:xfrm>
          <a:prstGeom prst="rect">
            <a:avLst/>
          </a:prstGeom>
          <a:solidFill>
            <a:schemeClr val="accent1"/>
          </a:solidFill>
        </p:spPr>
        <p:txBody>
          <a:bodyPr wrap="square">
            <a:spAutoFit/>
          </a:bodyPr>
          <a:lstStyle/>
          <a:p>
            <a:pPr algn="ctr"/>
            <a:r>
              <a:rPr lang="ja-JP" altLang="en-US" sz="1800" dirty="0">
                <a:solidFill>
                  <a:schemeClr val="bg1"/>
                </a:solidFill>
                <a:latin typeface="BIZ UDPゴシック" panose="020B0400000000000000" pitchFamily="50" charset="-128"/>
                <a:ea typeface="BIZ UDPゴシック" panose="020B0400000000000000" pitchFamily="50" charset="-128"/>
              </a:rPr>
              <a:t>顧客接点への貢献　の定義</a:t>
            </a:r>
            <a:endParaRPr lang="en-US" altLang="ja-JP" sz="1800" dirty="0">
              <a:solidFill>
                <a:schemeClr val="bg1"/>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A11BCA4E-FB16-8AC4-148F-F2CE8BBF6A69}"/>
              </a:ext>
            </a:extLst>
          </p:cNvPr>
          <p:cNvSpPr txBox="1"/>
          <p:nvPr/>
        </p:nvSpPr>
        <p:spPr>
          <a:xfrm>
            <a:off x="88092" y="1010810"/>
            <a:ext cx="11984571" cy="276999"/>
          </a:xfrm>
          <a:prstGeom prst="rect">
            <a:avLst/>
          </a:prstGeom>
          <a:noFill/>
        </p:spPr>
        <p:txBody>
          <a:bodyPr wrap="square">
            <a:spAutoFit/>
          </a:bodyPr>
          <a:lstStyle/>
          <a:p>
            <a:pPr>
              <a:buNone/>
            </a:pPr>
            <a:r>
              <a:rPr lang="ja-JP" altLang="en-US" sz="1200" dirty="0">
                <a:solidFill>
                  <a:srgbClr val="FF0000"/>
                </a:solidFill>
                <a:latin typeface="BIZ UDPゴシック" panose="020B0400000000000000" pitchFamily="50" charset="-128"/>
                <a:ea typeface="BIZ UDPゴシック" panose="020B0400000000000000" pitchFamily="50" charset="-128"/>
              </a:rPr>
              <a:t>以下</a:t>
            </a:r>
            <a:r>
              <a:rPr lang="en-US" altLang="ja-JP" sz="1200" dirty="0">
                <a:solidFill>
                  <a:srgbClr val="FF0000"/>
                </a:solidFill>
                <a:latin typeface="BIZ UDPゴシック" panose="020B0400000000000000" pitchFamily="50" charset="-128"/>
                <a:ea typeface="BIZ UDPゴシック" panose="020B0400000000000000" pitchFamily="50" charset="-128"/>
              </a:rPr>
              <a:t>1</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7</a:t>
            </a:r>
            <a:r>
              <a:rPr lang="ja-JP" altLang="en-US" sz="1200" dirty="0">
                <a:solidFill>
                  <a:srgbClr val="FF0000"/>
                </a:solidFill>
                <a:latin typeface="BIZ UDPゴシック" panose="020B0400000000000000" pitchFamily="50" charset="-128"/>
                <a:ea typeface="BIZ UDPゴシック" panose="020B0400000000000000" pitchFamily="50" charset="-128"/>
              </a:rPr>
              <a:t>に該当しない場合は、「全社で目標達成に向けた一体感を育み、さらなる業績向上を目指す」という制度主旨に基づき、都度判断する。</a:t>
            </a:r>
            <a:endParaRPr lang="en-US" altLang="ja-JP" sz="1200" dirty="0">
              <a:solidFill>
                <a:srgbClr val="FF0000"/>
              </a:solidFill>
              <a:latin typeface="BIZ UDPゴシック" panose="020B0400000000000000" pitchFamily="50" charset="-128"/>
              <a:ea typeface="BIZ UDPゴシック" panose="020B0400000000000000" pitchFamily="50" charset="-128"/>
            </a:endParaRPr>
          </a:p>
        </p:txBody>
      </p:sp>
      <p:graphicFrame>
        <p:nvGraphicFramePr>
          <p:cNvPr id="8" name="表 7">
            <a:extLst>
              <a:ext uri="{FF2B5EF4-FFF2-40B4-BE49-F238E27FC236}">
                <a16:creationId xmlns:a16="http://schemas.microsoft.com/office/drawing/2014/main" id="{62CAC82B-AC3E-C852-E1DF-976EA2BF7553}"/>
              </a:ext>
            </a:extLst>
          </p:cNvPr>
          <p:cNvGraphicFramePr>
            <a:graphicFrameLocks noGrp="1"/>
          </p:cNvGraphicFramePr>
          <p:nvPr>
            <p:extLst>
              <p:ext uri="{D42A27DB-BD31-4B8C-83A1-F6EECF244321}">
                <p14:modId xmlns:p14="http://schemas.microsoft.com/office/powerpoint/2010/main" val="522667478"/>
              </p:ext>
            </p:extLst>
          </p:nvPr>
        </p:nvGraphicFramePr>
        <p:xfrm>
          <a:off x="335360" y="1415089"/>
          <a:ext cx="11482085" cy="5103859"/>
        </p:xfrm>
        <a:graphic>
          <a:graphicData uri="http://schemas.openxmlformats.org/drawingml/2006/table">
            <a:tbl>
              <a:tblPr/>
              <a:tblGrid>
                <a:gridCol w="305249">
                  <a:extLst>
                    <a:ext uri="{9D8B030D-6E8A-4147-A177-3AD203B41FA5}">
                      <a16:colId xmlns:a16="http://schemas.microsoft.com/office/drawing/2014/main" val="4027711340"/>
                    </a:ext>
                  </a:extLst>
                </a:gridCol>
                <a:gridCol w="2794209">
                  <a:extLst>
                    <a:ext uri="{9D8B030D-6E8A-4147-A177-3AD203B41FA5}">
                      <a16:colId xmlns:a16="http://schemas.microsoft.com/office/drawing/2014/main" val="2852018592"/>
                    </a:ext>
                  </a:extLst>
                </a:gridCol>
                <a:gridCol w="2794209">
                  <a:extLst>
                    <a:ext uri="{9D8B030D-6E8A-4147-A177-3AD203B41FA5}">
                      <a16:colId xmlns:a16="http://schemas.microsoft.com/office/drawing/2014/main" val="3932265791"/>
                    </a:ext>
                  </a:extLst>
                </a:gridCol>
                <a:gridCol w="2794209">
                  <a:extLst>
                    <a:ext uri="{9D8B030D-6E8A-4147-A177-3AD203B41FA5}">
                      <a16:colId xmlns:a16="http://schemas.microsoft.com/office/drawing/2014/main" val="2635368930"/>
                    </a:ext>
                  </a:extLst>
                </a:gridCol>
                <a:gridCol w="2794209">
                  <a:extLst>
                    <a:ext uri="{9D8B030D-6E8A-4147-A177-3AD203B41FA5}">
                      <a16:colId xmlns:a16="http://schemas.microsoft.com/office/drawing/2014/main" val="1653539882"/>
                    </a:ext>
                  </a:extLst>
                </a:gridCol>
              </a:tblGrid>
              <a:tr h="395990">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NO</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メディア（顧客）</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具体例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付与対象者</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備考</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801177533"/>
                  </a:ext>
                </a:extLst>
              </a:tr>
              <a:tr h="920904">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1</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企業ウェブサイト・</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SNS</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等のデジタルメディア</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企業ウェブサイト・</a:t>
                      </a: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SNS</a:t>
                      </a: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からの引き合い　</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マーケティングチーム</a:t>
                      </a:r>
                      <a:b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営業企画チーム</a:t>
                      </a:r>
                      <a:b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各メディアの担当者　等</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現在は、</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MMI</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が運営するメディア（自社</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HP</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等）と、委託先企業が運営するメディア（グランドセントラル社等）を区別せず支給する。</a:t>
                      </a: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ただし、</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2025</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年</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月以降は、この</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つのメディアを区別し、制度内容が変更される可能性がある。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60941670"/>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営業資料・提案書・パンフレット・カタログ等の紙のメディア</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営業資料・提案書・パンフレット・カタログを見た法人からの引き合い</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顧客へ資料を提供した営業担当者</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8228813"/>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3</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業界専門誌・専門メディアへの掲載・広告</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業界専門誌・専門メディアへの掲載・広告を見た法人からの引き合い</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マーケティングチーム</a:t>
                      </a: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営業企画チーム</a:t>
                      </a: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各メディアの担当者　等</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78751771"/>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4</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展示会</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展示会でのブース出展による引き合い</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対象外</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ただし、展示会が終わった後でも、</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MMI</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が主導して行った対応で接点を持った場合は、対象とする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0872868"/>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既存顧客や既存協力会社</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既存顧客や既存協力会社をロボティクス事業部へ紹介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顧客や協力会社の担当者</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4037306"/>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私的な知り合い</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私的な知り合いからをロボティクス事業部へ紹介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紹介した個人</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9438127"/>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業界団体や商工会議所、自治体など公的機関</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業界団体や商工会議所、自治体など公的機関からの会社への引き合い</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対象外</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ただし、</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MMI</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が主体となって行った対応（例：問い合わせ対応など）で接点を持った場合は、対象とする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53788789"/>
                  </a:ext>
                </a:extLst>
              </a:tr>
              <a:tr h="511890">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8</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その他</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3">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都度判断する</a:t>
                      </a: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l"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l"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499" marR="4499" marT="44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64174222"/>
                  </a:ext>
                </a:extLst>
              </a:tr>
            </a:tbl>
          </a:graphicData>
        </a:graphic>
      </p:graphicFrame>
      <p:sp>
        <p:nvSpPr>
          <p:cNvPr id="9" name="正方形/長方形 8">
            <a:extLst>
              <a:ext uri="{FF2B5EF4-FFF2-40B4-BE49-F238E27FC236}">
                <a16:creationId xmlns:a16="http://schemas.microsoft.com/office/drawing/2014/main" id="{BC5A1D57-3DD5-945B-CE57-630A7F5F9AA8}"/>
              </a:ext>
            </a:extLst>
          </p:cNvPr>
          <p:cNvSpPr/>
          <p:nvPr/>
        </p:nvSpPr>
        <p:spPr>
          <a:xfrm>
            <a:off x="335358" y="4465320"/>
            <a:ext cx="11482085" cy="10210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四角形 11">
            <a:extLst>
              <a:ext uri="{FF2B5EF4-FFF2-40B4-BE49-F238E27FC236}">
                <a16:creationId xmlns:a16="http://schemas.microsoft.com/office/drawing/2014/main" id="{C90471EC-AF7D-B0D6-BB40-D8B44973DAFD}"/>
              </a:ext>
            </a:extLst>
          </p:cNvPr>
          <p:cNvSpPr/>
          <p:nvPr/>
        </p:nvSpPr>
        <p:spPr>
          <a:xfrm>
            <a:off x="9288124" y="4622636"/>
            <a:ext cx="2341444" cy="720100"/>
          </a:xfrm>
          <a:prstGeom prst="wedgeRectCallout">
            <a:avLst>
              <a:gd name="adj1" fmla="val -21158"/>
              <a:gd name="adj2" fmla="val 4556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latin typeface="BIZ UDPゴシック" panose="020B0400000000000000" pitchFamily="50" charset="-128"/>
                <a:ea typeface="BIZ UDPゴシック" panose="020B0400000000000000" pitchFamily="50" charset="-128"/>
              </a:rPr>
              <a:t>ここに注目！</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177F3FAE-C011-4C5A-ED63-B130138EE922}"/>
              </a:ext>
            </a:extLst>
          </p:cNvPr>
          <p:cNvSpPr/>
          <p:nvPr/>
        </p:nvSpPr>
        <p:spPr>
          <a:xfrm>
            <a:off x="336455" y="2917324"/>
            <a:ext cx="11482085" cy="5116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吹き出し: 四角形 14">
            <a:extLst>
              <a:ext uri="{FF2B5EF4-FFF2-40B4-BE49-F238E27FC236}">
                <a16:creationId xmlns:a16="http://schemas.microsoft.com/office/drawing/2014/main" id="{CDC26274-477A-7831-F888-07D85B62A51B}"/>
              </a:ext>
            </a:extLst>
          </p:cNvPr>
          <p:cNvSpPr/>
          <p:nvPr/>
        </p:nvSpPr>
        <p:spPr>
          <a:xfrm>
            <a:off x="9294832" y="2989332"/>
            <a:ext cx="2341444" cy="360040"/>
          </a:xfrm>
          <a:prstGeom prst="wedgeRectCallout">
            <a:avLst>
              <a:gd name="adj1" fmla="val -21158"/>
              <a:gd name="adj2" fmla="val 4556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latin typeface="BIZ UDPゴシック" panose="020B0400000000000000" pitchFamily="50" charset="-128"/>
                <a:ea typeface="BIZ UDPゴシック" panose="020B0400000000000000" pitchFamily="50" charset="-128"/>
              </a:rPr>
              <a:t>ここに注目！</a:t>
            </a:r>
          </a:p>
        </p:txBody>
      </p:sp>
      <p:sp>
        <p:nvSpPr>
          <p:cNvPr id="17" name="タイトル 2">
            <a:extLst>
              <a:ext uri="{FF2B5EF4-FFF2-40B4-BE49-F238E27FC236}">
                <a16:creationId xmlns:a16="http://schemas.microsoft.com/office/drawing/2014/main" id="{270537F3-89F6-3216-6E79-7915B2558897}"/>
              </a:ext>
            </a:extLst>
          </p:cNvPr>
          <p:cNvSpPr txBox="1">
            <a:spLocks/>
          </p:cNvSpPr>
          <p:nvPr/>
        </p:nvSpPr>
        <p:spPr>
          <a:xfrm>
            <a:off x="966" y="43826"/>
            <a:ext cx="8615313"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b="1" dirty="0">
                <a:latin typeface="BIZ UDPゴシック" panose="020B0400000000000000" pitchFamily="50" charset="-128"/>
                <a:ea typeface="BIZ UDPゴシック" panose="020B0400000000000000" pitchFamily="50" charset="-128"/>
              </a:rPr>
              <a:t>2025</a:t>
            </a:r>
            <a:r>
              <a:rPr lang="ja-JP" altLang="en-US" sz="1600" b="1" dirty="0">
                <a:latin typeface="BIZ UDPゴシック" panose="020B0400000000000000" pitchFamily="50" charset="-128"/>
                <a:ea typeface="BIZ UDPゴシック" panose="020B0400000000000000" pitchFamily="50" charset="-128"/>
              </a:rPr>
              <a:t>年度（</a:t>
            </a:r>
            <a:r>
              <a:rPr lang="en-US" altLang="ja-JP" sz="1600" b="1" dirty="0">
                <a:latin typeface="BIZ UDPゴシック" panose="020B0400000000000000" pitchFamily="50" charset="-128"/>
                <a:ea typeface="BIZ UDPゴシック" panose="020B0400000000000000" pitchFamily="50" charset="-128"/>
              </a:rPr>
              <a:t>31</a:t>
            </a:r>
            <a:r>
              <a:rPr lang="ja-JP" altLang="en-US" sz="1600" b="1" dirty="0">
                <a:latin typeface="BIZ UDPゴシック" panose="020B0400000000000000" pitchFamily="50" charset="-128"/>
                <a:ea typeface="BIZ UDPゴシック" panose="020B0400000000000000" pitchFamily="50" charset="-128"/>
              </a:rPr>
              <a:t>期）上期　清掃ロボット販売の営業インセンティブ</a:t>
            </a:r>
            <a:endParaRPr lang="en-US" altLang="ja-JP" sz="1600" b="1" dirty="0">
              <a:latin typeface="BIZ UDPゴシック" panose="020B0400000000000000" pitchFamily="50" charset="-128"/>
              <a:ea typeface="BIZ UDPゴシック" panose="020B0400000000000000" pitchFamily="50" charset="-128"/>
            </a:endParaRPr>
          </a:p>
        </p:txBody>
      </p:sp>
      <p:sp>
        <p:nvSpPr>
          <p:cNvPr id="18" name="タイトル 2">
            <a:extLst>
              <a:ext uri="{FF2B5EF4-FFF2-40B4-BE49-F238E27FC236}">
                <a16:creationId xmlns:a16="http://schemas.microsoft.com/office/drawing/2014/main" id="{67ED0446-D929-3A19-995B-09C996912BFE}"/>
              </a:ext>
            </a:extLst>
          </p:cNvPr>
          <p:cNvSpPr txBox="1">
            <a:spLocks/>
          </p:cNvSpPr>
          <p:nvPr/>
        </p:nvSpPr>
        <p:spPr>
          <a:xfrm>
            <a:off x="8616278" y="44624"/>
            <a:ext cx="1863981"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r"/>
            <a:r>
              <a:rPr lang="en-US" altLang="ja-JP" sz="1200" dirty="0">
                <a:latin typeface="BIZ UDPゴシック" panose="020B0400000000000000" pitchFamily="50" charset="-128"/>
                <a:ea typeface="BIZ UDPゴシック" panose="020B0400000000000000" pitchFamily="50" charset="-128"/>
              </a:rPr>
              <a:t>2025</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月</a:t>
            </a:r>
            <a:r>
              <a:rPr lang="en-US" altLang="ja-JP" sz="1200" dirty="0">
                <a:latin typeface="BIZ UDPゴシック" panose="020B0400000000000000" pitchFamily="50" charset="-128"/>
                <a:ea typeface="BIZ UDPゴシック" panose="020B0400000000000000" pitchFamily="50" charset="-128"/>
              </a:rPr>
              <a:t>12</a:t>
            </a:r>
            <a:r>
              <a:rPr lang="ja-JP" altLang="en-US" sz="1200" dirty="0">
                <a:latin typeface="BIZ UDPゴシック" panose="020B0400000000000000" pitchFamily="50" charset="-128"/>
                <a:ea typeface="BIZ UDPゴシック" panose="020B0400000000000000" pitchFamily="50" charset="-128"/>
              </a:rPr>
              <a:t>日</a:t>
            </a:r>
            <a:endParaRPr lang="en-US" altLang="ja-JP" sz="1200" dirty="0">
              <a:latin typeface="BIZ UDPゴシック" panose="020B0400000000000000" pitchFamily="50" charset="-128"/>
              <a:ea typeface="BIZ UDPゴシック" panose="020B0400000000000000" pitchFamily="50" charset="-128"/>
            </a:endParaRPr>
          </a:p>
          <a:p>
            <a:pPr algn="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戦略会議</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17497683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000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エムエムインターナショナル中期経営計画‗20221012</Template>
  <TotalTime>25347</TotalTime>
  <Words>1215</Words>
  <Application>Microsoft Office PowerPoint</Application>
  <PresentationFormat>ワイド画面</PresentationFormat>
  <Paragraphs>147</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BIZ UDPゴシック</vt:lpstr>
      <vt:lpstr>Arial</vt:lpstr>
      <vt:lpstr>Calibri</vt:lpstr>
      <vt:lpstr>Helvetica</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中期IT戦略　ガイドライン （2023年度・2024年度）</dc:title>
  <dc:creator>mmi047</dc:creator>
  <cp:lastModifiedBy>346 mtokyo</cp:lastModifiedBy>
  <cp:revision>1243</cp:revision>
  <cp:lastPrinted>2025-02-16T22:20:59Z</cp:lastPrinted>
  <dcterms:created xsi:type="dcterms:W3CDTF">2022-11-10T03:21:11Z</dcterms:created>
  <dcterms:modified xsi:type="dcterms:W3CDTF">2025-05-14T23:47:54Z</dcterms:modified>
</cp:coreProperties>
</file>